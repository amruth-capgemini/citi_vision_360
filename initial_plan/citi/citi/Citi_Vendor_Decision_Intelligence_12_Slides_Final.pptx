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1" r:id="rId16"/>
    <p:sldId id="272" r:id="rId17"/>
    <p:sldId id="273" r:id="rId18"/>
    <p:sldId id="274" r:id="rId19"/>
    <p:sldId id="275" r:id="rId20"/>
    <p:sldId id="276" r:id="rId21"/>
    <p:sldId id="27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FAB473-3A71-46DA-88E5-73E2ACFEC65B}" v="1" dt="2026-09-28T02:43:07.5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xit, Vishal" userId="44eeb024-b505-42f3-b80d-7efb3b397ad2" providerId="ADAL" clId="{BBCF3ED0-8B7A-4C77-9538-65DA689B155D}"/>
    <pc:docChg chg="addSld delSld modSld">
      <pc:chgData name="Dixit, Vishal" userId="44eeb024-b505-42f3-b80d-7efb3b397ad2" providerId="ADAL" clId="{BBCF3ED0-8B7A-4C77-9538-65DA689B155D}" dt="2026-09-28T02:43:48.056" v="17" actId="14100"/>
      <pc:docMkLst>
        <pc:docMk/>
      </pc:docMkLst>
      <pc:sldChg chg="addSp modSp new mod">
        <pc:chgData name="Dixit, Vishal" userId="44eeb024-b505-42f3-b80d-7efb3b397ad2" providerId="ADAL" clId="{BBCF3ED0-8B7A-4C77-9538-65DA689B155D}" dt="2026-09-28T02:43:48.056" v="17" actId="14100"/>
        <pc:sldMkLst>
          <pc:docMk/>
          <pc:sldMk cId="3486177584" sldId="268"/>
        </pc:sldMkLst>
        <pc:spChg chg="add mod">
          <ac:chgData name="Dixit, Vishal" userId="44eeb024-b505-42f3-b80d-7efb3b397ad2" providerId="ADAL" clId="{BBCF3ED0-8B7A-4C77-9538-65DA689B155D}" dt="2026-09-28T02:43:48.056" v="17" actId="14100"/>
          <ac:spMkLst>
            <pc:docMk/>
            <pc:sldMk cId="3486177584" sldId="268"/>
            <ac:spMk id="2" creationId="{A04BD6C6-396B-1EAF-76D5-8B6D2E7C8029}"/>
          </ac:spMkLst>
        </pc:spChg>
      </pc:sldChg>
      <pc:sldChg chg="new del">
        <pc:chgData name="Dixit, Vishal" userId="44eeb024-b505-42f3-b80d-7efb3b397ad2" providerId="ADAL" clId="{BBCF3ED0-8B7A-4C77-9538-65DA689B155D}" dt="2026-09-28T02:43:11.585" v="3" actId="47"/>
        <pc:sldMkLst>
          <pc:docMk/>
          <pc:sldMk cId="3719598418" sldId="269"/>
        </pc:sldMkLst>
      </pc:sldChg>
      <pc:sldChg chg="add setBg">
        <pc:chgData name="Dixit, Vishal" userId="44eeb024-b505-42f3-b80d-7efb3b397ad2" providerId="ADAL" clId="{BBCF3ED0-8B7A-4C77-9538-65DA689B155D}" dt="2026-09-28T02:43:07.492" v="2"/>
        <pc:sldMkLst>
          <pc:docMk/>
          <pc:sldMk cId="1016588009" sldId="270"/>
        </pc:sldMkLst>
      </pc:sldChg>
      <pc:sldChg chg="add setBg">
        <pc:chgData name="Dixit, Vishal" userId="44eeb024-b505-42f3-b80d-7efb3b397ad2" providerId="ADAL" clId="{BBCF3ED0-8B7A-4C77-9538-65DA689B155D}" dt="2026-09-28T02:43:07.492" v="2"/>
        <pc:sldMkLst>
          <pc:docMk/>
          <pc:sldMk cId="1563432430" sldId="271"/>
        </pc:sldMkLst>
      </pc:sldChg>
      <pc:sldChg chg="add setBg">
        <pc:chgData name="Dixit, Vishal" userId="44eeb024-b505-42f3-b80d-7efb3b397ad2" providerId="ADAL" clId="{BBCF3ED0-8B7A-4C77-9538-65DA689B155D}" dt="2026-09-28T02:43:07.492" v="2"/>
        <pc:sldMkLst>
          <pc:docMk/>
          <pc:sldMk cId="526474749" sldId="272"/>
        </pc:sldMkLst>
      </pc:sldChg>
      <pc:sldChg chg="add setBg">
        <pc:chgData name="Dixit, Vishal" userId="44eeb024-b505-42f3-b80d-7efb3b397ad2" providerId="ADAL" clId="{BBCF3ED0-8B7A-4C77-9538-65DA689B155D}" dt="2026-09-28T02:43:07.492" v="2"/>
        <pc:sldMkLst>
          <pc:docMk/>
          <pc:sldMk cId="772460760" sldId="273"/>
        </pc:sldMkLst>
      </pc:sldChg>
      <pc:sldChg chg="add setBg">
        <pc:chgData name="Dixit, Vishal" userId="44eeb024-b505-42f3-b80d-7efb3b397ad2" providerId="ADAL" clId="{BBCF3ED0-8B7A-4C77-9538-65DA689B155D}" dt="2026-09-28T02:43:07.492" v="2"/>
        <pc:sldMkLst>
          <pc:docMk/>
          <pc:sldMk cId="1940246148" sldId="274"/>
        </pc:sldMkLst>
      </pc:sldChg>
      <pc:sldChg chg="add setBg">
        <pc:chgData name="Dixit, Vishal" userId="44eeb024-b505-42f3-b80d-7efb3b397ad2" providerId="ADAL" clId="{BBCF3ED0-8B7A-4C77-9538-65DA689B155D}" dt="2026-09-28T02:43:07.492" v="2"/>
        <pc:sldMkLst>
          <pc:docMk/>
          <pc:sldMk cId="1214361131" sldId="275"/>
        </pc:sldMkLst>
      </pc:sldChg>
      <pc:sldChg chg="add setBg">
        <pc:chgData name="Dixit, Vishal" userId="44eeb024-b505-42f3-b80d-7efb3b397ad2" providerId="ADAL" clId="{BBCF3ED0-8B7A-4C77-9538-65DA689B155D}" dt="2026-09-28T02:43:07.492" v="2"/>
        <pc:sldMkLst>
          <pc:docMk/>
          <pc:sldMk cId="1662212784" sldId="276"/>
        </pc:sldMkLst>
      </pc:sldChg>
      <pc:sldChg chg="add setBg">
        <pc:chgData name="Dixit, Vishal" userId="44eeb024-b505-42f3-b80d-7efb3b397ad2" providerId="ADAL" clId="{BBCF3ED0-8B7A-4C77-9538-65DA689B155D}" dt="2026-09-28T02:43:07.492" v="2"/>
        <pc:sldMkLst>
          <pc:docMk/>
          <pc:sldMk cId="1147919837" sldId="27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Citi Vendor Decision Intelligence FSD v1.0, 27 September 2026. Prepared by Capgemini AI &amp; Data.</a:t>
            </a:r>
          </a:p>
          <a:p>
            <a:r>
              <a:t>Status: build-ready baseline / requirements validation required.</a:t>
            </a:r>
          </a:p>
          <a:p>
            <a:r>
              <a:t>The opening 90-day renewal situation is an illustrative framing supplied by the user. It is not a Citi policy threshold or source-system fact.</a:t>
            </a:r>
          </a:p>
          <a:p>
            <a:endParaRPr/>
          </a:p>
          <a:p>
            <a:r>
              <a:t>SOURCE REQUIREMENTS (verbatim reference for this slide):</a:t>
            </a:r>
          </a:p>
          <a:p>
            <a:r>
              <a:t>FUNCTIONAL SPECIFICATION DOCUMENT</a:t>
            </a:r>
          </a:p>
          <a:p>
            <a:r>
              <a:t>Citi Vendor Decision Intelligence</a:t>
            </a:r>
          </a:p>
          <a:p>
            <a:r>
              <a:t>OCIO-aligned demo and solution build specification</a:t>
            </a:r>
          </a:p>
          <a:p>
            <a:r>
              <a:t>Document attribute | Value</a:t>
            </a:r>
          </a:p>
          <a:p>
            <a:r>
              <a:t>Version | 1.0</a:t>
            </a:r>
          </a:p>
          <a:p>
            <a:r>
              <a:t>Status | Build-ready baseline / requirements validation required</a:t>
            </a:r>
          </a:p>
          <a:p>
            <a:r>
              <a:t>Prepared for | Citi Vendor Intelligence demo team</a:t>
            </a:r>
          </a:p>
          <a:p>
            <a:r>
              <a:t>Prepared by | Capgemini AI &amp; Data</a:t>
            </a:r>
          </a:p>
          <a:p>
            <a:r>
              <a:t>Date | 27 September 2026</a:t>
            </a:r>
          </a:p>
          <a:p>
            <a:r>
              <a:t>Classification | Company Confidential</a:t>
            </a:r>
          </a:p>
          <a:p>
            <a:r>
              <a:t>Intended use | Functional design, engineering handoff, demo build, testing and stakeholder validation</a:t>
            </a:r>
          </a:p>
          <a:p>
            <a:r>
              <a:t>Important:  This FSD separates source-backed business intent from proposed implementation requirements. Citi-specific system names, field mappings, thresholds, entitlements and decision policies must be validated during discovery before production use.</a:t>
            </a:r>
          </a:p>
          <a:p>
            <a:endParaRPr/>
          </a:p>
          <a:p>
            <a:endParaRPr/>
          </a:p>
          <a:p>
            <a:r>
              <a:t>1. Document Control</a:t>
            </a:r>
          </a:p>
          <a:p>
            <a:r>
              <a:t>1.1 Revision History</a:t>
            </a:r>
          </a:p>
          <a:p>
            <a:r>
              <a:t>Version | Date | Author | Change summary</a:t>
            </a:r>
          </a:p>
          <a:p>
            <a:r>
              <a:t>1.0 | 27-Sep-2026 | Capgemini | Initial end-to-end FSD for Vendor Decision Intelligence demo and reusable solution build.</a:t>
            </a:r>
          </a:p>
          <a:p>
            <a:r>
              <a:t>1.2 Review and Approval</a:t>
            </a:r>
          </a:p>
          <a:p>
            <a:r>
              <a:t>Role | Expected reviewer | Approval focus</a:t>
            </a:r>
          </a:p>
          <a:p>
            <a:r>
              <a:t>Business sponsor | Citi OCIO / Vendor Management | Business outcomes, scope, priorities and decision workflow</a:t>
            </a:r>
          </a:p>
          <a:p>
            <a:r>
              <a:t>Product owner | Citi-designated owner | Functional completeness, backlog and acceptance</a:t>
            </a:r>
          </a:p>
          <a:p>
            <a:r>
              <a:t>Data owner(s) | Contracts, spend, workforce, vendor, product domains | Source authority, data quality and field-level access</a:t>
            </a:r>
          </a:p>
          <a:p>
            <a:r>
              <a:t>Risk / compliance | Citi-designated control functions | AI usage, explainability, retention and control compliance</a:t>
            </a:r>
          </a:p>
          <a:p>
            <a:r>
              <a:t>Technology architecture | Citi architecture and engineering | Integration, hosting, security and non-functional requirements</a:t>
            </a:r>
          </a:p>
          <a:p>
            <a:r>
              <a:t>Delivery lead | Capgemini / joint team | Feasibility, sequencing, dependencies and test readiness</a:t>
            </a:r>
          </a:p>
          <a:p>
            <a:r>
              <a:t>1.3 Source Basis</a:t>
            </a:r>
          </a:p>
          <a:p>
            <a:r>
              <a:t>Source artifact | Relevant confirmed content | Use in this FSD</a:t>
            </a:r>
          </a:p>
          <a:p>
            <a:r>
              <a:t>OCIO Decision Intelligence Platform - v20260812 | Natural-language Ask OCIO, executive cockpit, evidence-backed Q&amp;A, relationship exploration, dashboards, scenario interface, alerts, orchestration, SQL/graph/vector capabilities. | Architecture pattern and user experience baseline.</a:t>
            </a:r>
          </a:p>
          <a:p>
            <a:r>
              <a:t>Vendor Management Decision Intelligence v3.3 | Unify contracts, spend, workforce, products and ownership; answer renewal/risk questions; proactive optimization, concentration risk and what-if decisions. | Business capability and demo journey baseline.</a:t>
            </a:r>
          </a:p>
          <a:p>
            <a:r>
              <a:t>Case Study Walkthrough | Vendor 360, fragmented source challenge, knowledge graph, vector search and agent orchestration. | Problem framing and solution concept.</a:t>
            </a:r>
          </a:p>
          <a:p>
            <a:r>
              <a:t>Citi &amp; Cap Gemini Connect follow-up | Vendor 360, renewal prioritization, concentration/dependency risk, rationalization, spend vs forecast analytics and scenario analysis. | Citi-aligned capability priorities.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Citi Vendor Decision Intelligence FSD v1.0, 27 September 2026. Prepared by Capgemini AI &amp; Data.</a:t>
            </a:r>
          </a:p>
          <a:p>
            <a:r>
              <a:t>Status: build-ready baseline / requirements validation required.</a:t>
            </a:r>
          </a:p>
          <a:p>
            <a:endParaRPr/>
          </a:p>
          <a:p>
            <a:endParaRPr/>
          </a:p>
          <a:p>
            <a:r>
              <a:t>SOURCE REQUIREMENTS (verbatim reference for this slide):</a:t>
            </a:r>
          </a:p>
          <a:p>
            <a:r>
              <a:t>2. Executive Summary</a:t>
            </a:r>
          </a:p>
          <a:p>
            <a:r>
              <a:t>Vendor Decision Intelligence is a connected decision-support capability that combines contracts, spend, external workforce, vendor performance, product/application ownership and organizational context into a trusted Vendor 360. It is designed to reduce the effort required to assemble decision evidence and to support renewal, concentration-risk, rationalization, forecast and scenario decisions through an OCIO-aligned experience.</a:t>
            </a:r>
          </a:p>
          <a:p>
            <a:r>
              <a:t>Target outcome:  Move the user experience from fragmented data and static reporting to evidence-backed questions, connected relationships, explainable recommendations and scenario comparison.</a:t>
            </a:r>
          </a:p>
          <a:p>
            <a:r>
              <a:t>2.1 Business Objectives</a:t>
            </a:r>
          </a:p>
          <a:p>
            <a:r>
              <a:t>Create a unified, governed Vendor 360 across commercial, workforce, technology, performance and ownership dimensions.</a:t>
            </a:r>
          </a:p>
          <a:p>
            <a:r>
              <a:t>Provide evidence-backed answers to vendor, sourcing, renewal and risk questions using natural language.</a:t>
            </a:r>
          </a:p>
          <a:p>
            <a:r>
              <a:t>Identify renewal urgency and material dependencies early enough for action.</a:t>
            </a:r>
          </a:p>
          <a:p>
            <a:r>
              <a:t>Expose vendor concentration and operational dependency beyond spend-only analysis.</a:t>
            </a:r>
          </a:p>
          <a:p>
            <a:r>
              <a:t>Identify supplier overlap and rationalization opportunities with traceable evidence.</a:t>
            </a:r>
          </a:p>
          <a:p>
            <a:r>
              <a:t>Explain spend-versus-forecast variance and permit drill-down to supporting records.</a:t>
            </a:r>
          </a:p>
          <a:p>
            <a:r>
              <a:t>Allow authorized users to model vendor, workforce and sourcing scenarios without changing source data.</a:t>
            </a:r>
          </a:p>
          <a:p>
            <a:r>
              <a:t>Produce auditable recommendations that show evidence, assumptions, confidence and policy checks.</a:t>
            </a:r>
          </a:p>
          <a:p>
            <a:r>
              <a:t>2.2 Definition of Success</a:t>
            </a:r>
          </a:p>
          <a:p>
            <a:r>
              <a:t>Dimension | Demo success | Production success measure to define with Citi</a:t>
            </a:r>
          </a:p>
          <a:p>
            <a:r>
              <a:t>Trust | Every answer exposes source evidence and as-of date. | Accuracy, reconciliation tolerance, evidence coverage and user trust score.</a:t>
            </a:r>
          </a:p>
          <a:p>
            <a:r>
              <a:t>Speed | Priority questions are answered interactively from prepared demo data. | Response-time targets by query class and reduction in manual cycle time.</a:t>
            </a:r>
          </a:p>
          <a:p>
            <a:r>
              <a:t>Decision utility | User can move from issue to recommendation and impacted entities. | Adoption, decisions supported, renewal lead time and realized optimization.</a:t>
            </a:r>
          </a:p>
          <a:p>
            <a:r>
              <a:t>Control | Role-based access and traceability are visible in the demo. | Control effectiveness, policy compliance, audit exceptions and incident rate.</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Citi Vendor Decision Intelligence FSD v1.0, 27 September 2026. Prepared by Capgemini AI &amp; Data.</a:t>
            </a:r>
          </a:p>
          <a:p>
            <a:r>
              <a:t>Status: build-ready baseline / requirements validation required.</a:t>
            </a:r>
          </a:p>
          <a:p>
            <a:endParaRPr/>
          </a:p>
          <a:p>
            <a:endParaRPr/>
          </a:p>
          <a:p>
            <a:r>
              <a:t>SOURCE REQUIREMENTS (verbatim reference for this slide):</a:t>
            </a:r>
          </a:p>
          <a:p>
            <a:r>
              <a:t>4. Stakeholders and Personas</a:t>
            </a:r>
          </a:p>
          <a:p>
            <a:r>
              <a:t>Persona | Primary goals | Typical decisions | Access considerations</a:t>
            </a:r>
          </a:p>
          <a:p>
            <a:r>
              <a:t>OCIO executive | Portfolio-level visibility, risk and optimization. | Prioritize renewals, manage concentration, sponsor rationalization. | Aggregated enterprise view; restricted evidence where required.</a:t>
            </a:r>
          </a:p>
          <a:p>
            <a:r>
              <a:t>Vendor management lead | Manage supplier portfolio and governance. | Renew, compete, consolidate, remediate or exit. | Vendor and contract detail; workflow status.</a:t>
            </a:r>
          </a:p>
          <a:p>
            <a:r>
              <a:t>Sourcing / procurement | Commercial and sourcing analysis. | Negotiation strategy, sourcing events, supplier consolidation. | Commercially sensitive terms.</a:t>
            </a:r>
          </a:p>
          <a:p>
            <a:r>
              <a:t>Technology / product owner | Understand service and application dependency. | Approve changes, assess operational impact, identify alternatives. | Product- and application-aligned scope.</a:t>
            </a:r>
          </a:p>
          <a:p>
            <a:r>
              <a:t>Finance analyst | Explain actuals, forecast and variance. | Adjust forecast, investigate variance, validate savings. | GL and financial hierarchy entitlements.</a:t>
            </a:r>
          </a:p>
          <a:p>
            <a:r>
              <a:t>Third-party risk analyst | Assess inherent, residual and concentration risk. | Escalate, remediate, monitor and evidence controls. | Restricted assessment artifacts.</a:t>
            </a:r>
          </a:p>
          <a:p>
            <a:r>
              <a:t>Data steward | Resolve identity, quality and semantic issues. | Approve mappings, curate definitions, remediate quality defects. | Stewardship privileges; no business approval authority.</a:t>
            </a:r>
          </a:p>
          <a:p>
            <a:r>
              <a:t>Platform administrator | Operate configuration and access. | Manage roles, thresholds, sources, model routes and telemetry. | Privileged admin with segregation of duties.</a:t>
            </a:r>
          </a:p>
          <a:p>
            <a:endParaRPr/>
          </a:p>
          <a:p>
            <a:endParaRPr/>
          </a:p>
          <a:p>
            <a:r>
              <a:t>8. Data Requirements and Logical Model</a:t>
            </a:r>
          </a:p>
          <a:p>
            <a:r>
              <a:t>8.1 Source Domains</a:t>
            </a:r>
          </a:p>
          <a:p>
            <a:r>
              <a:t>Domain | Minimum data objects | Key fields / concepts | Expected authority</a:t>
            </a:r>
          </a:p>
          <a:p>
            <a:r>
              <a:t>Vendor master | Vendor, parent, subsidiary, alias, status | Vendor ID, legal name, hierarchy, category, country | Approved vendor master / ERP</a:t>
            </a:r>
          </a:p>
          <a:p>
            <a:r>
              <a:t>Contracts &amp; SOWs | Contract, amendment, SOW, clause, obligation | Contract ID, vendor, dates, value, currency, notice, owner | CLM / document repository</a:t>
            </a:r>
          </a:p>
          <a:p>
            <a:r>
              <a:t>Spend &amp; forecast | Actual, commitment, invoice, PO, budget, forecast | Period, amount, currency, vendor, cost center, product, category | Finance / procurement systems</a:t>
            </a:r>
          </a:p>
          <a:p>
            <a:r>
              <a:t>External workforce | Worker assignment and aggregate | Vendor, role, location, dates, rate/cost, team | Workforce management platform</a:t>
            </a:r>
          </a:p>
          <a:p>
            <a:r>
              <a:t>Technology | Application, platform, service, capability | Criticality, lifecycle, product, owner, dependency | CMDB / application portfolio</a:t>
            </a:r>
          </a:p>
          <a:p>
            <a:r>
              <a:t>Organization &amp; product | Business unit, technology unit, product, owner | Hierarchy, effective date, accountable owner | Enterprise reference data</a:t>
            </a:r>
          </a:p>
          <a:p>
            <a:r>
              <a:t>Performance &amp; risk | Scorecard, assessment, issue, control, SLA | Rating, tier, status, finding, due date | TPRM / performance sources</a:t>
            </a:r>
          </a:p>
          <a:p>
            <a:r>
              <a:t>Historical snapshots | Versioned states for supported domains | Snapshot date, effective period, source version | Curated analytical store</a:t>
            </a:r>
          </a:p>
          <a:p>
            <a:r>
              <a:t>8.2 Core Logical Entities</a:t>
            </a:r>
          </a:p>
          <a:p>
            <a:r>
              <a:t>Entity | Purpose | Key relationships</a:t>
            </a:r>
          </a:p>
          <a:p>
            <a:r>
              <a:t>Vendor | Mastered supplier identity. | Parent/subsidiary, contracts, spend, workforce, services, risks.</a:t>
            </a:r>
          </a:p>
          <a:p>
            <a:r>
              <a:t>Contract | Commercial agreement and obligations. | Vendor, SOW, product, application, owner, spend.</a:t>
            </a:r>
          </a:p>
          <a:p>
            <a:r>
              <a:t>SOW | Scope and delivery terms under a contract. | Contract, workforce, service, product, organization.</a:t>
            </a:r>
          </a:p>
          <a:p>
            <a:r>
              <a:t>SpendRecord | Actual/committed financial record. | Vendor, contract, period, cost center, product, currency.</a:t>
            </a:r>
          </a:p>
          <a:p>
            <a:r>
              <a:t>ForecastRecord | Planned financial amount. | Vendor/category, period, organization, product.</a:t>
            </a:r>
          </a:p>
          <a:p>
            <a:r>
              <a:t>WorkforceAssignment | External labor relationship. | Vendor, role, team, product/application, dates.</a:t>
            </a:r>
          </a:p>
          <a:p>
            <a:r>
              <a:t>Application | Technology asset or service. | Vendor, product, business capability, owner, criticality.</a:t>
            </a:r>
          </a:p>
          <a:p>
            <a:r>
              <a:t>Product | Business or technology product. | Applications, vendors, organization, owner.</a:t>
            </a:r>
          </a:p>
          <a:p>
            <a:r>
              <a:t>RiskAssessment | Vendor or service risk evaluation. | Vendor, contract/service, issue, control, assessment date.</a:t>
            </a:r>
          </a:p>
          <a:p>
            <a:r>
              <a:t>PerformanceMetric | Vendor KPI or SLA result. | Vendor, contract/service, period, threshold.</a:t>
            </a:r>
          </a:p>
          <a:p>
            <a:r>
              <a:t>Scenario | User-defined hypothetical change set. | Baseline, levers, impacted entities, results, assumptions.</a:t>
            </a:r>
          </a:p>
          <a:p>
            <a:r>
              <a:t>Evidence | Traceable source supporting an answer. | Source system, object ID, location, extraction time, entitlement.</a:t>
            </a:r>
          </a:p>
          <a:p>
            <a:r>
              <a:t>8.3 Canonical Relationship Examples</a:t>
            </a:r>
          </a:p>
          <a:p>
            <a:r>
              <a:t>Vendor PROVIDES Service; Service SUPPORTS Application; Application ENABLES Product; Product BELONGS_TO Organization.</a:t>
            </a:r>
          </a:p>
          <a:p>
            <a:r>
              <a:t>Vendor HAS Contract; Contract HAS SOW; SOW STAFFED_BY WorkforceAssignment.</a:t>
            </a:r>
          </a:p>
          <a:p>
            <a:r>
              <a:t>SpendRecord CHARGED_TO Contract, Vendor, Product and Organization.</a:t>
            </a:r>
          </a:p>
          <a:p>
            <a:r>
              <a:t>RiskAssessment ASSESSES Vendor or Service; Issue AFFECTS Vendor, Contract, Application or Product.</a:t>
            </a:r>
          </a:p>
          <a:p>
            <a:r>
              <a:t>Owner ACCOUNTABLE_FOR VendorRelationship, Contract, Product or Application.</a:t>
            </a:r>
          </a:p>
          <a:p>
            <a:r>
              <a:t>Evidence SUPPORTS Fact, Metric, Alert, Recommendation or ScenarioResult.</a:t>
            </a:r>
          </a:p>
          <a:p>
            <a:r>
              <a:t>8.4 Data Quality Controls</a:t>
            </a:r>
          </a:p>
          <a:p>
            <a:r>
              <a:t>Control | Description | System behavior</a:t>
            </a:r>
          </a:p>
          <a:p>
            <a:r>
              <a:t>Completeness | Required identifiers, dates, amounts, owners and relationships. | Quarantine invalid records; report coverage.</a:t>
            </a:r>
          </a:p>
          <a:p>
            <a:r>
              <a:t>Uniqueness | Duplicate vendors, contracts and transactions. | Apply deterministic/probabilistic matching with stewardship queue.</a:t>
            </a:r>
          </a:p>
          <a:p>
            <a:r>
              <a:t>Validity | Allowed values, date sequencing, currency and hierarchy references. | Reject or flag based on severity.</a:t>
            </a:r>
          </a:p>
          <a:p>
            <a:r>
              <a:t>Consistency | Cross-source vendor, contract, spend and ownership agreement. | Create reconciliation exception with source comparison.</a:t>
            </a:r>
          </a:p>
          <a:p>
            <a:r>
              <a:t>Timeliness | Expected load frequency and freshness threshold. | Show stale status and suppress invalid recommendations if required.</a:t>
            </a:r>
          </a:p>
          <a:p>
            <a:r>
              <a:t>Reconciliation | Source-to-curated counts and financial totals. | Block publication when tolerance is exceeded.</a:t>
            </a:r>
          </a:p>
          <a:p>
            <a:r>
              <a:t>Lineage | Source, transformation and semantic mapping. | Expose lineage to operators and authorized users.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Citi Vendor Decision Intelligence FSD v1.0, 27 September 2026. Prepared by Capgemini AI &amp; Data.</a:t>
            </a:r>
          </a:p>
          <a:p>
            <a:r>
              <a:t>Status: build-ready baseline / requirements validation required.</a:t>
            </a:r>
          </a:p>
          <a:p>
            <a:endParaRPr/>
          </a:p>
          <a:p>
            <a:endParaRPr/>
          </a:p>
          <a:p>
            <a:r>
              <a:t>SOURCE REQUIREMENTS (verbatim reference for this slide):</a:t>
            </a:r>
          </a:p>
          <a:p>
            <a:r>
              <a:t>3. Scope</a:t>
            </a:r>
          </a:p>
          <a:p>
            <a:r>
              <a:t>3.1 In Scope</a:t>
            </a:r>
          </a:p>
          <a:p>
            <a:r>
              <a:t>Executive vendor cockpit and configurable KPI tiles.</a:t>
            </a:r>
          </a:p>
          <a:p>
            <a:r>
              <a:t>Natural-language Ask Vendor Intelligence experience.</a:t>
            </a:r>
          </a:p>
          <a:p>
            <a:r>
              <a:t>Vendor 360 profile covering contracts, spend, workforce, technology dependency, performance, risk and ownership.</a:t>
            </a:r>
          </a:p>
          <a:p>
            <a:r>
              <a:t>Renewal prioritization and renewal worklist.</a:t>
            </a:r>
          </a:p>
          <a:p>
            <a:r>
              <a:t>Concentration and dependency risk analysis.</a:t>
            </a:r>
          </a:p>
          <a:p>
            <a:r>
              <a:t>Vendor overlap and rationalization opportunity analysis.</a:t>
            </a:r>
          </a:p>
          <a:p>
            <a:r>
              <a:t>Spend-versus-forecast analysis and variance explanation.</a:t>
            </a:r>
          </a:p>
          <a:p>
            <a:r>
              <a:t>What-if scenarios for spend, workforce and supplier changes.</a:t>
            </a:r>
          </a:p>
          <a:p>
            <a:r>
              <a:t>Recommendation generation with evidence and explainability.</a:t>
            </a:r>
          </a:p>
          <a:p>
            <a:r>
              <a:t>Alerts for renewals, risk, data-quality changes and material variances.</a:t>
            </a:r>
          </a:p>
          <a:p>
            <a:r>
              <a:t>Administration for thresholds, metric definitions, source health and access roles.</a:t>
            </a:r>
          </a:p>
          <a:p>
            <a:r>
              <a:t>A reusable data, semantic, orchestration and observability foundation.</a:t>
            </a:r>
          </a:p>
          <a:p>
            <a:r>
              <a:t>3.2 Out of Scope for Initial Demo</a:t>
            </a:r>
          </a:p>
          <a:p>
            <a:r>
              <a:t>Executing contract renewals, purchase orders, workforce changes or vendor offboarding in systems of record.</a:t>
            </a:r>
          </a:p>
          <a:p>
            <a:r>
              <a:t>Autonomous approval of commercial or risk decisions.</a:t>
            </a:r>
          </a:p>
          <a:p>
            <a:r>
              <a:t>Replacement of procurement, contract lifecycle management, TPRM, ERP, workforce or CMDB systems.</a:t>
            </a:r>
          </a:p>
          <a:p>
            <a:r>
              <a:t>Production-grade Citi integrations unless separately approved and provisioned.</a:t>
            </a:r>
          </a:p>
          <a:p>
            <a:r>
              <a:t>Legal interpretation of contract language or final determination of regulatory compliance.</a:t>
            </a:r>
          </a:p>
          <a:p>
            <a:r>
              <a:t>Use of sensitive production records in the demo unless explicitly authorized.</a:t>
            </a:r>
          </a:p>
          <a:p>
            <a:r>
              <a:t>3.3 Key Assumptions Requiring Validation</a:t>
            </a:r>
          </a:p>
          <a:p>
            <a:r>
              <a:t>ID | Assumption | Impact if false</a:t>
            </a:r>
          </a:p>
          <a:p>
            <a:r>
              <a:t>A-01 | A stable vendor identifier can be mapped across source domains. | Vendor 360 and cross-domain analytics require entity-resolution rules and manual stewardship.</a:t>
            </a:r>
          </a:p>
          <a:p>
            <a:r>
              <a:t>A-02 | Historical snapshots are available or can be created. | Trend, variance and point-in-time explanations will be limited.</a:t>
            </a:r>
          </a:p>
          <a:p>
            <a:r>
              <a:t>A-03 | Application/product ownership and criticality data are accessible. | Dependency and concentration analysis will be less complete.</a:t>
            </a:r>
          </a:p>
          <a:p>
            <a:r>
              <a:t>A-04 | Contract metadata includes dates, obligations, value and vendor mapping. | Renewal prioritization requires additional extraction or manual enrichment.</a:t>
            </a:r>
          </a:p>
          <a:p>
            <a:r>
              <a:t>A-05 | Access can be enforced at row, attribute and document levels. | Sensitive evidence may need separate indexes or restricted answer patterns.</a:t>
            </a:r>
          </a:p>
          <a:p>
            <a:r>
              <a:t>A-06 | Citi will define risk thresholds and approved scoring logic. | Demo scores remain illustrative and must not be represented as Citi policy.</a:t>
            </a:r>
          </a:p>
          <a:p>
            <a:endParaRPr/>
          </a:p>
          <a:p>
            <a:endParaRPr/>
          </a:p>
          <a:p>
            <a:r>
              <a:t>6. Functional Requirements</a:t>
            </a:r>
          </a:p>
          <a:p>
            <a:r>
              <a:t>6.1 Authentication, Authorization and Session</a:t>
            </a:r>
          </a:p>
          <a:p>
            <a:r>
              <a:t>ID | Requirement | Functional description | Priority | Acceptance criteria</a:t>
            </a:r>
          </a:p>
          <a:p>
            <a:r>
              <a:t>FR-001 | Enterprise sign-on | Authenticate users through the approved enterprise identity provider. | Must | Unauthenticated access is blocked; authenticated identity is available to authorization services.</a:t>
            </a:r>
          </a:p>
          <a:p>
            <a:r>
              <a:t>FR-002 | Role-based access | Authorize pages, features, data domains and administrative functions by role. | Must | A user only sees functions assigned to the user role.</a:t>
            </a:r>
          </a:p>
          <a:p>
            <a:r>
              <a:t>FR-003 | Data entitlements | Enforce row-, attribute-, document- and index-level access before retrieval and answer generation. | Must | Restricted evidence is not retrieved, displayed, summarized or exported.</a:t>
            </a:r>
          </a:p>
          <a:p>
            <a:r>
              <a:t>FR-004 | Session controls | Apply approved session timeout, reauthentication and sign-out behavior. | Must | Expired sessions cannot call application or AI services.</a:t>
            </a:r>
          </a:p>
          <a:p>
            <a:r>
              <a:t>6.2 Executive Vendor Cockpit</a:t>
            </a:r>
          </a:p>
          <a:p>
            <a:r>
              <a:t>ID | Requirement | Functional description | Priority | Acceptance criteria</a:t>
            </a:r>
          </a:p>
          <a:p>
            <a:r>
              <a:t>FR-010 | KPI tiles | Display configurable vendor-spend, renewal, risk, workforce and variance KPIs with as-of date. | Must | Each KPI shows definition, period, source status and drill path.</a:t>
            </a:r>
          </a:p>
          <a:p>
            <a:r>
              <a:t>FR-011 | Portfolio filters | Filter by vendor, organization, product, application, geography, category, risk tier and time period where available. | Must | Filters apply consistently to all supported visuals.</a:t>
            </a:r>
          </a:p>
          <a:p>
            <a:r>
              <a:t>FR-012 | Renewal worklist | Display upcoming renewals with contract value, critical dependencies, owner and priority rationale. | Must | User can sort, filter and open the supporting vendor/contract evidence.</a:t>
            </a:r>
          </a:p>
          <a:p>
            <a:r>
              <a:t>FR-013 | Risk and opportunity panels | Show concentration, overlap, spend variance, data-quality and change alerts. | Should | Each item links to an explainable detail view.</a:t>
            </a:r>
          </a:p>
          <a:p>
            <a:r>
              <a:t>FR-014 | Saved views | Allow users to save authorized filter and layout preferences. | Could | Saved views do not override data entitlements.</a:t>
            </a:r>
          </a:p>
          <a:p>
            <a:r>
              <a:t>6.3 Ask Vendor Intelligence</a:t>
            </a:r>
          </a:p>
          <a:p>
            <a:r>
              <a:t>ID | Requirement | Functional description | Priority | Acceptance criteria</a:t>
            </a:r>
          </a:p>
          <a:p>
            <a:r>
              <a:t>FR-020 | Natural-language input | Accept vendor-management questions in plain language. | Must | System accepts a question and displays processing state.</a:t>
            </a:r>
          </a:p>
          <a:p>
            <a:r>
              <a:t>FR-021 | Intent and domain routing | Classify question intent and select approved domain tools for contracts, spend, workforce, vendor, product and risk. | Must | Execution trace records the selected plan and tools.</a:t>
            </a:r>
          </a:p>
          <a:p>
            <a:r>
              <a:t>FR-022 | Query decomposition | Break multi-domain questions into subqueries and maintain a shared filter context. | Must | Subquery results reconcile to the final response or expose unresolved conflicts.</a:t>
            </a:r>
          </a:p>
          <a:p>
            <a:r>
              <a:t>FR-023 | Evidence-backed response | Return answer, source references, as-of time, calculations, assumptions and limitations. | Must | Every material statement has viewable supporting evidence or is labelled as an inference/recommendation.</a:t>
            </a:r>
          </a:p>
          <a:p>
            <a:r>
              <a:t>FR-024 | Clarification behavior | Request a scoped clarification when vendor, period, metric or business context is ambiguous. | Should | System does not silently choose among materially different interpretations.</a:t>
            </a:r>
          </a:p>
          <a:p>
            <a:r>
              <a:t>FR-025 | Follow-up context | Support follow-up questions within the same authorized analysis context. | Should | Context retains selected entities and filters but rechecks authorization.</a:t>
            </a:r>
          </a:p>
          <a:p>
            <a:r>
              <a:t>FR-026 | Answer export | Export an authorized answer as a decision brief containing evidence references. | Should | Export includes generation time, filters, assumptions and disclaimer.</a:t>
            </a:r>
          </a:p>
          <a:p>
            <a:r>
              <a:t>FR-027 | Feedback | Capture helpful/not-helpful, issue category and optional comment. | Should | Feedback is linked to answer trace without exposing restricted content to unauthorized operators.</a:t>
            </a:r>
          </a:p>
          <a:p>
            <a:r>
              <a:t>6.4 Vendor 360</a:t>
            </a:r>
          </a:p>
          <a:p>
            <a:r>
              <a:t>ID | Requirement | Functional description | Priority | Acceptance criteria</a:t>
            </a:r>
          </a:p>
          <a:p>
            <a:r>
              <a:t>FR-030 | Vendor identity | Present mastered vendor identity, aliases and source identifiers. | Must | All displayed cross-domain records resolve to the selected vendor or show uncertain matches.</a:t>
            </a:r>
          </a:p>
          <a:p>
            <a:r>
              <a:t>FR-031 | Commercial profile | Show contracts, SOWs, effective/expiry dates, values, obligations and renewal status where available. | Must | Contract facts link to authorized source records or extracted evidence.</a:t>
            </a:r>
          </a:p>
          <a:p>
            <a:r>
              <a:t>FR-032 | Spend profile | Show actual, forecast, variance, trend and category/organization breakdown. | Must | Totals reconcile to approved source aggregates within agreed tolerance.</a:t>
            </a:r>
          </a:p>
          <a:p>
            <a:r>
              <a:t>FR-033 | Workforce profile | Show external workforce counts and approved breakdowns. | Should | Only permitted aggregate or individual detail is displayed.</a:t>
            </a:r>
          </a:p>
          <a:p>
            <a:r>
              <a:t>FR-034 | Technology dependencies | Show related applications, products, services, business capabilities and criticality. | Must | User can navigate each relationship to its evidence and ownership.</a:t>
            </a:r>
          </a:p>
          <a:p>
            <a:r>
              <a:t>FR-035 | Performance and risk | Show approved vendor performance, TPRM and issue indicators. | Should | Metric definition and assessment date are visible.</a:t>
            </a:r>
          </a:p>
          <a:p>
            <a:r>
              <a:t>FR-036 | Ownership | Show approved business, technology, sourcing and vendor-management ownership fields. | Must | Owner is derived from an authoritative source and includes as-of date.</a:t>
            </a:r>
          </a:p>
          <a:p>
            <a:r>
              <a:t>FR-037 | Timeline | Show material contract, spend, risk and relationship changes over time. | Could | Each event identifies event type, effective time and source.</a:t>
            </a:r>
          </a:p>
          <a:p>
            <a:r>
              <a:t>6.5 Renewal Prioritization</a:t>
            </a:r>
          </a:p>
          <a:p>
            <a:r>
              <a:t>ID | Requirement | Functional description | Priority | Acceptance criteria</a:t>
            </a:r>
          </a:p>
          <a:p>
            <a:r>
              <a:t>FR-040 | Renewal horizon | Identify contracts within configurable renewal horizons. | Must | Administrators can configure horizon values without code changes.</a:t>
            </a:r>
          </a:p>
          <a:p>
            <a:r>
              <a:t>FR-041 | Priority calculation | Calculate renewal priority using approved factors such as time, value, criticality, dependency, risk and performance. | Must | Score components, weights and missing data are visible.</a:t>
            </a:r>
          </a:p>
          <a:p>
            <a:r>
              <a:t>FR-042 | Obligation extraction | Surface authorized renewal, notice and termination clauses from contract content. | Should | Extracted content links to page/section and requires human validation.</a:t>
            </a:r>
          </a:p>
          <a:p>
            <a:r>
              <a:t>FR-043 | Renewal brief | Generate a structured brief with decision context, dependencies, issues and open questions. | Should | Brief distinguishes source facts from generated recommendations.</a:t>
            </a:r>
          </a:p>
          <a:p>
            <a:r>
              <a:t>6.6 Concentration and Dependency Risk</a:t>
            </a:r>
          </a:p>
          <a:p>
            <a:r>
              <a:t>ID | Requirement | Functional description | Priority | Acceptance criteria</a:t>
            </a:r>
          </a:p>
          <a:p>
            <a:r>
              <a:t>FR-050 | Exposure aggregation | Aggregate vendor exposure by spend, workforce, applications, products, services and organizational units. | Must | User can change the analysis dimension without changing the vendor scope.</a:t>
            </a:r>
          </a:p>
          <a:p>
            <a:r>
              <a:t>FR-051 | Dependency graph | Visualize navigable vendor-to-contract-to-workforce-to-technology-to-product relationships. | Must | Graph supports filter, expand, inspect and evidence navigation.</a:t>
            </a:r>
          </a:p>
          <a:p>
            <a:r>
              <a:t>FR-052 | Critical dependency | Flag single-source or material dependencies using approved rules. | Must | Flag shows rule triggered and supporting entities.</a:t>
            </a:r>
          </a:p>
          <a:p>
            <a:r>
              <a:t>FR-053 | Concentration score | Calculate an explainable concentration indicator using Citi-approved logic. | Should | No score is shown without versioned formula and data coverage.</a:t>
            </a:r>
          </a:p>
          <a:p>
            <a:r>
              <a:t>FR-054 | Alternative supplier context | Display known suppliers with overlapping capabilities without asserting substitutability. | Could | System labels results as candidates requiring business validation.</a:t>
            </a:r>
          </a:p>
          <a:p>
            <a:r>
              <a:t>6.7 Rationalization and Overlap</a:t>
            </a:r>
          </a:p>
          <a:p>
            <a:r>
              <a:t>ID | Requirement | Functional description | Priority | Acceptance criteria</a:t>
            </a:r>
          </a:p>
          <a:p>
            <a:r>
              <a:t>FR-060 | Capability comparison | Compare vendors using services, skills, products, applications, contracts and performance attributes. | Must | Comparison shows matched attributes and source provenance.</a:t>
            </a:r>
          </a:p>
          <a:p>
            <a:r>
              <a:t>FR-061 | Overlap clusters | Identify clusters of vendors serving similar capabilities or technology areas. | Should | Threshold and clustering method are visible and versioned.</a:t>
            </a:r>
          </a:p>
          <a:p>
            <a:r>
              <a:t>FR-062 | Opportunity estimate | Estimate potential spend or vendor-count opportunity using configurable assumptions. | Should | Estimate is labelled as scenario output, not committed savings.</a:t>
            </a:r>
          </a:p>
          <a:p>
            <a:r>
              <a:t>FR-063 | Constraint check | Check criticality, contractual, capacity, risk and transition constraints before recommendation. | Must | Recommendation lists passed, failed and unavailable checks.</a:t>
            </a:r>
          </a:p>
          <a:p>
            <a:r>
              <a:t>6.8 Spend, Forecast and Variance</a:t>
            </a:r>
          </a:p>
          <a:p>
            <a:r>
              <a:t>ID | Requirement | Functional description | Priority | Acceptance criteria</a:t>
            </a:r>
          </a:p>
          <a:p>
            <a:r>
              <a:t>FR-070 | Actual vs forecast | Compare actual vendor spend with approved forecast at supported grains. | Must | Period, currency, hierarchy and source version are displayed.</a:t>
            </a:r>
          </a:p>
          <a:p>
            <a:r>
              <a:t>FR-071 | Variance explanation | Rank contributing vendors, categories, units, contracts or workforce factors. | Must | Contributions reconcile to the displayed variance within agreed tolerance.</a:t>
            </a:r>
          </a:p>
          <a:p>
            <a:r>
              <a:t>FR-072 | Trend and snapshot | Support period trend and point-in-time views where historical data exists. | Should | User can distinguish transaction date, accounting period and snapshot date.</a:t>
            </a:r>
          </a:p>
          <a:p>
            <a:r>
              <a:t>FR-073 | Currency handling | Apply approved transaction and reporting currency logic. | Must | Exchange-rate source and rate date are traceable.</a:t>
            </a:r>
          </a:p>
          <a:p>
            <a:r>
              <a:t>6.9 Scenario Analysis</a:t>
            </a:r>
          </a:p>
          <a:p>
            <a:r>
              <a:t>ID | Requirement | Functional description | Priority | Acceptance criteria</a:t>
            </a:r>
          </a:p>
          <a:p>
            <a:r>
              <a:t>FR-080 | Scenario creation | Create a named, non-destructive scenario from an authorized baseline. | Must | Source records are unchanged and scenario ownership is recorded.</a:t>
            </a:r>
          </a:p>
          <a:p>
            <a:r>
              <a:t>FR-081 | Scenario levers | Support configurable spend reduction, workforce change, vendor substitution, timing and scope levers. | Must | Only enabled levers and valid ranges are accepted.</a:t>
            </a:r>
          </a:p>
          <a:p>
            <a:r>
              <a:t>FR-082 | Impact propagation | Propagate changes through contract, workforce, application, product and organization relationships. | Must | Impacted entities and propagation path are visible.</a:t>
            </a:r>
          </a:p>
          <a:p>
            <a:r>
              <a:t>FR-083 | Baseline comparison | Compare baseline and scenario for financial, operational and risk indicators. | Must | Comparison uses consistent date, currency and scope.</a:t>
            </a:r>
          </a:p>
          <a:p>
            <a:r>
              <a:t>FR-084 | Scenario assumptions | Capture assumptions, exclusions, constraints and data coverage. | Must | Scenario cannot be presented without an assumptions panel.</a:t>
            </a:r>
          </a:p>
          <a:p>
            <a:r>
              <a:t>FR-085 | Scenario sharing | Share read-only scenarios with authorized reviewers. | Could | Recipient access is re-evaluated and restricted evidence is removed.</a:t>
            </a:r>
          </a:p>
          <a:p>
            <a:r>
              <a:t>6.10 Recommendations, Alerts and Decisions</a:t>
            </a:r>
          </a:p>
          <a:p>
            <a:r>
              <a:t>ID | Requirement | Functional description | Priority | Acceptance criteria</a:t>
            </a:r>
          </a:p>
          <a:p>
            <a:r>
              <a:t>FR-090 | Recommendation generation | Generate candidate actions from facts, policy checks and scenario outputs. | Must | Recommendation shows rationale, evidence, confidence and human decision requirement.</a:t>
            </a:r>
          </a:p>
          <a:p>
            <a:r>
              <a:t>FR-091 | Human disposition | Allow authorized user to accept for review, reject, defer or request more evidence. | Should | Disposition and comment are auditable and do not execute source actions.</a:t>
            </a:r>
          </a:p>
          <a:p>
            <a:r>
              <a:t>FR-092 | Alert rules | Configure alerts for renewals, risk, variance, material changes and data-quality conditions. | Should | Alert includes rule version, trigger facts, severity and owner.</a:t>
            </a:r>
          </a:p>
          <a:p>
            <a:r>
              <a:t>FR-093 | Decision brief | Generate a concise decision package with options, impacts, evidence and unresolved issues. | Should | Brief is reproducible from a stored analysis trace.</a:t>
            </a:r>
          </a:p>
          <a:p>
            <a:r>
              <a:t>6.11 Administration and Stewardship</a:t>
            </a:r>
          </a:p>
          <a:p>
            <a:r>
              <a:t>ID | Requirement | Functional description | Priority | Acceptance criteria</a:t>
            </a:r>
          </a:p>
          <a:p>
            <a:r>
              <a:t>FR-100 | Metric catalog | Manage business definitions, formulas, owners and effective dates. | Must | UI displays the active definition used by each metric.</a:t>
            </a:r>
          </a:p>
          <a:p>
            <a:r>
              <a:t>FR-101 | Threshold configuration | Manage renewal windows, risk bands, variance thresholds and scenario bounds. | Must | Changes are versioned, approved and effective-dated.</a:t>
            </a:r>
          </a:p>
          <a:p>
            <a:r>
              <a:t>FR-102 | Entity stewardship | Review and resolve vendor identity matches and relationship exceptions. | Must | Manual decisions retain steward, timestamp, reason and source values.</a:t>
            </a:r>
          </a:p>
          <a:p>
            <a:r>
              <a:t>FR-103 | Source health | Display ingestion status, freshness, quality and reconciliation results. | Must | Stale or failed sources visibly affect answer status.</a:t>
            </a:r>
          </a:p>
          <a:p>
            <a:r>
              <a:t>FR-104 | Prompt/model configuration | Restrict changes to approved prompts, models and routing policies. | Must | All changes are versioned and rollback-capable.</a:t>
            </a:r>
          </a:p>
          <a:p>
            <a:endParaRPr/>
          </a:p>
          <a:p>
            <a:endParaRPr/>
          </a:p>
          <a:p>
            <a:r>
              <a:t>18. Requirements Traceability</a:t>
            </a:r>
          </a:p>
          <a:p>
            <a:r>
              <a:t>Business objective | Use cases | Primary requirements</a:t>
            </a:r>
          </a:p>
          <a:p>
            <a:r>
              <a:t>Unified trusted evidence | UC-01, UC-07 | FR-030 to FR-037; FR-100 to FR-103</a:t>
            </a:r>
          </a:p>
          <a:p>
            <a:r>
              <a:t>Faster renewal decisions | UC-02 | FR-040 to FR-043; FR-020 to FR-027</a:t>
            </a:r>
          </a:p>
          <a:p>
            <a:r>
              <a:t>Proactive concentration management | UC-03 | FR-050 to FR-054</a:t>
            </a:r>
          </a:p>
          <a:p>
            <a:r>
              <a:t>Supplier rationalization | UC-04 | FR-060 to FR-063</a:t>
            </a:r>
          </a:p>
          <a:p>
            <a:r>
              <a:t>Spend transparency | UC-05 | FR-070 to FR-073</a:t>
            </a:r>
          </a:p>
          <a:p>
            <a:r>
              <a:t>What-if decision support | UC-06 | FR-080 to FR-085</a:t>
            </a:r>
          </a:p>
          <a:p>
            <a:r>
              <a:t>Explainable actions | UC-07, UC-08 | FR-090 to FR-093</a:t>
            </a:r>
          </a:p>
          <a:p>
            <a:r>
              <a:t>Controlled operation | All | FR-001 to FR-004; FR-100 to FR-104; NFR-01 to NFR-14</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Citi Vendor Decision Intelligence FSD v1.0, 27 September 2026. Prepared by Capgemini AI &amp; Data.</a:t>
            </a:r>
          </a:p>
          <a:p>
            <a:r>
              <a:t>Status: build-ready baseline / requirements validation required.</a:t>
            </a:r>
          </a:p>
          <a:p>
            <a:endParaRPr/>
          </a:p>
          <a:p>
            <a:endParaRPr/>
          </a:p>
          <a:p>
            <a:r>
              <a:t>SOURCE REQUIREMENTS (verbatim reference for this slide):</a:t>
            </a:r>
          </a:p>
          <a:p>
            <a:r>
              <a:t>5. End-to-End Demo Journey</a:t>
            </a:r>
          </a:p>
          <a:p>
            <a:r>
              <a:t>User authenticates and lands on the Executive Vendor Cockpit.</a:t>
            </a:r>
          </a:p>
          <a:p>
            <a:r>
              <a:t>User reviews renewals, concentration, spend variance and open alerts.</a:t>
            </a:r>
          </a:p>
          <a:p>
            <a:r>
              <a:t>User asks: "Which vendors have contracts expiring soon and support critical applications?"</a:t>
            </a:r>
          </a:p>
          <a:p>
            <a:r>
              <a:t>System decomposes the question, applies entitlements, queries approved structured and unstructured sources, reconciles results and returns an evidence-backed answer.</a:t>
            </a:r>
          </a:p>
          <a:p>
            <a:r>
              <a:t>User selects a vendor to open Vendor 360 and explores contracts, spend, workforce, applications, products, risks, performance and ownership.</a:t>
            </a:r>
          </a:p>
          <a:p>
            <a:r>
              <a:t>User opens dependency graph to inspect the vendor-to-contract-to-workforce-to-application-to-product relationships.</a:t>
            </a:r>
          </a:p>
          <a:p>
            <a:r>
              <a:t>User asks: "If we reduce this vendor spend, what gets impacted?" and creates a non-destructive scenario.</a:t>
            </a:r>
          </a:p>
          <a:p>
            <a:r>
              <a:t>System calculates affected entities, assumptions, constraints, risk indicators and financial deltas, then compares baseline versus scenario.</a:t>
            </a:r>
          </a:p>
          <a:p>
            <a:r>
              <a:t>User requests recommended actions. System returns ranked options with rationale, evidence, confidence and required approvals.</a:t>
            </a:r>
          </a:p>
          <a:p>
            <a:r>
              <a:t>User exports a decision brief or saves the analysis for review. No source-system action is executed by the demo.</a:t>
            </a:r>
          </a:p>
          <a:p>
            <a:r>
              <a:t>5.1 Primary Use Cases</a:t>
            </a:r>
          </a:p>
          <a:p>
            <a:r>
              <a:t>Use case | Trigger | Primary output</a:t>
            </a:r>
          </a:p>
          <a:p>
            <a:r>
              <a:t>UC-01 Vendor 360 | User selects or searches for a vendor. | Connected profile with evidence and as-of dates.</a:t>
            </a:r>
          </a:p>
          <a:p>
            <a:r>
              <a:t>UC-02 Renewal prioritization | Upcoming or at-risk renewal. | Prioritized worklist, dependency summary and rationale.</a:t>
            </a:r>
          </a:p>
          <a:p>
            <a:r>
              <a:t>UC-03 Concentration risk | Portfolio review or vendor event. | Exposure by service, product, application, workforce and spend.</a:t>
            </a:r>
          </a:p>
          <a:p>
            <a:r>
              <a:t>UC-04 Rationalization | Cost or supplier-footprint review. | Overlap clusters, candidate actions and impact summary.</a:t>
            </a:r>
          </a:p>
          <a:p>
            <a:r>
              <a:t>UC-05 Spend variance | Actual/forecast variance exceeds threshold. | Variance explanation and contributing dimensions.</a:t>
            </a:r>
          </a:p>
          <a:p>
            <a:r>
              <a:t>UC-06 Scenario analysis | Proposed spend, workforce or vendor change. | Baseline comparison, impacted entities and risk.</a:t>
            </a:r>
          </a:p>
          <a:p>
            <a:r>
              <a:t>UC-07 Executive Q&amp;A | Ad hoc decision question. | Answer, evidence, limitations and recommended follow-up.</a:t>
            </a:r>
          </a:p>
          <a:p>
            <a:r>
              <a:t>UC-08 Alerts | Threshold, event or material data change. | Prioritized alert with link to supporting analysis.</a:t>
            </a:r>
          </a:p>
          <a:p>
            <a:endParaRPr/>
          </a:p>
          <a:p>
            <a:endParaRPr/>
          </a:p>
          <a:p>
            <a:r>
              <a:t>10. User Experience Specification</a:t>
            </a:r>
          </a:p>
          <a:p>
            <a:r>
              <a:t>10.1 Navigation</a:t>
            </a:r>
          </a:p>
          <a:p>
            <a:r>
              <a:t>Home / Executive Cockpit</a:t>
            </a:r>
          </a:p>
          <a:p>
            <a:r>
              <a:t>Ask Vendor Intelligence</a:t>
            </a:r>
          </a:p>
          <a:p>
            <a:r>
              <a:t>Vendors</a:t>
            </a:r>
          </a:p>
          <a:p>
            <a:r>
              <a:t>Renewals</a:t>
            </a:r>
          </a:p>
          <a:p>
            <a:r>
              <a:t>Risk &amp; Dependencies</a:t>
            </a:r>
          </a:p>
          <a:p>
            <a:r>
              <a:t>Spend &amp; Forecast</a:t>
            </a:r>
          </a:p>
          <a:p>
            <a:r>
              <a:t>Scenarios</a:t>
            </a:r>
          </a:p>
          <a:p>
            <a:r>
              <a:t>Alerts</a:t>
            </a:r>
          </a:p>
          <a:p>
            <a:r>
              <a:t>Administration (authorized roles only)</a:t>
            </a:r>
          </a:p>
          <a:p>
            <a:r>
              <a:t>10.2 Standard Answer Layout</a:t>
            </a:r>
          </a:p>
          <a:p>
            <a:r>
              <a:t>Direct answer or executive summary.</a:t>
            </a:r>
          </a:p>
          <a:p>
            <a:r>
              <a:t>Key findings and ranked drivers.</a:t>
            </a:r>
          </a:p>
          <a:p>
            <a:r>
              <a:t>Evidence panel with source, record, relevant excerpt/value and as-of date.</a:t>
            </a:r>
          </a:p>
          <a:p>
            <a:r>
              <a:t>Applied scope and filters.</a:t>
            </a:r>
          </a:p>
          <a:p>
            <a:r>
              <a:t>Calculation or relationship explanation.</a:t>
            </a:r>
          </a:p>
          <a:p>
            <a:r>
              <a:t>Assumptions, missing data, conflicts and limitations.</a:t>
            </a:r>
          </a:p>
          <a:p>
            <a:r>
              <a:t>Recommended next actions, clearly labelled as recommendations.</a:t>
            </a:r>
          </a:p>
          <a:p>
            <a:r>
              <a:t>Feedback and export controls.</a:t>
            </a:r>
          </a:p>
          <a:p>
            <a:r>
              <a:t>10.3 Vendor 360 Page</a:t>
            </a:r>
          </a:p>
          <a:p>
            <a:r>
              <a:t>Region | Contents</a:t>
            </a:r>
          </a:p>
          <a:p>
            <a:r>
              <a:t>Header | Vendor identity, parent, status, category, risk tier, primary owners, as-of date.</a:t>
            </a:r>
          </a:p>
          <a:p>
            <a:r>
              <a:t>Summary | Spend, contracts, workforce, applications/products, open risks and upcoming renewals.</a:t>
            </a:r>
          </a:p>
          <a:p>
            <a:r>
              <a:t>Tabs | Commercial; Spend; Workforce; Technology; Risk &amp; Performance; Relationships; Timeline.</a:t>
            </a:r>
          </a:p>
          <a:p>
            <a:r>
              <a:t>Context panel | Alerts, missing data, source freshness and recommended analysis.</a:t>
            </a:r>
          </a:p>
          <a:p>
            <a:r>
              <a:t>Actions | Ask about this vendor, create scenario, compare vendor, generate brief.</a:t>
            </a:r>
          </a:p>
          <a:p>
            <a:r>
              <a:t>10.4 Accessibility and Usability</a:t>
            </a:r>
          </a:p>
          <a:p>
            <a:r>
              <a:t>Keyboard-operable navigation and controls.</a:t>
            </a:r>
          </a:p>
          <a:p>
            <a:r>
              <a:t>Visible focus state and logical reading order.</a:t>
            </a:r>
          </a:p>
          <a:p>
            <a:r>
              <a:t>Color not used as the only indicator of risk or status.</a:t>
            </a:r>
          </a:p>
          <a:p>
            <a:r>
              <a:t>Alternative text for meaningful visuals and textual equivalent for graph findings.</a:t>
            </a:r>
          </a:p>
          <a:p>
            <a:r>
              <a:t>Plain-language labels, metric definitions and consistent date/currency formatting.</a:t>
            </a:r>
          </a:p>
          <a:p>
            <a:r>
              <a:t>Progress, empty, stale, partial, conflict and error states explicitly designed.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Citi Vendor Decision Intelligence FSD v1.0, 27 September 2026. Prepared by Capgemini AI &amp; Data.</a:t>
            </a:r>
          </a:p>
          <a:p>
            <a:r>
              <a:t>Status: build-ready baseline / requirements validation required.</a:t>
            </a:r>
          </a:p>
          <a:p>
            <a:endParaRPr/>
          </a:p>
          <a:p>
            <a:endParaRPr/>
          </a:p>
          <a:p>
            <a:r>
              <a:t>SOURCE REQUIREMENTS (verbatim reference for this slide):</a:t>
            </a:r>
          </a:p>
          <a:p>
            <a:r>
              <a:t>7. Business Rules</a:t>
            </a:r>
          </a:p>
          <a:p>
            <a:r>
              <a:t>Rule ID | Rule</a:t>
            </a:r>
          </a:p>
          <a:p>
            <a:r>
              <a:t>BR-01 | A vendor fact is displayable only when the user is entitled to the underlying record or an approved aggregate.</a:t>
            </a:r>
          </a:p>
          <a:p>
            <a:r>
              <a:t>BR-02 | All material answers must display an as-of date and the freshness of contributing sources.</a:t>
            </a:r>
          </a:p>
          <a:p>
            <a:r>
              <a:t>BR-03 | Recommendations must be clearly separated from source facts and must require human decision-making.</a:t>
            </a:r>
          </a:p>
          <a:p>
            <a:r>
              <a:t>BR-04 | Missing or conflicting source data must lower confidence and be surfaced, not silently imputed, unless an approved rule exists.</a:t>
            </a:r>
          </a:p>
          <a:p>
            <a:r>
              <a:t>BR-05 | Scenario results are hypothetical and must not update systems of record.</a:t>
            </a:r>
          </a:p>
          <a:p>
            <a:r>
              <a:t>BR-06 | A renewal-priority or concentration score cannot be shown without the active formula version and component visibility.</a:t>
            </a:r>
          </a:p>
          <a:p>
            <a:r>
              <a:t>BR-07 | Contract clause extraction is advisory and must link to the original clause for human review.</a:t>
            </a:r>
          </a:p>
          <a:p>
            <a:r>
              <a:t>BR-08 | Potential savings must be labelled as an estimate and include baseline, assumptions, exclusions and currency.</a:t>
            </a:r>
          </a:p>
          <a:p>
            <a:r>
              <a:t>BR-09 | Vendor alternatives or overlap do not imply interchangeability; business and risk validation is mandatory.</a:t>
            </a:r>
          </a:p>
          <a:p>
            <a:r>
              <a:t>BR-10 | Exports must inherit access controls and include generation metadata and confidentiality markings.</a:t>
            </a:r>
          </a:p>
          <a:p>
            <a:r>
              <a:t>BR-11 | If a required source is stale beyond its approved threshold, the answer must show a stale-data warning.</a:t>
            </a:r>
          </a:p>
          <a:p>
            <a:r>
              <a:t>BR-12 | Metric calculations must use approved semantic definitions rather than agent-generated formulas.</a:t>
            </a:r>
          </a:p>
          <a:p>
            <a:endParaRPr/>
          </a:p>
          <a:p>
            <a:endParaRPr/>
          </a:p>
          <a:p>
            <a:r>
              <a:t>9. Functional Architecture</a:t>
            </a:r>
          </a:p>
          <a:p>
            <a:r>
              <a:t>Layer | Responsibilities | Illustrative components</a:t>
            </a:r>
          </a:p>
          <a:p>
            <a:r>
              <a:t>Experience | Cockpit, Ask Vendor Intelligence, Vendor 360, graph, scenario UI, alerts and export. | Web application, visualization components, accessibility support.</a:t>
            </a:r>
          </a:p>
          <a:p>
            <a:r>
              <a:t>Decision orchestration | Intent routing, query planning, tool selection, policy checks, response assembly. | Orchestrator, domain agents/tools, validation and explanation services.</a:t>
            </a:r>
          </a:p>
          <a:p>
            <a:r>
              <a:t>Semantic and analytics | Approved metrics, SQL access, graph traversal, retrieval and temporal comparison. | Semantic layer, SQL service, graph service, vector retrieval, scenario engine.</a:t>
            </a:r>
          </a:p>
          <a:p>
            <a:r>
              <a:t>Knowledge processing | Ingest, classify, extract, map, resolve, validate, index and capture lineage. | Data pipelines, document processing, entity resolution, DQ framework.</a:t>
            </a:r>
          </a:p>
          <a:p>
            <a:r>
              <a:t>Data foundation | Authoritative curated analytics, graph projection, document/vector index and metadata. | SQL store, graph store, vector index, object/document store.</a:t>
            </a:r>
          </a:p>
          <a:p>
            <a:r>
              <a:t>AI runtime and control | Model routing, prompt management, guardrails, telemetry, cost and evaluation. | Approved model gateway, safety filters, trace store, evaluation harness.</a:t>
            </a:r>
          </a:p>
          <a:p>
            <a:r>
              <a:t>Security and operations | Identity, entitlements, secrets, monitoring, incident and change control. | IAM, policy enforcement, vault, SIEM, observability and CI/CD.</a:t>
            </a:r>
          </a:p>
          <a:p>
            <a:r>
              <a:t>9.1 Agent / Tool Responsibilities</a:t>
            </a:r>
          </a:p>
          <a:p>
            <a:r>
              <a:t>Component | Responsibility | Prohibited behavior</a:t>
            </a:r>
          </a:p>
          <a:p>
            <a:r>
              <a:t>Query planner | Interpret task, decompose and sequence approved tools. | Invent data or bypass authorization.</a:t>
            </a:r>
          </a:p>
          <a:p>
            <a:r>
              <a:t>SQL analytics tool | Execute approved metric and aggregation queries. | Generate unrestricted SQL against raw production sources.</a:t>
            </a:r>
          </a:p>
          <a:p>
            <a:r>
              <a:t>Graph tool | Traverse governed entity relationships and return paths. | Infer unapproved relationships without confidence/evidence.</a:t>
            </a:r>
          </a:p>
          <a:p>
            <a:r>
              <a:t>Document retrieval tool | Retrieve entitled contract and policy passages. | Return inaccessible documents or unsupported clause conclusions.</a:t>
            </a:r>
          </a:p>
          <a:p>
            <a:r>
              <a:t>Temporal analysis tool | Compare snapshots and explain change. | Mix effective dates or snapshots without disclosure.</a:t>
            </a:r>
          </a:p>
          <a:p>
            <a:r>
              <a:t>Scenario engine | Apply approved levers and calculate impacts. | Write changes to source systems.</a:t>
            </a:r>
          </a:p>
          <a:p>
            <a:r>
              <a:t>Validation service | Check reconciliation, policy, data coverage and contradiction. | Suppress material limitations.</a:t>
            </a:r>
          </a:p>
          <a:p>
            <a:r>
              <a:t>Explanation service | Assemble rationale, evidence, assumptions and confidence. | Represent generated advice as authoritative approval.</a:t>
            </a:r>
          </a:p>
          <a:p>
            <a:endParaRPr/>
          </a:p>
          <a:p>
            <a:endParaRPr/>
          </a:p>
          <a:p>
            <a:r>
              <a:t>11. Integration Requirements</a:t>
            </a:r>
          </a:p>
          <a:p>
            <a:r>
              <a:t>Interface | Pattern | Minimum behavior | Open decision</a:t>
            </a:r>
          </a:p>
          <a:p>
            <a:r>
              <a:t>Structured sources | Batch, CDC or approved query interface. | Schema validation, watermarking, reconciliation, retry and lineage. | Citi-selected source and frequency.</a:t>
            </a:r>
          </a:p>
          <a:p>
            <a:r>
              <a:t>Contract documents | Secure file/document ingestion. | Metadata capture, OCR where needed, extraction, chunking, entitlement and citation. | Repository and permitted content.</a:t>
            </a:r>
          </a:p>
          <a:p>
            <a:r>
              <a:t>Identity and access | Enterprise SSO and authorization. | Token validation, group/role mapping and policy evaluation. | Identity provider and entitlement model.</a:t>
            </a:r>
          </a:p>
          <a:p>
            <a:r>
              <a:t>Model gateway | Approved enterprise AI endpoint. | Routing, guardrails, prompt versioning, telemetry and cost controls. | Permitted models and deployment region.</a:t>
            </a:r>
          </a:p>
          <a:p>
            <a:r>
              <a:t>Notifications | Approved email/chat/workflow connector. | Deliver alert summary with link, no sensitive payload unless authorized. | Permitted channel and template.</a:t>
            </a:r>
          </a:p>
          <a:p>
            <a:r>
              <a:t>Export | Document or data export service. | Confidentiality marking, access check and audit event. | Permitted formats and destinations.</a:t>
            </a:r>
          </a:p>
          <a:p>
            <a:r>
              <a:t>11.1 Proposed Service Contracts</a:t>
            </a:r>
          </a:p>
          <a:p>
            <a:r>
              <a:t>Service | Example operation | Response minimum</a:t>
            </a:r>
          </a:p>
          <a:p>
            <a:r>
              <a:t>Vendor service | GET vendor / search vendors | Canonical vendor, aliases, status, hierarchy, freshness.</a:t>
            </a:r>
          </a:p>
          <a:p>
            <a:r>
              <a:t>Vendor 360 service | GET vendor/{id}/360 | Authorized domain summaries, evidence links, coverage.</a:t>
            </a:r>
          </a:p>
          <a:p>
            <a:r>
              <a:t>Query service | POST query | Answer ID, status, answer, evidence, scope, limitations, trace ID.</a:t>
            </a:r>
          </a:p>
          <a:p>
            <a:r>
              <a:t>Graph service | POST relationships | Nodes, edges, evidence, confidence, entitlements.</a:t>
            </a:r>
          </a:p>
          <a:p>
            <a:r>
              <a:t>Scenario service | POST scenario / GET comparison | Inputs, baseline, results, impacts, assumptions, errors.</a:t>
            </a:r>
          </a:p>
          <a:p>
            <a:r>
              <a:t>Recommendation service | POST recommendations | Candidate action, rationale, evidence, checks, confidence.</a:t>
            </a:r>
          </a:p>
          <a:p>
            <a:r>
              <a:t>Alert service | GET alerts / POST disposition | Alert, severity, trigger, owner, status, audit metadata.</a:t>
            </a:r>
          </a:p>
          <a:p>
            <a:endParaRPr/>
          </a:p>
          <a:p>
            <a:endParaRPr/>
          </a:p>
          <a:p>
            <a:r>
              <a:t>12. Security, Privacy, Risk and Responsible AI</a:t>
            </a:r>
          </a:p>
          <a:p>
            <a:r>
              <a:t>Control area | Requirement</a:t>
            </a:r>
          </a:p>
          <a:p>
            <a:r>
              <a:t>Least privilege | Users, services and agents receive only the permissions required for their function.</a:t>
            </a:r>
          </a:p>
          <a:p>
            <a:r>
              <a:t>Entitlement-aware retrieval | Authorization is enforced before search, retrieval, aggregation, answer assembly and export.</a:t>
            </a:r>
          </a:p>
          <a:p>
            <a:r>
              <a:t>Data minimization | Only required data attributes are ingested, indexed and displayed.</a:t>
            </a:r>
          </a:p>
          <a:p>
            <a:r>
              <a:t>Encryption | Use approved encryption in transit and at rest with managed keys.</a:t>
            </a:r>
          </a:p>
          <a:p>
            <a:r>
              <a:t>Secrets | Credentials and keys are stored in an approved secrets-management service and never in prompts or code.</a:t>
            </a:r>
          </a:p>
          <a:p>
            <a:r>
              <a:t>Auditability | Capture user, time, question, plan, tools, source objects, model/prompt versions, outcome and export events.</a:t>
            </a:r>
          </a:p>
          <a:p>
            <a:r>
              <a:t>Prompt injection defense | Treat retrieved content as untrusted; isolate instructions from evidence; validate tool calls.</a:t>
            </a:r>
          </a:p>
          <a:p>
            <a:r>
              <a:t>Output safety | Detect restricted data, unsupported claims, policy violations and unsafe actions before display.</a:t>
            </a:r>
          </a:p>
          <a:p>
            <a:r>
              <a:t>Human oversight | Recommendations and extracted clauses require human review; no autonomous commercial decision.</a:t>
            </a:r>
          </a:p>
          <a:p>
            <a:r>
              <a:t>Record retention | Apply approved retention and deletion policies to source copies, indexes, traces, feedback and exports.</a:t>
            </a:r>
          </a:p>
          <a:p>
            <a:r>
              <a:t>Segregation of duties | Separate business approval, data stewardship, platform administration and model/prompt administration.</a:t>
            </a:r>
          </a:p>
          <a:p>
            <a:r>
              <a:t>Change governance | Version and approve semantic definitions, scoring, prompts, models, rules and thresholds.</a:t>
            </a:r>
          </a:p>
          <a:p>
            <a:r>
              <a:t>12.1 Explainability Standard</a:t>
            </a:r>
          </a:p>
          <a:p>
            <a:r>
              <a:t>What question was interpreted and what scope was applied.</a:t>
            </a:r>
          </a:p>
          <a:p>
            <a:r>
              <a:t>Which authoritative sources and snapshots contributed.</a:t>
            </a:r>
          </a:p>
          <a:p>
            <a:r>
              <a:t>Which metrics, rules and relationship paths were used.</a:t>
            </a:r>
          </a:p>
          <a:p>
            <a:r>
              <a:t>What assumptions or missing data affected the output.</a:t>
            </a:r>
          </a:p>
          <a:p>
            <a:r>
              <a:t>How recommendation checks passed, failed or could not be evaluated.</a:t>
            </a:r>
          </a:p>
          <a:p>
            <a:r>
              <a:t>Why confidence is high, medium or low using an approved rating policy.</a:t>
            </a:r>
          </a:p>
          <a:p>
            <a:r>
              <a:t>What a human reviewer must validate before action.</a:t>
            </a:r>
          </a:p>
          <a:p>
            <a:endParaRPr/>
          </a:p>
          <a:p>
            <a:endParaRPr/>
          </a:p>
          <a:p>
            <a:r>
              <a:t>13. Non-Functional Requirements</a:t>
            </a:r>
          </a:p>
          <a:p>
            <a:r>
              <a:t>ID | Category | Requirement / target to validate</a:t>
            </a:r>
          </a:p>
          <a:p>
            <a:r>
              <a:t>NFR-01 | Availability | Define separate availability targets for demo and production service tiers.</a:t>
            </a:r>
          </a:p>
          <a:p>
            <a:r>
              <a:t>NFR-02 | Performance | Define percentile response targets for dashboard, structured query, graph traversal, retrieval Q&amp;A and scenarios.</a:t>
            </a:r>
          </a:p>
          <a:p>
            <a:r>
              <a:t>NFR-03 | Scalability | Scale independently across ingestion, structured queries, graph queries, retrieval and model inference.</a:t>
            </a:r>
          </a:p>
          <a:p>
            <a:r>
              <a:t>NFR-04 | Reliability | Use idempotent ingestion, retry with backoff, dead-letter handling and recoverable orchestration.</a:t>
            </a:r>
          </a:p>
          <a:p>
            <a:r>
              <a:t>NFR-05 | Freshness | Set source-specific expected arrival and stale thresholds visible to users.</a:t>
            </a:r>
          </a:p>
          <a:p>
            <a:r>
              <a:t>NFR-06 | Data accuracy | Set reconciliation tolerances for counts, spend, forecast and relationship coverage.</a:t>
            </a:r>
          </a:p>
          <a:p>
            <a:r>
              <a:t>NFR-07 | Observability | Capture logs, metrics and traces across request, tool, data, model and user experience layers.</a:t>
            </a:r>
          </a:p>
          <a:p>
            <a:r>
              <a:t>NFR-08 | Audit | Retain tamper-evident records sufficient to reproduce material answers and decisions.</a:t>
            </a:r>
          </a:p>
          <a:p>
            <a:r>
              <a:t>NFR-09 | Accessibility | Conform to Citi-approved accessibility standard and test with keyboard and assistive technologies.</a:t>
            </a:r>
          </a:p>
          <a:p>
            <a:r>
              <a:t>NFR-10 | Maintainability | Configuration-driven sources, metrics, rules, thresholds, prompts and models with automated tests.</a:t>
            </a:r>
          </a:p>
          <a:p>
            <a:r>
              <a:t>NFR-11 | Portability | Abstract source and model connectors to permit approved deployment choices.</a:t>
            </a:r>
          </a:p>
          <a:p>
            <a:r>
              <a:t>NFR-12 | Disaster recovery | Define RTO/RPO by component and test recovery procedures.</a:t>
            </a:r>
          </a:p>
          <a:p>
            <a:r>
              <a:t>NFR-13 | Cost control | Track per-request and aggregate compute/model cost with budgets and routing policies.</a:t>
            </a:r>
          </a:p>
          <a:p>
            <a:r>
              <a:t>NFR-14 | Localization | Use approved date, number, currency and time-zone standards.</a:t>
            </a:r>
          </a:p>
          <a:p>
            <a:endParaRPr/>
          </a:p>
          <a:p>
            <a:endParaRPr/>
          </a:p>
          <a:p>
            <a:r>
              <a:t>14. Error, Exception and Degraded-State Handling</a:t>
            </a:r>
          </a:p>
          <a:p>
            <a:r>
              <a:t>Condition | Required user behavior | Operator behavior</a:t>
            </a:r>
          </a:p>
          <a:p>
            <a:r>
              <a:t>No authorized data | Explain that no accessible evidence was found; do not imply no enterprise data exists. | Record authorization-safe diagnostic.</a:t>
            </a:r>
          </a:p>
          <a:p>
            <a:r>
              <a:t>Source stale | Show stale warning and as-of time; suppress affected recommendation when policy requires. | Raise freshness alert.</a:t>
            </a:r>
          </a:p>
          <a:p>
            <a:r>
              <a:t>Source unavailable | Return partial result only if clearly labelled. | Retry, circuit-break and alert.</a:t>
            </a:r>
          </a:p>
          <a:p>
            <a:r>
              <a:t>Conflicting facts | Show conflict and both authorized sources; avoid selecting silently. | Create stewardship/reconciliation issue.</a:t>
            </a:r>
          </a:p>
          <a:p>
            <a:r>
              <a:t>Ambiguous entity | Ask user to select or refine. | Record match candidates and confidence.</a:t>
            </a:r>
          </a:p>
          <a:p>
            <a:r>
              <a:t>Low-confidence extraction | Show original passage and require validation. | Queue for review if configured.</a:t>
            </a:r>
          </a:p>
          <a:p>
            <a:r>
              <a:t>Scenario invalid | Explain violated bound or missing dependency. | Log validation failure; no partial write.</a:t>
            </a:r>
          </a:p>
          <a:p>
            <a:r>
              <a:t>Model/tool failure | Provide safe error and preserve trace ID. | Fail over only to approved route and alert.</a:t>
            </a:r>
          </a:p>
          <a:p>
            <a:endParaRPr/>
          </a:p>
          <a:p>
            <a:endParaRPr/>
          </a:p>
          <a:p>
            <a:r>
              <a:t>15. Audit and Observability</a:t>
            </a:r>
          </a:p>
          <a:p>
            <a:r>
              <a:t>Event group | Required fields</a:t>
            </a:r>
          </a:p>
          <a:p>
            <a:r>
              <a:t>User event | User ID, role, session, timestamp, page/action, scope and outcome.</a:t>
            </a:r>
          </a:p>
          <a:p>
            <a:r>
              <a:t>Query trace | Original question, normalized intent, plan, subqueries, tools, filters and trace ID.</a:t>
            </a:r>
          </a:p>
          <a:p>
            <a:r>
              <a:t>Data access | Source, object/query, entitlement decision, row/aggregate scope and timing.</a:t>
            </a:r>
          </a:p>
          <a:p>
            <a:r>
              <a:t>AI invocation | Model/deployment, prompt/template version, token/compute usage, latency and safety result.</a:t>
            </a:r>
          </a:p>
          <a:p>
            <a:r>
              <a:t>Answer | Answer version, evidence IDs, assumptions, limitations, confidence and validation result.</a:t>
            </a:r>
          </a:p>
          <a:p>
            <a:r>
              <a:t>Scenario | Owner, baseline, inputs, formula/rule versions, outcomes and sharing.</a:t>
            </a:r>
          </a:p>
          <a:p>
            <a:r>
              <a:t>Configuration | Actor, before/after, approval, effective date and rollback reference.</a:t>
            </a:r>
          </a:p>
          <a:p>
            <a:r>
              <a:t>Export | User, content ID, format, destination, classification and entitlement recheck.</a:t>
            </a:r>
          </a:p>
          <a:p>
            <a:endParaRPr/>
          </a:p>
          <a:p>
            <a:endParaRPr/>
          </a:p>
          <a:p>
            <a:r>
              <a:t>19. Build Work Packages</a:t>
            </a:r>
          </a:p>
          <a:p>
            <a:r>
              <a:t>Work package | Deliverables | Entry dependency | Exit criteria</a:t>
            </a:r>
          </a:p>
          <a:p>
            <a:r>
              <a:t>WP1 Product &amp; UX | Validated journeys, wireframes, terminology, golden questions. | Business sponsor and users. | Signed scope and acceptance examples.</a:t>
            </a:r>
          </a:p>
          <a:p>
            <a:r>
              <a:t>WP2 Data foundation | Canonical model, mappings, ingestion, quality, lineage, snapshots. | Source access and data owners. | Reconciled curated data and DQ report.</a:t>
            </a:r>
          </a:p>
          <a:p>
            <a:r>
              <a:t>WP3 Semantic &amp; analytics | Metric catalog, SQL tools, graph model and retrieval index. | WP2 baseline. | Approved metrics and traceable queries.</a:t>
            </a:r>
          </a:p>
          <a:p>
            <a:r>
              <a:t>WP4 Orchestration &amp; AI | Planner, tools, guardrails, validation, explanation and evaluations. | Approved model gateway and policies. | Golden-question thresholds met.</a:t>
            </a:r>
          </a:p>
          <a:p>
            <a:r>
              <a:t>WP5 Experience | Cockpit, Ask, Vendor 360, graph, scenario, alerts and admin. | UX and service contracts. | Functional and accessibility tests passed.</a:t>
            </a:r>
          </a:p>
          <a:p>
            <a:r>
              <a:t>WP6 Security &amp; operations | IAM, entitlements, secrets, logging, monitoring, CI/CD and runbooks. | Hosting and control decisions. | Security and operational readiness sign-off.</a:t>
            </a:r>
          </a:p>
          <a:p>
            <a:r>
              <a:t>WP7 Demo &amp; UAT | Synthetic/approved demo data, script, expected results and defect closure. | WP1-WP6 integrated. | Demo rehearsal and UAT approval.</a:t>
            </a:r>
          </a:p>
          <a:p>
            <a:endParaRPr/>
          </a:p>
          <a:p>
            <a:endParaRPr/>
          </a:p>
          <a:p>
            <a:r>
              <a:t>20. Delivery Dependencies and Decisions Required</a:t>
            </a:r>
          </a:p>
          <a:p>
            <a:r>
              <a:t>ID | Decision / dependency | Owner to assign | Needed before</a:t>
            </a:r>
          </a:p>
          <a:p>
            <a:r>
              <a:t>D-01 | Confirm business sponsor, product owner and prioritized use cases. | Citi | Detailed design.</a:t>
            </a:r>
          </a:p>
          <a:p>
            <a:r>
              <a:t>D-02 | Confirm approved demo data: synthetic, masked or authorized records. | Citi data/risk | Data build.</a:t>
            </a:r>
          </a:p>
          <a:p>
            <a:r>
              <a:t>D-03 | Confirm source systems, access method, refresh and authoritative ownership. | Citi architecture/data | Integration design.</a:t>
            </a:r>
          </a:p>
          <a:p>
            <a:r>
              <a:t>D-04 | Confirm metric definitions and scoring/threshold policy. | Citi business/risk | Analytics implementation.</a:t>
            </a:r>
          </a:p>
          <a:p>
            <a:r>
              <a:t>D-05 | Confirm identity, roles, entitlements and restricted attributes/documents. | Citi security/data | Security design.</a:t>
            </a:r>
          </a:p>
          <a:p>
            <a:r>
              <a:t>D-06 | Confirm hosting, model gateway, approved models and regional constraints. | Citi architecture/risk | Platform provisioning.</a:t>
            </a:r>
          </a:p>
          <a:p>
            <a:r>
              <a:t>D-07 | Confirm evidence retention, audit, export and confidentiality requirements. | Citi risk/legal | Operational design.</a:t>
            </a:r>
          </a:p>
          <a:p>
            <a:r>
              <a:t>D-08 | Confirm non-functional targets: performance, availability, RTO/RPO and scale. | Citi technology | Production design.</a:t>
            </a:r>
          </a:p>
          <a:p>
            <a:r>
              <a:t>D-09 | Confirm notification and downstream workflow scope. | Citi product owner | Release scope.</a:t>
            </a:r>
          </a:p>
          <a:p>
            <a:r>
              <a:t>D-10 | Provide expected answers and acceptance thresholds for golden questions. | Joint business/data team | UAT.</a:t>
            </a:r>
          </a:p>
          <a:p>
            <a:endParaRPr/>
          </a:p>
          <a:p>
            <a:endParaRPr/>
          </a:p>
          <a:p>
            <a:r>
              <a:t>22. Open Questions</a:t>
            </a:r>
          </a:p>
          <a:p>
            <a:r>
              <a:t>Area | Question</a:t>
            </a:r>
          </a:p>
          <a:p>
            <a:r>
              <a:t>Scope | Which 2-3 decisions must the first Citi demo prove?</a:t>
            </a:r>
          </a:p>
          <a:p>
            <a:r>
              <a:t>Data | Which sources and fields are approved for the demo?</a:t>
            </a:r>
          </a:p>
          <a:p>
            <a:r>
              <a:t>Identity | What is the master vendor identifier and parent-child hierarchy authority?</a:t>
            </a:r>
          </a:p>
          <a:p>
            <a:r>
              <a:t>Renewals | What horizon, factors and scoring policy define priority?</a:t>
            </a:r>
          </a:p>
          <a:p>
            <a:r>
              <a:t>Concentration | Which dimensions and thresholds constitute material exposure?</a:t>
            </a:r>
          </a:p>
          <a:p>
            <a:r>
              <a:t>Rationalization | Which constraints must be checked before showing a consolidation candidate?</a:t>
            </a:r>
          </a:p>
          <a:p>
            <a:r>
              <a:t>Scenario | Which levers and bounds are acceptable, and which formulas are authoritative?</a:t>
            </a:r>
          </a:p>
          <a:p>
            <a:r>
              <a:t>AI | Which model gateway and models are approved?</a:t>
            </a:r>
          </a:p>
          <a:p>
            <a:r>
              <a:t>Controls | What evidence, retention, explainability and human-review requirements apply?</a:t>
            </a:r>
          </a:p>
          <a:p>
            <a:r>
              <a:t>NFR | What volume, concurrency, latency, availability and recovery targets apply?</a:t>
            </a:r>
          </a:p>
          <a:p>
            <a:r>
              <a:t>Operations | Who owns data stewardship, prompt/rule changes, production support and incident response?</a:t>
            </a:r>
          </a:p>
          <a:p>
            <a:endParaRPr/>
          </a:p>
          <a:p>
            <a:endParaRPr/>
          </a:p>
          <a:p>
            <a:r>
              <a:t>Appendix A. Requirement Priority Definitions</a:t>
            </a:r>
          </a:p>
          <a:p>
            <a:r>
              <a:t>Priority | Definition</a:t>
            </a:r>
          </a:p>
          <a:p>
            <a:r>
              <a:t>Must | Required for a credible initial solution or control baseline.</a:t>
            </a:r>
          </a:p>
          <a:p>
            <a:r>
              <a:t>Should | High-value capability expected after Must requirements unless constrained.</a:t>
            </a:r>
          </a:p>
          <a:p>
            <a:r>
              <a:t>Could | Optional enhancement that does not block the baseline journey.</a:t>
            </a:r>
          </a:p>
          <a:p>
            <a:r>
              <a:t>Won't (this release) | Explicitly excluded from the agreed release scope.</a:t>
            </a:r>
          </a:p>
          <a:p>
            <a:endParaRPr/>
          </a:p>
          <a:p>
            <a:endParaRPr/>
          </a:p>
          <a:p>
            <a:r>
              <a:t>Appendix B. Glossary</a:t>
            </a:r>
          </a:p>
          <a:p>
            <a:r>
              <a:t>Term | Definition</a:t>
            </a:r>
          </a:p>
          <a:p>
            <a:r>
              <a:t>Decision Intelligence | Combination of governed data, analytics, relationships, AI and workflow to support explainable decisions.</a:t>
            </a:r>
          </a:p>
          <a:p>
            <a:r>
              <a:t>Vendor 360 | Connected view of a vendor across commercial, financial, workforce, technology, performance, risk and ownership dimensions.</a:t>
            </a:r>
          </a:p>
          <a:p>
            <a:r>
              <a:t>Evidence | Authorized source record or passage supporting a fact, calculation or relationship.</a:t>
            </a:r>
          </a:p>
          <a:p>
            <a:r>
              <a:t>Semantic layer | Governed business definitions and logic used consistently across queries and experiences.</a:t>
            </a:r>
          </a:p>
          <a:p>
            <a:r>
              <a:t>Knowledge graph | Entity-and-relationship representation used to navigate dependencies and impact paths.</a:t>
            </a:r>
          </a:p>
          <a:p>
            <a:r>
              <a:t>Vector retrieval | Semantic retrieval of relevant passages or records from an approved index.</a:t>
            </a:r>
          </a:p>
          <a:p>
            <a:r>
              <a:t>Scenario | Non-destructive hypothetical change to a governed baseline.</a:t>
            </a:r>
          </a:p>
          <a:p>
            <a:r>
              <a:t>Concentration risk | Exposure created by material dependence on a vendor across one or more approved dimensions.</a:t>
            </a:r>
          </a:p>
          <a:p>
            <a:r>
              <a:t>Entity resolution | Process for matching records that refer to the same vendor or business entity.</a:t>
            </a:r>
          </a:p>
          <a:p>
            <a:r>
              <a:t>Grounded answer | Answer whose material statements are supported by visible authorized evidence.</a:t>
            </a:r>
          </a:p>
          <a:p>
            <a:endParaRPr/>
          </a:p>
          <a:p>
            <a:endParaRPr/>
          </a:p>
          <a:p>
            <a:r>
              <a:t>Appendix C. Documented Source References</a:t>
            </a:r>
          </a:p>
          <a:p>
            <a:r>
              <a:t>The business intent and architecture baseline were derived from the following enterprise artifacts available to the author. These references should be replaced or supplemented with Citi-approved requirements and design records during formal governance:</a:t>
            </a:r>
          </a:p>
          <a:p>
            <a:r>
              <a:t>OCIO Decision Intelligence Platform - v20260812.pptx.</a:t>
            </a:r>
          </a:p>
          <a:p>
            <a:r>
              <a:t>Vendor Management Decision Intelligence v3.3.pptx.</a:t>
            </a:r>
          </a:p>
          <a:p>
            <a:r>
              <a:t>Vendor Management Decision Intelligence v3.2.pptx.</a:t>
            </a:r>
          </a:p>
          <a:p>
            <a:r>
              <a:t>Vendor_Management_Decision_Intelligence_Editable_Deck (3).pptx.</a:t>
            </a:r>
          </a:p>
          <a:p>
            <a:r>
              <a:t>Case Study Walkthrough.docx.</a:t>
            </a:r>
          </a:p>
          <a:p>
            <a:r>
              <a:t>Citi &amp; Cap Gemini Connect Meeting follow-up email dated 22 September 2026.</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Citi Vendor Decision Intelligence FSD v1.0, 27 September 2026. Prepared by Capgemini AI &amp; Data.</a:t>
            </a:r>
          </a:p>
          <a:p>
            <a:r>
              <a:t>Status: build-ready baseline / requirements validation required.</a:t>
            </a:r>
          </a:p>
          <a:p>
            <a:r>
              <a:t>All Alpha Technology and Beta Systems facts, records, dates, amounts and scenario assumptions are synthetic teaching fixtures, not Citi data or approved policy. Demo snapshot: 27 September 2026. C-01 expires 26 December 2026, 90 calendar days later. Alpha total annual spend is USD 48M in an illustrative closed reporting year against a USD 40M forecast. Contract-linked annual spend: C-01 18M, C-02 10M, C-03 12M, C-04 8M. Total workers: C-01 140, C-02 100, C-03 80, C-04 60 = 380. Applications: C-01 2 critical, C-02 2 critical, C-03 3 non-critical, C-04 4 non-critical = 11, including 4 critical. The selected technology portfolio contains six critical applications, four supported by Alpha, giving 4/6 = 66.7% critical-application exposure. The paths shown are examples of the full inventory. Beta overlaps in Java and cloud services, but its capacity and transition suitability are unvalidated. Scenario selects C-03, whose 12M spend equals 25% of the 48M baseline. Three non-critical applications and 80 assignments are affected; these are scope exposure counts, not automatic removals. Transition cost 2M plus retained costs 1M reduce modeled first-year savings to 9M. No scenario has approval or guaranteed realizability.</a:t>
            </a:r>
          </a:p>
          <a:p>
            <a:endParaRPr/>
          </a:p>
          <a:p>
            <a:r>
              <a:t>SOURCE REQUIREMENTS (verbatim reference for this slide):</a:t>
            </a:r>
          </a:p>
          <a:p>
            <a:r>
              <a:t>21. Demo Data Blueprint</a:t>
            </a:r>
          </a:p>
          <a:p>
            <a:r>
              <a:t>Recommendation:  Use a controlled, internally coherent dataset that is either synthetic or explicitly authorized. The dataset should be designed to produce explainable positive, negative, ambiguous and missing-data cases.</a:t>
            </a:r>
          </a:p>
          <a:p>
            <a:r>
              <a:t>Dataset | Minimum demo coverage</a:t>
            </a:r>
          </a:p>
          <a:p>
            <a:r>
              <a:t>Vendors | Multiple parent/child vendors, aliases, active/inactive status and categories.</a:t>
            </a:r>
          </a:p>
          <a:p>
            <a:r>
              <a:t>Contracts / SOWs | Staggered expiry dates, varying values, amendments and selected renewal clauses.</a:t>
            </a:r>
          </a:p>
          <a:p>
            <a:r>
              <a:t>Spend / forecast | Multiple periods, currencies or normalized reporting currency, favorable and unfavorable variances.</a:t>
            </a:r>
          </a:p>
          <a:p>
            <a:r>
              <a:t>Workforce | Vendor, role, location/team and assignment dates using permitted detail.</a:t>
            </a:r>
          </a:p>
          <a:p>
            <a:r>
              <a:t>Applications / products | Critical and non-critical assets with owners and many-to-many vendor relationships.</a:t>
            </a:r>
          </a:p>
          <a:p>
            <a:r>
              <a:t>Risk / performance | Different tiers, trends, issues and missing assessments.</a:t>
            </a:r>
          </a:p>
          <a:p>
            <a:r>
              <a:t>Scenarios | At least one plausible reduction, consolidation and substitution candidate plus one invalid scenario.</a:t>
            </a:r>
          </a:p>
          <a:p>
            <a:r>
              <a:t>Security | At least two roles with intentionally different evidence access.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Citi Vendor Decision Intelligence FSD v1.0, 27 September 2026. Prepared by Capgemini AI &amp; Data.</a:t>
            </a:r>
          </a:p>
          <a:p>
            <a:r>
              <a:t>Status: build-ready baseline / requirements validation required.</a:t>
            </a:r>
          </a:p>
          <a:p>
            <a:r>
              <a:t>All Alpha Technology and Beta Systems facts, records, dates, amounts and scenario assumptions are synthetic teaching fixtures, not Citi data or approved policy. Demo snapshot: 27 September 2026. C-01 expires 26 December 2026, 90 calendar days later. Alpha total annual spend is USD 48M in an illustrative closed reporting year against a USD 40M forecast. Contract-linked annual spend: C-01 18M, C-02 10M, C-03 12M, C-04 8M. Total workers: C-01 140, C-02 100, C-03 80, C-04 60 = 380. Applications: C-01 2 critical, C-02 2 critical, C-03 3 non-critical, C-04 4 non-critical = 11, including 4 critical. The selected technology portfolio contains six critical applications, four supported by Alpha, giving 4/6 = 66.7% critical-application exposure. The paths shown are examples of the full inventory. Beta overlaps in Java and cloud services, but its capacity and transition suitability are unvalidated. Scenario selects C-03, whose 12M spend equals 25% of the 48M baseline. Three non-critical applications and 80 assignments are affected; these are scope exposure counts, not automatic removals. Transition cost 2M plus retained costs 1M reduce modeled first-year savings to 9M. No scenario has approval or guaranteed realizability.</a:t>
            </a:r>
          </a:p>
          <a:p>
            <a:endParaRPr/>
          </a:p>
          <a:p>
            <a:r>
              <a:t>SOURCE REQUIREMENTS (verbatim reference for this slide):</a:t>
            </a:r>
          </a:p>
          <a:p>
            <a:r>
              <a:t>8. Data Requirements and Logical Model</a:t>
            </a:r>
          </a:p>
          <a:p>
            <a:r>
              <a:t>8.1 Source Domains</a:t>
            </a:r>
          </a:p>
          <a:p>
            <a:r>
              <a:t>Domain | Minimum data objects | Key fields / concepts | Expected authority</a:t>
            </a:r>
          </a:p>
          <a:p>
            <a:r>
              <a:t>Vendor master | Vendor, parent, subsidiary, alias, status | Vendor ID, legal name, hierarchy, category, country | Approved vendor master / ERP</a:t>
            </a:r>
          </a:p>
          <a:p>
            <a:r>
              <a:t>Contracts &amp; SOWs | Contract, amendment, SOW, clause, obligation | Contract ID, vendor, dates, value, currency, notice, owner | CLM / document repository</a:t>
            </a:r>
          </a:p>
          <a:p>
            <a:r>
              <a:t>Spend &amp; forecast | Actual, commitment, invoice, PO, budget, forecast | Period, amount, currency, vendor, cost center, product, category | Finance / procurement systems</a:t>
            </a:r>
          </a:p>
          <a:p>
            <a:r>
              <a:t>External workforce | Worker assignment and aggregate | Vendor, role, location, dates, rate/cost, team | Workforce management platform</a:t>
            </a:r>
          </a:p>
          <a:p>
            <a:r>
              <a:t>Technology | Application, platform, service, capability | Criticality, lifecycle, product, owner, dependency | CMDB / application portfolio</a:t>
            </a:r>
          </a:p>
          <a:p>
            <a:r>
              <a:t>Organization &amp; product | Business unit, technology unit, product, owner | Hierarchy, effective date, accountable owner | Enterprise reference data</a:t>
            </a:r>
          </a:p>
          <a:p>
            <a:r>
              <a:t>Performance &amp; risk | Scorecard, assessment, issue, control, SLA | Rating, tier, status, finding, due date | TPRM / performance sources</a:t>
            </a:r>
          </a:p>
          <a:p>
            <a:r>
              <a:t>Historical snapshots | Versioned states for supported domains | Snapshot date, effective period, source version | Curated analytical store</a:t>
            </a:r>
          </a:p>
          <a:p>
            <a:r>
              <a:t>8.2 Core Logical Entities</a:t>
            </a:r>
          </a:p>
          <a:p>
            <a:r>
              <a:t>Entity | Purpose | Key relationships</a:t>
            </a:r>
          </a:p>
          <a:p>
            <a:r>
              <a:t>Vendor | Mastered supplier identity. | Parent/subsidiary, contracts, spend, workforce, services, risks.</a:t>
            </a:r>
          </a:p>
          <a:p>
            <a:r>
              <a:t>Contract | Commercial agreement and obligations. | Vendor, SOW, product, application, owner, spend.</a:t>
            </a:r>
          </a:p>
          <a:p>
            <a:r>
              <a:t>SOW | Scope and delivery terms under a contract. | Contract, workforce, service, product, organization.</a:t>
            </a:r>
          </a:p>
          <a:p>
            <a:r>
              <a:t>SpendRecord | Actual/committed financial record. | Vendor, contract, period, cost center, product, currency.</a:t>
            </a:r>
          </a:p>
          <a:p>
            <a:r>
              <a:t>ForecastRecord | Planned financial amount. | Vendor/category, period, organization, product.</a:t>
            </a:r>
          </a:p>
          <a:p>
            <a:r>
              <a:t>WorkforceAssignment | External labor relationship. | Vendor, role, team, product/application, dates.</a:t>
            </a:r>
          </a:p>
          <a:p>
            <a:r>
              <a:t>Application | Technology asset or service. | Vendor, product, business capability, owner, criticality.</a:t>
            </a:r>
          </a:p>
          <a:p>
            <a:r>
              <a:t>Product | Business or technology product. | Applications, vendors, organization, owner.</a:t>
            </a:r>
          </a:p>
          <a:p>
            <a:r>
              <a:t>RiskAssessment | Vendor or service risk evaluation. | Vendor, contract/service, issue, control, assessment date.</a:t>
            </a:r>
          </a:p>
          <a:p>
            <a:r>
              <a:t>PerformanceMetric | Vendor KPI or SLA result. | Vendor, contract/service, period, threshold.</a:t>
            </a:r>
          </a:p>
          <a:p>
            <a:r>
              <a:t>Scenario | User-defined hypothetical change set. | Baseline, levers, impacted entities, results, assumptions.</a:t>
            </a:r>
          </a:p>
          <a:p>
            <a:r>
              <a:t>Evidence | Traceable source supporting an answer. | Source system, object ID, location, extraction time, entitlement.</a:t>
            </a:r>
          </a:p>
          <a:p>
            <a:r>
              <a:t>8.3 Canonical Relationship Examples</a:t>
            </a:r>
          </a:p>
          <a:p>
            <a:r>
              <a:t>Vendor PROVIDES Service; Service SUPPORTS Application; Application ENABLES Product; Product BELONGS_TO Organization.</a:t>
            </a:r>
          </a:p>
          <a:p>
            <a:r>
              <a:t>Vendor HAS Contract; Contract HAS SOW; SOW STAFFED_BY WorkforceAssignment.</a:t>
            </a:r>
          </a:p>
          <a:p>
            <a:r>
              <a:t>SpendRecord CHARGED_TO Contract, Vendor, Product and Organization.</a:t>
            </a:r>
          </a:p>
          <a:p>
            <a:r>
              <a:t>RiskAssessment ASSESSES Vendor or Service; Issue AFFECTS Vendor, Contract, Application or Product.</a:t>
            </a:r>
          </a:p>
          <a:p>
            <a:r>
              <a:t>Owner ACCOUNTABLE_FOR VendorRelationship, Contract, Product or Application.</a:t>
            </a:r>
          </a:p>
          <a:p>
            <a:r>
              <a:t>Evidence SUPPORTS Fact, Metric, Alert, Recommendation or ScenarioResult.</a:t>
            </a:r>
          </a:p>
          <a:p>
            <a:r>
              <a:t>8.4 Data Quality Controls</a:t>
            </a:r>
          </a:p>
          <a:p>
            <a:r>
              <a:t>Control | Description | System behavior</a:t>
            </a:r>
          </a:p>
          <a:p>
            <a:r>
              <a:t>Completeness | Required identifiers, dates, amounts, owners and relationships. | Quarantine invalid records; report coverage.</a:t>
            </a:r>
          </a:p>
          <a:p>
            <a:r>
              <a:t>Uniqueness | Duplicate vendors, contracts and transactions. | Apply deterministic/probabilistic matching with stewardship queue.</a:t>
            </a:r>
          </a:p>
          <a:p>
            <a:r>
              <a:t>Validity | Allowed values, date sequencing, currency and hierarchy references. | Reject or flag based on severity.</a:t>
            </a:r>
          </a:p>
          <a:p>
            <a:r>
              <a:t>Consistency | Cross-source vendor, contract, spend and ownership agreement. | Create reconciliation exception with source comparison.</a:t>
            </a:r>
          </a:p>
          <a:p>
            <a:r>
              <a:t>Timeliness | Expected load frequency and freshness threshold. | Show stale status and suppress invalid recommendations if required.</a:t>
            </a:r>
          </a:p>
          <a:p>
            <a:r>
              <a:t>Reconciliation | Source-to-curated counts and financial totals. | Block publication when tolerance is exceeded.</a:t>
            </a:r>
          </a:p>
          <a:p>
            <a:r>
              <a:t>Lineage | Source, transformation and semantic mapping. | Expose lineage to operators and authorized users.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Citi Vendor Decision Intelligence FSD v1.0, 27 September 2026. Prepared by Capgemini AI &amp; Data.</a:t>
            </a:r>
          </a:p>
          <a:p>
            <a:r>
              <a:t>Status: build-ready baseline / requirements validation required.</a:t>
            </a:r>
          </a:p>
          <a:p>
            <a:r>
              <a:t>All Alpha Technology and Beta Systems facts, records, dates, amounts and scenario assumptions are synthetic teaching fixtures, not Citi data or approved policy. Demo snapshot: 27 September 2026. C-01 expires 26 December 2026, 90 calendar days later. Alpha total annual spend is USD 48M in an illustrative closed reporting year against a USD 40M forecast. Contract-linked annual spend: C-01 18M, C-02 10M, C-03 12M, C-04 8M. Total workers: C-01 140, C-02 100, C-03 80, C-04 60 = 380. Applications: C-01 2 critical, C-02 2 critical, C-03 3 non-critical, C-04 4 non-critical = 11, including 4 critical. The selected technology portfolio contains six critical applications, four supported by Alpha, giving 4/6 = 66.7% critical-application exposure. The paths shown are examples of the full inventory. Beta overlaps in Java and cloud services, but its capacity and transition suitability are unvalidated. Scenario selects C-03, whose 12M spend equals 25% of the 48M baseline. Three non-critical applications and 80 assignments are affected; these are scope exposure counts, not automatic removals. Transition cost 2M plus retained costs 1M reduce modeled first-year savings to 9M. No scenario has approval or guaranteed realizability. Demo renewal rule R1 v1: review priority is High when expiry is within 120 days and at least one critical application is supported. This is a transparent synthetic rule with no weighted score.</a:t>
            </a:r>
          </a:p>
          <a:p>
            <a:endParaRPr/>
          </a:p>
          <a:p>
            <a:r>
              <a:t>SOURCE REQUIREMENTS (verbatim reference for this slide):</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Citi Vendor Decision Intelligence FSD v1.0, 27 September 2026. Prepared by Capgemini AI &amp; Data.</a:t>
            </a:r>
          </a:p>
          <a:p>
            <a:r>
              <a:t>Status: build-ready baseline / requirements validation required.</a:t>
            </a:r>
          </a:p>
          <a:p>
            <a:r>
              <a:t>All Alpha Technology and Beta Systems facts, records, dates, amounts and scenario assumptions are synthetic teaching fixtures, not Citi data or approved policy. Demo snapshot: 27 September 2026. C-01 expires 26 December 2026, 90 calendar days later. Alpha total annual spend is USD 48M in an illustrative closed reporting year against a USD 40M forecast. Contract-linked annual spend: C-01 18M, C-02 10M, C-03 12M, C-04 8M. Total workers: C-01 140, C-02 100, C-03 80, C-04 60 = 380. Applications: C-01 2 critical, C-02 2 critical, C-03 3 non-critical, C-04 4 non-critical = 11, including 4 critical. The selected technology portfolio contains six critical applications, four supported by Alpha, giving 4/6 = 66.7% critical-application exposure. The paths shown are examples of the full inventory. Beta overlaps in Java and cloud services, but its capacity and transition suitability are unvalidated. Scenario selects C-03, whose 12M spend equals 25% of the 48M baseline. Three non-critical applications and 80 assignments are affected; these are scope exposure counts, not automatic removals. Transition cost 2M plus retained costs 1M reduce modeled first-year savings to 9M. No scenario has approval or guaranteed realizability. Variance decomposition: 3.4M additional workforce + 2.2M project extension + 1.5M support usage + 1.1M currency impact - 0.2M infrastructure savings = 8.0M. These are mutually exclusive fixture categories that sum to the total; the source records in the demo dataset must reflect them.</a:t>
            </a:r>
          </a:p>
          <a:p>
            <a:endParaRPr/>
          </a:p>
          <a:p>
            <a:r>
              <a:t>SOURCE REQUIREMENTS (verbatim reference for this slide):</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Citi Vendor Decision Intelligence FSD v1.0, 27 September 2026. Prepared by Capgemini AI &amp; Data.</a:t>
            </a:r>
          </a:p>
          <a:p>
            <a:r>
              <a:t>Status: build-ready baseline / requirements validation required.</a:t>
            </a:r>
          </a:p>
          <a:p>
            <a:r>
              <a:t>All Alpha Technology and Beta Systems facts, records, dates, amounts and scenario assumptions are synthetic teaching fixtures, not Citi data or approved policy. Demo snapshot: 27 September 2026. C-01 expires 26 December 2026, 90 calendar days later. Alpha total annual spend is USD 48M in an illustrative closed reporting year against a USD 40M forecast. Contract-linked annual spend: C-01 18M, C-02 10M, C-03 12M, C-04 8M. Total workers: C-01 140, C-02 100, C-03 80, C-04 60 = 380. Applications: C-01 2 critical, C-02 2 critical, C-03 3 non-critical, C-04 4 non-critical = 11, including 4 critical. The selected technology portfolio contains six critical applications, four supported by Alpha, giving 4/6 = 66.7% critical-application exposure. The paths shown are examples of the full inventory. Beta overlaps in Java and cloud services, but its capacity and transition suitability are unvalidated. Scenario selects C-03, whose 12M spend equals 25% of the 48M baseline. Three non-critical applications and 80 assignments are affected; these are scope exposure counts, not automatic removals. Transition cost 2M plus retained costs 1M reduce modeled first-year savings to 9M. No scenario has approval or guaranteed realizability.</a:t>
            </a:r>
          </a:p>
          <a:p>
            <a:endParaRPr/>
          </a:p>
          <a:p>
            <a:r>
              <a:t>SOURCE REQUIREMENTS (verbatim reference for this slide):</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Citi Vendor Decision Intelligence FSD v1.0, 27 September 2026. Prepared by Capgemini AI &amp; Data.</a:t>
            </a:r>
          </a:p>
          <a:p>
            <a:r>
              <a:t>Status: build-ready baseline / requirements validation required.</a:t>
            </a:r>
          </a:p>
          <a:p>
            <a:r>
              <a:t>All Alpha Technology and Beta Systems facts, records, dates, amounts and scenario assumptions are synthetic teaching fixtures, not Citi data or approved policy. Demo snapshot: 27 September 2026. C-01 expires 26 December 2026, 90 calendar days later. Alpha total annual spend is USD 48M in an illustrative closed reporting year against a USD 40M forecast. Contract-linked annual spend: C-01 18M, C-02 10M, C-03 12M, C-04 8M. Total workers: C-01 140, C-02 100, C-03 80, C-04 60 = 380. Applications: C-01 2 critical, C-02 2 critical, C-03 3 non-critical, C-04 4 non-critical = 11, including 4 critical. The selected technology portfolio contains six critical applications, four supported by Alpha, giving 4/6 = 66.7% critical-application exposure. The paths shown are examples of the full inventory. Beta overlaps in Java and cloud services, but its capacity and transition suitability are unvalidated. Scenario selects C-03, whose 12M spend equals 25% of the 48M baseline. Three non-critical applications and 80 assignments are affected; these are scope exposure counts, not automatic removals. Transition cost 2M plus retained costs 1M reduce modeled first-year savings to 9M. No scenario has approval or guaranteed realizability. Illustrative options only. Option A: renew critical C-01 with negotiated performance terms subject to human approval. Option B: investigate the C-03 scope reduction scenario and validate its 9M estimated first-year savings. Option C: validate Beta and phased diversification. These options may be combined after review; they are not presented as an approved decision or as guaranteed outcomes.</a:t>
            </a:r>
          </a:p>
          <a:p>
            <a:endParaRPr/>
          </a:p>
          <a:p>
            <a:r>
              <a:t>SOURCE REQUIREMENTS (verbatim reference for this slide):</a:t>
            </a:r>
          </a:p>
          <a:p>
            <a:r>
              <a:t>16. Acceptance Criteria by Use Case</a:t>
            </a:r>
          </a:p>
          <a:p>
            <a:r>
              <a:t>Use case | Minimum acceptance</a:t>
            </a:r>
          </a:p>
          <a:p>
            <a:r>
              <a:t>Vendor 360 | Authorized user opens a vendor and sees cross-domain facts with evidence, ownership, freshness and explicit gaps.</a:t>
            </a:r>
          </a:p>
          <a:p>
            <a:r>
              <a:t>Renewal prioritization | User filters a renewal horizon and sees explainable priority components and linked dependencies.</a:t>
            </a:r>
          </a:p>
          <a:p>
            <a:r>
              <a:t>Concentration risk | User selects a vendor and sees exposure across at least spend and technology relationships with traceable paths.</a:t>
            </a:r>
          </a:p>
          <a:p>
            <a:r>
              <a:t>Rationalization | System identifies evidence-based overlap candidates and displays constraints without implying automatic substitution.</a:t>
            </a:r>
          </a:p>
          <a:p>
            <a:r>
              <a:t>Spend variance | Displayed contributing dimensions reconcile to the reported variance within agreed tolerance.</a:t>
            </a:r>
          </a:p>
          <a:p>
            <a:r>
              <a:t>Scenario | User creates a non-destructive scenario, changes an allowed lever and compares baseline and impact with assumptions.</a:t>
            </a:r>
          </a:p>
          <a:p>
            <a:r>
              <a:t>Executive Q&amp;A | Answer includes evidence, date, scope, limitations and no inaccessible content.</a:t>
            </a:r>
          </a:p>
          <a:p>
            <a:r>
              <a:t>Security | Negative entitlement tests prove that restricted records do not appear in retrieval, answer, logs visible to users or exports.</a:t>
            </a:r>
          </a:p>
          <a:p>
            <a:r>
              <a:t>Audit | An operator can reconstruct the tools, sources, rules, model/prompt versions and evidence for a selected answer.</a:t>
            </a:r>
          </a:p>
          <a:p>
            <a:endParaRPr/>
          </a:p>
          <a:p>
            <a:endParaRPr/>
          </a:p>
          <a:p>
            <a:r>
              <a:t>17. Test Strategy</a:t>
            </a:r>
          </a:p>
          <a:p>
            <a:r>
              <a:t>Test type | Coverage</a:t>
            </a:r>
          </a:p>
          <a:p>
            <a:r>
              <a:t>Unit | Metric formulas, mappings, rules, scenario calculations, authorization helpers and formatters.</a:t>
            </a:r>
          </a:p>
          <a:p>
            <a:r>
              <a:t>Data pipeline | Schema, quality, reconciliation, lineage, entity resolution and restart.</a:t>
            </a:r>
          </a:p>
          <a:p>
            <a:r>
              <a:t>Integration | Identity, sources, SQL, graph, vector/document, model gateway, export and notifications.</a:t>
            </a:r>
          </a:p>
          <a:p>
            <a:r>
              <a:t>Functional | All FRs, user journeys, role behavior, filters, navigation, evidence and errors.</a:t>
            </a:r>
          </a:p>
          <a:p>
            <a:r>
              <a:t>Security | RBAC/ABAC, injection, data leakage, secrets, export, logging and privilege escalation.</a:t>
            </a:r>
          </a:p>
          <a:p>
            <a:r>
              <a:t>AI evaluation | Groundedness, evidence precision, completeness, refusal, ambiguity, contradiction and prompt injection.</a:t>
            </a:r>
          </a:p>
          <a:p>
            <a:r>
              <a:t>Performance | Dashboard, query, graph, retrieval, scenario, ingestion and concurrency profiles.</a:t>
            </a:r>
          </a:p>
          <a:p>
            <a:r>
              <a:t>Resilience | Source outage, stale feed, partial failure, retry, failover and recovery.</a:t>
            </a:r>
          </a:p>
          <a:p>
            <a:r>
              <a:t>Accessibility | Keyboard, focus, contrast, labels, reading order and visual alternatives.</a:t>
            </a:r>
          </a:p>
          <a:p>
            <a:r>
              <a:t>User acceptance | Citi-approved scenarios, data, expected answers, thresholds and decision briefs.</a:t>
            </a:r>
          </a:p>
          <a:p>
            <a:r>
              <a:t>17.1 Golden Question Set</a:t>
            </a:r>
          </a:p>
          <a:p>
            <a:r>
              <a:t>Which contracts for [Vendor] expire within [approved horizon], and what critical applications/products depend on them?</a:t>
            </a:r>
          </a:p>
          <a:p>
            <a:r>
              <a:t>Which vendors create the greatest concentration exposure for [scope], and why?</a:t>
            </a:r>
          </a:p>
          <a:p>
            <a:r>
              <a:t>Explain the spend-versus-forecast variance for [period and organization].</a:t>
            </a:r>
          </a:p>
          <a:p>
            <a:r>
              <a:t>Where do we have supplier overlap in [capability/category], and what constraints would prevent consolidation?</a:t>
            </a:r>
          </a:p>
          <a:p>
            <a:r>
              <a:t>If [vendor/spend/workforce lever] changes by [value], what applications, products, teams and contracts are affected?</a:t>
            </a:r>
          </a:p>
          <a:p>
            <a:r>
              <a:t>What evidence is missing or stale for this recommendation?</a:t>
            </a:r>
          </a:p>
          <a:p>
            <a:r>
              <a:t>What changed since the prior snapshot, and which source records explain the change?</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solution architecture. Adapted from the two user-supplied architecture decks (identical files) and Citi Vendor Decision Intelligence FSD v1.0. Citi-specific platform selections, policies, thresholds and service targets require validation.</a:t>
            </a:r>
          </a:p>
          <a:p>
            <a:r>
              <a:t>Return path: service results are assembled into typed evidence envelopes, validated for scope, reconciliation, freshness, entitlement and contradictions, then rendered or summarized. Simple lookups bypass agents. Every material statement includes an authorized evidence reference or is labelled as inference. Governance control plane applies to every layer.</a:t>
            </a:r>
          </a:p>
          <a:p>
            <a:endParaRPr/>
          </a:p>
          <a:p>
            <a:r>
              <a:t>FSD reference:</a:t>
            </a:r>
          </a:p>
          <a:p>
            <a:r>
              <a:t>2. Executive Summary</a:t>
            </a:r>
          </a:p>
          <a:p>
            <a:r>
              <a:t>Vendor Decision Intelligence is a connected decision-support capability that combines contracts, spend, external workforce, vendor performance, product/application ownership and organizational context into a trusted Vendor 360. It is designed to reduce the effort required to assemble decision evidence and to support renewal, concentration-risk, rationalization, forecast and scenario decisions through an OCIO-aligned experience.</a:t>
            </a:r>
          </a:p>
          <a:p>
            <a:r>
              <a:t>Target outcome:  Move the user experience from fragmented data and static reporting to evidence-backed questions, connected relationships, explainable recommendations and scenario comparison.</a:t>
            </a:r>
          </a:p>
          <a:p>
            <a:r>
              <a:t>2.1 Business Objectives</a:t>
            </a:r>
          </a:p>
          <a:p>
            <a:r>
              <a:t>Create a unified, governed Vendor 360 across commercial, workforce, technology, performance and ownership dimensions.</a:t>
            </a:r>
          </a:p>
          <a:p>
            <a:r>
              <a:t>Provide evidence-backed answers to vendor, sourcing, renewal and risk questions using natural language.</a:t>
            </a:r>
          </a:p>
          <a:p>
            <a:r>
              <a:t>Identify renewal urgency and material dependencies early enough for action.</a:t>
            </a:r>
          </a:p>
          <a:p>
            <a:r>
              <a:t>Expose vendor concentration and operational dependency beyond spend-only analysis.</a:t>
            </a:r>
          </a:p>
          <a:p>
            <a:r>
              <a:t>Identify supplier overlap and rationalization opportunities with traceable evidence.</a:t>
            </a:r>
          </a:p>
          <a:p>
            <a:r>
              <a:t>Explain spend-versus-forecast variance and permit drill-down to supporting records.</a:t>
            </a:r>
          </a:p>
          <a:p>
            <a:r>
              <a:t>Allow authorized users to model vendor, workforce and sourcing scenarios without changing source data.</a:t>
            </a:r>
          </a:p>
          <a:p>
            <a:r>
              <a:t>Produce auditable recommendations that show evidence, assumptions, confidence and policy checks.</a:t>
            </a:r>
          </a:p>
          <a:p>
            <a:r>
              <a:t>2.2 Definition of Success</a:t>
            </a:r>
          </a:p>
          <a:p>
            <a:r>
              <a:t>Dimension | Demo success | Production success measure to define with Citi</a:t>
            </a:r>
          </a:p>
          <a:p>
            <a:r>
              <a:t>Trust | Every answer exposes source evidence and as-of date. | Accuracy, reconciliation tolerance, evidence coverage and user trust score.</a:t>
            </a:r>
          </a:p>
          <a:p>
            <a:r>
              <a:t>Speed | Priority questions are answered interactively from prepared demo data. | Response-time targets by query class and reduction in manual cycle time.</a:t>
            </a:r>
          </a:p>
          <a:p>
            <a:r>
              <a:t>Decision utility | User can move from issue to recommendation and impacted entities. | Adoption, decisions supported, renewal lead time and realized optimization.</a:t>
            </a:r>
          </a:p>
          <a:p>
            <a:r>
              <a:t>Control | Role-based access and traceability are visible in the demo. | Control effectiveness, policy compliance, audit exceptions and incident rate.</a:t>
            </a:r>
          </a:p>
          <a:p>
            <a:endParaRPr/>
          </a:p>
          <a:p>
            <a:endParaRPr/>
          </a:p>
          <a:p>
            <a:r>
              <a:t>3. Scope</a:t>
            </a:r>
          </a:p>
          <a:p>
            <a:r>
              <a:t>3.1 In Scope</a:t>
            </a:r>
          </a:p>
          <a:p>
            <a:r>
              <a:t>Executive vendor cockpit and configurable KPI tiles.</a:t>
            </a:r>
          </a:p>
          <a:p>
            <a:r>
              <a:t>Natural-language Ask Vendor Intelligence experience.</a:t>
            </a:r>
          </a:p>
          <a:p>
            <a:r>
              <a:t>Vendor 360 profile covering contracts, spend, workforce, technology dependency, performance, risk and ownership.</a:t>
            </a:r>
          </a:p>
          <a:p>
            <a:r>
              <a:t>Renewal prioritization and renewal worklist.</a:t>
            </a:r>
          </a:p>
          <a:p>
            <a:r>
              <a:t>Concentration and dependency risk analysis.</a:t>
            </a:r>
          </a:p>
          <a:p>
            <a:r>
              <a:t>Vendor overlap and rationalization opportunity analysis.</a:t>
            </a:r>
          </a:p>
          <a:p>
            <a:r>
              <a:t>Spend-versus-forecast analysis and variance explanation.</a:t>
            </a:r>
          </a:p>
          <a:p>
            <a:r>
              <a:t>What-if scenarios for spend, workforce and supplier changes.</a:t>
            </a:r>
          </a:p>
          <a:p>
            <a:r>
              <a:t>Recommendation generation with evidence and explainability.</a:t>
            </a:r>
          </a:p>
          <a:p>
            <a:r>
              <a:t>Alerts for renewals, risk, data-quality changes and material variances.</a:t>
            </a:r>
          </a:p>
          <a:p>
            <a:r>
              <a:t>Administration for thresholds, metric definitions, source health and access roles.</a:t>
            </a:r>
          </a:p>
          <a:p>
            <a:r>
              <a:t>A reusable data, semantic, orchestration and observability foundation.</a:t>
            </a:r>
          </a:p>
          <a:p>
            <a:r>
              <a:t>3.2 Out of Scope for Initial Demo</a:t>
            </a:r>
          </a:p>
          <a:p>
            <a:r>
              <a:t>Executing contract renewals, purchase orders, workforce changes or vendor offboarding in systems of record.</a:t>
            </a:r>
          </a:p>
          <a:p>
            <a:r>
              <a:t>Autonomous approval of commercial or risk decisions.</a:t>
            </a:r>
          </a:p>
          <a:p>
            <a:r>
              <a:t>Replacement of procurement, contract lifecycle management, TPRM, ERP, workforce or CMDB systems.</a:t>
            </a:r>
          </a:p>
          <a:p>
            <a:r>
              <a:t>Production-grade Citi integrations unless separately approved and provisioned.</a:t>
            </a:r>
          </a:p>
          <a:p>
            <a:r>
              <a:t>Legal interpretation of contract language or final determination of regulatory compliance.</a:t>
            </a:r>
          </a:p>
          <a:p>
            <a:r>
              <a:t>Use of sensitive production records in the demo unless explicitly authorized.</a:t>
            </a:r>
          </a:p>
          <a:p>
            <a:r>
              <a:t>3.3 Key Assumptions Requiring Validation</a:t>
            </a:r>
          </a:p>
          <a:p>
            <a:r>
              <a:t>ID | Assumption | Impact if false</a:t>
            </a:r>
          </a:p>
          <a:p>
            <a:r>
              <a:t>A-01 | A stable vendor identifier can be mapped across source domains. | Vendor 360 and cross-domain analytics require entity-resolution rules and manual stewardship.</a:t>
            </a:r>
          </a:p>
          <a:p>
            <a:r>
              <a:t>A-02 | Historical snapshots are available or can be created. | Trend, variance and point-in-time explanations will be limited.</a:t>
            </a:r>
          </a:p>
          <a:p>
            <a:r>
              <a:t>A-03 | Application/product ownership and criticality data are accessible. | Dependency and concentration analysis will be less complete.</a:t>
            </a:r>
          </a:p>
          <a:p>
            <a:r>
              <a:t>A-04 | Contract metadata includes dates, obligations, value and vendor mapping. | Renewal prioritization requires additional extraction or manual enrichment.</a:t>
            </a:r>
          </a:p>
          <a:p>
            <a:r>
              <a:t>A-05 | Access can be enforced at row, attribute and document levels. | Sensitive evidence may need separate indexes or restricted answer patterns.</a:t>
            </a:r>
          </a:p>
          <a:p>
            <a:r>
              <a:t>A-06 | Citi will define risk thresholds and approved scoring logic. | Demo scores remain illustrative and must not be represented as Citi policy.</a:t>
            </a:r>
          </a:p>
          <a:p>
            <a:endParaRPr/>
          </a:p>
          <a:p>
            <a:endParaRPr/>
          </a:p>
          <a:p>
            <a:r>
              <a:t>5. End-to-End Demo Journey</a:t>
            </a:r>
          </a:p>
          <a:p>
            <a:r>
              <a:t>User authenticates and lands on the Executive Vendor Cockpit.</a:t>
            </a:r>
          </a:p>
          <a:p>
            <a:r>
              <a:t>User reviews renewals, concentration, spend variance and open alerts.</a:t>
            </a:r>
          </a:p>
          <a:p>
            <a:r>
              <a:t>User asks: "Which vendors have contracts expiring soon and support critical applications?"</a:t>
            </a:r>
          </a:p>
          <a:p>
            <a:r>
              <a:t>System decomposes the question, applies entitlements, queries approved structured and unstructured sources, reconciles results and returns an evidence-backed answer.</a:t>
            </a:r>
          </a:p>
          <a:p>
            <a:r>
              <a:t>User selects a vendor to open Vendor 360 and explores contracts, spend, workforce, applications, products, risks, performance and ownership.</a:t>
            </a:r>
          </a:p>
          <a:p>
            <a:r>
              <a:t>User opens dependency graph to inspect the vendor-to-contract-to-workforce-to-application-to-product relationships.</a:t>
            </a:r>
          </a:p>
          <a:p>
            <a:r>
              <a:t>User asks: "If we reduce this vendor spend, what gets impacted?" and creates a non-destructive scenario.</a:t>
            </a:r>
          </a:p>
          <a:p>
            <a:r>
              <a:t>System calculates affected entities, assumptions, constraints, risk indicators and financial deltas, then compares baseline versus scenario.</a:t>
            </a:r>
          </a:p>
          <a:p>
            <a:r>
              <a:t>User requests recommended actions. System returns ranked options with rationale, evidence, confidence and required approvals.</a:t>
            </a:r>
          </a:p>
          <a:p>
            <a:r>
              <a:t>User exports a decision brief or saves the analysis for review. No source-system action is executed by the demo.</a:t>
            </a:r>
          </a:p>
          <a:p>
            <a:r>
              <a:t>5.1 Primary Use Cases</a:t>
            </a:r>
          </a:p>
          <a:p>
            <a:r>
              <a:t>Use case | Trigger | Primary output</a:t>
            </a:r>
          </a:p>
          <a:p>
            <a:r>
              <a:t>UC-01 Vendor 360 | User selects or searches for a vendor. | Connected profile with evidence and as-of dates.</a:t>
            </a:r>
          </a:p>
          <a:p>
            <a:r>
              <a:t>UC-02 Renewal prioritization | Upcoming or at-risk renewal. | Prioritized worklist, dependency summary and rationale.</a:t>
            </a:r>
          </a:p>
          <a:p>
            <a:r>
              <a:t>UC-03 Concentration risk | Portfolio review or vendor event. | Exposure by service, product, application, workforce and spend.</a:t>
            </a:r>
          </a:p>
          <a:p>
            <a:r>
              <a:t>UC-04 Rationalization | Cost or supplier-footprint review. | Overlap clusters, candidate actions and impact summary.</a:t>
            </a:r>
          </a:p>
          <a:p>
            <a:r>
              <a:t>UC-05 Spend variance | Actual/forecast variance exceeds threshold. | Variance explanation and contributing dimensions.</a:t>
            </a:r>
          </a:p>
          <a:p>
            <a:r>
              <a:t>UC-06 Scenario analysis | Proposed spend, workforce or vendor change. | Baseline comparison, impacted entities and risk.</a:t>
            </a:r>
          </a:p>
          <a:p>
            <a:r>
              <a:t>UC-07 Executive Q&amp;A | Ad hoc decision question. | Answer, evidence, limitations and recommended follow-up.</a:t>
            </a:r>
          </a:p>
          <a:p>
            <a:r>
              <a:t>UC-08 Alerts | Threshold, event or material data change. | Prioritized alert with link to supporting analysis.</a:t>
            </a:r>
          </a:p>
          <a:p>
            <a:endParaRPr/>
          </a:p>
          <a:p>
            <a:endParaRPr/>
          </a:p>
          <a:p>
            <a:r>
              <a:t>9. Functional Architecture</a:t>
            </a:r>
          </a:p>
          <a:p>
            <a:r>
              <a:t>Layer | Responsibilities | Illustrative components</a:t>
            </a:r>
          </a:p>
          <a:p>
            <a:r>
              <a:t>Experience | Cockpit, Ask Vendor Intelligence, Vendor 360, graph, scenario UI, alerts and export. | Web application, visualization components, accessibility support.</a:t>
            </a:r>
          </a:p>
          <a:p>
            <a:r>
              <a:t>Decision orchestration | Intent routing, query planning, tool selection, policy checks, response assembly. | Orchestrator, domain agents/tools, validation and explanation services.</a:t>
            </a:r>
          </a:p>
          <a:p>
            <a:r>
              <a:t>Semantic and analytics | Approved metrics, SQL access, graph traversal, retrieval and temporal comparison. | Semantic layer, SQL service, graph service, vector retrieval, scenario engine.</a:t>
            </a:r>
          </a:p>
          <a:p>
            <a:r>
              <a:t>Knowledge processing | Ingest, classify, extract, map, resolve, validate, index and capture lineage. | Data pipelines, document processing, entity resolution, DQ framework.</a:t>
            </a:r>
          </a:p>
          <a:p>
            <a:r>
              <a:t>Data foundation | Authoritative curated analytics, graph projection, document/vector index and metadata. | SQL store, graph store, vector index, object/document store.</a:t>
            </a:r>
          </a:p>
          <a:p>
            <a:r>
              <a:t>AI runtime and control | Model routing, prompt management, guardrails, telemetry, cost and evaluation. | Approved model gateway, safety filters, trace store, evaluation harness.</a:t>
            </a:r>
          </a:p>
          <a:p>
            <a:r>
              <a:t>Security and operations | Identity, entitlements, secrets, monitoring, incident and change control. | IAM, policy enforcement, vault, SIEM, observability and CI/CD.</a:t>
            </a:r>
          </a:p>
          <a:p>
            <a:r>
              <a:t>9.1 Agent / Tool Responsibilities</a:t>
            </a:r>
          </a:p>
          <a:p>
            <a:r>
              <a:t>Component | Responsibility | Prohibited behavior</a:t>
            </a:r>
          </a:p>
          <a:p>
            <a:r>
              <a:t>Query planner | Interpret task, decompose and sequence approved tools. | Invent data or bypass authorization.</a:t>
            </a:r>
          </a:p>
          <a:p>
            <a:r>
              <a:t>SQL analytics tool | Execute approved metric and aggregation queries. | Generate unrestricted SQL against raw production sources.</a:t>
            </a:r>
          </a:p>
          <a:p>
            <a:r>
              <a:t>Graph tool | Traverse governed entity relationships and return paths. | Infer unapproved relationships without confidence/evidence.</a:t>
            </a:r>
          </a:p>
          <a:p>
            <a:r>
              <a:t>Document retrieval tool | Retrieve entitled contract and policy passages. | Return inaccessible documents or unsupported clause conclusions.</a:t>
            </a:r>
          </a:p>
          <a:p>
            <a:r>
              <a:t>Temporal analysis tool | Compare snapshots and explain change. | Mix effective dates or snapshots without disclosure.</a:t>
            </a:r>
          </a:p>
          <a:p>
            <a:r>
              <a:t>Scenario engine | Apply approved levers and calculate impacts. | Write changes to source systems.</a:t>
            </a:r>
          </a:p>
          <a:p>
            <a:r>
              <a:t>Validation service | Check reconciliation, policy, data coverage and contradiction. | Suppress material limitations.</a:t>
            </a:r>
          </a:p>
          <a:p>
            <a:r>
              <a:t>Explanation service | Assemble rationale, evidence, assumptions and confidence. | Represent generated advice as authoritative approval.</a:t>
            </a:r>
          </a:p>
          <a:p>
            <a:endParaRPr/>
          </a:p>
          <a:p>
            <a:endParaRPr/>
          </a:p>
          <a:p>
            <a:r>
              <a:t>10. User Experience Specification</a:t>
            </a:r>
          </a:p>
          <a:p>
            <a:r>
              <a:t>10.1 Navigation</a:t>
            </a:r>
          </a:p>
          <a:p>
            <a:r>
              <a:t>Home / Executive Cockpit</a:t>
            </a:r>
          </a:p>
          <a:p>
            <a:r>
              <a:t>Ask Vendor Intelligence</a:t>
            </a:r>
          </a:p>
          <a:p>
            <a:r>
              <a:t>Vendors</a:t>
            </a:r>
          </a:p>
          <a:p>
            <a:r>
              <a:t>Renewals</a:t>
            </a:r>
          </a:p>
          <a:p>
            <a:r>
              <a:t>Risk &amp; Dependencies</a:t>
            </a:r>
          </a:p>
          <a:p>
            <a:r>
              <a:t>Spend &amp; Forecast</a:t>
            </a:r>
          </a:p>
          <a:p>
            <a:r>
              <a:t>Scenarios</a:t>
            </a:r>
          </a:p>
          <a:p>
            <a:r>
              <a:t>Alerts</a:t>
            </a:r>
          </a:p>
          <a:p>
            <a:r>
              <a:t>Administration (authorized roles only)</a:t>
            </a:r>
          </a:p>
          <a:p>
            <a:r>
              <a:t>10.2 Standard Answer Layout</a:t>
            </a:r>
          </a:p>
          <a:p>
            <a:r>
              <a:t>Direct answer or executive summary.</a:t>
            </a:r>
          </a:p>
          <a:p>
            <a:r>
              <a:t>Key findings and ranked drivers.</a:t>
            </a:r>
          </a:p>
          <a:p>
            <a:r>
              <a:t>Evidence panel with source, record, relevant excerpt/value and as-of date.</a:t>
            </a:r>
          </a:p>
          <a:p>
            <a:r>
              <a:t>Applied scope and filters.</a:t>
            </a:r>
          </a:p>
          <a:p>
            <a:r>
              <a:t>Calculation or relationship explanation.</a:t>
            </a:r>
          </a:p>
          <a:p>
            <a:r>
              <a:t>Assumptions, missing data, conflicts and limitations.</a:t>
            </a:r>
          </a:p>
          <a:p>
            <a:r>
              <a:t>Recommended next actions, clearly labelled as recommendations.</a:t>
            </a:r>
          </a:p>
          <a:p>
            <a:r>
              <a:t>Feedback and export controls.</a:t>
            </a:r>
          </a:p>
          <a:p>
            <a:r>
              <a:t>10.3 Vendor 360 Page</a:t>
            </a:r>
          </a:p>
          <a:p>
            <a:r>
              <a:t>Region | Contents</a:t>
            </a:r>
          </a:p>
          <a:p>
            <a:r>
              <a:t>Header | Vendor identity, parent, status, category, risk tier, primary owners, as-of date.</a:t>
            </a:r>
          </a:p>
          <a:p>
            <a:r>
              <a:t>Summary | Spend, contracts, workforce, applications/products, open risks and upcoming renewals.</a:t>
            </a:r>
          </a:p>
          <a:p>
            <a:r>
              <a:t>Tabs | Commercial; Spend; Workforce; Technology; Risk &amp; Performance; Relationships; Timeline.</a:t>
            </a:r>
          </a:p>
          <a:p>
            <a:r>
              <a:t>Context panel | Alerts, missing data, source freshness and recommended analysis.</a:t>
            </a:r>
          </a:p>
          <a:p>
            <a:r>
              <a:t>Actions | Ask about this vendor, create scenario, compare vendor, generate brief.</a:t>
            </a:r>
          </a:p>
          <a:p>
            <a:r>
              <a:t>10.4 Accessibility and Usability</a:t>
            </a:r>
          </a:p>
          <a:p>
            <a:r>
              <a:t>Keyboard-operable navigation and controls.</a:t>
            </a:r>
          </a:p>
          <a:p>
            <a:r>
              <a:t>Visible focus state and logical reading order.</a:t>
            </a:r>
          </a:p>
          <a:p>
            <a:r>
              <a:t>Color not used as the only indicator of risk or status.</a:t>
            </a:r>
          </a:p>
          <a:p>
            <a:r>
              <a:t>Alternative text for meaningful visuals and textual equivalent for graph findings.</a:t>
            </a:r>
          </a:p>
          <a:p>
            <a:r>
              <a:t>Plain-language labels, metric definitions and consistent date/currency formatting.</a:t>
            </a:r>
          </a:p>
          <a:p>
            <a:r>
              <a:t>Progress, empty, stale, partial, conflict and error states explicitly designed.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solution architecture. Adapted from the two user-supplied architecture decks (identical files) and Citi Vendor Decision Intelligence FSD v1.0. Citi-specific platform selections, policies, thresholds and service targets require validation.</a:t>
            </a:r>
          </a:p>
          <a:p>
            <a:r>
              <a:t>Use versioned source landing records. Entity resolution must distinguish legal entity from parent rollup. Low-confidence matches and relationship conflicts go to stewardship. Financial facts retain transaction grain, currency, accounting period and authoritative source. Document chunks inherit source ACLs and cite the original file/page. Valid-time plus ingestion/recorded time and source snapshot support historical questions. Read models are published through a compatible dataset manifest, not assumed to be transactionally synchronized across stores. Revocation and deletion propagate to projections, indexes and caches.</a:t>
            </a:r>
          </a:p>
          <a:p>
            <a:endParaRPr/>
          </a:p>
          <a:p>
            <a:r>
              <a:t>FSD reference:</a:t>
            </a:r>
          </a:p>
          <a:p>
            <a:r>
              <a:t>8. Data Requirements and Logical Model</a:t>
            </a:r>
          </a:p>
          <a:p>
            <a:r>
              <a:t>8.1 Source Domains</a:t>
            </a:r>
          </a:p>
          <a:p>
            <a:r>
              <a:t>Domain | Minimum data objects | Key fields / concepts | Expected authority</a:t>
            </a:r>
          </a:p>
          <a:p>
            <a:r>
              <a:t>Vendor master | Vendor, parent, subsidiary, alias, status | Vendor ID, legal name, hierarchy, category, country | Approved vendor master / ERP</a:t>
            </a:r>
          </a:p>
          <a:p>
            <a:r>
              <a:t>Contracts &amp; SOWs | Contract, amendment, SOW, clause, obligation | Contract ID, vendor, dates, value, currency, notice, owner | CLM / document repository</a:t>
            </a:r>
          </a:p>
          <a:p>
            <a:r>
              <a:t>Spend &amp; forecast | Actual, commitment, invoice, PO, budget, forecast | Period, amount, currency, vendor, cost center, product, category | Finance / procurement systems</a:t>
            </a:r>
          </a:p>
          <a:p>
            <a:r>
              <a:t>External workforce | Worker assignment and aggregate | Vendor, role, location, dates, rate/cost, team | Workforce management platform</a:t>
            </a:r>
          </a:p>
          <a:p>
            <a:r>
              <a:t>Technology | Application, platform, service, capability | Criticality, lifecycle, product, owner, dependency | CMDB / application portfolio</a:t>
            </a:r>
          </a:p>
          <a:p>
            <a:r>
              <a:t>Organization &amp; product | Business unit, technology unit, product, owner | Hierarchy, effective date, accountable owner | Enterprise reference data</a:t>
            </a:r>
          </a:p>
          <a:p>
            <a:r>
              <a:t>Performance &amp; risk | Scorecard, assessment, issue, control, SLA | Rating, tier, status, finding, due date | TPRM / performance sources</a:t>
            </a:r>
          </a:p>
          <a:p>
            <a:r>
              <a:t>Historical snapshots | Versioned states for supported domains | Snapshot date, effective period, source version | Curated analytical store</a:t>
            </a:r>
          </a:p>
          <a:p>
            <a:r>
              <a:t>8.2 Core Logical Entities</a:t>
            </a:r>
          </a:p>
          <a:p>
            <a:r>
              <a:t>Entity | Purpose | Key relationships</a:t>
            </a:r>
          </a:p>
          <a:p>
            <a:r>
              <a:t>Vendor | Mastered supplier identity. | Parent/subsidiary, contracts, spend, workforce, services, risks.</a:t>
            </a:r>
          </a:p>
          <a:p>
            <a:r>
              <a:t>Contract | Commercial agreement and obligations. | Vendor, SOW, product, application, owner, spend.</a:t>
            </a:r>
          </a:p>
          <a:p>
            <a:r>
              <a:t>SOW | Scope and delivery terms under a contract. | Contract, workforce, service, product, organization.</a:t>
            </a:r>
          </a:p>
          <a:p>
            <a:r>
              <a:t>SpendRecord | Actual/committed financial record. | Vendor, contract, period, cost center, product, currency.</a:t>
            </a:r>
          </a:p>
          <a:p>
            <a:r>
              <a:t>ForecastRecord | Planned financial amount. | Vendor/category, period, organization, product.</a:t>
            </a:r>
          </a:p>
          <a:p>
            <a:r>
              <a:t>WorkforceAssignment | External labor relationship. | Vendor, role, team, product/application, dates.</a:t>
            </a:r>
          </a:p>
          <a:p>
            <a:r>
              <a:t>Application | Technology asset or service. | Vendor, product, business capability, owner, criticality.</a:t>
            </a:r>
          </a:p>
          <a:p>
            <a:r>
              <a:t>Product | Business or technology product. | Applications, vendors, organization, owner.</a:t>
            </a:r>
          </a:p>
          <a:p>
            <a:r>
              <a:t>RiskAssessment | Vendor or service risk evaluation. | Vendor, contract/service, issue, control, assessment date.</a:t>
            </a:r>
          </a:p>
          <a:p>
            <a:r>
              <a:t>PerformanceMetric | Vendor KPI or SLA result. | Vendor, contract/service, period, threshold.</a:t>
            </a:r>
          </a:p>
          <a:p>
            <a:r>
              <a:t>Scenario | User-defined hypothetical change set. | Baseline, levers, impacted entities, results, assumptions.</a:t>
            </a:r>
          </a:p>
          <a:p>
            <a:r>
              <a:t>Evidence | Traceable source supporting an answer. | Source system, object ID, location, extraction time, entitlement.</a:t>
            </a:r>
          </a:p>
          <a:p>
            <a:r>
              <a:t>8.3 Canonical Relationship Examples</a:t>
            </a:r>
          </a:p>
          <a:p>
            <a:r>
              <a:t>Vendor PROVIDES Service; Service SUPPORTS Application; Application ENABLES Product; Product BELONGS_TO Organization.</a:t>
            </a:r>
          </a:p>
          <a:p>
            <a:r>
              <a:t>Vendor HAS Contract; Contract HAS SOW; SOW STAFFED_BY WorkforceAssignment.</a:t>
            </a:r>
          </a:p>
          <a:p>
            <a:r>
              <a:t>SpendRecord CHARGED_TO Contract, Vendor, Product and Organization.</a:t>
            </a:r>
          </a:p>
          <a:p>
            <a:r>
              <a:t>RiskAssessment ASSESSES Vendor or Service; Issue AFFECTS Vendor, Contract, Application or Product.</a:t>
            </a:r>
          </a:p>
          <a:p>
            <a:r>
              <a:t>Owner ACCOUNTABLE_FOR VendorRelationship, Contract, Product or Application.</a:t>
            </a:r>
          </a:p>
          <a:p>
            <a:r>
              <a:t>Evidence SUPPORTS Fact, Metric, Alert, Recommendation or ScenarioResult.</a:t>
            </a:r>
          </a:p>
          <a:p>
            <a:r>
              <a:t>8.4 Data Quality Controls</a:t>
            </a:r>
          </a:p>
          <a:p>
            <a:r>
              <a:t>Control | Description | System behavior</a:t>
            </a:r>
          </a:p>
          <a:p>
            <a:r>
              <a:t>Completeness | Required identifiers, dates, amounts, owners and relationships. | Quarantine invalid records; report coverage.</a:t>
            </a:r>
          </a:p>
          <a:p>
            <a:r>
              <a:t>Uniqueness | Duplicate vendors, contracts and transactions. | Apply deterministic/probabilistic matching with stewardship queue.</a:t>
            </a:r>
          </a:p>
          <a:p>
            <a:r>
              <a:t>Validity | Allowed values, date sequencing, currency and hierarchy references. | Reject or flag based on severity.</a:t>
            </a:r>
          </a:p>
          <a:p>
            <a:r>
              <a:t>Consistency | Cross-source vendor, contract, spend and ownership agreement. | Create reconciliation exception with source comparison.</a:t>
            </a:r>
          </a:p>
          <a:p>
            <a:r>
              <a:t>Timeliness | Expected load frequency and freshness threshold. | Show stale status and suppress invalid recommendations if required.</a:t>
            </a:r>
          </a:p>
          <a:p>
            <a:r>
              <a:t>Reconciliation | Source-to-curated counts and financial totals. | Block publication when tolerance is exceeded.</a:t>
            </a:r>
          </a:p>
          <a:p>
            <a:r>
              <a:t>Lineage | Source, transformation and semantic mapping. | Expose lineage to operators and authorized users.</a:t>
            </a:r>
          </a:p>
          <a:p>
            <a:endParaRPr/>
          </a:p>
          <a:p>
            <a:endParaRPr/>
          </a:p>
          <a:p>
            <a:r>
              <a:t>11. Integration Requirements</a:t>
            </a:r>
          </a:p>
          <a:p>
            <a:r>
              <a:t>Interface | Pattern | Minimum behavior | Open decision</a:t>
            </a:r>
          </a:p>
          <a:p>
            <a:r>
              <a:t>Structured sources | Batch, CDC or approved query interface. | Schema validation, watermarking, reconciliation, retry and lineage. | Citi-selected source and frequency.</a:t>
            </a:r>
          </a:p>
          <a:p>
            <a:r>
              <a:t>Contract documents | Secure file/document ingestion. | Metadata capture, OCR where needed, extraction, chunking, entitlement and citation. | Repository and permitted content.</a:t>
            </a:r>
          </a:p>
          <a:p>
            <a:r>
              <a:t>Identity and access | Enterprise SSO and authorization. | Token validation, group/role mapping and policy evaluation. | Identity provider and entitlement model.</a:t>
            </a:r>
          </a:p>
          <a:p>
            <a:r>
              <a:t>Model gateway | Approved enterprise AI endpoint. | Routing, guardrails, prompt versioning, telemetry and cost controls. | Permitted models and deployment region.</a:t>
            </a:r>
          </a:p>
          <a:p>
            <a:r>
              <a:t>Notifications | Approved email/chat/workflow connector. | Deliver alert summary with link, no sensitive payload unless authorized. | Permitted channel and template.</a:t>
            </a:r>
          </a:p>
          <a:p>
            <a:r>
              <a:t>Export | Document or data export service. | Confidentiality marking, access check and audit event. | Permitted formats and destinations.</a:t>
            </a:r>
          </a:p>
          <a:p>
            <a:r>
              <a:t>11.1 Proposed Service Contracts</a:t>
            </a:r>
          </a:p>
          <a:p>
            <a:r>
              <a:t>Service | Example operation | Response minimum</a:t>
            </a:r>
          </a:p>
          <a:p>
            <a:r>
              <a:t>Vendor service | GET vendor / search vendors | Canonical vendor, aliases, status, hierarchy, freshness.</a:t>
            </a:r>
          </a:p>
          <a:p>
            <a:r>
              <a:t>Vendor 360 service | GET vendor/{id}/360 | Authorized domain summaries, evidence links, coverage.</a:t>
            </a:r>
          </a:p>
          <a:p>
            <a:r>
              <a:t>Query service | POST query | Answer ID, status, answer, evidence, scope, limitations, trace ID.</a:t>
            </a:r>
          </a:p>
          <a:p>
            <a:r>
              <a:t>Graph service | POST relationships | Nodes, edges, evidence, confidence, entitlements.</a:t>
            </a:r>
          </a:p>
          <a:p>
            <a:r>
              <a:t>Scenario service | POST scenario / GET comparison | Inputs, baseline, results, impacts, assumptions, errors.</a:t>
            </a:r>
          </a:p>
          <a:p>
            <a:r>
              <a:t>Recommendation service | POST recommendations | Candidate action, rationale, evidence, checks, confidence.</a:t>
            </a:r>
          </a:p>
          <a:p>
            <a:r>
              <a:t>Alert service | GET alerts / POST disposition | Alert, severity, trigger, owner, status, audit metadata.</a:t>
            </a:r>
          </a:p>
          <a:p>
            <a:endParaRPr/>
          </a:p>
          <a:p>
            <a:endParaRPr/>
          </a:p>
          <a:p>
            <a:r>
              <a:t>13. Non-Functional Requirements</a:t>
            </a:r>
          </a:p>
          <a:p>
            <a:r>
              <a:t>ID | Category | Requirement / target to validate</a:t>
            </a:r>
          </a:p>
          <a:p>
            <a:r>
              <a:t>NFR-01 | Availability | Define separate availability targets for demo and production service tiers.</a:t>
            </a:r>
          </a:p>
          <a:p>
            <a:r>
              <a:t>NFR-02 | Performance | Define percentile response targets for dashboard, structured query, graph traversal, retrieval Q&amp;A and scenarios.</a:t>
            </a:r>
          </a:p>
          <a:p>
            <a:r>
              <a:t>NFR-03 | Scalability | Scale independently across ingestion, structured queries, graph queries, retrieval and model inference.</a:t>
            </a:r>
          </a:p>
          <a:p>
            <a:r>
              <a:t>NFR-04 | Reliability | Use idempotent ingestion, retry with backoff, dead-letter handling and recoverable orchestration.</a:t>
            </a:r>
          </a:p>
          <a:p>
            <a:r>
              <a:t>NFR-05 | Freshness | Set source-specific expected arrival and stale thresholds visible to users.</a:t>
            </a:r>
          </a:p>
          <a:p>
            <a:r>
              <a:t>NFR-06 | Data accuracy | Set reconciliation tolerances for counts, spend, forecast and relationship coverage.</a:t>
            </a:r>
          </a:p>
          <a:p>
            <a:r>
              <a:t>NFR-07 | Observability | Capture logs, metrics and traces across request, tool, data, model and user experience layers.</a:t>
            </a:r>
          </a:p>
          <a:p>
            <a:r>
              <a:t>NFR-08 | Audit | Retain tamper-evident records sufficient to reproduce material answers and decisions.</a:t>
            </a:r>
          </a:p>
          <a:p>
            <a:r>
              <a:t>NFR-09 | Accessibility | Conform to Citi-approved accessibility standard and test with keyboard and assistive technologies.</a:t>
            </a:r>
          </a:p>
          <a:p>
            <a:r>
              <a:t>NFR-10 | Maintainability | Configuration-driven sources, metrics, rules, thresholds, prompts and models with automated tests.</a:t>
            </a:r>
          </a:p>
          <a:p>
            <a:r>
              <a:t>NFR-11 | Portability | Abstract source and model connectors to permit approved deployment choices.</a:t>
            </a:r>
          </a:p>
          <a:p>
            <a:r>
              <a:t>NFR-12 | Disaster recovery | Define RTO/RPO by component and test recovery procedures.</a:t>
            </a:r>
          </a:p>
          <a:p>
            <a:r>
              <a:t>NFR-13 | Cost control | Track per-request and aggregate compute/model cost with budgets and routing policies.</a:t>
            </a:r>
          </a:p>
          <a:p>
            <a:r>
              <a:t>NFR-14 | Localization | Use approved date, number, currency and time-zone standards.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solution architecture. Adapted from the two user-supplied architecture decks (identical files) and Citi Vendor Decision Intelligence FSD v1.0. Citi-specific platform selections, policies, thresholds and service targets require validation.</a:t>
            </a:r>
          </a:p>
          <a:p>
            <a:r>
              <a:t>A metric contract includes metric ID/version, business definition, owner, fact grain, aggregation, eligible dimensions, join cardinalities, filters, reporting currency/FX source/date, time basis, source versions and entitlements. Calculate spend on approved actual facts: do not sum invoices and POs as if distinct actuals. Pre-aggregate facts before many-to-many joins or use approved allocation weights. Define workforce count as distinct active assignments or people explicitly. Concentration denominator must use the same authorized/approved aggregate portfolio scope, period and criticality definition as its numerator. Use approved SQL templates first; generated SQL is not allowed to bypass template or policy validation. Confidence is assigned by approved coverage/freshness/check policy, not invented model probability. Candidate metric platform: https://docs.getdbt.com/docs/use-dbt-semantic-layer/dbt-sl and https://docs.getdbt.com/docs/build/about-metricflow .</a:t>
            </a:r>
          </a:p>
          <a:p>
            <a:endParaRPr/>
          </a:p>
          <a:p>
            <a:r>
              <a:t>FSD reference:</a:t>
            </a:r>
          </a:p>
          <a:p>
            <a:r>
              <a:t>6. Functional Requirements</a:t>
            </a:r>
          </a:p>
          <a:p>
            <a:r>
              <a:t>6.1 Authentication, Authorization and Session</a:t>
            </a:r>
          </a:p>
          <a:p>
            <a:r>
              <a:t>ID | Requirement | Functional description | Priority | Acceptance criteria</a:t>
            </a:r>
          </a:p>
          <a:p>
            <a:r>
              <a:t>FR-001 | Enterprise sign-on | Authenticate users through the approved enterprise identity provider. | Must | Unauthenticated access is blocked; authenticated identity is available to authorization services.</a:t>
            </a:r>
          </a:p>
          <a:p>
            <a:r>
              <a:t>FR-002 | Role-based access | Authorize pages, features, data domains and administrative functions by role. | Must | A user only sees functions assigned to the user role.</a:t>
            </a:r>
          </a:p>
          <a:p>
            <a:r>
              <a:t>FR-003 | Data entitlements | Enforce row-, attribute-, document- and index-level access before retrieval and answer generation. | Must | Restricted evidence is not retrieved, displayed, summarized or exported.</a:t>
            </a:r>
          </a:p>
          <a:p>
            <a:r>
              <a:t>FR-004 | Session controls | Apply approved session timeout, reauthentication and sign-out behavior. | Must | Expired sessions cannot call application or AI services.</a:t>
            </a:r>
          </a:p>
          <a:p>
            <a:r>
              <a:t>6.2 Executive Vendor Cockpit</a:t>
            </a:r>
          </a:p>
          <a:p>
            <a:r>
              <a:t>ID | Requirement | Functional description | Priority | Acceptance criteria</a:t>
            </a:r>
          </a:p>
          <a:p>
            <a:r>
              <a:t>FR-010 | KPI tiles | Display configurable vendor-spend, renewal, risk, workforce and variance KPIs with as-of date. | Must | Each KPI shows definition, period, source status and drill path.</a:t>
            </a:r>
          </a:p>
          <a:p>
            <a:r>
              <a:t>FR-011 | Portfolio filters | Filter by vendor, organization, product, application, geography, category, risk tier and time period where available. | Must | Filters apply consistently to all supported visuals.</a:t>
            </a:r>
          </a:p>
          <a:p>
            <a:r>
              <a:t>FR-012 | Renewal worklist | Display upcoming renewals with contract value, critical dependencies, owner and priority rationale. | Must | User can sort, filter and open the supporting vendor/contract evidence.</a:t>
            </a:r>
          </a:p>
          <a:p>
            <a:r>
              <a:t>FR-013 | Risk and opportunity panels | Show concentration, overlap, spend variance, data-quality and change alerts. | Should | Each item links to an explainable detail view.</a:t>
            </a:r>
          </a:p>
          <a:p>
            <a:r>
              <a:t>FR-014 | Saved views | Allow users to save authorized filter and layout preferences. | Could | Saved views do not override data entitlements.</a:t>
            </a:r>
          </a:p>
          <a:p>
            <a:r>
              <a:t>6.3 Ask Vendor Intelligence</a:t>
            </a:r>
          </a:p>
          <a:p>
            <a:r>
              <a:t>ID | Requirement | Functional description | Priority | Acceptance criteria</a:t>
            </a:r>
          </a:p>
          <a:p>
            <a:r>
              <a:t>FR-020 | Natural-language input | Accept vendor-management questions in plain language. | Must | System accepts a question and displays processing state.</a:t>
            </a:r>
          </a:p>
          <a:p>
            <a:r>
              <a:t>FR-021 | Intent and domain routing | Classify question intent and select approved domain tools for contracts, spend, workforce, vendor, product and risk. | Must | Execution trace records the selected plan and tools.</a:t>
            </a:r>
          </a:p>
          <a:p>
            <a:r>
              <a:t>FR-022 | Query decomposition | Break multi-domain questions into subqueries and maintain a shared filter context. | Must | Subquery results reconcile to the final response or expose unresolved conflicts.</a:t>
            </a:r>
          </a:p>
          <a:p>
            <a:r>
              <a:t>FR-023 | Evidence-backed response | Return answer, source references, as-of time, calculations, assumptions and limitations. | Must | Every material statement has viewable supporting evidence or is labelled as an inference/recommendation.</a:t>
            </a:r>
          </a:p>
          <a:p>
            <a:r>
              <a:t>FR-024 | Clarification behavior | Request a scoped clarification when vendor, period, metric or business context is ambiguous. | Should | System does not silently choose among materially different interpretations.</a:t>
            </a:r>
          </a:p>
          <a:p>
            <a:r>
              <a:t>FR-025 | Follow-up context | Support follow-up questions within the same authorized analysis context. | Should | Context retains selected entities and filters but rechecks authorization.</a:t>
            </a:r>
          </a:p>
          <a:p>
            <a:r>
              <a:t>FR-026 | Answer export | Export an authorized answer as a decision brief containing evidence references. | Should | Export includes generation time, filters, assumptions and disclaimer.</a:t>
            </a:r>
          </a:p>
          <a:p>
            <a:r>
              <a:t>FR-027 | Feedback | Capture helpful/not-helpful, issue category and optional comment. | Should | Feedback is linked to answer trace without exposing restricted content to unauthorized operators.</a:t>
            </a:r>
          </a:p>
          <a:p>
            <a:r>
              <a:t>6.4 Vendor 360</a:t>
            </a:r>
          </a:p>
          <a:p>
            <a:r>
              <a:t>ID | Requirement | Functional description | Priority | Acceptance criteria</a:t>
            </a:r>
          </a:p>
          <a:p>
            <a:r>
              <a:t>FR-030 | Vendor identity | Present mastered vendor identity, aliases and source identifiers. | Must | All displayed cross-domain records resolve to the selected vendor or show uncertain matches.</a:t>
            </a:r>
          </a:p>
          <a:p>
            <a:r>
              <a:t>FR-031 | Commercial profile | Show contracts, SOWs, effective/expiry dates, values, obligations and renewal status where available. | Must | Contract facts link to authorized source records or extracted evidence.</a:t>
            </a:r>
          </a:p>
          <a:p>
            <a:r>
              <a:t>FR-032 | Spend profile | Show actual, forecast, variance, trend and category/organization breakdown. | Must | Totals reconcile to approved source aggregates within agreed tolerance.</a:t>
            </a:r>
          </a:p>
          <a:p>
            <a:r>
              <a:t>FR-033 | Workforce profile | Show external workforce counts and approved breakdowns. | Should | Only permitted aggregate or individual detail is displayed.</a:t>
            </a:r>
          </a:p>
          <a:p>
            <a:r>
              <a:t>FR-034 | Technology dependencies | Show related applications, products, services, business capabilities and criticality. | Must | User can navigate each relationship to its evidence and ownership.</a:t>
            </a:r>
          </a:p>
          <a:p>
            <a:r>
              <a:t>FR-035 | Performance and risk | Show approved vendor performance, TPRM and issue indicators. | Should | Metric definition and assessment date are visible.</a:t>
            </a:r>
          </a:p>
          <a:p>
            <a:r>
              <a:t>FR-036 | Ownership | Show approved business, technology, sourcing and vendor-management ownership fields. | Must | Owner is derived from an authoritative source and includes as-of date.</a:t>
            </a:r>
          </a:p>
          <a:p>
            <a:r>
              <a:t>FR-037 | Timeline | Show material contract, spend, risk and relationship changes over time. | Could | Each event identifies event type, effective time and source.</a:t>
            </a:r>
          </a:p>
          <a:p>
            <a:r>
              <a:t>6.5 Renewal Prioritization</a:t>
            </a:r>
          </a:p>
          <a:p>
            <a:r>
              <a:t>ID | Requirement | Functional description | Priority | Acceptance criteria</a:t>
            </a:r>
          </a:p>
          <a:p>
            <a:r>
              <a:t>FR-040 | Renewal horizon | Identify contracts within configurable renewal horizons. | Must | Administrators can configure horizon values without code changes.</a:t>
            </a:r>
          </a:p>
          <a:p>
            <a:r>
              <a:t>FR-041 | Priority calculation | Calculate renewal priority using approved factors such as time, value, criticality, dependency, risk and performance. | Must | Score components, weights and missing data are visible.</a:t>
            </a:r>
          </a:p>
          <a:p>
            <a:r>
              <a:t>FR-042 | Obligation extraction | Surface authorized renewal, notice and termination clauses from contract content. | Should | Extracted content links to page/section and requires human validation.</a:t>
            </a:r>
          </a:p>
          <a:p>
            <a:r>
              <a:t>FR-043 | Renewal brief | Generate a structured brief with decision context, dependencies, issues and open questions. | Should | Brief distinguishes source facts from generated recommendations.</a:t>
            </a:r>
          </a:p>
          <a:p>
            <a:r>
              <a:t>6.6 Concentration and Dependency Risk</a:t>
            </a:r>
          </a:p>
          <a:p>
            <a:r>
              <a:t>ID | Requirement | Functional description | Priority | Acceptance criteria</a:t>
            </a:r>
          </a:p>
          <a:p>
            <a:r>
              <a:t>FR-050 | Exposure aggregation | Aggregate vendor exposure by spend, workforce, applications, products, services and organizational units. | Must | User can change the analysis dimension without changing the vendor scope.</a:t>
            </a:r>
          </a:p>
          <a:p>
            <a:r>
              <a:t>FR-051 | Dependency graph | Visualize navigable vendor-to-contract-to-workforce-to-technology-to-product relationships. | Must | Graph supports filter, expand, inspect and evidence navigation.</a:t>
            </a:r>
          </a:p>
          <a:p>
            <a:r>
              <a:t>FR-052 | Critical dependency | Flag single-source or material dependencies using approved rules. | Must | Flag shows rule triggered and supporting entities.</a:t>
            </a:r>
          </a:p>
          <a:p>
            <a:r>
              <a:t>FR-053 | Concentration score | Calculate an explainable concentration indicator using Citi-approved logic. | Should | No score is shown without versioned formula and data coverage.</a:t>
            </a:r>
          </a:p>
          <a:p>
            <a:r>
              <a:t>FR-054 | Alternative supplier context | Display known suppliers with overlapping capabilities without asserting substitutability. | Could | System labels results as candidates requiring business validation.</a:t>
            </a:r>
          </a:p>
          <a:p>
            <a:r>
              <a:t>6.7 Rationalization and Overlap</a:t>
            </a:r>
          </a:p>
          <a:p>
            <a:r>
              <a:t>ID | Requirement | Functional description | Priority | Acceptance criteria</a:t>
            </a:r>
          </a:p>
          <a:p>
            <a:r>
              <a:t>FR-060 | Capability comparison | Compare vendors using services, skills, products, applications, contracts and performance attributes. | Must | Comparison shows matched attributes and source provenance.</a:t>
            </a:r>
          </a:p>
          <a:p>
            <a:r>
              <a:t>FR-061 | Overlap clusters | Identify clusters of vendors serving similar capabilities or technology areas. | Should | Threshold and clustering method are visible and versioned.</a:t>
            </a:r>
          </a:p>
          <a:p>
            <a:r>
              <a:t>FR-062 | Opportunity estimate | Estimate potential spend or vendor-count opportunity using configurable assumptions. | Should | Estimate is labelled as scenario output, not committed savings.</a:t>
            </a:r>
          </a:p>
          <a:p>
            <a:r>
              <a:t>FR-063 | Constraint check | Check criticality, contractual, capacity, risk and transition constraints before recommendation. | Must | Recommendation lists passed, failed and unavailable checks.</a:t>
            </a:r>
          </a:p>
          <a:p>
            <a:r>
              <a:t>6.8 Spend, Forecast and Variance</a:t>
            </a:r>
          </a:p>
          <a:p>
            <a:r>
              <a:t>ID | Requirement | Functional description | Priority | Acceptance criteria</a:t>
            </a:r>
          </a:p>
          <a:p>
            <a:r>
              <a:t>FR-070 | Actual vs forecast | Compare actual vendor spend with approved forecast at supported grains. | Must | Period, currency, hierarchy and source version are displayed.</a:t>
            </a:r>
          </a:p>
          <a:p>
            <a:r>
              <a:t>FR-071 | Variance explanation | Rank contributing vendors, categories, units, contracts or workforce factors. | Must | Contributions reconcile to the displayed variance within agreed tolerance.</a:t>
            </a:r>
          </a:p>
          <a:p>
            <a:r>
              <a:t>FR-072 | Trend and snapshot | Support period trend and point-in-time views where historical data exists. | Should | User can distinguish transaction date, accounting period and snapshot date.</a:t>
            </a:r>
          </a:p>
          <a:p>
            <a:r>
              <a:t>FR-073 | Currency handling | Apply approved transaction and reporting currency logic. | Must | Exchange-rate source and rate date are traceable.</a:t>
            </a:r>
          </a:p>
          <a:p>
            <a:r>
              <a:t>6.9 Scenario Analysis</a:t>
            </a:r>
          </a:p>
          <a:p>
            <a:r>
              <a:t>ID | Requirement | Functional description | Priority | Acceptance criteria</a:t>
            </a:r>
          </a:p>
          <a:p>
            <a:r>
              <a:t>FR-080 | Scenario creation | Create a named, non-destructive scenario from an authorized baseline. | Must | Source records are unchanged and scenario ownership is recorded.</a:t>
            </a:r>
          </a:p>
          <a:p>
            <a:r>
              <a:t>FR-081 | Scenario levers | Support configurable spend reduction, workforce change, vendor substitution, timing and scope levers. | Must | Only enabled levers and valid ranges are accepted.</a:t>
            </a:r>
          </a:p>
          <a:p>
            <a:r>
              <a:t>FR-082 | Impact propagation | Propagate changes through contract, workforce, application, product and organization relationships. | Must | Impacted entities and propagation path are visible.</a:t>
            </a:r>
          </a:p>
          <a:p>
            <a:r>
              <a:t>FR-083 | Baseline comparison | Compare baseline and scenario for financial, operational and risk indicators. | Must | Comparison uses consistent date, currency and scope.</a:t>
            </a:r>
          </a:p>
          <a:p>
            <a:r>
              <a:t>FR-084 | Scenario assumptions | Capture assumptions, exclusions, constraints and data coverage. | Must | Scenario cannot be presented without an assumptions panel.</a:t>
            </a:r>
          </a:p>
          <a:p>
            <a:r>
              <a:t>FR-085 | Scenario sharing | Share read-only scenarios with authorized reviewers. | Could | Recipient access is re-evaluated and restricted evidence is removed.</a:t>
            </a:r>
          </a:p>
          <a:p>
            <a:r>
              <a:t>6.10 Recommendations, Alerts and Decisions</a:t>
            </a:r>
          </a:p>
          <a:p>
            <a:r>
              <a:t>ID | Requirement | Functional description | Priority | Acceptance criteria</a:t>
            </a:r>
          </a:p>
          <a:p>
            <a:r>
              <a:t>FR-090 | Recommendation generation | Generate candidate actions from facts, policy checks and scenario outputs. | Must | Recommendation shows rationale, evidence, confidence and human decision requirement.</a:t>
            </a:r>
          </a:p>
          <a:p>
            <a:r>
              <a:t>FR-091 | Human disposition | Allow authorized user to accept for review, reject, defer or request more evidence. | Should | Disposition and comment are auditable and do not execute source actions.</a:t>
            </a:r>
          </a:p>
          <a:p>
            <a:r>
              <a:t>FR-092 | Alert rules | Configure alerts for renewals, risk, variance, material changes and data-quality conditions. | Should | Alert includes rule version, trigger facts, severity and owner.</a:t>
            </a:r>
          </a:p>
          <a:p>
            <a:r>
              <a:t>FR-093 | Decision brief | Generate a concise decision package with options, impacts, evidence and unresolved issues. | Should | Brief is reproducible from a stored analysis trace.</a:t>
            </a:r>
          </a:p>
          <a:p>
            <a:r>
              <a:t>6.11 Administration and Stewardship</a:t>
            </a:r>
          </a:p>
          <a:p>
            <a:r>
              <a:t>ID | Requirement | Functional description | Priority | Acceptance criteria</a:t>
            </a:r>
          </a:p>
          <a:p>
            <a:r>
              <a:t>FR-100 | Metric catalog | Manage business definitions, formulas, owners and effective dates. | Must | UI displays the active definition used by each metric.</a:t>
            </a:r>
          </a:p>
          <a:p>
            <a:r>
              <a:t>FR-101 | Threshold configuration | Manage renewal windows, risk bands, variance thresholds and scenario bounds. | Must | Changes are versioned, approved and effective-dated.</a:t>
            </a:r>
          </a:p>
          <a:p>
            <a:r>
              <a:t>FR-102 | Entity stewardship | Review and resolve vendor identity matches and relationship exceptions. | Must | Manual decisions retain steward, timestamp, reason and source values.</a:t>
            </a:r>
          </a:p>
          <a:p>
            <a:r>
              <a:t>FR-103 | Source health | Display ingestion status, freshness, quality and reconciliation results. | Must | Stale or failed sources visibly affect answer status.</a:t>
            </a:r>
          </a:p>
          <a:p>
            <a:r>
              <a:t>FR-104 | Prompt/model configuration | Restrict changes to approved prompts, models and routing policies. | Must | All changes are versioned and rollback-capable.</a:t>
            </a:r>
          </a:p>
          <a:p>
            <a:endParaRPr/>
          </a:p>
          <a:p>
            <a:endParaRPr/>
          </a:p>
          <a:p>
            <a:r>
              <a:t>7. Business Rules</a:t>
            </a:r>
          </a:p>
          <a:p>
            <a:r>
              <a:t>Rule ID | Rule</a:t>
            </a:r>
          </a:p>
          <a:p>
            <a:r>
              <a:t>BR-01 | A vendor fact is displayable only when the user is entitled to the underlying record or an approved aggregate.</a:t>
            </a:r>
          </a:p>
          <a:p>
            <a:r>
              <a:t>BR-02 | All material answers must display an as-of date and the freshness of contributing sources.</a:t>
            </a:r>
          </a:p>
          <a:p>
            <a:r>
              <a:t>BR-03 | Recommendations must be clearly separated from source facts and must require human decision-making.</a:t>
            </a:r>
          </a:p>
          <a:p>
            <a:r>
              <a:t>BR-04 | Missing or conflicting source data must lower confidence and be surfaced, not silently imputed, unless an approved rule exists.</a:t>
            </a:r>
          </a:p>
          <a:p>
            <a:r>
              <a:t>BR-05 | Scenario results are hypothetical and must not update systems of record.</a:t>
            </a:r>
          </a:p>
          <a:p>
            <a:r>
              <a:t>BR-06 | A renewal-priority or concentration score cannot be shown without the active formula version and component visibility.</a:t>
            </a:r>
          </a:p>
          <a:p>
            <a:r>
              <a:t>BR-07 | Contract clause extraction is advisory and must link to the original clause for human review.</a:t>
            </a:r>
          </a:p>
          <a:p>
            <a:r>
              <a:t>BR-08 | Potential savings must be labelled as an estimate and include baseline, assumptions, exclusions and currency.</a:t>
            </a:r>
          </a:p>
          <a:p>
            <a:r>
              <a:t>BR-09 | Vendor alternatives or overlap do not imply interchangeability; business and risk validation is mandatory.</a:t>
            </a:r>
          </a:p>
          <a:p>
            <a:r>
              <a:t>BR-10 | Exports must inherit access controls and include generation metadata and confidentiality markings.</a:t>
            </a:r>
          </a:p>
          <a:p>
            <a:r>
              <a:t>BR-11 | If a required source is stale beyond its approved threshold, the answer must show a stale-data warning.</a:t>
            </a:r>
          </a:p>
          <a:p>
            <a:r>
              <a:t>BR-12 | Metric calculations must use approved semantic definitions rather than agent-generated formulas.</a:t>
            </a:r>
          </a:p>
          <a:p>
            <a:endParaRPr/>
          </a:p>
          <a:p>
            <a:endParaRPr/>
          </a:p>
          <a:p>
            <a:r>
              <a:t>18. Requirements Traceability</a:t>
            </a:r>
          </a:p>
          <a:p>
            <a:r>
              <a:t>Business objective | Use cases | Primary requirements</a:t>
            </a:r>
          </a:p>
          <a:p>
            <a:r>
              <a:t>Unified trusted evidence | UC-01, UC-07 | FR-030 to FR-037; FR-100 to FR-103</a:t>
            </a:r>
          </a:p>
          <a:p>
            <a:r>
              <a:t>Faster renewal decisions | UC-02 | FR-040 to FR-043; FR-020 to FR-027</a:t>
            </a:r>
          </a:p>
          <a:p>
            <a:r>
              <a:t>Proactive concentration management | UC-03 | FR-050 to FR-054</a:t>
            </a:r>
          </a:p>
          <a:p>
            <a:r>
              <a:t>Supplier rationalization | UC-04 | FR-060 to FR-063</a:t>
            </a:r>
          </a:p>
          <a:p>
            <a:r>
              <a:t>Spend transparency | UC-05 | FR-070 to FR-073</a:t>
            </a:r>
          </a:p>
          <a:p>
            <a:r>
              <a:t>What-if decision support | UC-06 | FR-080 to FR-085</a:t>
            </a:r>
          </a:p>
          <a:p>
            <a:r>
              <a:t>Explainable actions | UC-07, UC-08 | FR-090 to FR-093</a:t>
            </a:r>
          </a:p>
          <a:p>
            <a:r>
              <a:t>Controlled operation | All | FR-001 to FR-004; FR-100 to FR-104; NFR-01 to NFR-14</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solution architecture. Adapted from the two user-supplied architecture decks (identical files) and Citi Vendor Decision Intelligence FSD v1.0. Citi-specific platform selections, policies, thresholds and service targets require validation.</a:t>
            </a:r>
          </a:p>
          <a:p>
            <a:r>
              <a:t>Canonical relationship schema: Vendor HAS Contract; Contract HAS SOW; SOW STAFFED_BY WorkforceAssignment. Vendor PROVIDES Service; Service SUPPORTS Application; Application ENABLES Product; Product BELONGS_TO Organization. RiskAssessment ASSESSES Vendor or Service; owners remain accountable. Every material edge carries source ID, evidence ID, valid_from/to, confidence, review status and access classification. Enforce authorized nodes and edges during traversal, including avoidance of restricted intermediate paths and count leakage. Link-derived document retrieval is graph-assisted retrieval; it does not require a separate generative graph model. Hybrid retrieval ranks only entitled candidates. Low-confidence extraction must show original clause for human review. Sources: https://neo4j.com/docs/operations-manual/current/authentication-authorization/ ; https://neo4j.com/docs/operations-manual/current/tutorial/access-control/ ; https://github.com/pgvector/pgvector .</a:t>
            </a:r>
          </a:p>
          <a:p>
            <a:endParaRPr/>
          </a:p>
          <a:p>
            <a:r>
              <a:t>FSD reference:</a:t>
            </a:r>
          </a:p>
          <a:p>
            <a:r>
              <a:t>8. Data Requirements and Logical Model</a:t>
            </a:r>
          </a:p>
          <a:p>
            <a:r>
              <a:t>8.1 Source Domains</a:t>
            </a:r>
          </a:p>
          <a:p>
            <a:r>
              <a:t>Domain | Minimum data objects | Key fields / concepts | Expected authority</a:t>
            </a:r>
          </a:p>
          <a:p>
            <a:r>
              <a:t>Vendor master | Vendor, parent, subsidiary, alias, status | Vendor ID, legal name, hierarchy, category, country | Approved vendor master / ERP</a:t>
            </a:r>
          </a:p>
          <a:p>
            <a:r>
              <a:t>Contracts &amp; SOWs | Contract, amendment, SOW, clause, obligation | Contract ID, vendor, dates, value, currency, notice, owner | CLM / document repository</a:t>
            </a:r>
          </a:p>
          <a:p>
            <a:r>
              <a:t>Spend &amp; forecast | Actual, commitment, invoice, PO, budget, forecast | Period, amount, currency, vendor, cost center, product, category | Finance / procurement systems</a:t>
            </a:r>
          </a:p>
          <a:p>
            <a:r>
              <a:t>External workforce | Worker assignment and aggregate | Vendor, role, location, dates, rate/cost, team | Workforce management platform</a:t>
            </a:r>
          </a:p>
          <a:p>
            <a:r>
              <a:t>Technology | Application, platform, service, capability | Criticality, lifecycle, product, owner, dependency | CMDB / application portfolio</a:t>
            </a:r>
          </a:p>
          <a:p>
            <a:r>
              <a:t>Organization &amp; product | Business unit, technology unit, product, owner | Hierarchy, effective date, accountable owner | Enterprise reference data</a:t>
            </a:r>
          </a:p>
          <a:p>
            <a:r>
              <a:t>Performance &amp; risk | Scorecard, assessment, issue, control, SLA | Rating, tier, status, finding, due date | TPRM / performance sources</a:t>
            </a:r>
          </a:p>
          <a:p>
            <a:r>
              <a:t>Historical snapshots | Versioned states for supported domains | Snapshot date, effective period, source version | Curated analytical store</a:t>
            </a:r>
          </a:p>
          <a:p>
            <a:r>
              <a:t>8.2 Core Logical Entities</a:t>
            </a:r>
          </a:p>
          <a:p>
            <a:r>
              <a:t>Entity | Purpose | Key relationships</a:t>
            </a:r>
          </a:p>
          <a:p>
            <a:r>
              <a:t>Vendor | Mastered supplier identity. | Parent/subsidiary, contracts, spend, workforce, services, risks.</a:t>
            </a:r>
          </a:p>
          <a:p>
            <a:r>
              <a:t>Contract | Commercial agreement and obligations. | Vendor, SOW, product, application, owner, spend.</a:t>
            </a:r>
          </a:p>
          <a:p>
            <a:r>
              <a:t>SOW | Scope and delivery terms under a contract. | Contract, workforce, service, product, organization.</a:t>
            </a:r>
          </a:p>
          <a:p>
            <a:r>
              <a:t>SpendRecord | Actual/committed financial record. | Vendor, contract, period, cost center, product, currency.</a:t>
            </a:r>
          </a:p>
          <a:p>
            <a:r>
              <a:t>ForecastRecord | Planned financial amount. | Vendor/category, period, organization, product.</a:t>
            </a:r>
          </a:p>
          <a:p>
            <a:r>
              <a:t>WorkforceAssignment | External labor relationship. | Vendor, role, team, product/application, dates.</a:t>
            </a:r>
          </a:p>
          <a:p>
            <a:r>
              <a:t>Application | Technology asset or service. | Vendor, product, business capability, owner, criticality.</a:t>
            </a:r>
          </a:p>
          <a:p>
            <a:r>
              <a:t>Product | Business or technology product. | Applications, vendors, organization, owner.</a:t>
            </a:r>
          </a:p>
          <a:p>
            <a:r>
              <a:t>RiskAssessment | Vendor or service risk evaluation. | Vendor, contract/service, issue, control, assessment date.</a:t>
            </a:r>
          </a:p>
          <a:p>
            <a:r>
              <a:t>PerformanceMetric | Vendor KPI or SLA result. | Vendor, contract/service, period, threshold.</a:t>
            </a:r>
          </a:p>
          <a:p>
            <a:r>
              <a:t>Scenario | User-defined hypothetical change set. | Baseline, levers, impacted entities, results, assumptions.</a:t>
            </a:r>
          </a:p>
          <a:p>
            <a:r>
              <a:t>Evidence | Traceable source supporting an answer. | Source system, object ID, location, extraction time, entitlement.</a:t>
            </a:r>
          </a:p>
          <a:p>
            <a:r>
              <a:t>8.3 Canonical Relationship Examples</a:t>
            </a:r>
          </a:p>
          <a:p>
            <a:r>
              <a:t>Vendor PROVIDES Service; Service SUPPORTS Application; Application ENABLES Product; Product BELONGS_TO Organization.</a:t>
            </a:r>
          </a:p>
          <a:p>
            <a:r>
              <a:t>Vendor HAS Contract; Contract HAS SOW; SOW STAFFED_BY WorkforceAssignment.</a:t>
            </a:r>
          </a:p>
          <a:p>
            <a:r>
              <a:t>SpendRecord CHARGED_TO Contract, Vendor, Product and Organization.</a:t>
            </a:r>
          </a:p>
          <a:p>
            <a:r>
              <a:t>RiskAssessment ASSESSES Vendor or Service; Issue AFFECTS Vendor, Contract, Application or Product.</a:t>
            </a:r>
          </a:p>
          <a:p>
            <a:r>
              <a:t>Owner ACCOUNTABLE_FOR VendorRelationship, Contract, Product or Application.</a:t>
            </a:r>
          </a:p>
          <a:p>
            <a:r>
              <a:t>Evidence SUPPORTS Fact, Metric, Alert, Recommendation or ScenarioResult.</a:t>
            </a:r>
          </a:p>
          <a:p>
            <a:r>
              <a:t>8.4 Data Quality Controls</a:t>
            </a:r>
          </a:p>
          <a:p>
            <a:r>
              <a:t>Control | Description | System behavior</a:t>
            </a:r>
          </a:p>
          <a:p>
            <a:r>
              <a:t>Completeness | Required identifiers, dates, amounts, owners and relationships. | Quarantine invalid records; report coverage.</a:t>
            </a:r>
          </a:p>
          <a:p>
            <a:r>
              <a:t>Uniqueness | Duplicate vendors, contracts and transactions. | Apply deterministic/probabilistic matching with stewardship queue.</a:t>
            </a:r>
          </a:p>
          <a:p>
            <a:r>
              <a:t>Validity | Allowed values, date sequencing, currency and hierarchy references. | Reject or flag based on severity.</a:t>
            </a:r>
          </a:p>
          <a:p>
            <a:r>
              <a:t>Consistency | Cross-source vendor, contract, spend and ownership agreement. | Create reconciliation exception with source comparison.</a:t>
            </a:r>
          </a:p>
          <a:p>
            <a:r>
              <a:t>Timeliness | Expected load frequency and freshness threshold. | Show stale status and suppress invalid recommendations if required.</a:t>
            </a:r>
          </a:p>
          <a:p>
            <a:r>
              <a:t>Reconciliation | Source-to-curated counts and financial totals. | Block publication when tolerance is exceeded.</a:t>
            </a:r>
          </a:p>
          <a:p>
            <a:r>
              <a:t>Lineage | Source, transformation and semantic mapping. | Expose lineage to operators and authorized users.</a:t>
            </a:r>
          </a:p>
          <a:p>
            <a:endParaRPr/>
          </a:p>
          <a:p>
            <a:endParaRPr/>
          </a:p>
          <a:p>
            <a:r>
              <a:t>9. Functional Architecture</a:t>
            </a:r>
          </a:p>
          <a:p>
            <a:r>
              <a:t>Layer | Responsibilities | Illustrative components</a:t>
            </a:r>
          </a:p>
          <a:p>
            <a:r>
              <a:t>Experience | Cockpit, Ask Vendor Intelligence, Vendor 360, graph, scenario UI, alerts and export. | Web application, visualization components, accessibility support.</a:t>
            </a:r>
          </a:p>
          <a:p>
            <a:r>
              <a:t>Decision orchestration | Intent routing, query planning, tool selection, policy checks, response assembly. | Orchestrator, domain agents/tools, validation and explanation services.</a:t>
            </a:r>
          </a:p>
          <a:p>
            <a:r>
              <a:t>Semantic and analytics | Approved metrics, SQL access, graph traversal, retrieval and temporal comparison. | Semantic layer, SQL service, graph service, vector retrieval, scenario engine.</a:t>
            </a:r>
          </a:p>
          <a:p>
            <a:r>
              <a:t>Knowledge processing | Ingest, classify, extract, map, resolve, validate, index and capture lineage. | Data pipelines, document processing, entity resolution, DQ framework.</a:t>
            </a:r>
          </a:p>
          <a:p>
            <a:r>
              <a:t>Data foundation | Authoritative curated analytics, graph projection, document/vector index and metadata. | SQL store, graph store, vector index, object/document store.</a:t>
            </a:r>
          </a:p>
          <a:p>
            <a:r>
              <a:t>AI runtime and control | Model routing, prompt management, guardrails, telemetry, cost and evaluation. | Approved model gateway, safety filters, trace store, evaluation harness.</a:t>
            </a:r>
          </a:p>
          <a:p>
            <a:r>
              <a:t>Security and operations | Identity, entitlements, secrets, monitoring, incident and change control. | IAM, policy enforcement, vault, SIEM, observability and CI/CD.</a:t>
            </a:r>
          </a:p>
          <a:p>
            <a:r>
              <a:t>9.1 Agent / Tool Responsibilities</a:t>
            </a:r>
          </a:p>
          <a:p>
            <a:r>
              <a:t>Component | Responsibility | Prohibited behavior</a:t>
            </a:r>
          </a:p>
          <a:p>
            <a:r>
              <a:t>Query planner | Interpret task, decompose and sequence approved tools. | Invent data or bypass authorization.</a:t>
            </a:r>
          </a:p>
          <a:p>
            <a:r>
              <a:t>SQL analytics tool | Execute approved metric and aggregation queries. | Generate unrestricted SQL against raw production sources.</a:t>
            </a:r>
          </a:p>
          <a:p>
            <a:r>
              <a:t>Graph tool | Traverse governed entity relationships and return paths. | Infer unapproved relationships without confidence/evidence.</a:t>
            </a:r>
          </a:p>
          <a:p>
            <a:r>
              <a:t>Document retrieval tool | Retrieve entitled contract and policy passages. | Return inaccessible documents or unsupported clause conclusions.</a:t>
            </a:r>
          </a:p>
          <a:p>
            <a:r>
              <a:t>Temporal analysis tool | Compare snapshots and explain change. | Mix effective dates or snapshots without disclosure.</a:t>
            </a:r>
          </a:p>
          <a:p>
            <a:r>
              <a:t>Scenario engine | Apply approved levers and calculate impacts. | Write changes to source systems.</a:t>
            </a:r>
          </a:p>
          <a:p>
            <a:r>
              <a:t>Validation service | Check reconciliation, policy, data coverage and contradiction. | Suppress material limitations.</a:t>
            </a:r>
          </a:p>
          <a:p>
            <a:r>
              <a:t>Explanation service | Assemble rationale, evidence, assumptions and confidence. | Represent generated advice as authoritative approval.</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solution architecture. Adapted from the two user-supplied architecture decks (identical files) and Citi Vendor Decision Intelligence FSD v1.0. Citi-specific platform selections, policies, thresholds and service targets require validation.</a:t>
            </a:r>
          </a:p>
          <a:p>
            <a:r>
              <a:t>Supervisor and specialist roles are a proposed design, not four independent microservices. Commercial handles clauses/contracts. Financial investigates spend/forecast/cost evidence using deterministic tools. Dependency/risk handles workforce, applications, concentration, risk and performance. Sourcing compares capabilities and checks criticality, contract, capacity, risk and transition constraints. Sourcing runs only if relevant and can use other specialists' findings. All agents use the same tool gateway with server-injected principal/scope, allowlisted tool schemas and bounded time/call/cost budgets. A simple request bypasses agents. Share typed findings rather than unrestricted conversations. State includes analysis_id, canonical scope, manifest_id, evidence references, prompt/model/tool versions and review checkpoints. MCP is an optional standardized adapter protocol for approved remote tools, not an authorization bypass. Prompt/instruction library and shared skills are versioned and approved. Source: https://docs.langchain.com/oss/python/langgraph/interrupts ; https://docs.langchain.com/oss/python/langgraph/persistence .</a:t>
            </a:r>
          </a:p>
          <a:p>
            <a:endParaRPr/>
          </a:p>
          <a:p>
            <a:r>
              <a:t>FSD reference:</a:t>
            </a:r>
          </a:p>
          <a:p>
            <a:r>
              <a:t>6. Functional Requirements</a:t>
            </a:r>
          </a:p>
          <a:p>
            <a:r>
              <a:t>6.1 Authentication, Authorization and Session</a:t>
            </a:r>
          </a:p>
          <a:p>
            <a:r>
              <a:t>ID | Requirement | Functional description | Priority | Acceptance criteria</a:t>
            </a:r>
          </a:p>
          <a:p>
            <a:r>
              <a:t>FR-001 | Enterprise sign-on | Authenticate users through the approved enterprise identity provider. | Must | Unauthenticated access is blocked; authenticated identity is available to authorization services.</a:t>
            </a:r>
          </a:p>
          <a:p>
            <a:r>
              <a:t>FR-002 | Role-based access | Authorize pages, features, data domains and administrative functions by role. | Must | A user only sees functions assigned to the user role.</a:t>
            </a:r>
          </a:p>
          <a:p>
            <a:r>
              <a:t>FR-003 | Data entitlements | Enforce row-, attribute-, document- and index-level access before retrieval and answer generation. | Must | Restricted evidence is not retrieved, displayed, summarized or exported.</a:t>
            </a:r>
          </a:p>
          <a:p>
            <a:r>
              <a:t>FR-004 | Session controls | Apply approved session timeout, reauthentication and sign-out behavior. | Must | Expired sessions cannot call application or AI services.</a:t>
            </a:r>
          </a:p>
          <a:p>
            <a:r>
              <a:t>6.2 Executive Vendor Cockpit</a:t>
            </a:r>
          </a:p>
          <a:p>
            <a:r>
              <a:t>ID | Requirement | Functional description | Priority | Acceptance criteria</a:t>
            </a:r>
          </a:p>
          <a:p>
            <a:r>
              <a:t>FR-010 | KPI tiles | Display configurable vendor-spend, renewal, risk, workforce and variance KPIs with as-of date. | Must | Each KPI shows definition, period, source status and drill path.</a:t>
            </a:r>
          </a:p>
          <a:p>
            <a:r>
              <a:t>FR-011 | Portfolio filters | Filter by vendor, organization, product, application, geography, category, risk tier and time period where available. | Must | Filters apply consistently to all supported visuals.</a:t>
            </a:r>
          </a:p>
          <a:p>
            <a:r>
              <a:t>FR-012 | Renewal worklist | Display upcoming renewals with contract value, critical dependencies, owner and priority rationale. | Must | User can sort, filter and open the supporting vendor/contract evidence.</a:t>
            </a:r>
          </a:p>
          <a:p>
            <a:r>
              <a:t>FR-013 | Risk and opportunity panels | Show concentration, overlap, spend variance, data-quality and change alerts. | Should | Each item links to an explainable detail view.</a:t>
            </a:r>
          </a:p>
          <a:p>
            <a:r>
              <a:t>FR-014 | Saved views | Allow users to save authorized filter and layout preferences. | Could | Saved views do not override data entitlements.</a:t>
            </a:r>
          </a:p>
          <a:p>
            <a:r>
              <a:t>6.3 Ask Vendor Intelligence</a:t>
            </a:r>
          </a:p>
          <a:p>
            <a:r>
              <a:t>ID | Requirement | Functional description | Priority | Acceptance criteria</a:t>
            </a:r>
          </a:p>
          <a:p>
            <a:r>
              <a:t>FR-020 | Natural-language input | Accept vendor-management questions in plain language. | Must | System accepts a question and displays processing state.</a:t>
            </a:r>
          </a:p>
          <a:p>
            <a:r>
              <a:t>FR-021 | Intent and domain routing | Classify question intent and select approved domain tools for contracts, spend, workforce, vendor, product and risk. | Must | Execution trace records the selected plan and tools.</a:t>
            </a:r>
          </a:p>
          <a:p>
            <a:r>
              <a:t>FR-022 | Query decomposition | Break multi-domain questions into subqueries and maintain a shared filter context. | Must | Subquery results reconcile to the final response or expose unresolved conflicts.</a:t>
            </a:r>
          </a:p>
          <a:p>
            <a:r>
              <a:t>FR-023 | Evidence-backed response | Return answer, source references, as-of time, calculations, assumptions and limitations. | Must | Every material statement has viewable supporting evidence or is labelled as an inference/recommendation.</a:t>
            </a:r>
          </a:p>
          <a:p>
            <a:r>
              <a:t>FR-024 | Clarification behavior | Request a scoped clarification when vendor, period, metric or business context is ambiguous. | Should | System does not silently choose among materially different interpretations.</a:t>
            </a:r>
          </a:p>
          <a:p>
            <a:r>
              <a:t>FR-025 | Follow-up context | Support follow-up questions within the same authorized analysis context. | Should | Context retains selected entities and filters but rechecks authorization.</a:t>
            </a:r>
          </a:p>
          <a:p>
            <a:r>
              <a:t>FR-026 | Answer export | Export an authorized answer as a decision brief containing evidence references. | Should | Export includes generation time, filters, assumptions and disclaimer.</a:t>
            </a:r>
          </a:p>
          <a:p>
            <a:r>
              <a:t>FR-027 | Feedback | Capture helpful/not-helpful, issue category and optional comment. | Should | Feedback is linked to answer trace without exposing restricted content to unauthorized operators.</a:t>
            </a:r>
          </a:p>
          <a:p>
            <a:r>
              <a:t>6.4 Vendor 360</a:t>
            </a:r>
          </a:p>
          <a:p>
            <a:r>
              <a:t>ID | Requirement | Functional description | Priority | Acceptance criteria</a:t>
            </a:r>
          </a:p>
          <a:p>
            <a:r>
              <a:t>FR-030 | Vendor identity | Present mastered vendor identity, aliases and source identifiers. | Must | All displayed cross-domain records resolve to the selected vendor or show uncertain matches.</a:t>
            </a:r>
          </a:p>
          <a:p>
            <a:r>
              <a:t>FR-031 | Commercial profile | Show contracts, SOWs, effective/expiry dates, values, obligations and renewal status where available. | Must | Contract facts link to authorized source records or extracted evidence.</a:t>
            </a:r>
          </a:p>
          <a:p>
            <a:r>
              <a:t>FR-032 | Spend profile | Show actual, forecast, variance, trend and category/organization breakdown. | Must | Totals reconcile to approved source aggregates within agreed tolerance.</a:t>
            </a:r>
          </a:p>
          <a:p>
            <a:r>
              <a:t>FR-033 | Workforce profile | Show external workforce counts and approved breakdowns. | Should | Only permitted aggregate or individual detail is displayed.</a:t>
            </a:r>
          </a:p>
          <a:p>
            <a:r>
              <a:t>FR-034 | Technology dependencies | Show related applications, products, services, business capabilities and criticality. | Must | User can navigate each relationship to its evidence and ownership.</a:t>
            </a:r>
          </a:p>
          <a:p>
            <a:r>
              <a:t>FR-035 | Performance and risk | Show approved vendor performance, TPRM and issue indicators. | Should | Metric definition and assessment date are visible.</a:t>
            </a:r>
          </a:p>
          <a:p>
            <a:r>
              <a:t>FR-036 | Ownership | Show approved business, technology, sourcing and vendor-management ownership fields. | Must | Owner is derived from an authoritative source and includes as-of date.</a:t>
            </a:r>
          </a:p>
          <a:p>
            <a:r>
              <a:t>FR-037 | Timeline | Show material contract, spend, risk and relationship changes over time. | Could | Each event identifies event type, effective time and source.</a:t>
            </a:r>
          </a:p>
          <a:p>
            <a:r>
              <a:t>6.5 Renewal Prioritization</a:t>
            </a:r>
          </a:p>
          <a:p>
            <a:r>
              <a:t>ID | Requirement | Functional description | Priority | Acceptance criteria</a:t>
            </a:r>
          </a:p>
          <a:p>
            <a:r>
              <a:t>FR-040 | Renewal horizon | Identify contracts within configurable renewal horizons. | Must | Administrators can configure horizon values without code changes.</a:t>
            </a:r>
          </a:p>
          <a:p>
            <a:r>
              <a:t>FR-041 | Priority calculation | Calculate renewal priority using approved factors such as time, value, criticality, dependency, risk and performance. | Must | Score components, weights and missing data are visible.</a:t>
            </a:r>
          </a:p>
          <a:p>
            <a:r>
              <a:t>FR-042 | Obligation extraction | Surface authorized renewal, notice and termination clauses from contract content. | Should | Extracted content links to page/section and requires human validation.</a:t>
            </a:r>
          </a:p>
          <a:p>
            <a:r>
              <a:t>FR-043 | Renewal brief | Generate a structured brief with decision context, dependencies, issues and open questions. | Should | Brief distinguishes source facts from generated recommendations.</a:t>
            </a:r>
          </a:p>
          <a:p>
            <a:r>
              <a:t>6.6 Concentration and Dependency Risk</a:t>
            </a:r>
          </a:p>
          <a:p>
            <a:r>
              <a:t>ID | Requirement | Functional description | Priority | Acceptance criteria</a:t>
            </a:r>
          </a:p>
          <a:p>
            <a:r>
              <a:t>FR-050 | Exposure aggregation | Aggregate vendor exposure by spend, workforce, applications, products, services and organizational units. | Must | User can change the analysis dimension without changing the vendor scope.</a:t>
            </a:r>
          </a:p>
          <a:p>
            <a:r>
              <a:t>FR-051 | Dependency graph | Visualize navigable vendor-to-contract-to-workforce-to-technology-to-product relationships. | Must | Graph supports filter, expand, inspect and evidence navigation.</a:t>
            </a:r>
          </a:p>
          <a:p>
            <a:r>
              <a:t>FR-052 | Critical dependency | Flag single-source or material dependencies using approved rules. | Must | Flag shows rule triggered and supporting entities.</a:t>
            </a:r>
          </a:p>
          <a:p>
            <a:r>
              <a:t>FR-053 | Concentration score | Calculate an explainable concentration indicator using Citi-approved logic. | Should | No score is shown without versioned formula and data coverage.</a:t>
            </a:r>
          </a:p>
          <a:p>
            <a:r>
              <a:t>FR-054 | Alternative supplier context | Display known suppliers with overlapping capabilities without asserting substitutability. | Could | System labels results as candidates requiring business validation.</a:t>
            </a:r>
          </a:p>
          <a:p>
            <a:r>
              <a:t>6.7 Rationalization and Overlap</a:t>
            </a:r>
          </a:p>
          <a:p>
            <a:r>
              <a:t>ID | Requirement | Functional description | Priority | Acceptance criteria</a:t>
            </a:r>
          </a:p>
          <a:p>
            <a:r>
              <a:t>FR-060 | Capability comparison | Compare vendors using services, skills, products, applications, contracts and performance attributes. | Must | Comparison shows matched attributes and source provenance.</a:t>
            </a:r>
          </a:p>
          <a:p>
            <a:r>
              <a:t>FR-061 | Overlap clusters | Identify clusters of vendors serving similar capabilities or technology areas. | Should | Threshold and clustering method are visible and versioned.</a:t>
            </a:r>
          </a:p>
          <a:p>
            <a:r>
              <a:t>FR-062 | Opportunity estimate | Estimate potential spend or vendor-count opportunity using configurable assumptions. | Should | Estimate is labelled as scenario output, not committed savings.</a:t>
            </a:r>
          </a:p>
          <a:p>
            <a:r>
              <a:t>FR-063 | Constraint check | Check criticality, contractual, capacity, risk and transition constraints before recommendation. | Must | Recommendation lists passed, failed and unavailable checks.</a:t>
            </a:r>
          </a:p>
          <a:p>
            <a:r>
              <a:t>6.8 Spend, Forecast and Variance</a:t>
            </a:r>
          </a:p>
          <a:p>
            <a:r>
              <a:t>ID | Requirement | Functional description | Priority | Acceptance criteria</a:t>
            </a:r>
          </a:p>
          <a:p>
            <a:r>
              <a:t>FR-070 | Actual vs forecast | Compare actual vendor spend with approved forecast at supported grains. | Must | Period, currency, hierarchy and source version are displayed.</a:t>
            </a:r>
          </a:p>
          <a:p>
            <a:r>
              <a:t>FR-071 | Variance explanation | Rank contributing vendors, categories, units, contracts or workforce factors. | Must | Contributions reconcile to the displayed variance within agreed tolerance.</a:t>
            </a:r>
          </a:p>
          <a:p>
            <a:r>
              <a:t>FR-072 | Trend and snapshot | Support period trend and point-in-time views where historical data exists. | Should | User can distinguish transaction date, accounting period and snapshot date.</a:t>
            </a:r>
          </a:p>
          <a:p>
            <a:r>
              <a:t>FR-073 | Currency handling | Apply approved transaction and reporting currency logic. | Must | Exchange-rate source and rate date are traceable.</a:t>
            </a:r>
          </a:p>
          <a:p>
            <a:r>
              <a:t>6.9 Scenario Analysis</a:t>
            </a:r>
          </a:p>
          <a:p>
            <a:r>
              <a:t>ID | Requirement | Functional description | Priority | Acceptance criteria</a:t>
            </a:r>
          </a:p>
          <a:p>
            <a:r>
              <a:t>FR-080 | Scenario creation | Create a named, non-destructive scenario from an authorized baseline. | Must | Source records are unchanged and scenario ownership is recorded.</a:t>
            </a:r>
          </a:p>
          <a:p>
            <a:r>
              <a:t>FR-081 | Scenario levers | Support configurable spend reduction, workforce change, vendor substitution, timing and scope levers. | Must | Only enabled levers and valid ranges are accepted.</a:t>
            </a:r>
          </a:p>
          <a:p>
            <a:r>
              <a:t>FR-082 | Impact propagation | Propagate changes through contract, workforce, application, product and organization relationships. | Must | Impacted entities and propagation path are visible.</a:t>
            </a:r>
          </a:p>
          <a:p>
            <a:r>
              <a:t>FR-083 | Baseline comparison | Compare baseline and scenario for financial, operational and risk indicators. | Must | Comparison uses consistent date, currency and scope.</a:t>
            </a:r>
          </a:p>
          <a:p>
            <a:r>
              <a:t>FR-084 | Scenario assumptions | Capture assumptions, exclusions, constraints and data coverage. | Must | Scenario cannot be presented without an assumptions panel.</a:t>
            </a:r>
          </a:p>
          <a:p>
            <a:r>
              <a:t>FR-085 | Scenario sharing | Share read-only scenarios with authorized reviewers. | Could | Recipient access is re-evaluated and restricted evidence is removed.</a:t>
            </a:r>
          </a:p>
          <a:p>
            <a:r>
              <a:t>6.10 Recommendations, Alerts and Decisions</a:t>
            </a:r>
          </a:p>
          <a:p>
            <a:r>
              <a:t>ID | Requirement | Functional description | Priority | Acceptance criteria</a:t>
            </a:r>
          </a:p>
          <a:p>
            <a:r>
              <a:t>FR-090 | Recommendation generation | Generate candidate actions from facts, policy checks and scenario outputs. | Must | Recommendation shows rationale, evidence, confidence and human decision requirement.</a:t>
            </a:r>
          </a:p>
          <a:p>
            <a:r>
              <a:t>FR-091 | Human disposition | Allow authorized user to accept for review, reject, defer or request more evidence. | Should | Disposition and comment are auditable and do not execute source actions.</a:t>
            </a:r>
          </a:p>
          <a:p>
            <a:r>
              <a:t>FR-092 | Alert rules | Configure alerts for renewals, risk, variance, material changes and data-quality conditions. | Should | Alert includes rule version, trigger facts, severity and owner.</a:t>
            </a:r>
          </a:p>
          <a:p>
            <a:r>
              <a:t>FR-093 | Decision brief | Generate a concise decision package with options, impacts, evidence and unresolved issues. | Should | Brief is reproducible from a stored analysis trace.</a:t>
            </a:r>
          </a:p>
          <a:p>
            <a:r>
              <a:t>6.11 Administration and Stewardship</a:t>
            </a:r>
          </a:p>
          <a:p>
            <a:r>
              <a:t>ID | Requirement | Functional description | Priority | Acceptance criteria</a:t>
            </a:r>
          </a:p>
          <a:p>
            <a:r>
              <a:t>FR-100 | Metric catalog | Manage business definitions, formulas, owners and effective dates. | Must | UI displays the active definition used by each metric.</a:t>
            </a:r>
          </a:p>
          <a:p>
            <a:r>
              <a:t>FR-101 | Threshold configuration | Manage renewal windows, risk bands, variance thresholds and scenario bounds. | Must | Changes are versioned, approved and effective-dated.</a:t>
            </a:r>
          </a:p>
          <a:p>
            <a:r>
              <a:t>FR-102 | Entity stewardship | Review and resolve vendor identity matches and relationship exceptions. | Must | Manual decisions retain steward, timestamp, reason and source values.</a:t>
            </a:r>
          </a:p>
          <a:p>
            <a:r>
              <a:t>FR-103 | Source health | Display ingestion status, freshness, quality and reconciliation results. | Must | Stale or failed sources visibly affect answer status.</a:t>
            </a:r>
          </a:p>
          <a:p>
            <a:r>
              <a:t>FR-104 | Prompt/model configuration | Restrict changes to approved prompts, models and routing policies. | Must | All changes are versioned and rollback-capable.</a:t>
            </a:r>
          </a:p>
          <a:p>
            <a:endParaRPr/>
          </a:p>
          <a:p>
            <a:endParaRPr/>
          </a:p>
          <a:p>
            <a:r>
              <a:t>9. Functional Architecture</a:t>
            </a:r>
          </a:p>
          <a:p>
            <a:r>
              <a:t>Layer | Responsibilities | Illustrative components</a:t>
            </a:r>
          </a:p>
          <a:p>
            <a:r>
              <a:t>Experience | Cockpit, Ask Vendor Intelligence, Vendor 360, graph, scenario UI, alerts and export. | Web application, visualization components, accessibility support.</a:t>
            </a:r>
          </a:p>
          <a:p>
            <a:r>
              <a:t>Decision orchestration | Intent routing, query planning, tool selection, policy checks, response assembly. | Orchestrator, domain agents/tools, validation and explanation services.</a:t>
            </a:r>
          </a:p>
          <a:p>
            <a:r>
              <a:t>Semantic and analytics | Approved metrics, SQL access, graph traversal, retrieval and temporal comparison. | Semantic layer, SQL service, graph service, vector retrieval, scenario engine.</a:t>
            </a:r>
          </a:p>
          <a:p>
            <a:r>
              <a:t>Knowledge processing | Ingest, classify, extract, map, resolve, validate, index and capture lineage. | Data pipelines, document processing, entity resolution, DQ framework.</a:t>
            </a:r>
          </a:p>
          <a:p>
            <a:r>
              <a:t>Data foundation | Authoritative curated analytics, graph projection, document/vector index and metadata. | SQL store, graph store, vector index, object/document store.</a:t>
            </a:r>
          </a:p>
          <a:p>
            <a:r>
              <a:t>AI runtime and control | Model routing, prompt management, guardrails, telemetry, cost and evaluation. | Approved model gateway, safety filters, trace store, evaluation harness.</a:t>
            </a:r>
          </a:p>
          <a:p>
            <a:r>
              <a:t>Security and operations | Identity, entitlements, secrets, monitoring, incident and change control. | IAM, policy enforcement, vault, SIEM, observability and CI/CD.</a:t>
            </a:r>
          </a:p>
          <a:p>
            <a:r>
              <a:t>9.1 Agent / Tool Responsibilities</a:t>
            </a:r>
          </a:p>
          <a:p>
            <a:r>
              <a:t>Component | Responsibility | Prohibited behavior</a:t>
            </a:r>
          </a:p>
          <a:p>
            <a:r>
              <a:t>Query planner | Interpret task, decompose and sequence approved tools. | Invent data or bypass authorization.</a:t>
            </a:r>
          </a:p>
          <a:p>
            <a:r>
              <a:t>SQL analytics tool | Execute approved metric and aggregation queries. | Generate unrestricted SQL against raw production sources.</a:t>
            </a:r>
          </a:p>
          <a:p>
            <a:r>
              <a:t>Graph tool | Traverse governed entity relationships and return paths. | Infer unapproved relationships without confidence/evidence.</a:t>
            </a:r>
          </a:p>
          <a:p>
            <a:r>
              <a:t>Document retrieval tool | Retrieve entitled contract and policy passages. | Return inaccessible documents or unsupported clause conclusions.</a:t>
            </a:r>
          </a:p>
          <a:p>
            <a:r>
              <a:t>Temporal analysis tool | Compare snapshots and explain change. | Mix effective dates or snapshots without disclosure.</a:t>
            </a:r>
          </a:p>
          <a:p>
            <a:r>
              <a:t>Scenario engine | Apply approved levers and calculate impacts. | Write changes to source systems.</a:t>
            </a:r>
          </a:p>
          <a:p>
            <a:r>
              <a:t>Validation service | Check reconciliation, policy, data coverage and contradiction. | Suppress material limitations.</a:t>
            </a:r>
          </a:p>
          <a:p>
            <a:r>
              <a:t>Explanation service | Assemble rationale, evidence, assumptions and confidence. | Represent generated advice as authoritative approval.</a:t>
            </a:r>
          </a:p>
          <a:p>
            <a:endParaRPr/>
          </a:p>
          <a:p>
            <a:endParaRPr/>
          </a:p>
          <a:p>
            <a:r>
              <a:t>12. Security, Privacy, Risk and Responsible AI</a:t>
            </a:r>
          </a:p>
          <a:p>
            <a:r>
              <a:t>Control area | Requirement</a:t>
            </a:r>
          </a:p>
          <a:p>
            <a:r>
              <a:t>Least privilege | Users, services and agents receive only the permissions required for their function.</a:t>
            </a:r>
          </a:p>
          <a:p>
            <a:r>
              <a:t>Entitlement-aware retrieval | Authorization is enforced before search, retrieval, aggregation, answer assembly and export.</a:t>
            </a:r>
          </a:p>
          <a:p>
            <a:r>
              <a:t>Data minimization | Only required data attributes are ingested, indexed and displayed.</a:t>
            </a:r>
          </a:p>
          <a:p>
            <a:r>
              <a:t>Encryption | Use approved encryption in transit and at rest with managed keys.</a:t>
            </a:r>
          </a:p>
          <a:p>
            <a:r>
              <a:t>Secrets | Credentials and keys are stored in an approved secrets-management service and never in prompts or code.</a:t>
            </a:r>
          </a:p>
          <a:p>
            <a:r>
              <a:t>Auditability | Capture user, time, question, plan, tools, source objects, model/prompt versions, outcome and export events.</a:t>
            </a:r>
          </a:p>
          <a:p>
            <a:r>
              <a:t>Prompt injection defense | Treat retrieved content as untrusted; isolate instructions from evidence; validate tool calls.</a:t>
            </a:r>
          </a:p>
          <a:p>
            <a:r>
              <a:t>Output safety | Detect restricted data, unsupported claims, policy violations and unsafe actions before display.</a:t>
            </a:r>
          </a:p>
          <a:p>
            <a:r>
              <a:t>Human oversight | Recommendations and extracted clauses require human review; no autonomous commercial decision.</a:t>
            </a:r>
          </a:p>
          <a:p>
            <a:r>
              <a:t>Record retention | Apply approved retention and deletion policies to source copies, indexes, traces, feedback and exports.</a:t>
            </a:r>
          </a:p>
          <a:p>
            <a:r>
              <a:t>Segregation of duties | Separate business approval, data stewardship, platform administration and model/prompt administration.</a:t>
            </a:r>
          </a:p>
          <a:p>
            <a:r>
              <a:t>Change governance | Version and approve semantic definitions, scoring, prompts, models, rules and thresholds.</a:t>
            </a:r>
          </a:p>
          <a:p>
            <a:r>
              <a:t>12.1 Explainability Standard</a:t>
            </a:r>
          </a:p>
          <a:p>
            <a:r>
              <a:t>What question was interpreted and what scope was applied.</a:t>
            </a:r>
          </a:p>
          <a:p>
            <a:r>
              <a:t>Which authoritative sources and snapshots contributed.</a:t>
            </a:r>
          </a:p>
          <a:p>
            <a:r>
              <a:t>Which metrics, rules and relationship paths were used.</a:t>
            </a:r>
          </a:p>
          <a:p>
            <a:r>
              <a:t>What assumptions or missing data affected the output.</a:t>
            </a:r>
          </a:p>
          <a:p>
            <a:r>
              <a:t>How recommendation checks passed, failed or could not be evaluated.</a:t>
            </a:r>
          </a:p>
          <a:p>
            <a:r>
              <a:t>Why confidence is high, medium or low using an approved rating policy.</a:t>
            </a:r>
          </a:p>
          <a:p>
            <a:r>
              <a:t>What a human reviewer must validate before action.</a:t>
            </a:r>
          </a:p>
          <a:p>
            <a:endParaRPr/>
          </a:p>
          <a:p>
            <a:endParaRPr/>
          </a:p>
          <a:p>
            <a:r>
              <a:t>15. Audit and Observability</a:t>
            </a:r>
          </a:p>
          <a:p>
            <a:r>
              <a:t>Event group | Required fields</a:t>
            </a:r>
          </a:p>
          <a:p>
            <a:r>
              <a:t>User event | User ID, role, session, timestamp, page/action, scope and outcome.</a:t>
            </a:r>
          </a:p>
          <a:p>
            <a:r>
              <a:t>Query trace | Original question, normalized intent, plan, subqueries, tools, filters and trace ID.</a:t>
            </a:r>
          </a:p>
          <a:p>
            <a:r>
              <a:t>Data access | Source, object/query, entitlement decision, row/aggregate scope and timing.</a:t>
            </a:r>
          </a:p>
          <a:p>
            <a:r>
              <a:t>AI invocation | Model/deployment, prompt/template version, token/compute usage, latency and safety result.</a:t>
            </a:r>
          </a:p>
          <a:p>
            <a:r>
              <a:t>Answer | Answer version, evidence IDs, assumptions, limitations, confidence and validation result.</a:t>
            </a:r>
          </a:p>
          <a:p>
            <a:r>
              <a:t>Scenario | Owner, baseline, inputs, formula/rule versions, outcomes and sharing.</a:t>
            </a:r>
          </a:p>
          <a:p>
            <a:r>
              <a:t>Configuration | Actor, before/after, approval, effective date and rollback reference.</a:t>
            </a:r>
          </a:p>
          <a:p>
            <a:r>
              <a:t>Export | User, content ID, format, destination, classification and entitlement recheck.</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solution architecture. Adapted from the two user-supplied architecture decks (identical files) and Citi Vendor Decision Intelligence FSD v1.0. Citi-specific platform selections, policies, thresholds and service targets require validation.</a:t>
            </a:r>
          </a:p>
          <a:p>
            <a:r>
              <a:t>Scenario input: baseline_id, selected contract/scope IDs, allowed lever/value, timing, assumptions, costs, owner and version. Impact propagation applies approved rules over the baseline graph and a scenario overlay; count unique affected entities and prevent shared-application double counting. Workforce affected is distinct from workforce removed. A 25% reduction in spend does not imply a 25% reduction in workforce. Synthetic example: 48M baseline; chosen C-03 scope 12M; transition 2M; retained costs 1M; net saving 9M; first-year total 39M; three non-critical applications and 80 assignments exposed. These are illustrative assumptions, not Citi data or guaranteed savings. Human gates: user ambiguity, stewardship for entity/relationship conflicts, clause review, scenario assumption validation, supplier feasibility, final disposition. Paused workflows persist state and reviewer metadata; resumption rechecks entitlements and source/rule versions and recomputes affected results. Idempotent task boundaries avoid duplicate effects on replay. No source execution is included. Source: https://docs.langchain.com/oss/python/langgraph/interrupts .</a:t>
            </a:r>
          </a:p>
          <a:p>
            <a:endParaRPr/>
          </a:p>
          <a:p>
            <a:r>
              <a:t>FSD reference:</a:t>
            </a:r>
          </a:p>
          <a:p>
            <a:r>
              <a:t>6. Functional Requirements</a:t>
            </a:r>
          </a:p>
          <a:p>
            <a:r>
              <a:t>6.1 Authentication, Authorization and Session</a:t>
            </a:r>
          </a:p>
          <a:p>
            <a:r>
              <a:t>ID | Requirement | Functional description | Priority | Acceptance criteria</a:t>
            </a:r>
          </a:p>
          <a:p>
            <a:r>
              <a:t>FR-001 | Enterprise sign-on | Authenticate users through the approved enterprise identity provider. | Must | Unauthenticated access is blocked; authenticated identity is available to authorization services.</a:t>
            </a:r>
          </a:p>
          <a:p>
            <a:r>
              <a:t>FR-002 | Role-based access | Authorize pages, features, data domains and administrative functions by role. | Must | A user only sees functions assigned to the user role.</a:t>
            </a:r>
          </a:p>
          <a:p>
            <a:r>
              <a:t>FR-003 | Data entitlements | Enforce row-, attribute-, document- and index-level access before retrieval and answer generation. | Must | Restricted evidence is not retrieved, displayed, summarized or exported.</a:t>
            </a:r>
          </a:p>
          <a:p>
            <a:r>
              <a:t>FR-004 | Session controls | Apply approved session timeout, reauthentication and sign-out behavior. | Must | Expired sessions cannot call application or AI services.</a:t>
            </a:r>
          </a:p>
          <a:p>
            <a:r>
              <a:t>6.2 Executive Vendor Cockpit</a:t>
            </a:r>
          </a:p>
          <a:p>
            <a:r>
              <a:t>ID | Requirement | Functional description | Priority | Acceptance criteria</a:t>
            </a:r>
          </a:p>
          <a:p>
            <a:r>
              <a:t>FR-010 | KPI tiles | Display configurable vendor-spend, renewal, risk, workforce and variance KPIs with as-of date. | Must | Each KPI shows definition, period, source status and drill path.</a:t>
            </a:r>
          </a:p>
          <a:p>
            <a:r>
              <a:t>FR-011 | Portfolio filters | Filter by vendor, organization, product, application, geography, category, risk tier and time period where available. | Must | Filters apply consistently to all supported visuals.</a:t>
            </a:r>
          </a:p>
          <a:p>
            <a:r>
              <a:t>FR-012 | Renewal worklist | Display upcoming renewals with contract value, critical dependencies, owner and priority rationale. | Must | User can sort, filter and open the supporting vendor/contract evidence.</a:t>
            </a:r>
          </a:p>
          <a:p>
            <a:r>
              <a:t>FR-013 | Risk and opportunity panels | Show concentration, overlap, spend variance, data-quality and change alerts. | Should | Each item links to an explainable detail view.</a:t>
            </a:r>
          </a:p>
          <a:p>
            <a:r>
              <a:t>FR-014 | Saved views | Allow users to save authorized filter and layout preferences. | Could | Saved views do not override data entitlements.</a:t>
            </a:r>
          </a:p>
          <a:p>
            <a:r>
              <a:t>6.3 Ask Vendor Intelligence</a:t>
            </a:r>
          </a:p>
          <a:p>
            <a:r>
              <a:t>ID | Requirement | Functional description | Priority | Acceptance criteria</a:t>
            </a:r>
          </a:p>
          <a:p>
            <a:r>
              <a:t>FR-020 | Natural-language input | Accept vendor-management questions in plain language. | Must | System accepts a question and displays processing state.</a:t>
            </a:r>
          </a:p>
          <a:p>
            <a:r>
              <a:t>FR-021 | Intent and domain routing | Classify question intent and select approved domain tools for contracts, spend, workforce, vendor, product and risk. | Must | Execution trace records the selected plan and tools.</a:t>
            </a:r>
          </a:p>
          <a:p>
            <a:r>
              <a:t>FR-022 | Query decomposition | Break multi-domain questions into subqueries and maintain a shared filter context. | Must | Subquery results reconcile to the final response or expose unresolved conflicts.</a:t>
            </a:r>
          </a:p>
          <a:p>
            <a:r>
              <a:t>FR-023 | Evidence-backed response | Return answer, source references, as-of time, calculations, assumptions and limitations. | Must | Every material statement has viewable supporting evidence or is labelled as an inference/recommendation.</a:t>
            </a:r>
          </a:p>
          <a:p>
            <a:r>
              <a:t>FR-024 | Clarification behavior | Request a scoped clarification when vendor, period, metric or business context is ambiguous. | Should | System does not silently choose among materially different interpretations.</a:t>
            </a:r>
          </a:p>
          <a:p>
            <a:r>
              <a:t>FR-025 | Follow-up context | Support follow-up questions within the same authorized analysis context. | Should | Context retains selected entities and filters but rechecks authorization.</a:t>
            </a:r>
          </a:p>
          <a:p>
            <a:r>
              <a:t>FR-026 | Answer export | Export an authorized answer as a decision brief containing evidence references. | Should | Export includes generation time, filters, assumptions and disclaimer.</a:t>
            </a:r>
          </a:p>
          <a:p>
            <a:r>
              <a:t>FR-027 | Feedback | Capture helpful/not-helpful, issue category and optional comment. | Should | Feedback is linked to answer trace without exposing restricted content to unauthorized operators.</a:t>
            </a:r>
          </a:p>
          <a:p>
            <a:r>
              <a:t>6.4 Vendor 360</a:t>
            </a:r>
          </a:p>
          <a:p>
            <a:r>
              <a:t>ID | Requirement | Functional description | Priority | Acceptance criteria</a:t>
            </a:r>
          </a:p>
          <a:p>
            <a:r>
              <a:t>FR-030 | Vendor identity | Present mastered vendor identity, aliases and source identifiers. | Must | All displayed cross-domain records resolve to the selected vendor or show uncertain matches.</a:t>
            </a:r>
          </a:p>
          <a:p>
            <a:r>
              <a:t>FR-031 | Commercial profile | Show contracts, SOWs, effective/expiry dates, values, obligations and renewal status where available. | Must | Contract facts link to authorized source records or extracted evidence.</a:t>
            </a:r>
          </a:p>
          <a:p>
            <a:r>
              <a:t>FR-032 | Spend profile | Show actual, forecast, variance, trend and category/organization breakdown. | Must | Totals reconcile to approved source aggregates within agreed tolerance.</a:t>
            </a:r>
          </a:p>
          <a:p>
            <a:r>
              <a:t>FR-033 | Workforce profile | Show external workforce counts and approved breakdowns. | Should | Only permitted aggregate or individual detail is displayed.</a:t>
            </a:r>
          </a:p>
          <a:p>
            <a:r>
              <a:t>FR-034 | Technology dependencies | Show related applications, products, services, business capabilities and criticality. | Must | User can navigate each relationship to its evidence and ownership.</a:t>
            </a:r>
          </a:p>
          <a:p>
            <a:r>
              <a:t>FR-035 | Performance and risk | Show approved vendor performance, TPRM and issue indicators. | Should | Metric definition and assessment date are visible.</a:t>
            </a:r>
          </a:p>
          <a:p>
            <a:r>
              <a:t>FR-036 | Ownership | Show approved business, technology, sourcing and vendor-management ownership fields. | Must | Owner is derived from an authoritative source and includes as-of date.</a:t>
            </a:r>
          </a:p>
          <a:p>
            <a:r>
              <a:t>FR-037 | Timeline | Show material contract, spend, risk and relationship changes over time. | Could | Each event identifies event type, effective time and source.</a:t>
            </a:r>
          </a:p>
          <a:p>
            <a:r>
              <a:t>6.5 Renewal Prioritization</a:t>
            </a:r>
          </a:p>
          <a:p>
            <a:r>
              <a:t>ID | Requirement | Functional description | Priority | Acceptance criteria</a:t>
            </a:r>
          </a:p>
          <a:p>
            <a:r>
              <a:t>FR-040 | Renewal horizon | Identify contracts within configurable renewal horizons. | Must | Administrators can configure horizon values without code changes.</a:t>
            </a:r>
          </a:p>
          <a:p>
            <a:r>
              <a:t>FR-041 | Priority calculation | Calculate renewal priority using approved factors such as time, value, criticality, dependency, risk and performance. | Must | Score components, weights and missing data are visible.</a:t>
            </a:r>
          </a:p>
          <a:p>
            <a:r>
              <a:t>FR-042 | Obligation extraction | Surface authorized renewal, notice and termination clauses from contract content. | Should | Extracted content links to page/section and requires human validation.</a:t>
            </a:r>
          </a:p>
          <a:p>
            <a:r>
              <a:t>FR-043 | Renewal brief | Generate a structured brief with decision context, dependencies, issues and open questions. | Should | Brief distinguishes source facts from generated recommendations.</a:t>
            </a:r>
          </a:p>
          <a:p>
            <a:r>
              <a:t>6.6 Concentration and Dependency Risk</a:t>
            </a:r>
          </a:p>
          <a:p>
            <a:r>
              <a:t>ID | Requirement | Functional description | Priority | Acceptance criteria</a:t>
            </a:r>
          </a:p>
          <a:p>
            <a:r>
              <a:t>FR-050 | Exposure aggregation | Aggregate vendor exposure by spend, workforce, applications, products, services and organizational units. | Must | User can change the analysis dimension without changing the vendor scope.</a:t>
            </a:r>
          </a:p>
          <a:p>
            <a:r>
              <a:t>FR-051 | Dependency graph | Visualize navigable vendor-to-contract-to-workforce-to-technology-to-product relationships. | Must | Graph supports filter, expand, inspect and evidence navigation.</a:t>
            </a:r>
          </a:p>
          <a:p>
            <a:r>
              <a:t>FR-052 | Critical dependency | Flag single-source or material dependencies using approved rules. | Must | Flag shows rule triggered and supporting entities.</a:t>
            </a:r>
          </a:p>
          <a:p>
            <a:r>
              <a:t>FR-053 | Concentration score | Calculate an explainable concentration indicator using Citi-approved logic. | Should | No score is shown without versioned formula and data coverage.</a:t>
            </a:r>
          </a:p>
          <a:p>
            <a:r>
              <a:t>FR-054 | Alternative supplier context | Display known suppliers with overlapping capabilities without asserting substitutability. | Could | System labels results as candidates requiring business validation.</a:t>
            </a:r>
          </a:p>
          <a:p>
            <a:r>
              <a:t>6.7 Rationalization and Overlap</a:t>
            </a:r>
          </a:p>
          <a:p>
            <a:r>
              <a:t>ID | Requirement | Functional description | Priority | Acceptance criteria</a:t>
            </a:r>
          </a:p>
          <a:p>
            <a:r>
              <a:t>FR-060 | Capability comparison | Compare vendors using services, skills, products, applications, contracts and performance attributes. | Must | Comparison shows matched attributes and source provenance.</a:t>
            </a:r>
          </a:p>
          <a:p>
            <a:r>
              <a:t>FR-061 | Overlap clusters | Identify clusters of vendors serving similar capabilities or technology areas. | Should | Threshold and clustering method are visible and versioned.</a:t>
            </a:r>
          </a:p>
          <a:p>
            <a:r>
              <a:t>FR-062 | Opportunity estimate | Estimate potential spend or vendor-count opportunity using configurable assumptions. | Should | Estimate is labelled as scenario output, not committed savings.</a:t>
            </a:r>
          </a:p>
          <a:p>
            <a:r>
              <a:t>FR-063 | Constraint check | Check criticality, contractual, capacity, risk and transition constraints before recommendation. | Must | Recommendation lists passed, failed and unavailable checks.</a:t>
            </a:r>
          </a:p>
          <a:p>
            <a:r>
              <a:t>6.8 Spend, Forecast and Variance</a:t>
            </a:r>
          </a:p>
          <a:p>
            <a:r>
              <a:t>ID | Requirement | Functional description | Priority | Acceptance criteria</a:t>
            </a:r>
          </a:p>
          <a:p>
            <a:r>
              <a:t>FR-070 | Actual vs forecast | Compare actual vendor spend with approved forecast at supported grains. | Must | Period, currency, hierarchy and source version are displayed.</a:t>
            </a:r>
          </a:p>
          <a:p>
            <a:r>
              <a:t>FR-071 | Variance explanation | Rank contributing vendors, categories, units, contracts or workforce factors. | Must | Contributions reconcile to the displayed variance within agreed tolerance.</a:t>
            </a:r>
          </a:p>
          <a:p>
            <a:r>
              <a:t>FR-072 | Trend and snapshot | Support period trend and point-in-time views where historical data exists. | Should | User can distinguish transaction date, accounting period and snapshot date.</a:t>
            </a:r>
          </a:p>
          <a:p>
            <a:r>
              <a:t>FR-073 | Currency handling | Apply approved transaction and reporting currency logic. | Must | Exchange-rate source and rate date are traceable.</a:t>
            </a:r>
          </a:p>
          <a:p>
            <a:r>
              <a:t>6.9 Scenario Analysis</a:t>
            </a:r>
          </a:p>
          <a:p>
            <a:r>
              <a:t>ID | Requirement | Functional description | Priority | Acceptance criteria</a:t>
            </a:r>
          </a:p>
          <a:p>
            <a:r>
              <a:t>FR-080 | Scenario creation | Create a named, non-destructive scenario from an authorized baseline. | Must | Source records are unchanged and scenario ownership is recorded.</a:t>
            </a:r>
          </a:p>
          <a:p>
            <a:r>
              <a:t>FR-081 | Scenario levers | Support configurable spend reduction, workforce change, vendor substitution, timing and scope levers. | Must | Only enabled levers and valid ranges are accepted.</a:t>
            </a:r>
          </a:p>
          <a:p>
            <a:r>
              <a:t>FR-082 | Impact propagation | Propagate changes through contract, workforce, application, product and organization relationships. | Must | Impacted entities and propagation path are visible.</a:t>
            </a:r>
          </a:p>
          <a:p>
            <a:r>
              <a:t>FR-083 | Baseline comparison | Compare baseline and scenario for financial, operational and risk indicators. | Must | Comparison uses consistent date, currency and scope.</a:t>
            </a:r>
          </a:p>
          <a:p>
            <a:r>
              <a:t>FR-084 | Scenario assumptions | Capture assumptions, exclusions, constraints and data coverage. | Must | Scenario cannot be presented without an assumptions panel.</a:t>
            </a:r>
          </a:p>
          <a:p>
            <a:r>
              <a:t>FR-085 | Scenario sharing | Share read-only scenarios with authorized reviewers. | Could | Recipient access is re-evaluated and restricted evidence is removed.</a:t>
            </a:r>
          </a:p>
          <a:p>
            <a:r>
              <a:t>6.10 Recommendations, Alerts and Decisions</a:t>
            </a:r>
          </a:p>
          <a:p>
            <a:r>
              <a:t>ID | Requirement | Functional description | Priority | Acceptance criteria</a:t>
            </a:r>
          </a:p>
          <a:p>
            <a:r>
              <a:t>FR-090 | Recommendation generation | Generate candidate actions from facts, policy checks and scenario outputs. | Must | Recommendation shows rationale, evidence, confidence and human decision requirement.</a:t>
            </a:r>
          </a:p>
          <a:p>
            <a:r>
              <a:t>FR-091 | Human disposition | Allow authorized user to accept for review, reject, defer or request more evidence. | Should | Disposition and comment are auditable and do not execute source actions.</a:t>
            </a:r>
          </a:p>
          <a:p>
            <a:r>
              <a:t>FR-092 | Alert rules | Configure alerts for renewals, risk, variance, material changes and data-quality conditions. | Should | Alert includes rule version, trigger facts, severity and owner.</a:t>
            </a:r>
          </a:p>
          <a:p>
            <a:r>
              <a:t>FR-093 | Decision brief | Generate a concise decision package with options, impacts, evidence and unresolved issues. | Should | Brief is reproducible from a stored analysis trace.</a:t>
            </a:r>
          </a:p>
          <a:p>
            <a:r>
              <a:t>6.11 Administration and Stewardship</a:t>
            </a:r>
          </a:p>
          <a:p>
            <a:r>
              <a:t>ID | Requirement | Functional description | Priority | Acceptance criteria</a:t>
            </a:r>
          </a:p>
          <a:p>
            <a:r>
              <a:t>FR-100 | Metric catalog | Manage business definitions, formulas, owners and effective dates. | Must | UI displays the active definition used by each metric.</a:t>
            </a:r>
          </a:p>
          <a:p>
            <a:r>
              <a:t>FR-101 | Threshold configuration | Manage renewal windows, risk bands, variance thresholds and scenario bounds. | Must | Changes are versioned, approved and effective-dated.</a:t>
            </a:r>
          </a:p>
          <a:p>
            <a:r>
              <a:t>FR-102 | Entity stewardship | Review and resolve vendor identity matches and relationship exceptions. | Must | Manual decisions retain steward, timestamp, reason and source values.</a:t>
            </a:r>
          </a:p>
          <a:p>
            <a:r>
              <a:t>FR-103 | Source health | Display ingestion status, freshness, quality and reconciliation results. | Must | Stale or failed sources visibly affect answer status.</a:t>
            </a:r>
          </a:p>
          <a:p>
            <a:r>
              <a:t>FR-104 | Prompt/model configuration | Restrict changes to approved prompts, models and routing policies. | Must | All changes are versioned and rollback-capable.</a:t>
            </a:r>
          </a:p>
          <a:p>
            <a:endParaRPr/>
          </a:p>
          <a:p>
            <a:endParaRPr/>
          </a:p>
          <a:p>
            <a:r>
              <a:t>7. Business Rules</a:t>
            </a:r>
          </a:p>
          <a:p>
            <a:r>
              <a:t>Rule ID | Rule</a:t>
            </a:r>
          </a:p>
          <a:p>
            <a:r>
              <a:t>BR-01 | A vendor fact is displayable only when the user is entitled to the underlying record or an approved aggregate.</a:t>
            </a:r>
          </a:p>
          <a:p>
            <a:r>
              <a:t>BR-02 | All material answers must display an as-of date and the freshness of contributing sources.</a:t>
            </a:r>
          </a:p>
          <a:p>
            <a:r>
              <a:t>BR-03 | Recommendations must be clearly separated from source facts and must require human decision-making.</a:t>
            </a:r>
          </a:p>
          <a:p>
            <a:r>
              <a:t>BR-04 | Missing or conflicting source data must lower confidence and be surfaced, not silently imputed, unless an approved rule exists.</a:t>
            </a:r>
          </a:p>
          <a:p>
            <a:r>
              <a:t>BR-05 | Scenario results are hypothetical and must not update systems of record.</a:t>
            </a:r>
          </a:p>
          <a:p>
            <a:r>
              <a:t>BR-06 | A renewal-priority or concentration score cannot be shown without the active formula version and component visibility.</a:t>
            </a:r>
          </a:p>
          <a:p>
            <a:r>
              <a:t>BR-07 | Contract clause extraction is advisory and must link to the original clause for human review.</a:t>
            </a:r>
          </a:p>
          <a:p>
            <a:r>
              <a:t>BR-08 | Potential savings must be labelled as an estimate and include baseline, assumptions, exclusions and currency.</a:t>
            </a:r>
          </a:p>
          <a:p>
            <a:r>
              <a:t>BR-09 | Vendor alternatives or overlap do not imply interchangeability; business and risk validation is mandatory.</a:t>
            </a:r>
          </a:p>
          <a:p>
            <a:r>
              <a:t>BR-10 | Exports must inherit access controls and include generation metadata and confidentiality markings.</a:t>
            </a:r>
          </a:p>
          <a:p>
            <a:r>
              <a:t>BR-11 | If a required source is stale beyond its approved threshold, the answer must show a stale-data warning.</a:t>
            </a:r>
          </a:p>
          <a:p>
            <a:r>
              <a:t>BR-12 | Metric calculations must use approved semantic definitions rather than agent-generated formulas.</a:t>
            </a:r>
          </a:p>
          <a:p>
            <a:endParaRPr/>
          </a:p>
          <a:p>
            <a:endParaRPr/>
          </a:p>
          <a:p>
            <a:r>
              <a:t>14. Error, Exception and Degraded-State Handling</a:t>
            </a:r>
          </a:p>
          <a:p>
            <a:r>
              <a:t>Condition | Required user behavior | Operator behavior</a:t>
            </a:r>
          </a:p>
          <a:p>
            <a:r>
              <a:t>No authorized data | Explain that no accessible evidence was found; do not imply no enterprise data exists. | Record authorization-safe diagnostic.</a:t>
            </a:r>
          </a:p>
          <a:p>
            <a:r>
              <a:t>Source stale | Show stale warning and as-of time; suppress affected recommendation when policy requires. | Raise freshness alert.</a:t>
            </a:r>
          </a:p>
          <a:p>
            <a:r>
              <a:t>Source unavailable | Return partial result only if clearly labelled. | Retry, circuit-break and alert.</a:t>
            </a:r>
          </a:p>
          <a:p>
            <a:r>
              <a:t>Conflicting facts | Show conflict and both authorized sources; avoid selecting silently. | Create stewardship/reconciliation issue.</a:t>
            </a:r>
          </a:p>
          <a:p>
            <a:r>
              <a:t>Ambiguous entity | Ask user to select or refine. | Record match candidates and confidence.</a:t>
            </a:r>
          </a:p>
          <a:p>
            <a:r>
              <a:t>Low-confidence extraction | Show original passage and require validation. | Queue for review if configured.</a:t>
            </a:r>
          </a:p>
          <a:p>
            <a:r>
              <a:t>Scenario invalid | Explain violated bound or missing dependency. | Log validation failure; no partial write.</a:t>
            </a:r>
          </a:p>
          <a:p>
            <a:r>
              <a:t>Model/tool failure | Provide safe error and preserve trace ID. | Fail over only to approved route and alert.</a:t>
            </a:r>
          </a:p>
          <a:p>
            <a:endParaRPr/>
          </a:p>
          <a:p>
            <a:endParaRPr/>
          </a:p>
          <a:p>
            <a:r>
              <a:t>16. Acceptance Criteria by Use Case</a:t>
            </a:r>
          </a:p>
          <a:p>
            <a:r>
              <a:t>Use case | Minimum acceptance</a:t>
            </a:r>
          </a:p>
          <a:p>
            <a:r>
              <a:t>Vendor 360 | Authorized user opens a vendor and sees cross-domain facts with evidence, ownership, freshness and explicit gaps.</a:t>
            </a:r>
          </a:p>
          <a:p>
            <a:r>
              <a:t>Renewal prioritization | User filters a renewal horizon and sees explainable priority components and linked dependencies.</a:t>
            </a:r>
          </a:p>
          <a:p>
            <a:r>
              <a:t>Concentration risk | User selects a vendor and sees exposure across at least spend and technology relationships with traceable paths.</a:t>
            </a:r>
          </a:p>
          <a:p>
            <a:r>
              <a:t>Rationalization | System identifies evidence-based overlap candidates and displays constraints without implying automatic substitution.</a:t>
            </a:r>
          </a:p>
          <a:p>
            <a:r>
              <a:t>Spend variance | Displayed contributing dimensions reconcile to the reported variance within agreed tolerance.</a:t>
            </a:r>
          </a:p>
          <a:p>
            <a:r>
              <a:t>Scenario | User creates a non-destructive scenario, changes an allowed lever and compares baseline and impact with assumptions.</a:t>
            </a:r>
          </a:p>
          <a:p>
            <a:r>
              <a:t>Executive Q&amp;A | Answer includes evidence, date, scope, limitations and no inaccessible content.</a:t>
            </a:r>
          </a:p>
          <a:p>
            <a:r>
              <a:t>Security | Negative entitlement tests prove that restricted records do not appear in retrieval, answer, logs visible to users or exports.</a:t>
            </a:r>
          </a:p>
          <a:p>
            <a:r>
              <a:t>Audit | An operator can reconstruct the tools, sources, rules, model/prompt versions and evidence for a selected answer.</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solution architecture. Adapted from the two user-supplied architecture decks (identical files) and Citi Vendor Decision Intelligence FSD v1.0. Citi-specific platform selections, policies, thresholds and service targets require validation.</a:t>
            </a:r>
          </a:p>
          <a:p>
            <a:r>
              <a:t>Reference choices are architectural recommendations, not confirmed Citi installations. Frontend React/TypeScript, Python typed API and containerized workers. LangGraph durable checkpointing provides resumable agent workflows. PostgreSQL demo facts, metric catalog, workflow state in separated schemas/roles; use non-owner/non-BYPASSRLS application roles and appropriate forced RLS where needed. Neo4j as a rebuildable relationship projection if traversal/visual exploration warrants its operational cost; database security must use the supported approved edition and cannot be assumed from a community demo. PostgreSQL pgvector plus full-text search can support hybrid retrieval; approximate filtering recall must be benchmarked under real ACL selectivity, with exact/partitioned strategies as needed. Production finance/HR facts should remain in the authoritative approved warehouse rather than duplicate another independent truth. Reuse an existing semantic platform; dbt/MetricFlow is a candidate for governed metric serving if adopted and approved. Use a dedicated search service only when justified by scale and controls. All service calls private/network-restricted; scoped credential injection, TLS, vault and managed keys. Queue-backed ingestion/exports/notifications. Cache keys include principal/entitlement hash, scope, source manifest, metric/rule versions; revoke/invalidate on change. Source choices and licensing require Citi validation. Official references: https://www.postgresql.org/docs/current/ddl-rowsecurity.html ; https://github.com/pgvector/pgvector ; https://neo4j.com/docs/operations-manual/current/authentication-authorization/ ; https://docs.getdbt.com/docs/use-dbt-semantic-layer/dbt-sl ; https://docs.langchain.com/oss/python/langgraph/interrupts ; https://opentelemetry.io/docs/concepts/signals/ .</a:t>
            </a:r>
          </a:p>
          <a:p>
            <a:endParaRPr/>
          </a:p>
          <a:p>
            <a:r>
              <a:t>FSD reference:</a:t>
            </a:r>
          </a:p>
          <a:p>
            <a:r>
              <a:t>11. Integration Requirements</a:t>
            </a:r>
          </a:p>
          <a:p>
            <a:r>
              <a:t>Interface | Pattern | Minimum behavior | Open decision</a:t>
            </a:r>
          </a:p>
          <a:p>
            <a:r>
              <a:t>Structured sources | Batch, CDC or approved query interface. | Schema validation, watermarking, reconciliation, retry and lineage. | Citi-selected source and frequency.</a:t>
            </a:r>
          </a:p>
          <a:p>
            <a:r>
              <a:t>Contract documents | Secure file/document ingestion. | Metadata capture, OCR where needed, extraction, chunking, entitlement and citation. | Repository and permitted content.</a:t>
            </a:r>
          </a:p>
          <a:p>
            <a:r>
              <a:t>Identity and access | Enterprise SSO and authorization. | Token validation, group/role mapping and policy evaluation. | Identity provider and entitlement model.</a:t>
            </a:r>
          </a:p>
          <a:p>
            <a:r>
              <a:t>Model gateway | Approved enterprise AI endpoint. | Routing, guardrails, prompt versioning, telemetry and cost controls. | Permitted models and deployment region.</a:t>
            </a:r>
          </a:p>
          <a:p>
            <a:r>
              <a:t>Notifications | Approved email/chat/workflow connector. | Deliver alert summary with link, no sensitive payload unless authorized. | Permitted channel and template.</a:t>
            </a:r>
          </a:p>
          <a:p>
            <a:r>
              <a:t>Export | Document or data export service. | Confidentiality marking, access check and audit event. | Permitted formats and destinations.</a:t>
            </a:r>
          </a:p>
          <a:p>
            <a:r>
              <a:t>11.1 Proposed Service Contracts</a:t>
            </a:r>
          </a:p>
          <a:p>
            <a:r>
              <a:t>Service | Example operation | Response minimum</a:t>
            </a:r>
          </a:p>
          <a:p>
            <a:r>
              <a:t>Vendor service | GET vendor / search vendors | Canonical vendor, aliases, status, hierarchy, freshness.</a:t>
            </a:r>
          </a:p>
          <a:p>
            <a:r>
              <a:t>Vendor 360 service | GET vendor/{id}/360 | Authorized domain summaries, evidence links, coverage.</a:t>
            </a:r>
          </a:p>
          <a:p>
            <a:r>
              <a:t>Query service | POST query | Answer ID, status, answer, evidence, scope, limitations, trace ID.</a:t>
            </a:r>
          </a:p>
          <a:p>
            <a:r>
              <a:t>Graph service | POST relationships | Nodes, edges, evidence, confidence, entitlements.</a:t>
            </a:r>
          </a:p>
          <a:p>
            <a:r>
              <a:t>Scenario service | POST scenario / GET comparison | Inputs, baseline, results, impacts, assumptions, errors.</a:t>
            </a:r>
          </a:p>
          <a:p>
            <a:r>
              <a:t>Recommendation service | POST recommendations | Candidate action, rationale, evidence, checks, confidence.</a:t>
            </a:r>
          </a:p>
          <a:p>
            <a:r>
              <a:t>Alert service | GET alerts / POST disposition | Alert, severity, trigger, owner, status, audit metadata.</a:t>
            </a:r>
          </a:p>
          <a:p>
            <a:endParaRPr/>
          </a:p>
          <a:p>
            <a:endParaRPr/>
          </a:p>
          <a:p>
            <a:r>
              <a:t>13. Non-Functional Requirements</a:t>
            </a:r>
          </a:p>
          <a:p>
            <a:r>
              <a:t>ID | Category | Requirement / target to validate</a:t>
            </a:r>
          </a:p>
          <a:p>
            <a:r>
              <a:t>NFR-01 | Availability | Define separate availability targets for demo and production service tiers.</a:t>
            </a:r>
          </a:p>
          <a:p>
            <a:r>
              <a:t>NFR-02 | Performance | Define percentile response targets for dashboard, structured query, graph traversal, retrieval Q&amp;A and scenarios.</a:t>
            </a:r>
          </a:p>
          <a:p>
            <a:r>
              <a:t>NFR-03 | Scalability | Scale independently across ingestion, structured queries, graph queries, retrieval and model inference.</a:t>
            </a:r>
          </a:p>
          <a:p>
            <a:r>
              <a:t>NFR-04 | Reliability | Use idempotent ingestion, retry with backoff, dead-letter handling and recoverable orchestration.</a:t>
            </a:r>
          </a:p>
          <a:p>
            <a:r>
              <a:t>NFR-05 | Freshness | Set source-specific expected arrival and stale thresholds visible to users.</a:t>
            </a:r>
          </a:p>
          <a:p>
            <a:r>
              <a:t>NFR-06 | Data accuracy | Set reconciliation tolerances for counts, spend, forecast and relationship coverage.</a:t>
            </a:r>
          </a:p>
          <a:p>
            <a:r>
              <a:t>NFR-07 | Observability | Capture logs, metrics and traces across request, tool, data, model and user experience layers.</a:t>
            </a:r>
          </a:p>
          <a:p>
            <a:r>
              <a:t>NFR-08 | Audit | Retain tamper-evident records sufficient to reproduce material answers and decisions.</a:t>
            </a:r>
          </a:p>
          <a:p>
            <a:r>
              <a:t>NFR-09 | Accessibility | Conform to Citi-approved accessibility standard and test with keyboard and assistive technologies.</a:t>
            </a:r>
          </a:p>
          <a:p>
            <a:r>
              <a:t>NFR-10 | Maintainability | Configuration-driven sources, metrics, rules, thresholds, prompts and models with automated tests.</a:t>
            </a:r>
          </a:p>
          <a:p>
            <a:r>
              <a:t>NFR-11 | Portability | Abstract source and model connectors to permit approved deployment choices.</a:t>
            </a:r>
          </a:p>
          <a:p>
            <a:r>
              <a:t>NFR-12 | Disaster recovery | Define RTO/RPO by component and test recovery procedures.</a:t>
            </a:r>
          </a:p>
          <a:p>
            <a:r>
              <a:t>NFR-13 | Cost control | Track per-request and aggregate compute/model cost with budgets and routing policies.</a:t>
            </a:r>
          </a:p>
          <a:p>
            <a:r>
              <a:t>NFR-14 | Localization | Use approved date, number, currency and time-zone standards.</a:t>
            </a:r>
          </a:p>
          <a:p>
            <a:endParaRPr/>
          </a:p>
          <a:p>
            <a:endParaRPr/>
          </a:p>
          <a:p>
            <a:r>
              <a:t>20. Delivery Dependencies and Decisions Required</a:t>
            </a:r>
          </a:p>
          <a:p>
            <a:r>
              <a:t>ID | Decision / dependency | Owner to assign | Needed before</a:t>
            </a:r>
          </a:p>
          <a:p>
            <a:r>
              <a:t>D-01 | Confirm business sponsor, product owner and prioritized use cases. | Citi | Detailed design.</a:t>
            </a:r>
          </a:p>
          <a:p>
            <a:r>
              <a:t>D-02 | Confirm approved demo data: synthetic, masked or authorized records. | Citi data/risk | Data build.</a:t>
            </a:r>
          </a:p>
          <a:p>
            <a:r>
              <a:t>D-03 | Confirm source systems, access method, refresh and authoritative ownership. | Citi architecture/data | Integration design.</a:t>
            </a:r>
          </a:p>
          <a:p>
            <a:r>
              <a:t>D-04 | Confirm metric definitions and scoring/threshold policy. | Citi business/risk | Analytics implementation.</a:t>
            </a:r>
          </a:p>
          <a:p>
            <a:r>
              <a:t>D-05 | Confirm identity, roles, entitlements and restricted attributes/documents. | Citi security/data | Security design.</a:t>
            </a:r>
          </a:p>
          <a:p>
            <a:r>
              <a:t>D-06 | Confirm hosting, model gateway, approved models and regional constraints. | Citi architecture/risk | Platform provisioning.</a:t>
            </a:r>
          </a:p>
          <a:p>
            <a:r>
              <a:t>D-07 | Confirm evidence retention, audit, export and confidentiality requirements. | Citi risk/legal | Operational design.</a:t>
            </a:r>
          </a:p>
          <a:p>
            <a:r>
              <a:t>D-08 | Confirm non-functional targets: performance, availability, RTO/RPO and scale. | Citi technology | Production design.</a:t>
            </a:r>
          </a:p>
          <a:p>
            <a:r>
              <a:t>D-09 | Confirm notification and downstream workflow scope. | Citi product owner | Release scope.</a:t>
            </a:r>
          </a:p>
          <a:p>
            <a:r>
              <a:t>D-10 | Provide expected answers and acceptance thresholds for golden questions. | Joint business/data team | UAT.</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solution architecture. Adapted from the two user-supplied architecture decks (identical files) and Citi Vendor Decision Intelligence FSD v1.0. Citi-specific platform selections, policies, thresholds and service targets require validation.</a:t>
            </a:r>
          </a:p>
          <a:p>
            <a:r>
              <a:t>Coverage: UC01 FR030–037 Vendor360 service with evidence/owners/freshness/gaps. UC02 FR040–043 priority rule service plus commercial and dependency/risk investigations. UC03 FR050–054 graph paths and metric exposure with denominator/formula version. UC04 FR060–063 sourcing comparison plus constraint service, matched attributes and no automatic substitution. UC05 FR070–073 financial metrics, currency/time consistency and variance reconciliation. UC06 FR080–085 scenario creation, levers, impact paths, comparison, assumptions, authorized sharing. UC07 Q&amp;A and UC08 alerts span all six. Must/Should/Could priorities remain as in the FSD, not all equally required for first demo. Test pipeline: unit, data, integration, functional, security, groundedness/citation evaluation, performance, resilience, accessibility and UAT. Negative entitlement tests cover retrieval/answer/user-visible logs/export. Golden questions include missing/stale evidence and temporal changes. Record prompt/model/tool/rule/source versions and protected audit events. Release gate requires approved expected answers and thresholds, not assumed performance targets.</a:t>
            </a:r>
          </a:p>
          <a:p>
            <a:endParaRPr/>
          </a:p>
          <a:p>
            <a:r>
              <a:t>FSD reference:</a:t>
            </a:r>
          </a:p>
          <a:p>
            <a:r>
              <a:t>16. Acceptance Criteria by Use Case</a:t>
            </a:r>
          </a:p>
          <a:p>
            <a:r>
              <a:t>Use case | Minimum acceptance</a:t>
            </a:r>
          </a:p>
          <a:p>
            <a:r>
              <a:t>Vendor 360 | Authorized user opens a vendor and sees cross-domain facts with evidence, ownership, freshness and explicit gaps.</a:t>
            </a:r>
          </a:p>
          <a:p>
            <a:r>
              <a:t>Renewal prioritization | User filters a renewal horizon and sees explainable priority components and linked dependencies.</a:t>
            </a:r>
          </a:p>
          <a:p>
            <a:r>
              <a:t>Concentration risk | User selects a vendor and sees exposure across at least spend and technology relationships with traceable paths.</a:t>
            </a:r>
          </a:p>
          <a:p>
            <a:r>
              <a:t>Rationalization | System identifies evidence-based overlap candidates and displays constraints without implying automatic substitution.</a:t>
            </a:r>
          </a:p>
          <a:p>
            <a:r>
              <a:t>Spend variance | Displayed contributing dimensions reconcile to the reported variance within agreed tolerance.</a:t>
            </a:r>
          </a:p>
          <a:p>
            <a:r>
              <a:t>Scenario | User creates a non-destructive scenario, changes an allowed lever and compares baseline and impact with assumptions.</a:t>
            </a:r>
          </a:p>
          <a:p>
            <a:r>
              <a:t>Executive Q&amp;A | Answer includes evidence, date, scope, limitations and no inaccessible content.</a:t>
            </a:r>
          </a:p>
          <a:p>
            <a:r>
              <a:t>Security | Negative entitlement tests prove that restricted records do not appear in retrieval, answer, logs visible to users or exports.</a:t>
            </a:r>
          </a:p>
          <a:p>
            <a:r>
              <a:t>Audit | An operator can reconstruct the tools, sources, rules, model/prompt versions and evidence for a selected answer.</a:t>
            </a:r>
          </a:p>
          <a:p>
            <a:endParaRPr/>
          </a:p>
          <a:p>
            <a:endParaRPr/>
          </a:p>
          <a:p>
            <a:r>
              <a:t>17. Test Strategy</a:t>
            </a:r>
          </a:p>
          <a:p>
            <a:r>
              <a:t>Test type | Coverage</a:t>
            </a:r>
          </a:p>
          <a:p>
            <a:r>
              <a:t>Unit | Metric formulas, mappings, rules, scenario calculations, authorization helpers and formatters.</a:t>
            </a:r>
          </a:p>
          <a:p>
            <a:r>
              <a:t>Data pipeline | Schema, quality, reconciliation, lineage, entity resolution and restart.</a:t>
            </a:r>
          </a:p>
          <a:p>
            <a:r>
              <a:t>Integration | Identity, sources, SQL, graph, vector/document, model gateway, export and notifications.</a:t>
            </a:r>
          </a:p>
          <a:p>
            <a:r>
              <a:t>Functional | All FRs, user journeys, role behavior, filters, navigation, evidence and errors.</a:t>
            </a:r>
          </a:p>
          <a:p>
            <a:r>
              <a:t>Security | RBAC/ABAC, injection, data leakage, secrets, export, logging and privilege escalation.</a:t>
            </a:r>
          </a:p>
          <a:p>
            <a:r>
              <a:t>AI evaluation | Groundedness, evidence precision, completeness, refusal, ambiguity, contradiction and prompt injection.</a:t>
            </a:r>
          </a:p>
          <a:p>
            <a:r>
              <a:t>Performance | Dashboard, query, graph, retrieval, scenario, ingestion and concurrency profiles.</a:t>
            </a:r>
          </a:p>
          <a:p>
            <a:r>
              <a:t>Resilience | Source outage, stale feed, partial failure, retry, failover and recovery.</a:t>
            </a:r>
          </a:p>
          <a:p>
            <a:r>
              <a:t>Accessibility | Keyboard, focus, contrast, labels, reading order and visual alternatives.</a:t>
            </a:r>
          </a:p>
          <a:p>
            <a:r>
              <a:t>User acceptance | Citi-approved scenarios, data, expected answers, thresholds and decision briefs.</a:t>
            </a:r>
          </a:p>
          <a:p>
            <a:r>
              <a:t>17.1 Golden Question Set</a:t>
            </a:r>
          </a:p>
          <a:p>
            <a:r>
              <a:t>Which contracts for [Vendor] expire within [approved horizon], and what critical applications/products depend on them?</a:t>
            </a:r>
          </a:p>
          <a:p>
            <a:r>
              <a:t>Which vendors create the greatest concentration exposure for [scope], and why?</a:t>
            </a:r>
          </a:p>
          <a:p>
            <a:r>
              <a:t>Explain the spend-versus-forecast variance for [period and organization].</a:t>
            </a:r>
          </a:p>
          <a:p>
            <a:r>
              <a:t>Where do we have supplier overlap in [capability/category], and what constraints would prevent consolidation?</a:t>
            </a:r>
          </a:p>
          <a:p>
            <a:r>
              <a:t>If [vendor/spend/workforce lever] changes by [value], what applications, products, teams and contracts are affected?</a:t>
            </a:r>
          </a:p>
          <a:p>
            <a:r>
              <a:t>What evidence is missing or stale for this recommendation?</a:t>
            </a:r>
          </a:p>
          <a:p>
            <a:r>
              <a:t>What changed since the prior snapshot, and which source records explain the change?</a:t>
            </a:r>
          </a:p>
          <a:p>
            <a:endParaRPr/>
          </a:p>
          <a:p>
            <a:endParaRPr/>
          </a:p>
          <a:p>
            <a:r>
              <a:t>18. Requirements Traceability</a:t>
            </a:r>
          </a:p>
          <a:p>
            <a:r>
              <a:t>Business objective | Use cases | Primary requirements</a:t>
            </a:r>
          </a:p>
          <a:p>
            <a:r>
              <a:t>Unified trusted evidence | UC-01, UC-07 | FR-030 to FR-037; FR-100 to FR-103</a:t>
            </a:r>
          </a:p>
          <a:p>
            <a:r>
              <a:t>Faster renewal decisions | UC-02 | FR-040 to FR-043; FR-020 to FR-027</a:t>
            </a:r>
          </a:p>
          <a:p>
            <a:r>
              <a:t>Proactive concentration management | UC-03 | FR-050 to FR-054</a:t>
            </a:r>
          </a:p>
          <a:p>
            <a:r>
              <a:t>Supplier rationalization | UC-04 | FR-060 to FR-063</a:t>
            </a:r>
          </a:p>
          <a:p>
            <a:r>
              <a:t>Spend transparency | UC-05 | FR-070 to FR-073</a:t>
            </a:r>
          </a:p>
          <a:p>
            <a:r>
              <a:t>What-if decision support | UC-06 | FR-080 to FR-085</a:t>
            </a:r>
          </a:p>
          <a:p>
            <a:r>
              <a:t>Explainable actions | UC-07, UC-08 | FR-090 to FR-093</a:t>
            </a:r>
          </a:p>
          <a:p>
            <a:r>
              <a:t>Controlled operation | All | FR-001 to FR-004; FR-100 to FR-104; NFR-01 to NFR-14</a:t>
            </a:r>
          </a:p>
          <a:p>
            <a:endParaRPr/>
          </a:p>
          <a:p>
            <a:endParaRPr/>
          </a:p>
          <a:p>
            <a:r>
              <a:t>19. Build Work Packages</a:t>
            </a:r>
          </a:p>
          <a:p>
            <a:r>
              <a:t>Work package | Deliverables | Entry dependency | Exit criteria</a:t>
            </a:r>
          </a:p>
          <a:p>
            <a:r>
              <a:t>WP1 Product &amp; UX | Validated journeys, wireframes, terminology, golden questions. | Business sponsor and users. | Signed scope and acceptance examples.</a:t>
            </a:r>
          </a:p>
          <a:p>
            <a:r>
              <a:t>WP2 Data foundation | Canonical model, mappings, ingestion, quality, lineage, snapshots. | Source access and data owners. | Reconciled curated data and DQ report.</a:t>
            </a:r>
          </a:p>
          <a:p>
            <a:r>
              <a:t>WP3 Semantic &amp; analytics | Metric catalog, SQL tools, graph model and retrieval index. | WP2 baseline. | Approved metrics and traceable queries.</a:t>
            </a:r>
          </a:p>
          <a:p>
            <a:r>
              <a:t>WP4 Orchestration &amp; AI | Planner, tools, guardrails, validation, explanation and evaluations. | Approved model gateway and policies. | Golden-question thresholds met.</a:t>
            </a:r>
          </a:p>
          <a:p>
            <a:r>
              <a:t>WP5 Experience | Cockpit, Ask, Vendor 360, graph, scenario, alerts and admin. | UX and service contracts. | Functional and accessibility tests passed.</a:t>
            </a:r>
          </a:p>
          <a:p>
            <a:r>
              <a:t>WP6 Security &amp; operations | IAM, entitlements, secrets, logging, monitoring, CI/CD and runbooks. | Hosting and control decisions. | Security and operational readiness sign-off.</a:t>
            </a:r>
          </a:p>
          <a:p>
            <a:r>
              <a:t>WP7 Demo &amp; UAT | Synthetic/approved demo data, script, expected results and defect closure. | WP1-WP6 integrated. | Demo rehearsal and UAT approval.</a:t>
            </a:r>
          </a:p>
          <a:p>
            <a:endParaRPr/>
          </a:p>
          <a:p>
            <a:endParaRPr/>
          </a:p>
          <a:p>
            <a:r>
              <a:t>22. Open Questions</a:t>
            </a:r>
          </a:p>
          <a:p>
            <a:r>
              <a:t>Area | Question</a:t>
            </a:r>
          </a:p>
          <a:p>
            <a:r>
              <a:t>Scope | Which 2-3 decisions must the first Citi demo prove?</a:t>
            </a:r>
          </a:p>
          <a:p>
            <a:r>
              <a:t>Data | Which sources and fields are approved for the demo?</a:t>
            </a:r>
          </a:p>
          <a:p>
            <a:r>
              <a:t>Identity | What is the master vendor identifier and parent-child hierarchy authority?</a:t>
            </a:r>
          </a:p>
          <a:p>
            <a:r>
              <a:t>Renewals | What horizon, factors and scoring policy define priority?</a:t>
            </a:r>
          </a:p>
          <a:p>
            <a:r>
              <a:t>Concentration | Which dimensions and thresholds constitute material exposure?</a:t>
            </a:r>
          </a:p>
          <a:p>
            <a:r>
              <a:t>Rationalization | Which constraints must be checked before showing a consolidation candidate?</a:t>
            </a:r>
          </a:p>
          <a:p>
            <a:r>
              <a:t>Scenario | Which levers and bounds are acceptable, and which formulas are authoritative?</a:t>
            </a:r>
          </a:p>
          <a:p>
            <a:r>
              <a:t>AI | Which model gateway and models are approved?</a:t>
            </a:r>
          </a:p>
          <a:p>
            <a:r>
              <a:t>Controls | What evidence, retention, explainability and human-review requirements apply?</a:t>
            </a:r>
          </a:p>
          <a:p>
            <a:r>
              <a:t>NFR | What volume, concurrency, latency, availability and recovery targets apply?</a:t>
            </a:r>
          </a:p>
          <a:p>
            <a:r>
              <a:t>Operations | Who owns data stewardship, prompt/rule changes, production support and incident response?</a:t>
            </a:r>
          </a:p>
          <a:p>
            <a:endParaRPr/>
          </a:p>
          <a:p>
            <a:endParaRPr/>
          </a:p>
          <a:p>
            <a:r>
              <a:t>Appendix A. Requirement Priority Definitions</a:t>
            </a:r>
          </a:p>
          <a:p>
            <a:r>
              <a:t>Priority | Definition</a:t>
            </a:r>
          </a:p>
          <a:p>
            <a:r>
              <a:t>Must | Required for a credible initial solution or control baseline.</a:t>
            </a:r>
          </a:p>
          <a:p>
            <a:r>
              <a:t>Should | High-value capability expected after Must requirements unless constrained.</a:t>
            </a:r>
          </a:p>
          <a:p>
            <a:r>
              <a:t>Could | Optional enhancement that does not block the baseline journey.</a:t>
            </a:r>
          </a:p>
          <a:p>
            <a:r>
              <a:t>Won't (this release) | Explicitly excluded from the agreed release scope.</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B40E1FA-9509-45D0-970E-B575A0DACDDF}"/>
              </a:ext>
            </a:extLst>
          </p:cNvPr>
          <p:cNvSpPr>
            <a:spLocks noGrp="1"/>
          </p:cNvSpPr>
          <p:nvPr>
            <p:ph type="dt" idx="10"/>
          </p:nvPr>
        </p:nvSpPr>
        <p:spPr/>
        <p:txBody>
          <a:bodyPr/>
          <a:lstStyle/>
          <a:p>
            <a:fld id="{5BCAD085-E8A6-8845-BD4E-CB4CCA059FC4}" type="datetimeFigureOut">
              <a:t>9/27/2026</a:t>
            </a:fld>
            <a:endParaRPr/>
          </a:p>
        </p:txBody>
      </p:sp>
      <p:sp>
        <p:nvSpPr>
          <p:cNvPr id="3" name="Footer Placeholder 2">
            <a:extLst>
              <a:ext uri="{FF2B5EF4-FFF2-40B4-BE49-F238E27FC236}">
                <a16:creationId xmlns:a16="http://schemas.microsoft.com/office/drawing/2014/main" id="{CBF9CF13-1019-46F2-9398-FBFD68986CF5}"/>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34210641-9904-4562-93FC-F23082BE2EAF}"/>
              </a:ext>
            </a:extLst>
          </p:cNvPr>
          <p:cNvSpPr>
            <a:spLocks noGrp="1"/>
          </p:cNvSpPr>
          <p:nvPr>
            <p:ph type="sldNum" idx="12"/>
          </p:nvPr>
        </p:nvSpPr>
        <p:spPr/>
        <p:txBody>
          <a:bodyPr/>
          <a:lstStyle/>
          <a:p>
            <a:fld id="{C1FF6DA9-008F-8B48-92A6-B652298478BF}" type="slidenum">
              <a:t>‹#›</a:t>
            </a:fld>
            <a:endParaRPr/>
          </a:p>
        </p:txBody>
      </p:sp>
    </p:spTree>
    <p:extLst>
      <p:ext uri="{BB962C8B-B14F-4D97-AF65-F5344CB8AC3E}">
        <p14:creationId xmlns:p14="http://schemas.microsoft.com/office/powerpoint/2010/main" val="252320190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0325036-5EC7-4A04-B954-EFF3349843CE}"/>
              </a:ext>
            </a:extLst>
          </p:cNvPr>
          <p:cNvSpPr>
            <a:spLocks noGrp="1"/>
          </p:cNvSpPr>
          <p:nvPr/>
        </p:nvSpPr>
        <p:spPr>
          <a:xfrm>
            <a:off x="0" y="0"/>
            <a:ext cx="12192000" cy="95250"/>
          </a:xfrm>
          <a:prstGeom prst="rect">
            <a:avLst/>
          </a:prstGeom>
          <a:solidFill>
            <a:srgbClr val="0067A0"/>
          </a:solidFill>
          <a:ln w="0">
            <a:noFill/>
          </a:ln>
        </p:spPr>
        <p:txBody>
          <a:bodyPr/>
          <a:lstStyle/>
          <a:p>
            <a:endParaRPr lang="en-US"/>
          </a:p>
        </p:txBody>
      </p:sp>
      <p:sp>
        <p:nvSpPr>
          <p:cNvPr id="2" name="Rectangle 1">
            <a:extLst>
              <a:ext uri="{FF2B5EF4-FFF2-40B4-BE49-F238E27FC236}">
                <a16:creationId xmlns:a16="http://schemas.microsoft.com/office/drawing/2014/main" id="{22373606-487C-4FA1-B286-ECB5D14C3C1A}"/>
              </a:ext>
            </a:extLst>
          </p:cNvPr>
          <p:cNvSpPr>
            <a:spLocks noGrp="1"/>
          </p:cNvSpPr>
          <p:nvPr/>
        </p:nvSpPr>
        <p:spPr>
          <a:xfrm>
            <a:off x="533400" y="400050"/>
            <a:ext cx="11125200" cy="571500"/>
          </a:xfrm>
          <a:prstGeom prst="rect">
            <a:avLst/>
          </a:prstGeom>
          <a:noFill/>
          <a:ln w="0">
            <a:noFill/>
          </a:ln>
        </p:spPr>
        <p:txBody>
          <a:bodyPr>
            <a:noAutofit/>
          </a:bodyPr>
          <a:lstStyle/>
          <a:p>
            <a:pPr>
              <a:defRPr sz="2700" b="1">
                <a:solidFill>
                  <a:srgbClr val="102B46"/>
                </a:solidFill>
                <a:latin typeface="Aptos"/>
                <a:ea typeface="Aptos"/>
                <a:cs typeface="Aptos"/>
              </a:defRPr>
            </a:pPr>
            <a:r>
              <a:rPr sz="2700" b="1">
                <a:solidFill>
                  <a:srgbClr val="102B46"/>
                </a:solidFill>
                <a:latin typeface="Aptos"/>
                <a:ea typeface="Aptos"/>
                <a:cs typeface="Aptos"/>
              </a:rPr>
              <a:t>One vendor decision, many connected questions</a:t>
            </a:r>
          </a:p>
        </p:txBody>
      </p:sp>
      <p:sp>
        <p:nvSpPr>
          <p:cNvPr id="3" name="Rectangle 2">
            <a:extLst>
              <a:ext uri="{FF2B5EF4-FFF2-40B4-BE49-F238E27FC236}">
                <a16:creationId xmlns:a16="http://schemas.microsoft.com/office/drawing/2014/main" id="{F6C7F4B5-D497-49B7-8B4E-5FF7540839DD}"/>
              </a:ext>
            </a:extLst>
          </p:cNvPr>
          <p:cNvSpPr>
            <a:spLocks noGrp="1"/>
          </p:cNvSpPr>
          <p:nvPr/>
        </p:nvSpPr>
        <p:spPr>
          <a:xfrm>
            <a:off x="533400" y="1028700"/>
            <a:ext cx="11125200" cy="504825"/>
          </a:xfrm>
          <a:prstGeom prst="rect">
            <a:avLst/>
          </a:prstGeom>
          <a:noFill/>
          <a:ln w="0">
            <a:noFill/>
          </a:ln>
        </p:spPr>
        <p:txBody>
          <a:bodyPr>
            <a:noAutofit/>
          </a:bodyPr>
          <a:lstStyle/>
          <a:p>
            <a:pPr>
              <a:defRPr sz="1425" b="0">
                <a:solidFill>
                  <a:srgbClr val="5B7080"/>
                </a:solidFill>
                <a:latin typeface="Aptos"/>
                <a:ea typeface="Aptos"/>
                <a:cs typeface="Aptos"/>
              </a:defRPr>
            </a:pPr>
            <a:r>
              <a:rPr sz="1425" b="0">
                <a:solidFill>
                  <a:srgbClr val="5B7080"/>
                </a:solidFill>
                <a:latin typeface="Aptos"/>
                <a:ea typeface="Aptos"/>
                <a:cs typeface="Aptos"/>
              </a:rPr>
              <a:t>Citi Vendor Decision Intelligence • Business problem and demo story</a:t>
            </a:r>
          </a:p>
        </p:txBody>
      </p:sp>
      <p:sp>
        <p:nvSpPr>
          <p:cNvPr id="4" name="Rectangle 3">
            <a:extLst>
              <a:ext uri="{FF2B5EF4-FFF2-40B4-BE49-F238E27FC236}">
                <a16:creationId xmlns:a16="http://schemas.microsoft.com/office/drawing/2014/main" id="{D35B7E6A-9278-4A40-9FB8-85280962EBD1}"/>
              </a:ext>
            </a:extLst>
          </p:cNvPr>
          <p:cNvSpPr>
            <a:spLocks noGrp="1"/>
          </p:cNvSpPr>
          <p:nvPr/>
        </p:nvSpPr>
        <p:spPr>
          <a:xfrm>
            <a:off x="533400" y="6381750"/>
            <a:ext cx="11125200" cy="9525"/>
          </a:xfrm>
          <a:prstGeom prst="rect">
            <a:avLst/>
          </a:prstGeom>
          <a:solidFill>
            <a:srgbClr val="CBD7DF"/>
          </a:solidFill>
          <a:ln w="0">
            <a:noFill/>
          </a:ln>
        </p:spPr>
        <p:txBody>
          <a:bodyPr/>
          <a:lstStyle/>
          <a:p>
            <a:endParaRPr lang="en-US"/>
          </a:p>
        </p:txBody>
      </p:sp>
      <p:sp>
        <p:nvSpPr>
          <p:cNvPr id="5" name="Rectangle 4">
            <a:extLst>
              <a:ext uri="{FF2B5EF4-FFF2-40B4-BE49-F238E27FC236}">
                <a16:creationId xmlns:a16="http://schemas.microsoft.com/office/drawing/2014/main" id="{37A60662-0AD5-4712-9CCA-48D1505111C4}"/>
              </a:ext>
            </a:extLst>
          </p:cNvPr>
          <p:cNvSpPr>
            <a:spLocks noGrp="1"/>
          </p:cNvSpPr>
          <p:nvPr/>
        </p:nvSpPr>
        <p:spPr>
          <a:xfrm>
            <a:off x="533400" y="6477000"/>
            <a:ext cx="10572750" cy="190500"/>
          </a:xfrm>
          <a:prstGeom prst="rect">
            <a:avLst/>
          </a:prstGeom>
          <a:noFill/>
          <a:ln w="0">
            <a:noFill/>
          </a:ln>
        </p:spPr>
        <p:txBody>
          <a:bodyPr>
            <a:noAutofit/>
          </a:bodyPr>
          <a:lstStyle/>
          <a:p>
            <a:pPr>
              <a:defRPr sz="900" b="0">
                <a:solidFill>
                  <a:srgbClr val="5B7080"/>
                </a:solidFill>
                <a:latin typeface="Aptos"/>
                <a:ea typeface="Aptos"/>
                <a:cs typeface="Aptos"/>
              </a:defRPr>
            </a:pPr>
            <a:r>
              <a:rPr sz="900" b="0">
                <a:solidFill>
                  <a:srgbClr val="5B7080"/>
                </a:solidFill>
                <a:latin typeface="Aptos"/>
                <a:ea typeface="Aptos"/>
                <a:cs typeface="Aptos"/>
              </a:rPr>
              <a:t>COMPANY CONFIDENTIAL   •   FSD v1.0   •   §2–3, §5</a:t>
            </a:r>
          </a:p>
        </p:txBody>
      </p:sp>
      <p:sp>
        <p:nvSpPr>
          <p:cNvPr id="6" name="Rectangle 5">
            <a:extLst>
              <a:ext uri="{FF2B5EF4-FFF2-40B4-BE49-F238E27FC236}">
                <a16:creationId xmlns:a16="http://schemas.microsoft.com/office/drawing/2014/main" id="{652DDC5C-5DCD-4C08-8337-CD8E6E528B5A}"/>
              </a:ext>
            </a:extLst>
          </p:cNvPr>
          <p:cNvSpPr>
            <a:spLocks noGrp="1"/>
          </p:cNvSpPr>
          <p:nvPr/>
        </p:nvSpPr>
        <p:spPr>
          <a:xfrm>
            <a:off x="11315700" y="6477000"/>
            <a:ext cx="342900" cy="190500"/>
          </a:xfrm>
          <a:prstGeom prst="rect">
            <a:avLst/>
          </a:prstGeom>
          <a:noFill/>
          <a:ln w="0">
            <a:noFill/>
          </a:ln>
        </p:spPr>
        <p:txBody>
          <a:bodyPr>
            <a:noAutofit/>
          </a:bodyPr>
          <a:lstStyle/>
          <a:p>
            <a:pPr>
              <a:defRPr sz="975" b="1">
                <a:solidFill>
                  <a:srgbClr val="102B46"/>
                </a:solidFill>
                <a:latin typeface="Aptos"/>
                <a:ea typeface="Aptos"/>
                <a:cs typeface="Aptos"/>
              </a:defRPr>
            </a:pPr>
            <a:r>
              <a:rPr sz="975" b="1">
                <a:solidFill>
                  <a:srgbClr val="102B46"/>
                </a:solidFill>
                <a:latin typeface="Aptos"/>
                <a:ea typeface="Aptos"/>
                <a:cs typeface="Aptos"/>
              </a:rPr>
              <a:t>01</a:t>
            </a:r>
          </a:p>
        </p:txBody>
      </p:sp>
      <p:sp>
        <p:nvSpPr>
          <p:cNvPr id="7" name="Rectangle 6">
            <a:extLst>
              <a:ext uri="{FF2B5EF4-FFF2-40B4-BE49-F238E27FC236}">
                <a16:creationId xmlns:a16="http://schemas.microsoft.com/office/drawing/2014/main" id="{88775488-E4E6-4045-A5F0-7E0D76CD3D96}"/>
              </a:ext>
            </a:extLst>
          </p:cNvPr>
          <p:cNvSpPr>
            <a:spLocks noGrp="1"/>
          </p:cNvSpPr>
          <p:nvPr/>
        </p:nvSpPr>
        <p:spPr>
          <a:xfrm>
            <a:off x="533400" y="1790700"/>
            <a:ext cx="11125200" cy="2333625"/>
          </a:xfrm>
          <a:prstGeom prst="rect">
            <a:avLst/>
          </a:prstGeom>
          <a:noFill/>
          <a:ln w="0">
            <a:noFill/>
          </a:ln>
        </p:spPr>
        <p:txBody>
          <a:bodyPr>
            <a:noAutofit/>
          </a:bodyPr>
          <a:lstStyle/>
          <a:p>
            <a:pPr>
              <a:defRPr sz="2925" b="1">
                <a:solidFill>
                  <a:srgbClr val="102B46"/>
                </a:solidFill>
                <a:latin typeface="Aptos"/>
                <a:ea typeface="Aptos"/>
                <a:cs typeface="Aptos"/>
              </a:defRPr>
            </a:pPr>
            <a:r>
              <a:rPr sz="2925" b="1">
                <a:solidFill>
                  <a:srgbClr val="102B46"/>
                </a:solidFill>
                <a:latin typeface="Aptos"/>
                <a:ea typeface="Aptos"/>
                <a:cs typeface="Aptos"/>
              </a:rPr>
              <a:t>“We have a contract with Vendor X expiring in 90 days. Should we renew it, renegotiate it, consolidate it with another vendor, or reduce our dependency on it?”</a:t>
            </a:r>
          </a:p>
        </p:txBody>
      </p:sp>
      <p:sp>
        <p:nvSpPr>
          <p:cNvPr id="8" name="Rectangle 7">
            <a:extLst>
              <a:ext uri="{FF2B5EF4-FFF2-40B4-BE49-F238E27FC236}">
                <a16:creationId xmlns:a16="http://schemas.microsoft.com/office/drawing/2014/main" id="{199A6FE7-D43D-4D42-B214-CA1446E7307D}"/>
              </a:ext>
            </a:extLst>
          </p:cNvPr>
          <p:cNvSpPr>
            <a:spLocks noGrp="1"/>
          </p:cNvSpPr>
          <p:nvPr/>
        </p:nvSpPr>
        <p:spPr>
          <a:xfrm>
            <a:off x="533400" y="4410075"/>
            <a:ext cx="2638425" cy="790575"/>
          </a:xfrm>
          <a:prstGeom prst="rect">
            <a:avLst/>
          </a:prstGeom>
          <a:solidFill>
            <a:srgbClr val="0067A0"/>
          </a:solidFill>
          <a:ln w="12383">
            <a:solidFill>
              <a:srgbClr val="0067A0"/>
            </a:solidFill>
          </a:ln>
        </p:spPr>
        <p:txBody>
          <a:bodyPr/>
          <a:lstStyle/>
          <a:p>
            <a:endParaRPr lang="en-US"/>
          </a:p>
        </p:txBody>
      </p:sp>
      <p:sp>
        <p:nvSpPr>
          <p:cNvPr id="9" name="Rectangle 8">
            <a:extLst>
              <a:ext uri="{FF2B5EF4-FFF2-40B4-BE49-F238E27FC236}">
                <a16:creationId xmlns:a16="http://schemas.microsoft.com/office/drawing/2014/main" id="{8C4B241F-3F3C-4112-A738-BA1C026646CA}"/>
              </a:ext>
            </a:extLst>
          </p:cNvPr>
          <p:cNvSpPr>
            <a:spLocks noGrp="1"/>
          </p:cNvSpPr>
          <p:nvPr/>
        </p:nvSpPr>
        <p:spPr>
          <a:xfrm>
            <a:off x="676275" y="4524375"/>
            <a:ext cx="2352675" cy="600075"/>
          </a:xfrm>
          <a:prstGeom prst="rect">
            <a:avLst/>
          </a:prstGeom>
          <a:noFill/>
          <a:ln w="0">
            <a:noFill/>
          </a:ln>
        </p:spPr>
        <p:txBody>
          <a:bodyPr>
            <a:noAutofit/>
          </a:bodyPr>
          <a:lstStyle/>
          <a:p>
            <a:pPr>
              <a:defRPr sz="1800" b="1">
                <a:solidFill>
                  <a:srgbClr val="FFFFFF"/>
                </a:solidFill>
                <a:latin typeface="Aptos"/>
                <a:ea typeface="Aptos"/>
                <a:cs typeface="Aptos"/>
              </a:defRPr>
            </a:pPr>
            <a:r>
              <a:rPr sz="1800" b="1">
                <a:solidFill>
                  <a:srgbClr val="FFFFFF"/>
                </a:solidFill>
                <a:latin typeface="Aptos"/>
                <a:ea typeface="Aptos"/>
                <a:cs typeface="Aptos"/>
              </a:rPr>
              <a:t>Renew</a:t>
            </a:r>
          </a:p>
        </p:txBody>
      </p:sp>
      <p:sp>
        <p:nvSpPr>
          <p:cNvPr id="10" name="Rectangle 9">
            <a:extLst>
              <a:ext uri="{FF2B5EF4-FFF2-40B4-BE49-F238E27FC236}">
                <a16:creationId xmlns:a16="http://schemas.microsoft.com/office/drawing/2014/main" id="{C10CB7F9-E24A-4F0D-8EE2-DB90015E2D70}"/>
              </a:ext>
            </a:extLst>
          </p:cNvPr>
          <p:cNvSpPr>
            <a:spLocks noGrp="1"/>
          </p:cNvSpPr>
          <p:nvPr/>
        </p:nvSpPr>
        <p:spPr>
          <a:xfrm>
            <a:off x="3362325" y="4410075"/>
            <a:ext cx="2638425" cy="790575"/>
          </a:xfrm>
          <a:prstGeom prst="rect">
            <a:avLst/>
          </a:prstGeom>
          <a:solidFill>
            <a:srgbClr val="EFF5F8"/>
          </a:solidFill>
          <a:ln w="12383">
            <a:solidFill>
              <a:srgbClr val="EFF5F8"/>
            </a:solidFill>
          </a:ln>
        </p:spPr>
        <p:txBody>
          <a:bodyPr/>
          <a:lstStyle/>
          <a:p>
            <a:endParaRPr lang="en-US"/>
          </a:p>
        </p:txBody>
      </p:sp>
      <p:sp>
        <p:nvSpPr>
          <p:cNvPr id="11" name="Rectangle 10">
            <a:extLst>
              <a:ext uri="{FF2B5EF4-FFF2-40B4-BE49-F238E27FC236}">
                <a16:creationId xmlns:a16="http://schemas.microsoft.com/office/drawing/2014/main" id="{46D89316-E346-45F9-9130-81D7099E2906}"/>
              </a:ext>
            </a:extLst>
          </p:cNvPr>
          <p:cNvSpPr>
            <a:spLocks noGrp="1"/>
          </p:cNvSpPr>
          <p:nvPr/>
        </p:nvSpPr>
        <p:spPr>
          <a:xfrm>
            <a:off x="3505200" y="4524375"/>
            <a:ext cx="2352675" cy="600075"/>
          </a:xfrm>
          <a:prstGeom prst="rect">
            <a:avLst/>
          </a:prstGeom>
          <a:noFill/>
          <a:ln w="0">
            <a:noFill/>
          </a:ln>
        </p:spPr>
        <p:txBody>
          <a:bodyPr>
            <a:noAutofit/>
          </a:bodyPr>
          <a:lstStyle/>
          <a:p>
            <a:pPr>
              <a:defRPr sz="1800" b="1">
                <a:solidFill>
                  <a:srgbClr val="102B46"/>
                </a:solidFill>
                <a:latin typeface="Aptos"/>
                <a:ea typeface="Aptos"/>
                <a:cs typeface="Aptos"/>
              </a:defRPr>
            </a:pPr>
            <a:r>
              <a:rPr sz="1800" b="1">
                <a:solidFill>
                  <a:srgbClr val="102B46"/>
                </a:solidFill>
                <a:latin typeface="Aptos"/>
                <a:ea typeface="Aptos"/>
                <a:cs typeface="Aptos"/>
              </a:rPr>
              <a:t>Renegotiate</a:t>
            </a:r>
          </a:p>
        </p:txBody>
      </p:sp>
      <p:sp>
        <p:nvSpPr>
          <p:cNvPr id="12" name="Rectangle 11">
            <a:extLst>
              <a:ext uri="{FF2B5EF4-FFF2-40B4-BE49-F238E27FC236}">
                <a16:creationId xmlns:a16="http://schemas.microsoft.com/office/drawing/2014/main" id="{B7CF402E-7EE3-483E-A51F-73A10D172E92}"/>
              </a:ext>
            </a:extLst>
          </p:cNvPr>
          <p:cNvSpPr>
            <a:spLocks noGrp="1"/>
          </p:cNvSpPr>
          <p:nvPr/>
        </p:nvSpPr>
        <p:spPr>
          <a:xfrm>
            <a:off x="6191250" y="4410075"/>
            <a:ext cx="2638425" cy="790575"/>
          </a:xfrm>
          <a:prstGeom prst="rect">
            <a:avLst/>
          </a:prstGeom>
          <a:solidFill>
            <a:srgbClr val="EFF5F8"/>
          </a:solidFill>
          <a:ln w="12383">
            <a:solidFill>
              <a:srgbClr val="EFF5F8"/>
            </a:solidFill>
          </a:ln>
        </p:spPr>
        <p:txBody>
          <a:bodyPr/>
          <a:lstStyle/>
          <a:p>
            <a:endParaRPr lang="en-US"/>
          </a:p>
        </p:txBody>
      </p:sp>
      <p:sp>
        <p:nvSpPr>
          <p:cNvPr id="13" name="Rectangle 12">
            <a:extLst>
              <a:ext uri="{FF2B5EF4-FFF2-40B4-BE49-F238E27FC236}">
                <a16:creationId xmlns:a16="http://schemas.microsoft.com/office/drawing/2014/main" id="{702D2E53-018B-4622-A485-C606A87E8AF1}"/>
              </a:ext>
            </a:extLst>
          </p:cNvPr>
          <p:cNvSpPr>
            <a:spLocks noGrp="1"/>
          </p:cNvSpPr>
          <p:nvPr/>
        </p:nvSpPr>
        <p:spPr>
          <a:xfrm>
            <a:off x="6334125" y="4524375"/>
            <a:ext cx="2352675" cy="600075"/>
          </a:xfrm>
          <a:prstGeom prst="rect">
            <a:avLst/>
          </a:prstGeom>
          <a:noFill/>
          <a:ln w="0">
            <a:noFill/>
          </a:ln>
        </p:spPr>
        <p:txBody>
          <a:bodyPr>
            <a:noAutofit/>
          </a:bodyPr>
          <a:lstStyle/>
          <a:p>
            <a:pPr>
              <a:defRPr sz="1800" b="1">
                <a:solidFill>
                  <a:srgbClr val="102B46"/>
                </a:solidFill>
                <a:latin typeface="Aptos"/>
                <a:ea typeface="Aptos"/>
                <a:cs typeface="Aptos"/>
              </a:defRPr>
            </a:pPr>
            <a:r>
              <a:rPr sz="1800" b="1">
                <a:solidFill>
                  <a:srgbClr val="102B46"/>
                </a:solidFill>
                <a:latin typeface="Aptos"/>
                <a:ea typeface="Aptos"/>
                <a:cs typeface="Aptos"/>
              </a:rPr>
              <a:t>Consolidate</a:t>
            </a:r>
          </a:p>
        </p:txBody>
      </p:sp>
      <p:sp>
        <p:nvSpPr>
          <p:cNvPr id="14" name="Rectangle 13">
            <a:extLst>
              <a:ext uri="{FF2B5EF4-FFF2-40B4-BE49-F238E27FC236}">
                <a16:creationId xmlns:a16="http://schemas.microsoft.com/office/drawing/2014/main" id="{0471B084-6BC4-46E1-AB2B-B78462B83F03}"/>
              </a:ext>
            </a:extLst>
          </p:cNvPr>
          <p:cNvSpPr>
            <a:spLocks noGrp="1"/>
          </p:cNvSpPr>
          <p:nvPr/>
        </p:nvSpPr>
        <p:spPr>
          <a:xfrm>
            <a:off x="9020175" y="4410075"/>
            <a:ext cx="2638425" cy="790575"/>
          </a:xfrm>
          <a:prstGeom prst="rect">
            <a:avLst/>
          </a:prstGeom>
          <a:solidFill>
            <a:srgbClr val="EFF5F8"/>
          </a:solidFill>
          <a:ln w="12383">
            <a:solidFill>
              <a:srgbClr val="EFF5F8"/>
            </a:solidFill>
          </a:ln>
        </p:spPr>
        <p:txBody>
          <a:bodyPr/>
          <a:lstStyle/>
          <a:p>
            <a:endParaRPr lang="en-US"/>
          </a:p>
        </p:txBody>
      </p:sp>
      <p:sp>
        <p:nvSpPr>
          <p:cNvPr id="15" name="Rectangle 14">
            <a:extLst>
              <a:ext uri="{FF2B5EF4-FFF2-40B4-BE49-F238E27FC236}">
                <a16:creationId xmlns:a16="http://schemas.microsoft.com/office/drawing/2014/main" id="{8743244E-7F3A-41E7-92EB-D51108FF65F4}"/>
              </a:ext>
            </a:extLst>
          </p:cNvPr>
          <p:cNvSpPr>
            <a:spLocks noGrp="1"/>
          </p:cNvSpPr>
          <p:nvPr/>
        </p:nvSpPr>
        <p:spPr>
          <a:xfrm>
            <a:off x="9163050" y="4524375"/>
            <a:ext cx="2352675" cy="600075"/>
          </a:xfrm>
          <a:prstGeom prst="rect">
            <a:avLst/>
          </a:prstGeom>
          <a:noFill/>
          <a:ln w="0">
            <a:noFill/>
          </a:ln>
        </p:spPr>
        <p:txBody>
          <a:bodyPr>
            <a:noAutofit/>
          </a:bodyPr>
          <a:lstStyle/>
          <a:p>
            <a:pPr>
              <a:defRPr sz="1800" b="1">
                <a:solidFill>
                  <a:srgbClr val="102B46"/>
                </a:solidFill>
                <a:latin typeface="Aptos"/>
                <a:ea typeface="Aptos"/>
                <a:cs typeface="Aptos"/>
              </a:defRPr>
            </a:pPr>
            <a:r>
              <a:rPr sz="1800" b="1">
                <a:solidFill>
                  <a:srgbClr val="102B46"/>
                </a:solidFill>
                <a:latin typeface="Aptos"/>
                <a:ea typeface="Aptos"/>
                <a:cs typeface="Aptos"/>
              </a:rPr>
              <a:t>Reduce dependency</a:t>
            </a:r>
          </a:p>
        </p:txBody>
      </p:sp>
      <p:sp>
        <p:nvSpPr>
          <p:cNvPr id="16" name="Rectangle 15">
            <a:extLst>
              <a:ext uri="{FF2B5EF4-FFF2-40B4-BE49-F238E27FC236}">
                <a16:creationId xmlns:a16="http://schemas.microsoft.com/office/drawing/2014/main" id="{112B14A0-7A48-4D31-94A0-E01034D40B15}"/>
              </a:ext>
            </a:extLst>
          </p:cNvPr>
          <p:cNvSpPr>
            <a:spLocks noGrp="1"/>
          </p:cNvSpPr>
          <p:nvPr/>
        </p:nvSpPr>
        <p:spPr>
          <a:xfrm>
            <a:off x="533400" y="5753100"/>
            <a:ext cx="11125200" cy="428625"/>
          </a:xfrm>
          <a:prstGeom prst="rect">
            <a:avLst/>
          </a:prstGeom>
          <a:solidFill>
            <a:srgbClr val="EFF5F8"/>
          </a:solidFill>
          <a:ln w="12383">
            <a:solidFill>
              <a:srgbClr val="EFF5F8"/>
            </a:solidFill>
          </a:ln>
        </p:spPr>
        <p:txBody>
          <a:bodyPr/>
          <a:lstStyle/>
          <a:p>
            <a:endParaRPr lang="en-US"/>
          </a:p>
        </p:txBody>
      </p:sp>
      <p:sp>
        <p:nvSpPr>
          <p:cNvPr id="17" name="Rectangle 16">
            <a:extLst>
              <a:ext uri="{FF2B5EF4-FFF2-40B4-BE49-F238E27FC236}">
                <a16:creationId xmlns:a16="http://schemas.microsoft.com/office/drawing/2014/main" id="{69B0BD48-6144-44C8-B7B5-D56A654653D9}"/>
              </a:ext>
            </a:extLst>
          </p:cNvPr>
          <p:cNvSpPr>
            <a:spLocks noGrp="1"/>
          </p:cNvSpPr>
          <p:nvPr/>
        </p:nvSpPr>
        <p:spPr>
          <a:xfrm>
            <a:off x="676275" y="5867400"/>
            <a:ext cx="10839450" cy="238125"/>
          </a:xfrm>
          <a:prstGeom prst="rect">
            <a:avLst/>
          </a:prstGeom>
          <a:noFill/>
          <a:ln w="0">
            <a:noFill/>
          </a:ln>
        </p:spPr>
        <p:txBody>
          <a:bodyPr>
            <a:noAutofit/>
          </a:bodyPr>
          <a:lstStyle/>
          <a:p>
            <a:pPr>
              <a:defRPr sz="1350" b="0">
                <a:solidFill>
                  <a:srgbClr val="102B46"/>
                </a:solidFill>
                <a:latin typeface="Aptos"/>
                <a:ea typeface="Aptos"/>
                <a:cs typeface="Aptos"/>
              </a:defRPr>
            </a:pPr>
            <a:r>
              <a:rPr sz="1350" b="0">
                <a:solidFill>
                  <a:srgbClr val="102B46"/>
                </a:solidFill>
                <a:latin typeface="Aptos"/>
                <a:ea typeface="Aptos"/>
                <a:cs typeface="Aptos"/>
              </a:rPr>
              <a:t>The demo follows this single decision. The 90-day example is illustrative; Citi will approve actual renewal horizons.</a:t>
            </a:r>
          </a:p>
        </p:txBody>
      </p:sp>
    </p:spTree>
    <p:extLst>
      <p:ext uri="{BB962C8B-B14F-4D97-AF65-F5344CB8AC3E}">
        <p14:creationId xmlns:p14="http://schemas.microsoft.com/office/powerpoint/2010/main" val="6223388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2D2483D-CC87-4BDA-93A4-D09DADE12027}"/>
              </a:ext>
            </a:extLst>
          </p:cNvPr>
          <p:cNvSpPr>
            <a:spLocks noGrp="1"/>
          </p:cNvSpPr>
          <p:nvPr/>
        </p:nvSpPr>
        <p:spPr>
          <a:xfrm>
            <a:off x="0" y="0"/>
            <a:ext cx="12192000" cy="95250"/>
          </a:xfrm>
          <a:prstGeom prst="rect">
            <a:avLst/>
          </a:prstGeom>
          <a:solidFill>
            <a:srgbClr val="0067A0"/>
          </a:solidFill>
          <a:ln w="0">
            <a:noFill/>
          </a:ln>
        </p:spPr>
        <p:txBody>
          <a:bodyPr/>
          <a:lstStyle/>
          <a:p>
            <a:endParaRPr lang="en-US"/>
          </a:p>
        </p:txBody>
      </p:sp>
      <p:sp>
        <p:nvSpPr>
          <p:cNvPr id="2" name="Rectangle 1">
            <a:extLst>
              <a:ext uri="{FF2B5EF4-FFF2-40B4-BE49-F238E27FC236}">
                <a16:creationId xmlns:a16="http://schemas.microsoft.com/office/drawing/2014/main" id="{A04B650F-C7E8-43BA-A223-541B937FD62A}"/>
              </a:ext>
            </a:extLst>
          </p:cNvPr>
          <p:cNvSpPr>
            <a:spLocks noGrp="1"/>
          </p:cNvSpPr>
          <p:nvPr/>
        </p:nvSpPr>
        <p:spPr>
          <a:xfrm>
            <a:off x="533400" y="400050"/>
            <a:ext cx="11125200" cy="571500"/>
          </a:xfrm>
          <a:prstGeom prst="rect">
            <a:avLst/>
          </a:prstGeom>
          <a:noFill/>
          <a:ln w="0">
            <a:noFill/>
          </a:ln>
        </p:spPr>
        <p:txBody>
          <a:bodyPr>
            <a:noAutofit/>
          </a:bodyPr>
          <a:lstStyle/>
          <a:p>
            <a:pPr>
              <a:defRPr sz="2700" b="1">
                <a:solidFill>
                  <a:srgbClr val="102B46"/>
                </a:solidFill>
                <a:latin typeface="Aptos"/>
                <a:ea typeface="Aptos"/>
                <a:cs typeface="Aptos"/>
              </a:defRPr>
            </a:pPr>
            <a:r>
              <a:rPr sz="2700" b="1">
                <a:solidFill>
                  <a:srgbClr val="102B46"/>
                </a:solidFill>
                <a:latin typeface="Aptos"/>
                <a:ea typeface="Aptos"/>
                <a:cs typeface="Aptos"/>
              </a:rPr>
              <a:t>The business problem and desired state</a:t>
            </a:r>
          </a:p>
        </p:txBody>
      </p:sp>
      <p:sp>
        <p:nvSpPr>
          <p:cNvPr id="3" name="Rectangle 2">
            <a:extLst>
              <a:ext uri="{FF2B5EF4-FFF2-40B4-BE49-F238E27FC236}">
                <a16:creationId xmlns:a16="http://schemas.microsoft.com/office/drawing/2014/main" id="{A264EEFA-24CA-474A-AC8B-36315084B470}"/>
              </a:ext>
            </a:extLst>
          </p:cNvPr>
          <p:cNvSpPr>
            <a:spLocks noGrp="1"/>
          </p:cNvSpPr>
          <p:nvPr/>
        </p:nvSpPr>
        <p:spPr>
          <a:xfrm>
            <a:off x="533400" y="1028700"/>
            <a:ext cx="11125200" cy="504825"/>
          </a:xfrm>
          <a:prstGeom prst="rect">
            <a:avLst/>
          </a:prstGeom>
          <a:noFill/>
          <a:ln w="0">
            <a:noFill/>
          </a:ln>
        </p:spPr>
        <p:txBody>
          <a:bodyPr>
            <a:noAutofit/>
          </a:bodyPr>
          <a:lstStyle/>
          <a:p>
            <a:pPr>
              <a:defRPr sz="1425" b="0">
                <a:solidFill>
                  <a:srgbClr val="5B7080"/>
                </a:solidFill>
                <a:latin typeface="Aptos"/>
                <a:ea typeface="Aptos"/>
                <a:cs typeface="Aptos"/>
              </a:defRPr>
            </a:pPr>
            <a:r>
              <a:rPr sz="1425" b="0">
                <a:solidFill>
                  <a:srgbClr val="5B7080"/>
                </a:solidFill>
                <a:latin typeface="Aptos"/>
                <a:ea typeface="Aptos"/>
                <a:cs typeface="Aptos"/>
              </a:rPr>
              <a:t>Connected evidence lets an authorized user investigate the decision in one experience.</a:t>
            </a:r>
          </a:p>
        </p:txBody>
      </p:sp>
      <p:sp>
        <p:nvSpPr>
          <p:cNvPr id="4" name="Rectangle 3">
            <a:extLst>
              <a:ext uri="{FF2B5EF4-FFF2-40B4-BE49-F238E27FC236}">
                <a16:creationId xmlns:a16="http://schemas.microsoft.com/office/drawing/2014/main" id="{A9E6F787-F292-455D-A086-A3C1C9CEF68A}"/>
              </a:ext>
            </a:extLst>
          </p:cNvPr>
          <p:cNvSpPr>
            <a:spLocks noGrp="1"/>
          </p:cNvSpPr>
          <p:nvPr/>
        </p:nvSpPr>
        <p:spPr>
          <a:xfrm>
            <a:off x="533400" y="6381750"/>
            <a:ext cx="11125200" cy="9525"/>
          </a:xfrm>
          <a:prstGeom prst="rect">
            <a:avLst/>
          </a:prstGeom>
          <a:solidFill>
            <a:srgbClr val="CBD7DF"/>
          </a:solidFill>
          <a:ln w="0">
            <a:noFill/>
          </a:ln>
        </p:spPr>
        <p:txBody>
          <a:bodyPr/>
          <a:lstStyle/>
          <a:p>
            <a:endParaRPr lang="en-US"/>
          </a:p>
        </p:txBody>
      </p:sp>
      <p:sp>
        <p:nvSpPr>
          <p:cNvPr id="5" name="Rectangle 4">
            <a:extLst>
              <a:ext uri="{FF2B5EF4-FFF2-40B4-BE49-F238E27FC236}">
                <a16:creationId xmlns:a16="http://schemas.microsoft.com/office/drawing/2014/main" id="{E462860A-0381-4D89-BD5D-A5CD710FC81C}"/>
              </a:ext>
            </a:extLst>
          </p:cNvPr>
          <p:cNvSpPr>
            <a:spLocks noGrp="1"/>
          </p:cNvSpPr>
          <p:nvPr/>
        </p:nvSpPr>
        <p:spPr>
          <a:xfrm>
            <a:off x="533400" y="6477000"/>
            <a:ext cx="10572750" cy="190500"/>
          </a:xfrm>
          <a:prstGeom prst="rect">
            <a:avLst/>
          </a:prstGeom>
          <a:noFill/>
          <a:ln w="0">
            <a:noFill/>
          </a:ln>
        </p:spPr>
        <p:txBody>
          <a:bodyPr>
            <a:noAutofit/>
          </a:bodyPr>
          <a:lstStyle/>
          <a:p>
            <a:pPr>
              <a:defRPr sz="900" b="0">
                <a:solidFill>
                  <a:srgbClr val="5B7080"/>
                </a:solidFill>
                <a:latin typeface="Aptos"/>
                <a:ea typeface="Aptos"/>
                <a:cs typeface="Aptos"/>
              </a:defRPr>
            </a:pPr>
            <a:r>
              <a:rPr sz="900" b="0">
                <a:solidFill>
                  <a:srgbClr val="5B7080"/>
                </a:solidFill>
                <a:latin typeface="Aptos"/>
                <a:ea typeface="Aptos"/>
                <a:cs typeface="Aptos"/>
              </a:rPr>
              <a:t>COMPANY CONFIDENTIAL   •   FSD v1.0   •   §2–3, §5</a:t>
            </a:r>
          </a:p>
        </p:txBody>
      </p:sp>
      <p:sp>
        <p:nvSpPr>
          <p:cNvPr id="6" name="Rectangle 5">
            <a:extLst>
              <a:ext uri="{FF2B5EF4-FFF2-40B4-BE49-F238E27FC236}">
                <a16:creationId xmlns:a16="http://schemas.microsoft.com/office/drawing/2014/main" id="{B02194DE-6759-44B3-952E-588F8E8A6D44}"/>
              </a:ext>
            </a:extLst>
          </p:cNvPr>
          <p:cNvSpPr>
            <a:spLocks noGrp="1"/>
          </p:cNvSpPr>
          <p:nvPr/>
        </p:nvSpPr>
        <p:spPr>
          <a:xfrm>
            <a:off x="11315700" y="6477000"/>
            <a:ext cx="342900" cy="190500"/>
          </a:xfrm>
          <a:prstGeom prst="rect">
            <a:avLst/>
          </a:prstGeom>
          <a:noFill/>
          <a:ln w="0">
            <a:noFill/>
          </a:ln>
        </p:spPr>
        <p:txBody>
          <a:bodyPr>
            <a:noAutofit/>
          </a:bodyPr>
          <a:lstStyle/>
          <a:p>
            <a:pPr>
              <a:defRPr sz="975" b="1">
                <a:solidFill>
                  <a:srgbClr val="102B46"/>
                </a:solidFill>
                <a:latin typeface="Aptos"/>
                <a:ea typeface="Aptos"/>
                <a:cs typeface="Aptos"/>
              </a:defRPr>
            </a:pPr>
            <a:r>
              <a:rPr sz="975" b="1">
                <a:solidFill>
                  <a:srgbClr val="102B46"/>
                </a:solidFill>
                <a:latin typeface="Aptos"/>
                <a:ea typeface="Aptos"/>
                <a:cs typeface="Aptos"/>
              </a:rPr>
              <a:t>02</a:t>
            </a:r>
          </a:p>
        </p:txBody>
      </p:sp>
      <p:sp>
        <p:nvSpPr>
          <p:cNvPr id="7" name="Rectangle 6">
            <a:extLst>
              <a:ext uri="{FF2B5EF4-FFF2-40B4-BE49-F238E27FC236}">
                <a16:creationId xmlns:a16="http://schemas.microsoft.com/office/drawing/2014/main" id="{17FA7666-176B-4F3A-AE00-B07DDA11B61B}"/>
              </a:ext>
            </a:extLst>
          </p:cNvPr>
          <p:cNvSpPr>
            <a:spLocks noGrp="1"/>
          </p:cNvSpPr>
          <p:nvPr/>
        </p:nvSpPr>
        <p:spPr>
          <a:xfrm>
            <a:off x="533400" y="1781175"/>
            <a:ext cx="5372100" cy="3429000"/>
          </a:xfrm>
          <a:prstGeom prst="rect">
            <a:avLst/>
          </a:prstGeom>
          <a:solidFill>
            <a:srgbClr val="FFFFFF"/>
          </a:solidFill>
          <a:ln w="12383">
            <a:solidFill>
              <a:srgbClr val="CBD7DF"/>
            </a:solidFill>
          </a:ln>
        </p:spPr>
        <p:txBody>
          <a:bodyPr/>
          <a:lstStyle/>
          <a:p>
            <a:endParaRPr lang="en-US"/>
          </a:p>
        </p:txBody>
      </p:sp>
      <p:sp>
        <p:nvSpPr>
          <p:cNvPr id="8" name="Rectangle 7">
            <a:extLst>
              <a:ext uri="{FF2B5EF4-FFF2-40B4-BE49-F238E27FC236}">
                <a16:creationId xmlns:a16="http://schemas.microsoft.com/office/drawing/2014/main" id="{2DFA18E9-A584-4900-B6D1-69B9C90BE3DC}"/>
              </a:ext>
            </a:extLst>
          </p:cNvPr>
          <p:cNvSpPr>
            <a:spLocks noGrp="1"/>
          </p:cNvSpPr>
          <p:nvPr/>
        </p:nvSpPr>
        <p:spPr>
          <a:xfrm>
            <a:off x="6286500" y="1781175"/>
            <a:ext cx="5372100" cy="3429000"/>
          </a:xfrm>
          <a:prstGeom prst="rect">
            <a:avLst/>
          </a:prstGeom>
          <a:solidFill>
            <a:srgbClr val="EFF5F8"/>
          </a:solidFill>
          <a:ln w="12383">
            <a:solidFill>
              <a:srgbClr val="CBD7DF"/>
            </a:solidFill>
          </a:ln>
        </p:spPr>
        <p:txBody>
          <a:bodyPr/>
          <a:lstStyle/>
          <a:p>
            <a:endParaRPr lang="en-US"/>
          </a:p>
        </p:txBody>
      </p:sp>
      <p:sp>
        <p:nvSpPr>
          <p:cNvPr id="9" name="Rectangle 8">
            <a:extLst>
              <a:ext uri="{FF2B5EF4-FFF2-40B4-BE49-F238E27FC236}">
                <a16:creationId xmlns:a16="http://schemas.microsoft.com/office/drawing/2014/main" id="{9592F508-0D2A-4F1A-B12B-2BDCE7FE278A}"/>
              </a:ext>
            </a:extLst>
          </p:cNvPr>
          <p:cNvSpPr>
            <a:spLocks noGrp="1"/>
          </p:cNvSpPr>
          <p:nvPr/>
        </p:nvSpPr>
        <p:spPr>
          <a:xfrm>
            <a:off x="733425" y="1990725"/>
            <a:ext cx="4962525" cy="381000"/>
          </a:xfrm>
          <a:prstGeom prst="rect">
            <a:avLst/>
          </a:prstGeom>
          <a:noFill/>
          <a:ln w="0">
            <a:noFill/>
          </a:ln>
        </p:spPr>
        <p:txBody>
          <a:bodyPr>
            <a:noAutofit/>
          </a:bodyPr>
          <a:lstStyle/>
          <a:p>
            <a:pPr>
              <a:defRPr sz="1800" b="1">
                <a:solidFill>
                  <a:srgbClr val="102B46"/>
                </a:solidFill>
                <a:latin typeface="Aptos"/>
                <a:ea typeface="Aptos"/>
                <a:cs typeface="Aptos"/>
              </a:defRPr>
            </a:pPr>
            <a:r>
              <a:rPr sz="1800" b="1">
                <a:solidFill>
                  <a:srgbClr val="102B46"/>
                </a:solidFill>
                <a:latin typeface="Aptos"/>
                <a:ea typeface="Aptos"/>
                <a:cs typeface="Aptos"/>
              </a:rPr>
              <a:t>CURRENT PROBLEM</a:t>
            </a:r>
          </a:p>
        </p:txBody>
      </p:sp>
      <p:sp>
        <p:nvSpPr>
          <p:cNvPr id="10" name="Rectangle 9">
            <a:extLst>
              <a:ext uri="{FF2B5EF4-FFF2-40B4-BE49-F238E27FC236}">
                <a16:creationId xmlns:a16="http://schemas.microsoft.com/office/drawing/2014/main" id="{AF0415DA-C6BC-4E76-BFCA-7E1099414596}"/>
              </a:ext>
            </a:extLst>
          </p:cNvPr>
          <p:cNvSpPr>
            <a:spLocks noGrp="1"/>
          </p:cNvSpPr>
          <p:nvPr/>
        </p:nvSpPr>
        <p:spPr>
          <a:xfrm>
            <a:off x="733425" y="2552700"/>
            <a:ext cx="4962525" cy="1409700"/>
          </a:xfrm>
          <a:prstGeom prst="rect">
            <a:avLst/>
          </a:prstGeom>
          <a:noFill/>
          <a:ln w="0">
            <a:noFill/>
          </a:ln>
        </p:spPr>
        <p:txBody>
          <a:bodyPr>
            <a:noAutofit/>
          </a:bodyPr>
          <a:lstStyle/>
          <a:p>
            <a:pPr>
              <a:defRPr sz="1725" b="0">
                <a:solidFill>
                  <a:srgbClr val="233B4D"/>
                </a:solidFill>
                <a:latin typeface="Aptos"/>
                <a:ea typeface="Aptos"/>
                <a:cs typeface="Aptos"/>
              </a:defRPr>
            </a:pPr>
            <a:r>
              <a:rPr sz="1725" b="0">
                <a:solidFill>
                  <a:srgbClr val="233B4D"/>
                </a:solidFill>
                <a:latin typeface="Aptos"/>
                <a:ea typeface="Aptos"/>
                <a:cs typeface="Aptos"/>
              </a:rPr>
              <a:t>Citi lacks a single decision-intelligence view that connects vendor commercial data, spend, workforce, technology dependencies, risks, performance and organizational ownership.</a:t>
            </a:r>
          </a:p>
        </p:txBody>
      </p:sp>
      <p:sp>
        <p:nvSpPr>
          <p:cNvPr id="11" name="Rectangle 10">
            <a:extLst>
              <a:ext uri="{FF2B5EF4-FFF2-40B4-BE49-F238E27FC236}">
                <a16:creationId xmlns:a16="http://schemas.microsoft.com/office/drawing/2014/main" id="{45791B01-9973-4F24-B529-7E6CF203BC20}"/>
              </a:ext>
            </a:extLst>
          </p:cNvPr>
          <p:cNvSpPr>
            <a:spLocks noGrp="1"/>
          </p:cNvSpPr>
          <p:nvPr/>
        </p:nvSpPr>
        <p:spPr>
          <a:xfrm>
            <a:off x="733425" y="4171950"/>
            <a:ext cx="4962525" cy="819150"/>
          </a:xfrm>
          <a:prstGeom prst="rect">
            <a:avLst/>
          </a:prstGeom>
          <a:noFill/>
          <a:ln w="0">
            <a:noFill/>
          </a:ln>
        </p:spPr>
        <p:txBody>
          <a:bodyPr>
            <a:noAutofit/>
          </a:bodyPr>
          <a:lstStyle/>
          <a:p>
            <a:pPr>
              <a:defRPr sz="1875" b="1">
                <a:solidFill>
                  <a:srgbClr val="0067A0"/>
                </a:solidFill>
                <a:latin typeface="Aptos"/>
                <a:ea typeface="Aptos"/>
                <a:cs typeface="Aptos"/>
              </a:defRPr>
            </a:pPr>
            <a:r>
              <a:rPr sz="1875" b="1">
                <a:solidFill>
                  <a:srgbClr val="0067A0"/>
                </a:solidFill>
                <a:latin typeface="Aptos"/>
                <a:ea typeface="Aptos"/>
                <a:cs typeface="Aptos"/>
              </a:rPr>
              <a:t>Users manually gather and reconcile fragmented facts before making vendor decisions.</a:t>
            </a:r>
          </a:p>
        </p:txBody>
      </p:sp>
      <p:sp>
        <p:nvSpPr>
          <p:cNvPr id="12" name="Rectangle 11">
            <a:extLst>
              <a:ext uri="{FF2B5EF4-FFF2-40B4-BE49-F238E27FC236}">
                <a16:creationId xmlns:a16="http://schemas.microsoft.com/office/drawing/2014/main" id="{F2F14C8B-C2BE-440F-8733-BE70B2E11EBA}"/>
              </a:ext>
            </a:extLst>
          </p:cNvPr>
          <p:cNvSpPr>
            <a:spLocks noGrp="1"/>
          </p:cNvSpPr>
          <p:nvPr/>
        </p:nvSpPr>
        <p:spPr>
          <a:xfrm>
            <a:off x="6486525" y="1990725"/>
            <a:ext cx="4962525" cy="381000"/>
          </a:xfrm>
          <a:prstGeom prst="rect">
            <a:avLst/>
          </a:prstGeom>
          <a:noFill/>
          <a:ln w="0">
            <a:noFill/>
          </a:ln>
        </p:spPr>
        <p:txBody>
          <a:bodyPr>
            <a:noAutofit/>
          </a:bodyPr>
          <a:lstStyle/>
          <a:p>
            <a:pPr>
              <a:defRPr sz="1800" b="1">
                <a:solidFill>
                  <a:srgbClr val="102B46"/>
                </a:solidFill>
                <a:latin typeface="Aptos"/>
                <a:ea typeface="Aptos"/>
                <a:cs typeface="Aptos"/>
              </a:defRPr>
            </a:pPr>
            <a:r>
              <a:rPr sz="1800" b="1">
                <a:solidFill>
                  <a:srgbClr val="102B46"/>
                </a:solidFill>
                <a:latin typeface="Aptos"/>
                <a:ea typeface="Aptos"/>
                <a:cs typeface="Aptos"/>
              </a:rPr>
              <a:t>DESIRED STATE</a:t>
            </a:r>
          </a:p>
        </p:txBody>
      </p:sp>
      <p:sp>
        <p:nvSpPr>
          <p:cNvPr id="13" name="Rectangle 12">
            <a:extLst>
              <a:ext uri="{FF2B5EF4-FFF2-40B4-BE49-F238E27FC236}">
                <a16:creationId xmlns:a16="http://schemas.microsoft.com/office/drawing/2014/main" id="{2193D12F-7D84-49BC-8A04-BFE36B6936B7}"/>
              </a:ext>
            </a:extLst>
          </p:cNvPr>
          <p:cNvSpPr>
            <a:spLocks noGrp="1"/>
          </p:cNvSpPr>
          <p:nvPr/>
        </p:nvSpPr>
        <p:spPr>
          <a:xfrm>
            <a:off x="6486525" y="2552700"/>
            <a:ext cx="4962525" cy="1647825"/>
          </a:xfrm>
          <a:prstGeom prst="rect">
            <a:avLst/>
          </a:prstGeom>
          <a:noFill/>
          <a:ln w="0">
            <a:noFill/>
          </a:ln>
        </p:spPr>
        <p:txBody>
          <a:bodyPr>
            <a:noAutofit/>
          </a:bodyPr>
          <a:lstStyle/>
          <a:p>
            <a:pPr>
              <a:defRPr sz="1800" b="0">
                <a:solidFill>
                  <a:srgbClr val="233B4D"/>
                </a:solidFill>
                <a:latin typeface="Aptos"/>
                <a:ea typeface="Aptos"/>
                <a:cs typeface="Aptos"/>
              </a:defRPr>
            </a:pPr>
            <a:r>
              <a:rPr sz="1800" b="0">
                <a:solidFill>
                  <a:srgbClr val="233B4D"/>
                </a:solidFill>
                <a:latin typeface="Aptos"/>
                <a:ea typeface="Aptos"/>
                <a:cs typeface="Aptos"/>
              </a:rPr>
              <a:t>An authorized user can ask a business question, obtain a connected and evidence-backed answer, understand dependencies and risks, simulate changes, and receive explainable decision options.</a:t>
            </a:r>
          </a:p>
        </p:txBody>
      </p:sp>
      <p:sp>
        <p:nvSpPr>
          <p:cNvPr id="14" name="Rectangle 13">
            <a:extLst>
              <a:ext uri="{FF2B5EF4-FFF2-40B4-BE49-F238E27FC236}">
                <a16:creationId xmlns:a16="http://schemas.microsoft.com/office/drawing/2014/main" id="{2F8A34E0-2A4B-4D76-B8E3-596ACCDAC06C}"/>
              </a:ext>
            </a:extLst>
          </p:cNvPr>
          <p:cNvSpPr>
            <a:spLocks noGrp="1"/>
          </p:cNvSpPr>
          <p:nvPr/>
        </p:nvSpPr>
        <p:spPr>
          <a:xfrm>
            <a:off x="6486525" y="4400550"/>
            <a:ext cx="4962525" cy="638175"/>
          </a:xfrm>
          <a:prstGeom prst="rect">
            <a:avLst/>
          </a:prstGeom>
          <a:noFill/>
          <a:ln w="0">
            <a:noFill/>
          </a:ln>
        </p:spPr>
        <p:txBody>
          <a:bodyPr>
            <a:noAutofit/>
          </a:bodyPr>
          <a:lstStyle/>
          <a:p>
            <a:pPr>
              <a:defRPr sz="1950" b="1">
                <a:solidFill>
                  <a:srgbClr val="0067A0"/>
                </a:solidFill>
                <a:latin typeface="Aptos"/>
                <a:ea typeface="Aptos"/>
                <a:cs typeface="Aptos"/>
              </a:defRPr>
            </a:pPr>
            <a:r>
              <a:rPr sz="1950" b="1">
                <a:solidFill>
                  <a:srgbClr val="0067A0"/>
                </a:solidFill>
                <a:latin typeface="Aptos"/>
                <a:ea typeface="Aptos"/>
                <a:cs typeface="Aptos"/>
              </a:rPr>
              <a:t>The final decision stays with a human.</a:t>
            </a:r>
          </a:p>
        </p:txBody>
      </p:sp>
      <p:sp>
        <p:nvSpPr>
          <p:cNvPr id="15" name="Rectangle 14">
            <a:extLst>
              <a:ext uri="{FF2B5EF4-FFF2-40B4-BE49-F238E27FC236}">
                <a16:creationId xmlns:a16="http://schemas.microsoft.com/office/drawing/2014/main" id="{17A67B8F-6073-4B34-9B86-8700DF9D00E7}"/>
              </a:ext>
            </a:extLst>
          </p:cNvPr>
          <p:cNvSpPr>
            <a:spLocks noGrp="1"/>
          </p:cNvSpPr>
          <p:nvPr/>
        </p:nvSpPr>
        <p:spPr>
          <a:xfrm>
            <a:off x="533400" y="5753100"/>
            <a:ext cx="11125200" cy="428625"/>
          </a:xfrm>
          <a:prstGeom prst="rect">
            <a:avLst/>
          </a:prstGeom>
          <a:solidFill>
            <a:srgbClr val="EFF5F8"/>
          </a:solidFill>
          <a:ln w="12383">
            <a:solidFill>
              <a:srgbClr val="EFF5F8"/>
            </a:solidFill>
          </a:ln>
        </p:spPr>
        <p:txBody>
          <a:bodyPr/>
          <a:lstStyle/>
          <a:p>
            <a:endParaRPr lang="en-US"/>
          </a:p>
        </p:txBody>
      </p:sp>
      <p:sp>
        <p:nvSpPr>
          <p:cNvPr id="16" name="Rectangle 15">
            <a:extLst>
              <a:ext uri="{FF2B5EF4-FFF2-40B4-BE49-F238E27FC236}">
                <a16:creationId xmlns:a16="http://schemas.microsoft.com/office/drawing/2014/main" id="{402223E7-22C0-4669-8BD7-33A2257E18C4}"/>
              </a:ext>
            </a:extLst>
          </p:cNvPr>
          <p:cNvSpPr>
            <a:spLocks noGrp="1"/>
          </p:cNvSpPr>
          <p:nvPr/>
        </p:nvSpPr>
        <p:spPr>
          <a:xfrm>
            <a:off x="676275" y="5867400"/>
            <a:ext cx="10839450" cy="238125"/>
          </a:xfrm>
          <a:prstGeom prst="rect">
            <a:avLst/>
          </a:prstGeom>
          <a:noFill/>
          <a:ln w="0">
            <a:noFill/>
          </a:ln>
        </p:spPr>
        <p:txBody>
          <a:bodyPr>
            <a:noAutofit/>
          </a:bodyPr>
          <a:lstStyle/>
          <a:p>
            <a:pPr>
              <a:defRPr sz="1350" b="0">
                <a:solidFill>
                  <a:srgbClr val="102B46"/>
                </a:solidFill>
                <a:latin typeface="Aptos"/>
                <a:ea typeface="Aptos"/>
                <a:cs typeface="Aptos"/>
              </a:defRPr>
            </a:pPr>
            <a:r>
              <a:rPr sz="1350" b="0">
                <a:solidFill>
                  <a:srgbClr val="102B46"/>
                </a:solidFill>
                <a:latin typeface="Aptos"/>
                <a:ea typeface="Aptos"/>
                <a:cs typeface="Aptos"/>
              </a:rPr>
              <a:t>Decisions supported: renewals / concentration risk / supplier rationalization / spend variance / vendor changes.</a:t>
            </a:r>
          </a:p>
        </p:txBody>
      </p:sp>
    </p:spTree>
    <p:extLst>
      <p:ext uri="{BB962C8B-B14F-4D97-AF65-F5344CB8AC3E}">
        <p14:creationId xmlns:p14="http://schemas.microsoft.com/office/powerpoint/2010/main" val="5996562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FAE24754-6705-493B-96F0-756F461A4275}"/>
              </a:ext>
            </a:extLst>
          </p:cNvPr>
          <p:cNvSpPr>
            <a:spLocks noGrp="1"/>
          </p:cNvSpPr>
          <p:nvPr/>
        </p:nvSpPr>
        <p:spPr>
          <a:xfrm>
            <a:off x="0" y="0"/>
            <a:ext cx="12192000" cy="95250"/>
          </a:xfrm>
          <a:prstGeom prst="rect">
            <a:avLst/>
          </a:prstGeom>
          <a:solidFill>
            <a:srgbClr val="0067A0"/>
          </a:solidFill>
          <a:ln w="0">
            <a:noFill/>
          </a:ln>
        </p:spPr>
        <p:txBody>
          <a:bodyPr/>
          <a:lstStyle/>
          <a:p>
            <a:endParaRPr lang="en-US"/>
          </a:p>
        </p:txBody>
      </p:sp>
      <p:sp>
        <p:nvSpPr>
          <p:cNvPr id="2" name="Rectangle 1">
            <a:extLst>
              <a:ext uri="{FF2B5EF4-FFF2-40B4-BE49-F238E27FC236}">
                <a16:creationId xmlns:a16="http://schemas.microsoft.com/office/drawing/2014/main" id="{457B0577-DEDD-4005-BDCA-097E53A7174B}"/>
              </a:ext>
            </a:extLst>
          </p:cNvPr>
          <p:cNvSpPr>
            <a:spLocks noGrp="1"/>
          </p:cNvSpPr>
          <p:nvPr/>
        </p:nvSpPr>
        <p:spPr>
          <a:xfrm>
            <a:off x="533400" y="400050"/>
            <a:ext cx="11125200" cy="571500"/>
          </a:xfrm>
          <a:prstGeom prst="rect">
            <a:avLst/>
          </a:prstGeom>
          <a:noFill/>
          <a:ln w="0">
            <a:noFill/>
          </a:ln>
        </p:spPr>
        <p:txBody>
          <a:bodyPr>
            <a:noAutofit/>
          </a:bodyPr>
          <a:lstStyle/>
          <a:p>
            <a:pPr>
              <a:defRPr sz="2700" b="1">
                <a:solidFill>
                  <a:srgbClr val="102B46"/>
                </a:solidFill>
                <a:latin typeface="Aptos"/>
                <a:ea typeface="Aptos"/>
                <a:cs typeface="Aptos"/>
              </a:defRPr>
            </a:pPr>
            <a:r>
              <a:rPr sz="2700" b="1">
                <a:solidFill>
                  <a:srgbClr val="102B46"/>
                </a:solidFill>
                <a:latin typeface="Aptos"/>
                <a:ea typeface="Aptos"/>
                <a:cs typeface="Aptos"/>
              </a:rPr>
              <a:t>Vendor 360 connects the evidence behind the decision</a:t>
            </a:r>
          </a:p>
        </p:txBody>
      </p:sp>
      <p:sp>
        <p:nvSpPr>
          <p:cNvPr id="3" name="Rectangle 2">
            <a:extLst>
              <a:ext uri="{FF2B5EF4-FFF2-40B4-BE49-F238E27FC236}">
                <a16:creationId xmlns:a16="http://schemas.microsoft.com/office/drawing/2014/main" id="{87CD36D8-3803-4819-B5AB-0DD31299267B}"/>
              </a:ext>
            </a:extLst>
          </p:cNvPr>
          <p:cNvSpPr>
            <a:spLocks noGrp="1"/>
          </p:cNvSpPr>
          <p:nvPr/>
        </p:nvSpPr>
        <p:spPr>
          <a:xfrm>
            <a:off x="533400" y="1028700"/>
            <a:ext cx="11125200" cy="504825"/>
          </a:xfrm>
          <a:prstGeom prst="rect">
            <a:avLst/>
          </a:prstGeom>
          <a:noFill/>
          <a:ln w="0">
            <a:noFill/>
          </a:ln>
        </p:spPr>
        <p:txBody>
          <a:bodyPr>
            <a:noAutofit/>
          </a:bodyPr>
          <a:lstStyle/>
          <a:p>
            <a:pPr>
              <a:defRPr sz="1425" b="0">
                <a:solidFill>
                  <a:srgbClr val="5B7080"/>
                </a:solidFill>
                <a:latin typeface="Aptos"/>
                <a:ea typeface="Aptos"/>
                <a:cs typeface="Aptos"/>
              </a:defRPr>
            </a:pPr>
            <a:r>
              <a:rPr sz="1425" b="0">
                <a:solidFill>
                  <a:srgbClr val="5B7080"/>
                </a:solidFill>
                <a:latin typeface="Aptos"/>
                <a:ea typeface="Aptos"/>
                <a:cs typeface="Aptos"/>
              </a:rPr>
              <a:t>One mastered vendor identity links commercial, operational and ownership records.</a:t>
            </a:r>
          </a:p>
        </p:txBody>
      </p:sp>
      <p:sp>
        <p:nvSpPr>
          <p:cNvPr id="4" name="Rectangle 3">
            <a:extLst>
              <a:ext uri="{FF2B5EF4-FFF2-40B4-BE49-F238E27FC236}">
                <a16:creationId xmlns:a16="http://schemas.microsoft.com/office/drawing/2014/main" id="{A79D4E2F-1FB8-47D4-8B34-6D55350F78FD}"/>
              </a:ext>
            </a:extLst>
          </p:cNvPr>
          <p:cNvSpPr>
            <a:spLocks noGrp="1"/>
          </p:cNvSpPr>
          <p:nvPr/>
        </p:nvSpPr>
        <p:spPr>
          <a:xfrm>
            <a:off x="533400" y="6381750"/>
            <a:ext cx="11125200" cy="9525"/>
          </a:xfrm>
          <a:prstGeom prst="rect">
            <a:avLst/>
          </a:prstGeom>
          <a:solidFill>
            <a:srgbClr val="CBD7DF"/>
          </a:solidFill>
          <a:ln w="0">
            <a:noFill/>
          </a:ln>
        </p:spPr>
        <p:txBody>
          <a:bodyPr/>
          <a:lstStyle/>
          <a:p>
            <a:endParaRPr lang="en-US"/>
          </a:p>
        </p:txBody>
      </p:sp>
      <p:sp>
        <p:nvSpPr>
          <p:cNvPr id="5" name="Rectangle 4">
            <a:extLst>
              <a:ext uri="{FF2B5EF4-FFF2-40B4-BE49-F238E27FC236}">
                <a16:creationId xmlns:a16="http://schemas.microsoft.com/office/drawing/2014/main" id="{09FF1EBC-6A9D-4675-91EB-DCCD4E82BF2A}"/>
              </a:ext>
            </a:extLst>
          </p:cNvPr>
          <p:cNvSpPr>
            <a:spLocks noGrp="1"/>
          </p:cNvSpPr>
          <p:nvPr/>
        </p:nvSpPr>
        <p:spPr>
          <a:xfrm>
            <a:off x="533400" y="6477000"/>
            <a:ext cx="10572750" cy="190500"/>
          </a:xfrm>
          <a:prstGeom prst="rect">
            <a:avLst/>
          </a:prstGeom>
          <a:noFill/>
          <a:ln w="0">
            <a:noFill/>
          </a:ln>
        </p:spPr>
        <p:txBody>
          <a:bodyPr>
            <a:noAutofit/>
          </a:bodyPr>
          <a:lstStyle/>
          <a:p>
            <a:pPr>
              <a:defRPr sz="900" b="0">
                <a:solidFill>
                  <a:srgbClr val="5B7080"/>
                </a:solidFill>
                <a:latin typeface="Aptos"/>
                <a:ea typeface="Aptos"/>
                <a:cs typeface="Aptos"/>
              </a:defRPr>
            </a:pPr>
            <a:r>
              <a:rPr sz="900" b="0">
                <a:solidFill>
                  <a:srgbClr val="5B7080"/>
                </a:solidFill>
                <a:latin typeface="Aptos"/>
                <a:ea typeface="Aptos"/>
                <a:cs typeface="Aptos"/>
              </a:rPr>
              <a:t>COMPANY CONFIDENTIAL   •   FSD v1.0   •   §4, §8, §10.3</a:t>
            </a:r>
          </a:p>
        </p:txBody>
      </p:sp>
      <p:sp>
        <p:nvSpPr>
          <p:cNvPr id="6" name="Rectangle 5">
            <a:extLst>
              <a:ext uri="{FF2B5EF4-FFF2-40B4-BE49-F238E27FC236}">
                <a16:creationId xmlns:a16="http://schemas.microsoft.com/office/drawing/2014/main" id="{62C1069E-277C-4AAB-A695-18B807A57CB3}"/>
              </a:ext>
            </a:extLst>
          </p:cNvPr>
          <p:cNvSpPr>
            <a:spLocks noGrp="1"/>
          </p:cNvSpPr>
          <p:nvPr/>
        </p:nvSpPr>
        <p:spPr>
          <a:xfrm>
            <a:off x="11315700" y="6477000"/>
            <a:ext cx="342900" cy="190500"/>
          </a:xfrm>
          <a:prstGeom prst="rect">
            <a:avLst/>
          </a:prstGeom>
          <a:noFill/>
          <a:ln w="0">
            <a:noFill/>
          </a:ln>
        </p:spPr>
        <p:txBody>
          <a:bodyPr>
            <a:noAutofit/>
          </a:bodyPr>
          <a:lstStyle/>
          <a:p>
            <a:pPr>
              <a:defRPr sz="975" b="1">
                <a:solidFill>
                  <a:srgbClr val="102B46"/>
                </a:solidFill>
                <a:latin typeface="Aptos"/>
                <a:ea typeface="Aptos"/>
                <a:cs typeface="Aptos"/>
              </a:defRPr>
            </a:pPr>
            <a:r>
              <a:rPr sz="975" b="1">
                <a:solidFill>
                  <a:srgbClr val="102B46"/>
                </a:solidFill>
                <a:latin typeface="Aptos"/>
                <a:ea typeface="Aptos"/>
                <a:cs typeface="Aptos"/>
              </a:rPr>
              <a:t>03</a:t>
            </a:r>
          </a:p>
        </p:txBody>
      </p:sp>
      <p:sp>
        <p:nvSpPr>
          <p:cNvPr id="7" name="Rectangle 6">
            <a:extLst>
              <a:ext uri="{FF2B5EF4-FFF2-40B4-BE49-F238E27FC236}">
                <a16:creationId xmlns:a16="http://schemas.microsoft.com/office/drawing/2014/main" id="{41355383-CA31-43E4-9835-41FB920B453A}"/>
              </a:ext>
            </a:extLst>
          </p:cNvPr>
          <p:cNvSpPr>
            <a:spLocks noGrp="1"/>
          </p:cNvSpPr>
          <p:nvPr/>
        </p:nvSpPr>
        <p:spPr>
          <a:xfrm>
            <a:off x="533400" y="1762125"/>
            <a:ext cx="3267075" cy="1009650"/>
          </a:xfrm>
          <a:prstGeom prst="rect">
            <a:avLst/>
          </a:prstGeom>
          <a:solidFill>
            <a:srgbClr val="FFFFFF"/>
          </a:solidFill>
          <a:ln w="12383">
            <a:solidFill>
              <a:srgbClr val="CBD7DF"/>
            </a:solidFill>
          </a:ln>
        </p:spPr>
        <p:txBody>
          <a:bodyPr/>
          <a:lstStyle/>
          <a:p>
            <a:endParaRPr lang="en-US"/>
          </a:p>
        </p:txBody>
      </p:sp>
      <p:sp>
        <p:nvSpPr>
          <p:cNvPr id="8" name="Rectangle 7">
            <a:extLst>
              <a:ext uri="{FF2B5EF4-FFF2-40B4-BE49-F238E27FC236}">
                <a16:creationId xmlns:a16="http://schemas.microsoft.com/office/drawing/2014/main" id="{C8914011-8B12-4C2C-91B6-A2F79A4A7F9B}"/>
              </a:ext>
            </a:extLst>
          </p:cNvPr>
          <p:cNvSpPr>
            <a:spLocks noGrp="1"/>
          </p:cNvSpPr>
          <p:nvPr/>
        </p:nvSpPr>
        <p:spPr>
          <a:xfrm>
            <a:off x="533400" y="1762125"/>
            <a:ext cx="47625" cy="1009650"/>
          </a:xfrm>
          <a:prstGeom prst="rect">
            <a:avLst/>
          </a:prstGeom>
          <a:solidFill>
            <a:srgbClr val="078B8C"/>
          </a:solidFill>
          <a:ln w="0">
            <a:noFill/>
          </a:ln>
        </p:spPr>
        <p:txBody>
          <a:bodyPr/>
          <a:lstStyle/>
          <a:p>
            <a:endParaRPr lang="en-US"/>
          </a:p>
        </p:txBody>
      </p:sp>
      <p:sp>
        <p:nvSpPr>
          <p:cNvPr id="9" name="Rectangle 8">
            <a:extLst>
              <a:ext uri="{FF2B5EF4-FFF2-40B4-BE49-F238E27FC236}">
                <a16:creationId xmlns:a16="http://schemas.microsoft.com/office/drawing/2014/main" id="{BDB8B9FE-6AC1-4465-8D20-07206FE212C2}"/>
              </a:ext>
            </a:extLst>
          </p:cNvPr>
          <p:cNvSpPr>
            <a:spLocks noGrp="1"/>
          </p:cNvSpPr>
          <p:nvPr/>
        </p:nvSpPr>
        <p:spPr>
          <a:xfrm>
            <a:off x="723900" y="1905000"/>
            <a:ext cx="2886075"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Commercial</a:t>
            </a:r>
          </a:p>
        </p:txBody>
      </p:sp>
      <p:sp>
        <p:nvSpPr>
          <p:cNvPr id="10" name="Rectangle 9">
            <a:extLst>
              <a:ext uri="{FF2B5EF4-FFF2-40B4-BE49-F238E27FC236}">
                <a16:creationId xmlns:a16="http://schemas.microsoft.com/office/drawing/2014/main" id="{706D0DDA-4144-4B59-96B1-326E73A22647}"/>
              </a:ext>
            </a:extLst>
          </p:cNvPr>
          <p:cNvSpPr>
            <a:spLocks noGrp="1"/>
          </p:cNvSpPr>
          <p:nvPr/>
        </p:nvSpPr>
        <p:spPr>
          <a:xfrm>
            <a:off x="723900" y="2314575"/>
            <a:ext cx="2886075" cy="352425"/>
          </a:xfrm>
          <a:prstGeom prst="rect">
            <a:avLst/>
          </a:prstGeom>
          <a:noFill/>
          <a:ln w="0">
            <a:noFill/>
          </a:ln>
        </p:spPr>
        <p:txBody>
          <a:bodyPr>
            <a:noAutofit/>
          </a:bodyPr>
          <a:lstStyle/>
          <a:p>
            <a:pPr>
              <a:defRPr sz="1350" b="0">
                <a:solidFill>
                  <a:srgbClr val="233B4D"/>
                </a:solidFill>
                <a:latin typeface="Aptos"/>
                <a:ea typeface="Aptos"/>
                <a:cs typeface="Aptos"/>
              </a:defRPr>
            </a:pPr>
            <a:r>
              <a:rPr sz="1350" b="0">
                <a:solidFill>
                  <a:srgbClr val="233B4D"/>
                </a:solidFill>
                <a:latin typeface="Aptos"/>
                <a:ea typeface="Aptos"/>
                <a:cs typeface="Aptos"/>
              </a:rPr>
              <a:t>Contracts / SOWs / clauses</a:t>
            </a:r>
          </a:p>
        </p:txBody>
      </p:sp>
      <p:sp>
        <p:nvSpPr>
          <p:cNvPr id="11" name="Rectangle 10">
            <a:extLst>
              <a:ext uri="{FF2B5EF4-FFF2-40B4-BE49-F238E27FC236}">
                <a16:creationId xmlns:a16="http://schemas.microsoft.com/office/drawing/2014/main" id="{F597B1AC-68ED-4DF1-8E0F-4C57DFCCCE7E}"/>
              </a:ext>
            </a:extLst>
          </p:cNvPr>
          <p:cNvSpPr>
            <a:spLocks noGrp="1"/>
          </p:cNvSpPr>
          <p:nvPr/>
        </p:nvSpPr>
        <p:spPr>
          <a:xfrm>
            <a:off x="3800475" y="2257425"/>
            <a:ext cx="485775" cy="28575"/>
          </a:xfrm>
          <a:prstGeom prst="rect">
            <a:avLst/>
          </a:prstGeom>
          <a:solidFill>
            <a:srgbClr val="078B8C"/>
          </a:solidFill>
          <a:ln w="0">
            <a:noFill/>
          </a:ln>
        </p:spPr>
        <p:txBody>
          <a:bodyPr/>
          <a:lstStyle/>
          <a:p>
            <a:endParaRPr lang="en-US"/>
          </a:p>
        </p:txBody>
      </p:sp>
      <p:sp>
        <p:nvSpPr>
          <p:cNvPr id="12" name="Rectangle 11">
            <a:extLst>
              <a:ext uri="{FF2B5EF4-FFF2-40B4-BE49-F238E27FC236}">
                <a16:creationId xmlns:a16="http://schemas.microsoft.com/office/drawing/2014/main" id="{819AB07A-DBA6-42AC-9384-595D5E553D58}"/>
              </a:ext>
            </a:extLst>
          </p:cNvPr>
          <p:cNvSpPr>
            <a:spLocks noGrp="1"/>
          </p:cNvSpPr>
          <p:nvPr/>
        </p:nvSpPr>
        <p:spPr>
          <a:xfrm>
            <a:off x="533400" y="2952750"/>
            <a:ext cx="3267075" cy="1009650"/>
          </a:xfrm>
          <a:prstGeom prst="rect">
            <a:avLst/>
          </a:prstGeom>
          <a:solidFill>
            <a:srgbClr val="FFFFFF"/>
          </a:solidFill>
          <a:ln w="12383">
            <a:solidFill>
              <a:srgbClr val="CBD7DF"/>
            </a:solidFill>
          </a:ln>
        </p:spPr>
        <p:txBody>
          <a:bodyPr/>
          <a:lstStyle/>
          <a:p>
            <a:endParaRPr lang="en-US"/>
          </a:p>
        </p:txBody>
      </p:sp>
      <p:sp>
        <p:nvSpPr>
          <p:cNvPr id="13" name="Rectangle 12">
            <a:extLst>
              <a:ext uri="{FF2B5EF4-FFF2-40B4-BE49-F238E27FC236}">
                <a16:creationId xmlns:a16="http://schemas.microsoft.com/office/drawing/2014/main" id="{83BBCBEC-0FA0-4CA4-ABFD-B492660D198A}"/>
              </a:ext>
            </a:extLst>
          </p:cNvPr>
          <p:cNvSpPr>
            <a:spLocks noGrp="1"/>
          </p:cNvSpPr>
          <p:nvPr/>
        </p:nvSpPr>
        <p:spPr>
          <a:xfrm>
            <a:off x="533400" y="2952750"/>
            <a:ext cx="47625" cy="1009650"/>
          </a:xfrm>
          <a:prstGeom prst="rect">
            <a:avLst/>
          </a:prstGeom>
          <a:solidFill>
            <a:srgbClr val="078B8C"/>
          </a:solidFill>
          <a:ln w="0">
            <a:noFill/>
          </a:ln>
        </p:spPr>
        <p:txBody>
          <a:bodyPr/>
          <a:lstStyle/>
          <a:p>
            <a:endParaRPr lang="en-US"/>
          </a:p>
        </p:txBody>
      </p:sp>
      <p:sp>
        <p:nvSpPr>
          <p:cNvPr id="14" name="Rectangle 13">
            <a:extLst>
              <a:ext uri="{FF2B5EF4-FFF2-40B4-BE49-F238E27FC236}">
                <a16:creationId xmlns:a16="http://schemas.microsoft.com/office/drawing/2014/main" id="{840A38F0-4696-43E3-A6B1-B6EECA2A3445}"/>
              </a:ext>
            </a:extLst>
          </p:cNvPr>
          <p:cNvSpPr>
            <a:spLocks noGrp="1"/>
          </p:cNvSpPr>
          <p:nvPr/>
        </p:nvSpPr>
        <p:spPr>
          <a:xfrm>
            <a:off x="723900" y="3095625"/>
            <a:ext cx="2886075"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Financial</a:t>
            </a:r>
          </a:p>
        </p:txBody>
      </p:sp>
      <p:sp>
        <p:nvSpPr>
          <p:cNvPr id="15" name="Rectangle 14">
            <a:extLst>
              <a:ext uri="{FF2B5EF4-FFF2-40B4-BE49-F238E27FC236}">
                <a16:creationId xmlns:a16="http://schemas.microsoft.com/office/drawing/2014/main" id="{6C2E2939-6945-4CD9-B2C6-3991AB678E92}"/>
              </a:ext>
            </a:extLst>
          </p:cNvPr>
          <p:cNvSpPr>
            <a:spLocks noGrp="1"/>
          </p:cNvSpPr>
          <p:nvPr/>
        </p:nvSpPr>
        <p:spPr>
          <a:xfrm>
            <a:off x="723900" y="3505200"/>
            <a:ext cx="2886075" cy="352425"/>
          </a:xfrm>
          <a:prstGeom prst="rect">
            <a:avLst/>
          </a:prstGeom>
          <a:noFill/>
          <a:ln w="0">
            <a:noFill/>
          </a:ln>
        </p:spPr>
        <p:txBody>
          <a:bodyPr>
            <a:noAutofit/>
          </a:bodyPr>
          <a:lstStyle/>
          <a:p>
            <a:pPr>
              <a:defRPr sz="1350" b="0">
                <a:solidFill>
                  <a:srgbClr val="233B4D"/>
                </a:solidFill>
                <a:latin typeface="Aptos"/>
                <a:ea typeface="Aptos"/>
                <a:cs typeface="Aptos"/>
              </a:defRPr>
            </a:pPr>
            <a:r>
              <a:rPr sz="1350" b="0">
                <a:solidFill>
                  <a:srgbClr val="233B4D"/>
                </a:solidFill>
                <a:latin typeface="Aptos"/>
                <a:ea typeface="Aptos"/>
                <a:cs typeface="Aptos"/>
              </a:rPr>
              <a:t>Actual / forecast / currency</a:t>
            </a:r>
          </a:p>
        </p:txBody>
      </p:sp>
      <p:sp>
        <p:nvSpPr>
          <p:cNvPr id="16" name="Rectangle 15">
            <a:extLst>
              <a:ext uri="{FF2B5EF4-FFF2-40B4-BE49-F238E27FC236}">
                <a16:creationId xmlns:a16="http://schemas.microsoft.com/office/drawing/2014/main" id="{54872463-2407-4DF0-AED5-82F8A07998CC}"/>
              </a:ext>
            </a:extLst>
          </p:cNvPr>
          <p:cNvSpPr>
            <a:spLocks noGrp="1"/>
          </p:cNvSpPr>
          <p:nvPr/>
        </p:nvSpPr>
        <p:spPr>
          <a:xfrm>
            <a:off x="3800475" y="3448050"/>
            <a:ext cx="485775" cy="28575"/>
          </a:xfrm>
          <a:prstGeom prst="rect">
            <a:avLst/>
          </a:prstGeom>
          <a:solidFill>
            <a:srgbClr val="078B8C"/>
          </a:solidFill>
          <a:ln w="0">
            <a:noFill/>
          </a:ln>
        </p:spPr>
        <p:txBody>
          <a:bodyPr/>
          <a:lstStyle/>
          <a:p>
            <a:endParaRPr lang="en-US"/>
          </a:p>
        </p:txBody>
      </p:sp>
      <p:sp>
        <p:nvSpPr>
          <p:cNvPr id="17" name="Rectangle 16">
            <a:extLst>
              <a:ext uri="{FF2B5EF4-FFF2-40B4-BE49-F238E27FC236}">
                <a16:creationId xmlns:a16="http://schemas.microsoft.com/office/drawing/2014/main" id="{1BD9606A-0EBA-4167-BF6D-6534BAD10BF8}"/>
              </a:ext>
            </a:extLst>
          </p:cNvPr>
          <p:cNvSpPr>
            <a:spLocks noGrp="1"/>
          </p:cNvSpPr>
          <p:nvPr/>
        </p:nvSpPr>
        <p:spPr>
          <a:xfrm>
            <a:off x="533400" y="4143375"/>
            <a:ext cx="3267075" cy="1009650"/>
          </a:xfrm>
          <a:prstGeom prst="rect">
            <a:avLst/>
          </a:prstGeom>
          <a:solidFill>
            <a:srgbClr val="FFFFFF"/>
          </a:solidFill>
          <a:ln w="12383">
            <a:solidFill>
              <a:srgbClr val="CBD7DF"/>
            </a:solidFill>
          </a:ln>
        </p:spPr>
        <p:txBody>
          <a:bodyPr/>
          <a:lstStyle/>
          <a:p>
            <a:endParaRPr lang="en-US"/>
          </a:p>
        </p:txBody>
      </p:sp>
      <p:sp>
        <p:nvSpPr>
          <p:cNvPr id="18" name="Rectangle 17">
            <a:extLst>
              <a:ext uri="{FF2B5EF4-FFF2-40B4-BE49-F238E27FC236}">
                <a16:creationId xmlns:a16="http://schemas.microsoft.com/office/drawing/2014/main" id="{F759F2D2-3987-4F1C-AD05-91E922C10014}"/>
              </a:ext>
            </a:extLst>
          </p:cNvPr>
          <p:cNvSpPr>
            <a:spLocks noGrp="1"/>
          </p:cNvSpPr>
          <p:nvPr/>
        </p:nvSpPr>
        <p:spPr>
          <a:xfrm>
            <a:off x="533400" y="4143375"/>
            <a:ext cx="47625" cy="1009650"/>
          </a:xfrm>
          <a:prstGeom prst="rect">
            <a:avLst/>
          </a:prstGeom>
          <a:solidFill>
            <a:srgbClr val="078B8C"/>
          </a:solidFill>
          <a:ln w="0">
            <a:noFill/>
          </a:ln>
        </p:spPr>
        <p:txBody>
          <a:bodyPr/>
          <a:lstStyle/>
          <a:p>
            <a:endParaRPr lang="en-US"/>
          </a:p>
        </p:txBody>
      </p:sp>
      <p:sp>
        <p:nvSpPr>
          <p:cNvPr id="19" name="Rectangle 18">
            <a:extLst>
              <a:ext uri="{FF2B5EF4-FFF2-40B4-BE49-F238E27FC236}">
                <a16:creationId xmlns:a16="http://schemas.microsoft.com/office/drawing/2014/main" id="{2B8CE1BE-7E92-45F4-BBC8-60D5CA722743}"/>
              </a:ext>
            </a:extLst>
          </p:cNvPr>
          <p:cNvSpPr>
            <a:spLocks noGrp="1"/>
          </p:cNvSpPr>
          <p:nvPr/>
        </p:nvSpPr>
        <p:spPr>
          <a:xfrm>
            <a:off x="723900" y="4286250"/>
            <a:ext cx="2886075"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People</a:t>
            </a:r>
          </a:p>
        </p:txBody>
      </p:sp>
      <p:sp>
        <p:nvSpPr>
          <p:cNvPr id="20" name="Rectangle 19">
            <a:extLst>
              <a:ext uri="{FF2B5EF4-FFF2-40B4-BE49-F238E27FC236}">
                <a16:creationId xmlns:a16="http://schemas.microsoft.com/office/drawing/2014/main" id="{39413EB3-F59E-4752-9643-911399A1401D}"/>
              </a:ext>
            </a:extLst>
          </p:cNvPr>
          <p:cNvSpPr>
            <a:spLocks noGrp="1"/>
          </p:cNvSpPr>
          <p:nvPr/>
        </p:nvSpPr>
        <p:spPr>
          <a:xfrm>
            <a:off x="723900" y="4695825"/>
            <a:ext cx="2886075" cy="352425"/>
          </a:xfrm>
          <a:prstGeom prst="rect">
            <a:avLst/>
          </a:prstGeom>
          <a:noFill/>
          <a:ln w="0">
            <a:noFill/>
          </a:ln>
        </p:spPr>
        <p:txBody>
          <a:bodyPr>
            <a:noAutofit/>
          </a:bodyPr>
          <a:lstStyle/>
          <a:p>
            <a:pPr>
              <a:defRPr sz="1350" b="0">
                <a:solidFill>
                  <a:srgbClr val="233B4D"/>
                </a:solidFill>
                <a:latin typeface="Aptos"/>
                <a:ea typeface="Aptos"/>
                <a:cs typeface="Aptos"/>
              </a:defRPr>
            </a:pPr>
            <a:r>
              <a:rPr sz="1350" b="0">
                <a:solidFill>
                  <a:srgbClr val="233B4D"/>
                </a:solidFill>
                <a:latin typeface="Aptos"/>
                <a:ea typeface="Aptos"/>
                <a:cs typeface="Aptos"/>
              </a:rPr>
              <a:t>Assignments / roles / teams</a:t>
            </a:r>
          </a:p>
        </p:txBody>
      </p:sp>
      <p:sp>
        <p:nvSpPr>
          <p:cNvPr id="21" name="Rectangle 20">
            <a:extLst>
              <a:ext uri="{FF2B5EF4-FFF2-40B4-BE49-F238E27FC236}">
                <a16:creationId xmlns:a16="http://schemas.microsoft.com/office/drawing/2014/main" id="{79D7BA4A-E167-4EC1-A4CC-1B9D2D925E41}"/>
              </a:ext>
            </a:extLst>
          </p:cNvPr>
          <p:cNvSpPr>
            <a:spLocks noGrp="1"/>
          </p:cNvSpPr>
          <p:nvPr/>
        </p:nvSpPr>
        <p:spPr>
          <a:xfrm>
            <a:off x="3800475" y="4638675"/>
            <a:ext cx="485775" cy="28575"/>
          </a:xfrm>
          <a:prstGeom prst="rect">
            <a:avLst/>
          </a:prstGeom>
          <a:solidFill>
            <a:srgbClr val="078B8C"/>
          </a:solidFill>
          <a:ln w="0">
            <a:noFill/>
          </a:ln>
        </p:spPr>
        <p:txBody>
          <a:bodyPr/>
          <a:lstStyle/>
          <a:p>
            <a:endParaRPr lang="en-US"/>
          </a:p>
        </p:txBody>
      </p:sp>
      <p:sp>
        <p:nvSpPr>
          <p:cNvPr id="22" name="Rectangle 21">
            <a:extLst>
              <a:ext uri="{FF2B5EF4-FFF2-40B4-BE49-F238E27FC236}">
                <a16:creationId xmlns:a16="http://schemas.microsoft.com/office/drawing/2014/main" id="{3ECDD81E-EAC6-443F-860A-9C3EA57133BC}"/>
              </a:ext>
            </a:extLst>
          </p:cNvPr>
          <p:cNvSpPr>
            <a:spLocks noGrp="1"/>
          </p:cNvSpPr>
          <p:nvPr/>
        </p:nvSpPr>
        <p:spPr>
          <a:xfrm>
            <a:off x="8391525" y="1762125"/>
            <a:ext cx="3267075" cy="1009650"/>
          </a:xfrm>
          <a:prstGeom prst="rect">
            <a:avLst/>
          </a:prstGeom>
          <a:solidFill>
            <a:srgbClr val="FFFFFF"/>
          </a:solidFill>
          <a:ln w="12383">
            <a:solidFill>
              <a:srgbClr val="CBD7DF"/>
            </a:solidFill>
          </a:ln>
        </p:spPr>
        <p:txBody>
          <a:bodyPr/>
          <a:lstStyle/>
          <a:p>
            <a:endParaRPr lang="en-US"/>
          </a:p>
        </p:txBody>
      </p:sp>
      <p:sp>
        <p:nvSpPr>
          <p:cNvPr id="23" name="Rectangle 22">
            <a:extLst>
              <a:ext uri="{FF2B5EF4-FFF2-40B4-BE49-F238E27FC236}">
                <a16:creationId xmlns:a16="http://schemas.microsoft.com/office/drawing/2014/main" id="{2233FB29-F8E1-4E2E-A3DF-60DEAAE44475}"/>
              </a:ext>
            </a:extLst>
          </p:cNvPr>
          <p:cNvSpPr>
            <a:spLocks noGrp="1"/>
          </p:cNvSpPr>
          <p:nvPr/>
        </p:nvSpPr>
        <p:spPr>
          <a:xfrm>
            <a:off x="8391525" y="1762125"/>
            <a:ext cx="47625" cy="1009650"/>
          </a:xfrm>
          <a:prstGeom prst="rect">
            <a:avLst/>
          </a:prstGeom>
          <a:solidFill>
            <a:srgbClr val="078B8C"/>
          </a:solidFill>
          <a:ln w="0">
            <a:noFill/>
          </a:ln>
        </p:spPr>
        <p:txBody>
          <a:bodyPr/>
          <a:lstStyle/>
          <a:p>
            <a:endParaRPr lang="en-US"/>
          </a:p>
        </p:txBody>
      </p:sp>
      <p:sp>
        <p:nvSpPr>
          <p:cNvPr id="24" name="Rectangle 23">
            <a:extLst>
              <a:ext uri="{FF2B5EF4-FFF2-40B4-BE49-F238E27FC236}">
                <a16:creationId xmlns:a16="http://schemas.microsoft.com/office/drawing/2014/main" id="{8399D449-983B-47A8-894C-6C319DF57E31}"/>
              </a:ext>
            </a:extLst>
          </p:cNvPr>
          <p:cNvSpPr>
            <a:spLocks noGrp="1"/>
          </p:cNvSpPr>
          <p:nvPr/>
        </p:nvSpPr>
        <p:spPr>
          <a:xfrm>
            <a:off x="8582025" y="1905000"/>
            <a:ext cx="2886075"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Technology</a:t>
            </a:r>
          </a:p>
        </p:txBody>
      </p:sp>
      <p:sp>
        <p:nvSpPr>
          <p:cNvPr id="25" name="Rectangle 24">
            <a:extLst>
              <a:ext uri="{FF2B5EF4-FFF2-40B4-BE49-F238E27FC236}">
                <a16:creationId xmlns:a16="http://schemas.microsoft.com/office/drawing/2014/main" id="{28D46B2E-B6FB-491C-A8A5-38BA6706BF11}"/>
              </a:ext>
            </a:extLst>
          </p:cNvPr>
          <p:cNvSpPr>
            <a:spLocks noGrp="1"/>
          </p:cNvSpPr>
          <p:nvPr/>
        </p:nvSpPr>
        <p:spPr>
          <a:xfrm>
            <a:off x="8582025" y="2314575"/>
            <a:ext cx="2886075" cy="352425"/>
          </a:xfrm>
          <a:prstGeom prst="rect">
            <a:avLst/>
          </a:prstGeom>
          <a:noFill/>
          <a:ln w="0">
            <a:noFill/>
          </a:ln>
        </p:spPr>
        <p:txBody>
          <a:bodyPr>
            <a:noAutofit/>
          </a:bodyPr>
          <a:lstStyle/>
          <a:p>
            <a:pPr>
              <a:defRPr sz="1350" b="0">
                <a:solidFill>
                  <a:srgbClr val="233B4D"/>
                </a:solidFill>
                <a:latin typeface="Aptos"/>
                <a:ea typeface="Aptos"/>
                <a:cs typeface="Aptos"/>
              </a:defRPr>
            </a:pPr>
            <a:r>
              <a:rPr sz="1350" b="0">
                <a:solidFill>
                  <a:srgbClr val="233B4D"/>
                </a:solidFill>
                <a:latin typeface="Aptos"/>
                <a:ea typeface="Aptos"/>
                <a:cs typeface="Aptos"/>
              </a:rPr>
              <a:t>Services / apps / products</a:t>
            </a:r>
          </a:p>
        </p:txBody>
      </p:sp>
      <p:sp>
        <p:nvSpPr>
          <p:cNvPr id="26" name="Rectangle 25">
            <a:extLst>
              <a:ext uri="{FF2B5EF4-FFF2-40B4-BE49-F238E27FC236}">
                <a16:creationId xmlns:a16="http://schemas.microsoft.com/office/drawing/2014/main" id="{DD8E17FC-2611-405B-AD93-A2D4A319103A}"/>
              </a:ext>
            </a:extLst>
          </p:cNvPr>
          <p:cNvSpPr>
            <a:spLocks noGrp="1"/>
          </p:cNvSpPr>
          <p:nvPr/>
        </p:nvSpPr>
        <p:spPr>
          <a:xfrm>
            <a:off x="7905750" y="2257425"/>
            <a:ext cx="485775" cy="28575"/>
          </a:xfrm>
          <a:prstGeom prst="rect">
            <a:avLst/>
          </a:prstGeom>
          <a:solidFill>
            <a:srgbClr val="078B8C"/>
          </a:solidFill>
          <a:ln w="0">
            <a:noFill/>
          </a:ln>
        </p:spPr>
        <p:txBody>
          <a:bodyPr/>
          <a:lstStyle/>
          <a:p>
            <a:endParaRPr lang="en-US"/>
          </a:p>
        </p:txBody>
      </p:sp>
      <p:sp>
        <p:nvSpPr>
          <p:cNvPr id="27" name="Rectangle 26">
            <a:extLst>
              <a:ext uri="{FF2B5EF4-FFF2-40B4-BE49-F238E27FC236}">
                <a16:creationId xmlns:a16="http://schemas.microsoft.com/office/drawing/2014/main" id="{C539A922-A2F8-4B93-8765-E5F9C528BB51}"/>
              </a:ext>
            </a:extLst>
          </p:cNvPr>
          <p:cNvSpPr>
            <a:spLocks noGrp="1"/>
          </p:cNvSpPr>
          <p:nvPr/>
        </p:nvSpPr>
        <p:spPr>
          <a:xfrm>
            <a:off x="8391525" y="2952750"/>
            <a:ext cx="3267075" cy="1009650"/>
          </a:xfrm>
          <a:prstGeom prst="rect">
            <a:avLst/>
          </a:prstGeom>
          <a:solidFill>
            <a:srgbClr val="FFFFFF"/>
          </a:solidFill>
          <a:ln w="12383">
            <a:solidFill>
              <a:srgbClr val="CBD7DF"/>
            </a:solidFill>
          </a:ln>
        </p:spPr>
        <p:txBody>
          <a:bodyPr/>
          <a:lstStyle/>
          <a:p>
            <a:endParaRPr lang="en-US"/>
          </a:p>
        </p:txBody>
      </p:sp>
      <p:sp>
        <p:nvSpPr>
          <p:cNvPr id="28" name="Rectangle 27">
            <a:extLst>
              <a:ext uri="{FF2B5EF4-FFF2-40B4-BE49-F238E27FC236}">
                <a16:creationId xmlns:a16="http://schemas.microsoft.com/office/drawing/2014/main" id="{09B5124E-F296-427C-863E-12EE3500CA93}"/>
              </a:ext>
            </a:extLst>
          </p:cNvPr>
          <p:cNvSpPr>
            <a:spLocks noGrp="1"/>
          </p:cNvSpPr>
          <p:nvPr/>
        </p:nvSpPr>
        <p:spPr>
          <a:xfrm>
            <a:off x="8391525" y="2952750"/>
            <a:ext cx="47625" cy="1009650"/>
          </a:xfrm>
          <a:prstGeom prst="rect">
            <a:avLst/>
          </a:prstGeom>
          <a:solidFill>
            <a:srgbClr val="078B8C"/>
          </a:solidFill>
          <a:ln w="0">
            <a:noFill/>
          </a:ln>
        </p:spPr>
        <p:txBody>
          <a:bodyPr/>
          <a:lstStyle/>
          <a:p>
            <a:endParaRPr lang="en-US"/>
          </a:p>
        </p:txBody>
      </p:sp>
      <p:sp>
        <p:nvSpPr>
          <p:cNvPr id="29" name="Rectangle 28">
            <a:extLst>
              <a:ext uri="{FF2B5EF4-FFF2-40B4-BE49-F238E27FC236}">
                <a16:creationId xmlns:a16="http://schemas.microsoft.com/office/drawing/2014/main" id="{96E8F73A-3158-4D23-B83D-85C7B8914638}"/>
              </a:ext>
            </a:extLst>
          </p:cNvPr>
          <p:cNvSpPr>
            <a:spLocks noGrp="1"/>
          </p:cNvSpPr>
          <p:nvPr/>
        </p:nvSpPr>
        <p:spPr>
          <a:xfrm>
            <a:off x="8582025" y="3095625"/>
            <a:ext cx="2886075"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Risk and performance</a:t>
            </a:r>
          </a:p>
        </p:txBody>
      </p:sp>
      <p:sp>
        <p:nvSpPr>
          <p:cNvPr id="30" name="Rectangle 29">
            <a:extLst>
              <a:ext uri="{FF2B5EF4-FFF2-40B4-BE49-F238E27FC236}">
                <a16:creationId xmlns:a16="http://schemas.microsoft.com/office/drawing/2014/main" id="{F04163C0-DEC1-447E-BA39-87D6017E8661}"/>
              </a:ext>
            </a:extLst>
          </p:cNvPr>
          <p:cNvSpPr>
            <a:spLocks noGrp="1"/>
          </p:cNvSpPr>
          <p:nvPr/>
        </p:nvSpPr>
        <p:spPr>
          <a:xfrm>
            <a:off x="8582025" y="3505200"/>
            <a:ext cx="2886075" cy="352425"/>
          </a:xfrm>
          <a:prstGeom prst="rect">
            <a:avLst/>
          </a:prstGeom>
          <a:noFill/>
          <a:ln w="0">
            <a:noFill/>
          </a:ln>
        </p:spPr>
        <p:txBody>
          <a:bodyPr>
            <a:noAutofit/>
          </a:bodyPr>
          <a:lstStyle/>
          <a:p>
            <a:pPr>
              <a:defRPr sz="1350" b="0">
                <a:solidFill>
                  <a:srgbClr val="233B4D"/>
                </a:solidFill>
                <a:latin typeface="Aptos"/>
                <a:ea typeface="Aptos"/>
                <a:cs typeface="Aptos"/>
              </a:defRPr>
            </a:pPr>
            <a:r>
              <a:rPr sz="1350" b="0">
                <a:solidFill>
                  <a:srgbClr val="233B4D"/>
                </a:solidFill>
                <a:latin typeface="Aptos"/>
                <a:ea typeface="Aptos"/>
                <a:cs typeface="Aptos"/>
              </a:rPr>
              <a:t>Assessments / issues / SLA</a:t>
            </a:r>
          </a:p>
        </p:txBody>
      </p:sp>
      <p:sp>
        <p:nvSpPr>
          <p:cNvPr id="31" name="Rectangle 30">
            <a:extLst>
              <a:ext uri="{FF2B5EF4-FFF2-40B4-BE49-F238E27FC236}">
                <a16:creationId xmlns:a16="http://schemas.microsoft.com/office/drawing/2014/main" id="{7AF0A0DF-01A1-4698-8AEE-29D28F9516BE}"/>
              </a:ext>
            </a:extLst>
          </p:cNvPr>
          <p:cNvSpPr>
            <a:spLocks noGrp="1"/>
          </p:cNvSpPr>
          <p:nvPr/>
        </p:nvSpPr>
        <p:spPr>
          <a:xfrm>
            <a:off x="7905750" y="3448050"/>
            <a:ext cx="485775" cy="28575"/>
          </a:xfrm>
          <a:prstGeom prst="rect">
            <a:avLst/>
          </a:prstGeom>
          <a:solidFill>
            <a:srgbClr val="078B8C"/>
          </a:solidFill>
          <a:ln w="0">
            <a:noFill/>
          </a:ln>
        </p:spPr>
        <p:txBody>
          <a:bodyPr/>
          <a:lstStyle/>
          <a:p>
            <a:endParaRPr lang="en-US"/>
          </a:p>
        </p:txBody>
      </p:sp>
      <p:sp>
        <p:nvSpPr>
          <p:cNvPr id="32" name="Rectangle 31">
            <a:extLst>
              <a:ext uri="{FF2B5EF4-FFF2-40B4-BE49-F238E27FC236}">
                <a16:creationId xmlns:a16="http://schemas.microsoft.com/office/drawing/2014/main" id="{C418ABC4-9764-40BE-AC8E-03783F5F0F2E}"/>
              </a:ext>
            </a:extLst>
          </p:cNvPr>
          <p:cNvSpPr>
            <a:spLocks noGrp="1"/>
          </p:cNvSpPr>
          <p:nvPr/>
        </p:nvSpPr>
        <p:spPr>
          <a:xfrm>
            <a:off x="8391525" y="4143375"/>
            <a:ext cx="3267075" cy="1009650"/>
          </a:xfrm>
          <a:prstGeom prst="rect">
            <a:avLst/>
          </a:prstGeom>
          <a:solidFill>
            <a:srgbClr val="FFFFFF"/>
          </a:solidFill>
          <a:ln w="12383">
            <a:solidFill>
              <a:srgbClr val="CBD7DF"/>
            </a:solidFill>
          </a:ln>
        </p:spPr>
        <p:txBody>
          <a:bodyPr/>
          <a:lstStyle/>
          <a:p>
            <a:endParaRPr lang="en-US"/>
          </a:p>
        </p:txBody>
      </p:sp>
      <p:sp>
        <p:nvSpPr>
          <p:cNvPr id="33" name="Rectangle 32">
            <a:extLst>
              <a:ext uri="{FF2B5EF4-FFF2-40B4-BE49-F238E27FC236}">
                <a16:creationId xmlns:a16="http://schemas.microsoft.com/office/drawing/2014/main" id="{9271E09E-2B6C-438C-99CE-29248B326330}"/>
              </a:ext>
            </a:extLst>
          </p:cNvPr>
          <p:cNvSpPr>
            <a:spLocks noGrp="1"/>
          </p:cNvSpPr>
          <p:nvPr/>
        </p:nvSpPr>
        <p:spPr>
          <a:xfrm>
            <a:off x="8391525" y="4143375"/>
            <a:ext cx="47625" cy="1009650"/>
          </a:xfrm>
          <a:prstGeom prst="rect">
            <a:avLst/>
          </a:prstGeom>
          <a:solidFill>
            <a:srgbClr val="078B8C"/>
          </a:solidFill>
          <a:ln w="0">
            <a:noFill/>
          </a:ln>
        </p:spPr>
        <p:txBody>
          <a:bodyPr/>
          <a:lstStyle/>
          <a:p>
            <a:endParaRPr lang="en-US"/>
          </a:p>
        </p:txBody>
      </p:sp>
      <p:sp>
        <p:nvSpPr>
          <p:cNvPr id="34" name="Rectangle 33">
            <a:extLst>
              <a:ext uri="{FF2B5EF4-FFF2-40B4-BE49-F238E27FC236}">
                <a16:creationId xmlns:a16="http://schemas.microsoft.com/office/drawing/2014/main" id="{A48DB173-4832-4D71-AE52-D9D76CBE65BB}"/>
              </a:ext>
            </a:extLst>
          </p:cNvPr>
          <p:cNvSpPr>
            <a:spLocks noGrp="1"/>
          </p:cNvSpPr>
          <p:nvPr/>
        </p:nvSpPr>
        <p:spPr>
          <a:xfrm>
            <a:off x="8582025" y="4286250"/>
            <a:ext cx="2886075"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Ownership</a:t>
            </a:r>
          </a:p>
        </p:txBody>
      </p:sp>
      <p:sp>
        <p:nvSpPr>
          <p:cNvPr id="35" name="Rectangle 34">
            <a:extLst>
              <a:ext uri="{FF2B5EF4-FFF2-40B4-BE49-F238E27FC236}">
                <a16:creationId xmlns:a16="http://schemas.microsoft.com/office/drawing/2014/main" id="{E2213869-21E7-4602-AE28-DB2DF4DF2D97}"/>
              </a:ext>
            </a:extLst>
          </p:cNvPr>
          <p:cNvSpPr>
            <a:spLocks noGrp="1"/>
          </p:cNvSpPr>
          <p:nvPr/>
        </p:nvSpPr>
        <p:spPr>
          <a:xfrm>
            <a:off x="8582025" y="4695825"/>
            <a:ext cx="2886075" cy="352425"/>
          </a:xfrm>
          <a:prstGeom prst="rect">
            <a:avLst/>
          </a:prstGeom>
          <a:noFill/>
          <a:ln w="0">
            <a:noFill/>
          </a:ln>
        </p:spPr>
        <p:txBody>
          <a:bodyPr>
            <a:noAutofit/>
          </a:bodyPr>
          <a:lstStyle/>
          <a:p>
            <a:pPr>
              <a:defRPr sz="1350" b="0">
                <a:solidFill>
                  <a:srgbClr val="233B4D"/>
                </a:solidFill>
                <a:latin typeface="Aptos"/>
                <a:ea typeface="Aptos"/>
                <a:cs typeface="Aptos"/>
              </a:defRPr>
            </a:pPr>
            <a:r>
              <a:rPr sz="1350" b="0">
                <a:solidFill>
                  <a:srgbClr val="233B4D"/>
                </a:solidFill>
                <a:latin typeface="Aptos"/>
                <a:ea typeface="Aptos"/>
                <a:cs typeface="Aptos"/>
              </a:rPr>
              <a:t>Business / technology / sourcing</a:t>
            </a:r>
          </a:p>
        </p:txBody>
      </p:sp>
      <p:sp>
        <p:nvSpPr>
          <p:cNvPr id="36" name="Rectangle 35">
            <a:extLst>
              <a:ext uri="{FF2B5EF4-FFF2-40B4-BE49-F238E27FC236}">
                <a16:creationId xmlns:a16="http://schemas.microsoft.com/office/drawing/2014/main" id="{7578392F-703E-471F-9B40-D9955113A173}"/>
              </a:ext>
            </a:extLst>
          </p:cNvPr>
          <p:cNvSpPr>
            <a:spLocks noGrp="1"/>
          </p:cNvSpPr>
          <p:nvPr/>
        </p:nvSpPr>
        <p:spPr>
          <a:xfrm>
            <a:off x="7905750" y="4638675"/>
            <a:ext cx="485775" cy="28575"/>
          </a:xfrm>
          <a:prstGeom prst="rect">
            <a:avLst/>
          </a:prstGeom>
          <a:solidFill>
            <a:srgbClr val="078B8C"/>
          </a:solidFill>
          <a:ln w="0">
            <a:noFill/>
          </a:ln>
        </p:spPr>
        <p:txBody>
          <a:bodyPr/>
          <a:lstStyle/>
          <a:p>
            <a:endParaRPr lang="en-US"/>
          </a:p>
        </p:txBody>
      </p:sp>
      <p:sp>
        <p:nvSpPr>
          <p:cNvPr id="37" name="Rectangle 36">
            <a:extLst>
              <a:ext uri="{FF2B5EF4-FFF2-40B4-BE49-F238E27FC236}">
                <a16:creationId xmlns:a16="http://schemas.microsoft.com/office/drawing/2014/main" id="{E8B5DD43-CEDF-4E90-BAEC-7C3079ED7DC2}"/>
              </a:ext>
            </a:extLst>
          </p:cNvPr>
          <p:cNvSpPr>
            <a:spLocks noGrp="1"/>
          </p:cNvSpPr>
          <p:nvPr/>
        </p:nvSpPr>
        <p:spPr>
          <a:xfrm>
            <a:off x="4286250" y="2257425"/>
            <a:ext cx="28575" cy="2390775"/>
          </a:xfrm>
          <a:prstGeom prst="rect">
            <a:avLst/>
          </a:prstGeom>
          <a:solidFill>
            <a:srgbClr val="078B8C"/>
          </a:solidFill>
          <a:ln w="0">
            <a:noFill/>
          </a:ln>
        </p:spPr>
        <p:txBody>
          <a:bodyPr/>
          <a:lstStyle/>
          <a:p>
            <a:endParaRPr lang="en-US"/>
          </a:p>
        </p:txBody>
      </p:sp>
      <p:sp>
        <p:nvSpPr>
          <p:cNvPr id="38" name="Rectangle 37">
            <a:extLst>
              <a:ext uri="{FF2B5EF4-FFF2-40B4-BE49-F238E27FC236}">
                <a16:creationId xmlns:a16="http://schemas.microsoft.com/office/drawing/2014/main" id="{9E1A5881-BFE9-45FE-AD64-E0BB127C4158}"/>
              </a:ext>
            </a:extLst>
          </p:cNvPr>
          <p:cNvSpPr>
            <a:spLocks noGrp="1"/>
          </p:cNvSpPr>
          <p:nvPr/>
        </p:nvSpPr>
        <p:spPr>
          <a:xfrm>
            <a:off x="7905750" y="2257425"/>
            <a:ext cx="28575" cy="2390775"/>
          </a:xfrm>
          <a:prstGeom prst="rect">
            <a:avLst/>
          </a:prstGeom>
          <a:solidFill>
            <a:srgbClr val="078B8C"/>
          </a:solidFill>
          <a:ln w="0">
            <a:noFill/>
          </a:ln>
        </p:spPr>
        <p:txBody>
          <a:bodyPr/>
          <a:lstStyle/>
          <a:p>
            <a:endParaRPr lang="en-US"/>
          </a:p>
        </p:txBody>
      </p:sp>
      <p:sp>
        <p:nvSpPr>
          <p:cNvPr id="39" name="Rectangle 38">
            <a:extLst>
              <a:ext uri="{FF2B5EF4-FFF2-40B4-BE49-F238E27FC236}">
                <a16:creationId xmlns:a16="http://schemas.microsoft.com/office/drawing/2014/main" id="{FAEB2038-D45F-419C-8C61-A18FE544299C}"/>
              </a:ext>
            </a:extLst>
          </p:cNvPr>
          <p:cNvSpPr>
            <a:spLocks noGrp="1"/>
          </p:cNvSpPr>
          <p:nvPr/>
        </p:nvSpPr>
        <p:spPr>
          <a:xfrm>
            <a:off x="4286250" y="3467100"/>
            <a:ext cx="276225" cy="28575"/>
          </a:xfrm>
          <a:prstGeom prst="rect">
            <a:avLst/>
          </a:prstGeom>
          <a:solidFill>
            <a:srgbClr val="078B8C"/>
          </a:solidFill>
          <a:ln w="0">
            <a:noFill/>
          </a:ln>
        </p:spPr>
        <p:txBody>
          <a:bodyPr/>
          <a:lstStyle/>
          <a:p>
            <a:endParaRPr lang="en-US"/>
          </a:p>
        </p:txBody>
      </p:sp>
      <p:sp>
        <p:nvSpPr>
          <p:cNvPr id="40" name="Rectangle 39">
            <a:extLst>
              <a:ext uri="{FF2B5EF4-FFF2-40B4-BE49-F238E27FC236}">
                <a16:creationId xmlns:a16="http://schemas.microsoft.com/office/drawing/2014/main" id="{BDC45BA5-0388-4DE6-B6CC-F3E5B8D2D0BC}"/>
              </a:ext>
            </a:extLst>
          </p:cNvPr>
          <p:cNvSpPr>
            <a:spLocks noGrp="1"/>
          </p:cNvSpPr>
          <p:nvPr/>
        </p:nvSpPr>
        <p:spPr>
          <a:xfrm>
            <a:off x="7629525" y="3467100"/>
            <a:ext cx="276225" cy="28575"/>
          </a:xfrm>
          <a:prstGeom prst="rect">
            <a:avLst/>
          </a:prstGeom>
          <a:solidFill>
            <a:srgbClr val="078B8C"/>
          </a:solidFill>
          <a:ln w="0">
            <a:noFill/>
          </a:ln>
        </p:spPr>
        <p:txBody>
          <a:bodyPr/>
          <a:lstStyle/>
          <a:p>
            <a:endParaRPr lang="en-US"/>
          </a:p>
        </p:txBody>
      </p:sp>
      <p:sp>
        <p:nvSpPr>
          <p:cNvPr id="41" name="Rectangle 40">
            <a:extLst>
              <a:ext uri="{FF2B5EF4-FFF2-40B4-BE49-F238E27FC236}">
                <a16:creationId xmlns:a16="http://schemas.microsoft.com/office/drawing/2014/main" id="{C2AD51BE-78C7-4D6A-9C46-3BCE3C188133}"/>
              </a:ext>
            </a:extLst>
          </p:cNvPr>
          <p:cNvSpPr>
            <a:spLocks noGrp="1"/>
          </p:cNvSpPr>
          <p:nvPr/>
        </p:nvSpPr>
        <p:spPr>
          <a:xfrm>
            <a:off x="4562475" y="2781300"/>
            <a:ext cx="3067050" cy="1247775"/>
          </a:xfrm>
          <a:prstGeom prst="rect">
            <a:avLst/>
          </a:prstGeom>
          <a:solidFill>
            <a:srgbClr val="0067A0"/>
          </a:solidFill>
          <a:ln w="12383">
            <a:solidFill>
              <a:srgbClr val="0067A0"/>
            </a:solidFill>
          </a:ln>
        </p:spPr>
        <p:txBody>
          <a:bodyPr/>
          <a:lstStyle/>
          <a:p>
            <a:endParaRPr lang="en-US"/>
          </a:p>
        </p:txBody>
      </p:sp>
      <p:sp>
        <p:nvSpPr>
          <p:cNvPr id="42" name="Rectangle 41">
            <a:extLst>
              <a:ext uri="{FF2B5EF4-FFF2-40B4-BE49-F238E27FC236}">
                <a16:creationId xmlns:a16="http://schemas.microsoft.com/office/drawing/2014/main" id="{65F0380E-7E9A-4AA2-8E4F-6514781BBF41}"/>
              </a:ext>
            </a:extLst>
          </p:cNvPr>
          <p:cNvSpPr>
            <a:spLocks noGrp="1"/>
          </p:cNvSpPr>
          <p:nvPr/>
        </p:nvSpPr>
        <p:spPr>
          <a:xfrm>
            <a:off x="4705350" y="2895600"/>
            <a:ext cx="2781300" cy="1057275"/>
          </a:xfrm>
          <a:prstGeom prst="rect">
            <a:avLst/>
          </a:prstGeom>
          <a:noFill/>
          <a:ln w="0">
            <a:noFill/>
          </a:ln>
        </p:spPr>
        <p:txBody>
          <a:bodyPr>
            <a:noAutofit/>
          </a:bodyPr>
          <a:lstStyle/>
          <a:p>
            <a:pPr>
              <a:defRPr sz="2400" b="1">
                <a:solidFill>
                  <a:srgbClr val="FFFFFF"/>
                </a:solidFill>
                <a:latin typeface="Aptos"/>
                <a:ea typeface="Aptos"/>
                <a:cs typeface="Aptos"/>
              </a:defRPr>
            </a:pPr>
            <a:r>
              <a:rPr sz="2400" b="1">
                <a:solidFill>
                  <a:srgbClr val="FFFFFF"/>
                </a:solidFill>
                <a:latin typeface="Aptos"/>
                <a:ea typeface="Aptos"/>
                <a:cs typeface="Aptos"/>
              </a:rPr>
              <a:t>TRUSTED</a:t>
            </a:r>
          </a:p>
          <a:p>
            <a:pPr>
              <a:defRPr sz="2400" b="1">
                <a:solidFill>
                  <a:srgbClr val="FFFFFF"/>
                </a:solidFill>
                <a:latin typeface="Aptos"/>
                <a:ea typeface="Aptos"/>
                <a:cs typeface="Aptos"/>
              </a:defRPr>
            </a:pPr>
            <a:r>
              <a:rPr sz="2400" b="1">
                <a:solidFill>
                  <a:srgbClr val="FFFFFF"/>
                </a:solidFill>
                <a:latin typeface="Aptos"/>
                <a:ea typeface="Aptos"/>
                <a:cs typeface="Aptos"/>
              </a:rPr>
              <a:t>VENDOR 360</a:t>
            </a:r>
          </a:p>
        </p:txBody>
      </p:sp>
      <p:sp>
        <p:nvSpPr>
          <p:cNvPr id="43" name="Rectangle 42">
            <a:extLst>
              <a:ext uri="{FF2B5EF4-FFF2-40B4-BE49-F238E27FC236}">
                <a16:creationId xmlns:a16="http://schemas.microsoft.com/office/drawing/2014/main" id="{4A83704D-D7C1-4089-80C0-A622FCA07597}"/>
              </a:ext>
            </a:extLst>
          </p:cNvPr>
          <p:cNvSpPr>
            <a:spLocks noGrp="1"/>
          </p:cNvSpPr>
          <p:nvPr/>
        </p:nvSpPr>
        <p:spPr>
          <a:xfrm>
            <a:off x="533400" y="5753100"/>
            <a:ext cx="11125200" cy="428625"/>
          </a:xfrm>
          <a:prstGeom prst="rect">
            <a:avLst/>
          </a:prstGeom>
          <a:solidFill>
            <a:srgbClr val="EFF5F8"/>
          </a:solidFill>
          <a:ln w="12383">
            <a:solidFill>
              <a:srgbClr val="EFF5F8"/>
            </a:solidFill>
          </a:ln>
        </p:spPr>
        <p:txBody>
          <a:bodyPr/>
          <a:lstStyle/>
          <a:p>
            <a:endParaRPr lang="en-US"/>
          </a:p>
        </p:txBody>
      </p:sp>
      <p:sp>
        <p:nvSpPr>
          <p:cNvPr id="44" name="Rectangle 43">
            <a:extLst>
              <a:ext uri="{FF2B5EF4-FFF2-40B4-BE49-F238E27FC236}">
                <a16:creationId xmlns:a16="http://schemas.microsoft.com/office/drawing/2014/main" id="{A3D2EBF7-3962-47D7-A572-E850B22F3AED}"/>
              </a:ext>
            </a:extLst>
          </p:cNvPr>
          <p:cNvSpPr>
            <a:spLocks noGrp="1"/>
          </p:cNvSpPr>
          <p:nvPr/>
        </p:nvSpPr>
        <p:spPr>
          <a:xfrm>
            <a:off x="676275" y="5867400"/>
            <a:ext cx="10839450" cy="238125"/>
          </a:xfrm>
          <a:prstGeom prst="rect">
            <a:avLst/>
          </a:prstGeom>
          <a:noFill/>
          <a:ln w="0">
            <a:noFill/>
          </a:ln>
        </p:spPr>
        <p:txBody>
          <a:bodyPr>
            <a:noAutofit/>
          </a:bodyPr>
          <a:lstStyle/>
          <a:p>
            <a:pPr>
              <a:defRPr sz="1350" b="0">
                <a:solidFill>
                  <a:srgbClr val="102B46"/>
                </a:solidFill>
                <a:latin typeface="Aptos"/>
                <a:ea typeface="Aptos"/>
                <a:cs typeface="Aptos"/>
              </a:defRPr>
            </a:pPr>
            <a:r>
              <a:rPr sz="1350" b="0">
                <a:solidFill>
                  <a:srgbClr val="102B46"/>
                </a:solidFill>
                <a:latin typeface="Aptos"/>
                <a:ea typeface="Aptos"/>
                <a:cs typeface="Aptos"/>
              </a:rPr>
              <a:t>Every fact retains its source, owner and as-of date. Aliases, uncertain matches and missing records remain visible.</a:t>
            </a:r>
          </a:p>
        </p:txBody>
      </p:sp>
    </p:spTree>
    <p:extLst>
      <p:ext uri="{BB962C8B-B14F-4D97-AF65-F5344CB8AC3E}">
        <p14:creationId xmlns:p14="http://schemas.microsoft.com/office/powerpoint/2010/main" val="7937547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65860221-FCD7-4089-A5E3-9F8C98D6E287}"/>
              </a:ext>
            </a:extLst>
          </p:cNvPr>
          <p:cNvSpPr>
            <a:spLocks noGrp="1"/>
          </p:cNvSpPr>
          <p:nvPr/>
        </p:nvSpPr>
        <p:spPr>
          <a:xfrm>
            <a:off x="0" y="0"/>
            <a:ext cx="12192000" cy="95250"/>
          </a:xfrm>
          <a:prstGeom prst="rect">
            <a:avLst/>
          </a:prstGeom>
          <a:solidFill>
            <a:srgbClr val="0067A0"/>
          </a:solidFill>
          <a:ln w="0">
            <a:noFill/>
          </a:ln>
        </p:spPr>
        <p:txBody>
          <a:bodyPr/>
          <a:lstStyle/>
          <a:p>
            <a:endParaRPr lang="en-US"/>
          </a:p>
        </p:txBody>
      </p:sp>
      <p:sp>
        <p:nvSpPr>
          <p:cNvPr id="2" name="Rectangle 1">
            <a:extLst>
              <a:ext uri="{FF2B5EF4-FFF2-40B4-BE49-F238E27FC236}">
                <a16:creationId xmlns:a16="http://schemas.microsoft.com/office/drawing/2014/main" id="{49FB478E-9D4C-4DA3-A288-BF200FC52A88}"/>
              </a:ext>
            </a:extLst>
          </p:cNvPr>
          <p:cNvSpPr>
            <a:spLocks noGrp="1"/>
          </p:cNvSpPr>
          <p:nvPr/>
        </p:nvSpPr>
        <p:spPr>
          <a:xfrm>
            <a:off x="533400" y="400050"/>
            <a:ext cx="11125200" cy="571500"/>
          </a:xfrm>
          <a:prstGeom prst="rect">
            <a:avLst/>
          </a:prstGeom>
          <a:noFill/>
          <a:ln w="0">
            <a:noFill/>
          </a:ln>
        </p:spPr>
        <p:txBody>
          <a:bodyPr>
            <a:noAutofit/>
          </a:bodyPr>
          <a:lstStyle/>
          <a:p>
            <a:pPr>
              <a:defRPr sz="2700" b="1">
                <a:solidFill>
                  <a:srgbClr val="102B46"/>
                </a:solidFill>
                <a:latin typeface="Aptos"/>
                <a:ea typeface="Aptos"/>
                <a:cs typeface="Aptos"/>
              </a:defRPr>
            </a:pPr>
            <a:r>
              <a:rPr sz="2700" b="1">
                <a:solidFill>
                  <a:srgbClr val="102B46"/>
                </a:solidFill>
                <a:latin typeface="Aptos"/>
                <a:ea typeface="Aptos"/>
                <a:cs typeface="Aptos"/>
              </a:rPr>
              <a:t>Six business questions define the capability</a:t>
            </a:r>
          </a:p>
        </p:txBody>
      </p:sp>
      <p:sp>
        <p:nvSpPr>
          <p:cNvPr id="3" name="Rectangle 2">
            <a:extLst>
              <a:ext uri="{FF2B5EF4-FFF2-40B4-BE49-F238E27FC236}">
                <a16:creationId xmlns:a16="http://schemas.microsoft.com/office/drawing/2014/main" id="{F20480DE-7101-453E-A413-5BEB1F18BD17}"/>
              </a:ext>
            </a:extLst>
          </p:cNvPr>
          <p:cNvSpPr>
            <a:spLocks noGrp="1"/>
          </p:cNvSpPr>
          <p:nvPr/>
        </p:nvSpPr>
        <p:spPr>
          <a:xfrm>
            <a:off x="533400" y="1028700"/>
            <a:ext cx="11125200" cy="504825"/>
          </a:xfrm>
          <a:prstGeom prst="rect">
            <a:avLst/>
          </a:prstGeom>
          <a:noFill/>
          <a:ln w="0">
            <a:noFill/>
          </a:ln>
        </p:spPr>
        <p:txBody>
          <a:bodyPr>
            <a:noAutofit/>
          </a:bodyPr>
          <a:lstStyle/>
          <a:p>
            <a:pPr>
              <a:defRPr sz="1425" b="0">
                <a:solidFill>
                  <a:srgbClr val="5B7080"/>
                </a:solidFill>
                <a:latin typeface="Aptos"/>
                <a:ea typeface="Aptos"/>
                <a:cs typeface="Aptos"/>
              </a:defRPr>
            </a:pPr>
            <a:r>
              <a:rPr sz="1425" b="0">
                <a:solidFill>
                  <a:srgbClr val="5B7080"/>
                </a:solidFill>
                <a:latin typeface="Aptos"/>
                <a:ea typeface="Aptos"/>
                <a:cs typeface="Aptos"/>
              </a:rPr>
              <a:t>The FSD adds executive Q&amp;A and alerts across these six analytical use cases.</a:t>
            </a:r>
          </a:p>
        </p:txBody>
      </p:sp>
      <p:sp>
        <p:nvSpPr>
          <p:cNvPr id="4" name="Rectangle 3">
            <a:extLst>
              <a:ext uri="{FF2B5EF4-FFF2-40B4-BE49-F238E27FC236}">
                <a16:creationId xmlns:a16="http://schemas.microsoft.com/office/drawing/2014/main" id="{AA2CD2BA-45CF-459F-9F26-F68861845523}"/>
              </a:ext>
            </a:extLst>
          </p:cNvPr>
          <p:cNvSpPr>
            <a:spLocks noGrp="1"/>
          </p:cNvSpPr>
          <p:nvPr/>
        </p:nvSpPr>
        <p:spPr>
          <a:xfrm>
            <a:off x="533400" y="6381750"/>
            <a:ext cx="11125200" cy="9525"/>
          </a:xfrm>
          <a:prstGeom prst="rect">
            <a:avLst/>
          </a:prstGeom>
          <a:solidFill>
            <a:srgbClr val="CBD7DF"/>
          </a:solidFill>
          <a:ln w="0">
            <a:noFill/>
          </a:ln>
        </p:spPr>
        <p:txBody>
          <a:bodyPr/>
          <a:lstStyle/>
          <a:p>
            <a:endParaRPr lang="en-US"/>
          </a:p>
        </p:txBody>
      </p:sp>
      <p:sp>
        <p:nvSpPr>
          <p:cNvPr id="5" name="Rectangle 4">
            <a:extLst>
              <a:ext uri="{FF2B5EF4-FFF2-40B4-BE49-F238E27FC236}">
                <a16:creationId xmlns:a16="http://schemas.microsoft.com/office/drawing/2014/main" id="{D8095859-6D09-44E2-B6FC-318AA4BD234F}"/>
              </a:ext>
            </a:extLst>
          </p:cNvPr>
          <p:cNvSpPr>
            <a:spLocks noGrp="1"/>
          </p:cNvSpPr>
          <p:nvPr/>
        </p:nvSpPr>
        <p:spPr>
          <a:xfrm>
            <a:off x="533400" y="6477000"/>
            <a:ext cx="10572750" cy="190500"/>
          </a:xfrm>
          <a:prstGeom prst="rect">
            <a:avLst/>
          </a:prstGeom>
          <a:noFill/>
          <a:ln w="0">
            <a:noFill/>
          </a:ln>
        </p:spPr>
        <p:txBody>
          <a:bodyPr>
            <a:noAutofit/>
          </a:bodyPr>
          <a:lstStyle/>
          <a:p>
            <a:pPr>
              <a:defRPr sz="900" b="0">
                <a:solidFill>
                  <a:srgbClr val="5B7080"/>
                </a:solidFill>
                <a:latin typeface="Aptos"/>
                <a:ea typeface="Aptos"/>
                <a:cs typeface="Aptos"/>
              </a:defRPr>
            </a:pPr>
            <a:r>
              <a:rPr sz="900" b="0">
                <a:solidFill>
                  <a:srgbClr val="5B7080"/>
                </a:solidFill>
                <a:latin typeface="Aptos"/>
                <a:ea typeface="Aptos"/>
                <a:cs typeface="Aptos"/>
              </a:rPr>
              <a:t>COMPANY CONFIDENTIAL   •   FSD v1.0   •   UC-01–08, §6, §18</a:t>
            </a:r>
          </a:p>
        </p:txBody>
      </p:sp>
      <p:sp>
        <p:nvSpPr>
          <p:cNvPr id="6" name="Rectangle 5">
            <a:extLst>
              <a:ext uri="{FF2B5EF4-FFF2-40B4-BE49-F238E27FC236}">
                <a16:creationId xmlns:a16="http://schemas.microsoft.com/office/drawing/2014/main" id="{030A6137-BCAA-4F5E-810C-A90C3CDBA43E}"/>
              </a:ext>
            </a:extLst>
          </p:cNvPr>
          <p:cNvSpPr>
            <a:spLocks noGrp="1"/>
          </p:cNvSpPr>
          <p:nvPr/>
        </p:nvSpPr>
        <p:spPr>
          <a:xfrm>
            <a:off x="11315700" y="6477000"/>
            <a:ext cx="342900" cy="190500"/>
          </a:xfrm>
          <a:prstGeom prst="rect">
            <a:avLst/>
          </a:prstGeom>
          <a:noFill/>
          <a:ln w="0">
            <a:noFill/>
          </a:ln>
        </p:spPr>
        <p:txBody>
          <a:bodyPr>
            <a:noAutofit/>
          </a:bodyPr>
          <a:lstStyle/>
          <a:p>
            <a:pPr>
              <a:defRPr sz="975" b="1">
                <a:solidFill>
                  <a:srgbClr val="102B46"/>
                </a:solidFill>
                <a:latin typeface="Aptos"/>
                <a:ea typeface="Aptos"/>
                <a:cs typeface="Aptos"/>
              </a:defRPr>
            </a:pPr>
            <a:r>
              <a:rPr sz="975" b="1">
                <a:solidFill>
                  <a:srgbClr val="102B46"/>
                </a:solidFill>
                <a:latin typeface="Aptos"/>
                <a:ea typeface="Aptos"/>
                <a:cs typeface="Aptos"/>
              </a:rPr>
              <a:t>04</a:t>
            </a:r>
          </a:p>
        </p:txBody>
      </p:sp>
      <p:sp>
        <p:nvSpPr>
          <p:cNvPr id="7" name="Rectangle 6">
            <a:extLst>
              <a:ext uri="{FF2B5EF4-FFF2-40B4-BE49-F238E27FC236}">
                <a16:creationId xmlns:a16="http://schemas.microsoft.com/office/drawing/2014/main" id="{8BDD9BEA-8CE5-49F1-BBDD-F3B7CABC8CF1}"/>
              </a:ext>
            </a:extLst>
          </p:cNvPr>
          <p:cNvSpPr>
            <a:spLocks noGrp="1"/>
          </p:cNvSpPr>
          <p:nvPr/>
        </p:nvSpPr>
        <p:spPr>
          <a:xfrm>
            <a:off x="533400" y="1733550"/>
            <a:ext cx="5467350" cy="1162050"/>
          </a:xfrm>
          <a:prstGeom prst="rect">
            <a:avLst/>
          </a:prstGeom>
          <a:solidFill>
            <a:srgbClr val="FFFFFF"/>
          </a:solidFill>
          <a:ln w="12383">
            <a:solidFill>
              <a:srgbClr val="CBD7DF"/>
            </a:solidFill>
          </a:ln>
        </p:spPr>
        <p:txBody>
          <a:bodyPr/>
          <a:lstStyle/>
          <a:p>
            <a:endParaRPr lang="en-US"/>
          </a:p>
        </p:txBody>
      </p:sp>
      <p:sp>
        <p:nvSpPr>
          <p:cNvPr id="8" name="Rectangle 7">
            <a:extLst>
              <a:ext uri="{FF2B5EF4-FFF2-40B4-BE49-F238E27FC236}">
                <a16:creationId xmlns:a16="http://schemas.microsoft.com/office/drawing/2014/main" id="{AFF7090F-08D9-40EF-8799-162F9A143312}"/>
              </a:ext>
            </a:extLst>
          </p:cNvPr>
          <p:cNvSpPr>
            <a:spLocks noGrp="1"/>
          </p:cNvSpPr>
          <p:nvPr/>
        </p:nvSpPr>
        <p:spPr>
          <a:xfrm>
            <a:off x="533400" y="1733550"/>
            <a:ext cx="47625" cy="1162050"/>
          </a:xfrm>
          <a:prstGeom prst="rect">
            <a:avLst/>
          </a:prstGeom>
          <a:solidFill>
            <a:srgbClr val="078B8C"/>
          </a:solidFill>
          <a:ln w="0">
            <a:noFill/>
          </a:ln>
        </p:spPr>
        <p:txBody>
          <a:bodyPr/>
          <a:lstStyle/>
          <a:p>
            <a:endParaRPr lang="en-US"/>
          </a:p>
        </p:txBody>
      </p:sp>
      <p:sp>
        <p:nvSpPr>
          <p:cNvPr id="9" name="Rectangle 8">
            <a:extLst>
              <a:ext uri="{FF2B5EF4-FFF2-40B4-BE49-F238E27FC236}">
                <a16:creationId xmlns:a16="http://schemas.microsoft.com/office/drawing/2014/main" id="{A9D3FC67-95DD-48AA-B075-C90241E778FD}"/>
              </a:ext>
            </a:extLst>
          </p:cNvPr>
          <p:cNvSpPr>
            <a:spLocks noGrp="1"/>
          </p:cNvSpPr>
          <p:nvPr/>
        </p:nvSpPr>
        <p:spPr>
          <a:xfrm>
            <a:off x="723900" y="1876425"/>
            <a:ext cx="5086350"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01  Vendor 360</a:t>
            </a:r>
          </a:p>
        </p:txBody>
      </p:sp>
      <p:sp>
        <p:nvSpPr>
          <p:cNvPr id="10" name="Rectangle 9">
            <a:extLst>
              <a:ext uri="{FF2B5EF4-FFF2-40B4-BE49-F238E27FC236}">
                <a16:creationId xmlns:a16="http://schemas.microsoft.com/office/drawing/2014/main" id="{E5E6A3EB-BC62-4C80-A4F5-B1FF723D5C30}"/>
              </a:ext>
            </a:extLst>
          </p:cNvPr>
          <p:cNvSpPr>
            <a:spLocks noGrp="1"/>
          </p:cNvSpPr>
          <p:nvPr/>
        </p:nvSpPr>
        <p:spPr>
          <a:xfrm>
            <a:off x="723900" y="2286000"/>
            <a:ext cx="5086350" cy="504825"/>
          </a:xfrm>
          <a:prstGeom prst="rect">
            <a:avLst/>
          </a:prstGeom>
          <a:noFill/>
          <a:ln w="0">
            <a:noFill/>
          </a:ln>
        </p:spPr>
        <p:txBody>
          <a:bodyPr>
            <a:noAutofit/>
          </a:bodyPr>
          <a:lstStyle/>
          <a:p>
            <a:pPr>
              <a:defRPr sz="1500" b="0">
                <a:solidFill>
                  <a:srgbClr val="233B4D"/>
                </a:solidFill>
                <a:latin typeface="Aptos"/>
                <a:ea typeface="Aptos"/>
                <a:cs typeface="Aptos"/>
              </a:defRPr>
            </a:pPr>
            <a:r>
              <a:rPr sz="1500" b="0">
                <a:solidFill>
                  <a:srgbClr val="233B4D"/>
                </a:solidFill>
                <a:latin typeface="Aptos"/>
                <a:ea typeface="Aptos"/>
                <a:cs typeface="Aptos"/>
              </a:rPr>
              <a:t>What do we know about this vendor?</a:t>
            </a:r>
          </a:p>
        </p:txBody>
      </p:sp>
      <p:sp>
        <p:nvSpPr>
          <p:cNvPr id="11" name="Rectangle 10">
            <a:extLst>
              <a:ext uri="{FF2B5EF4-FFF2-40B4-BE49-F238E27FC236}">
                <a16:creationId xmlns:a16="http://schemas.microsoft.com/office/drawing/2014/main" id="{FA5B69BB-2E2B-4A14-BA7F-31DF993EFEBB}"/>
              </a:ext>
            </a:extLst>
          </p:cNvPr>
          <p:cNvSpPr>
            <a:spLocks noGrp="1"/>
          </p:cNvSpPr>
          <p:nvPr/>
        </p:nvSpPr>
        <p:spPr>
          <a:xfrm>
            <a:off x="6191250" y="1733550"/>
            <a:ext cx="5467350" cy="1162050"/>
          </a:xfrm>
          <a:prstGeom prst="rect">
            <a:avLst/>
          </a:prstGeom>
          <a:solidFill>
            <a:srgbClr val="FFFFFF"/>
          </a:solidFill>
          <a:ln w="12383">
            <a:solidFill>
              <a:srgbClr val="CBD7DF"/>
            </a:solidFill>
          </a:ln>
        </p:spPr>
        <p:txBody>
          <a:bodyPr/>
          <a:lstStyle/>
          <a:p>
            <a:endParaRPr lang="en-US"/>
          </a:p>
        </p:txBody>
      </p:sp>
      <p:sp>
        <p:nvSpPr>
          <p:cNvPr id="12" name="Rectangle 11">
            <a:extLst>
              <a:ext uri="{FF2B5EF4-FFF2-40B4-BE49-F238E27FC236}">
                <a16:creationId xmlns:a16="http://schemas.microsoft.com/office/drawing/2014/main" id="{109339C6-CF62-43D5-B416-FDF50DF9CFF7}"/>
              </a:ext>
            </a:extLst>
          </p:cNvPr>
          <p:cNvSpPr>
            <a:spLocks noGrp="1"/>
          </p:cNvSpPr>
          <p:nvPr/>
        </p:nvSpPr>
        <p:spPr>
          <a:xfrm>
            <a:off x="6191250" y="1733550"/>
            <a:ext cx="47625" cy="1162050"/>
          </a:xfrm>
          <a:prstGeom prst="rect">
            <a:avLst/>
          </a:prstGeom>
          <a:solidFill>
            <a:srgbClr val="078B8C"/>
          </a:solidFill>
          <a:ln w="0">
            <a:noFill/>
          </a:ln>
        </p:spPr>
        <p:txBody>
          <a:bodyPr/>
          <a:lstStyle/>
          <a:p>
            <a:endParaRPr lang="en-US"/>
          </a:p>
        </p:txBody>
      </p:sp>
      <p:sp>
        <p:nvSpPr>
          <p:cNvPr id="13" name="Rectangle 12">
            <a:extLst>
              <a:ext uri="{FF2B5EF4-FFF2-40B4-BE49-F238E27FC236}">
                <a16:creationId xmlns:a16="http://schemas.microsoft.com/office/drawing/2014/main" id="{4FEBB176-F760-4DFE-A29F-83C5595FD405}"/>
              </a:ext>
            </a:extLst>
          </p:cNvPr>
          <p:cNvSpPr>
            <a:spLocks noGrp="1"/>
          </p:cNvSpPr>
          <p:nvPr/>
        </p:nvSpPr>
        <p:spPr>
          <a:xfrm>
            <a:off x="6381750" y="1876425"/>
            <a:ext cx="5086350"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02  Renewal</a:t>
            </a:r>
          </a:p>
        </p:txBody>
      </p:sp>
      <p:sp>
        <p:nvSpPr>
          <p:cNvPr id="14" name="Rectangle 13">
            <a:extLst>
              <a:ext uri="{FF2B5EF4-FFF2-40B4-BE49-F238E27FC236}">
                <a16:creationId xmlns:a16="http://schemas.microsoft.com/office/drawing/2014/main" id="{36E91601-185A-4BE3-951B-469FEF75B17A}"/>
              </a:ext>
            </a:extLst>
          </p:cNvPr>
          <p:cNvSpPr>
            <a:spLocks noGrp="1"/>
          </p:cNvSpPr>
          <p:nvPr/>
        </p:nvSpPr>
        <p:spPr>
          <a:xfrm>
            <a:off x="6381750" y="2286000"/>
            <a:ext cx="5086350" cy="504825"/>
          </a:xfrm>
          <a:prstGeom prst="rect">
            <a:avLst/>
          </a:prstGeom>
          <a:noFill/>
          <a:ln w="0">
            <a:noFill/>
          </a:ln>
        </p:spPr>
        <p:txBody>
          <a:bodyPr>
            <a:noAutofit/>
          </a:bodyPr>
          <a:lstStyle/>
          <a:p>
            <a:pPr>
              <a:defRPr sz="1500" b="0">
                <a:solidFill>
                  <a:srgbClr val="233B4D"/>
                </a:solidFill>
                <a:latin typeface="Aptos"/>
                <a:ea typeface="Aptos"/>
                <a:cs typeface="Aptos"/>
              </a:defRPr>
            </a:pPr>
            <a:r>
              <a:rPr sz="1500" b="0">
                <a:solidFill>
                  <a:srgbClr val="233B4D"/>
                </a:solidFill>
                <a:latin typeface="Aptos"/>
                <a:ea typeface="Aptos"/>
                <a:cs typeface="Aptos"/>
              </a:rPr>
              <a:t>What needs action before the contract expires?</a:t>
            </a:r>
          </a:p>
        </p:txBody>
      </p:sp>
      <p:sp>
        <p:nvSpPr>
          <p:cNvPr id="15" name="Rectangle 14">
            <a:extLst>
              <a:ext uri="{FF2B5EF4-FFF2-40B4-BE49-F238E27FC236}">
                <a16:creationId xmlns:a16="http://schemas.microsoft.com/office/drawing/2014/main" id="{3ACAFC8D-9AB7-4227-A0CA-AB6179098DA4}"/>
              </a:ext>
            </a:extLst>
          </p:cNvPr>
          <p:cNvSpPr>
            <a:spLocks noGrp="1"/>
          </p:cNvSpPr>
          <p:nvPr/>
        </p:nvSpPr>
        <p:spPr>
          <a:xfrm>
            <a:off x="533400" y="3057525"/>
            <a:ext cx="5467350" cy="1162050"/>
          </a:xfrm>
          <a:prstGeom prst="rect">
            <a:avLst/>
          </a:prstGeom>
          <a:solidFill>
            <a:srgbClr val="FFFFFF"/>
          </a:solidFill>
          <a:ln w="12383">
            <a:solidFill>
              <a:srgbClr val="CBD7DF"/>
            </a:solidFill>
          </a:ln>
        </p:spPr>
        <p:txBody>
          <a:bodyPr/>
          <a:lstStyle/>
          <a:p>
            <a:endParaRPr lang="en-US"/>
          </a:p>
        </p:txBody>
      </p:sp>
      <p:sp>
        <p:nvSpPr>
          <p:cNvPr id="16" name="Rectangle 15">
            <a:extLst>
              <a:ext uri="{FF2B5EF4-FFF2-40B4-BE49-F238E27FC236}">
                <a16:creationId xmlns:a16="http://schemas.microsoft.com/office/drawing/2014/main" id="{3CC34E71-BA58-4CFB-8382-61D0A40FCD08}"/>
              </a:ext>
            </a:extLst>
          </p:cNvPr>
          <p:cNvSpPr>
            <a:spLocks noGrp="1"/>
          </p:cNvSpPr>
          <p:nvPr/>
        </p:nvSpPr>
        <p:spPr>
          <a:xfrm>
            <a:off x="533400" y="3057525"/>
            <a:ext cx="47625" cy="1162050"/>
          </a:xfrm>
          <a:prstGeom prst="rect">
            <a:avLst/>
          </a:prstGeom>
          <a:solidFill>
            <a:srgbClr val="078B8C"/>
          </a:solidFill>
          <a:ln w="0">
            <a:noFill/>
          </a:ln>
        </p:spPr>
        <p:txBody>
          <a:bodyPr/>
          <a:lstStyle/>
          <a:p>
            <a:endParaRPr lang="en-US"/>
          </a:p>
        </p:txBody>
      </p:sp>
      <p:sp>
        <p:nvSpPr>
          <p:cNvPr id="17" name="Rectangle 16">
            <a:extLst>
              <a:ext uri="{FF2B5EF4-FFF2-40B4-BE49-F238E27FC236}">
                <a16:creationId xmlns:a16="http://schemas.microsoft.com/office/drawing/2014/main" id="{AEB130B7-AF2B-4B14-8084-9323D512F6DB}"/>
              </a:ext>
            </a:extLst>
          </p:cNvPr>
          <p:cNvSpPr>
            <a:spLocks noGrp="1"/>
          </p:cNvSpPr>
          <p:nvPr/>
        </p:nvSpPr>
        <p:spPr>
          <a:xfrm>
            <a:off x="723900" y="3200400"/>
            <a:ext cx="5086350"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03  Concentration</a:t>
            </a:r>
          </a:p>
        </p:txBody>
      </p:sp>
      <p:sp>
        <p:nvSpPr>
          <p:cNvPr id="18" name="Rectangle 17">
            <a:extLst>
              <a:ext uri="{FF2B5EF4-FFF2-40B4-BE49-F238E27FC236}">
                <a16:creationId xmlns:a16="http://schemas.microsoft.com/office/drawing/2014/main" id="{5A06347F-821C-4119-BB39-91A2FCC4C788}"/>
              </a:ext>
            </a:extLst>
          </p:cNvPr>
          <p:cNvSpPr>
            <a:spLocks noGrp="1"/>
          </p:cNvSpPr>
          <p:nvPr/>
        </p:nvSpPr>
        <p:spPr>
          <a:xfrm>
            <a:off x="723900" y="3609975"/>
            <a:ext cx="5086350" cy="504825"/>
          </a:xfrm>
          <a:prstGeom prst="rect">
            <a:avLst/>
          </a:prstGeom>
          <a:noFill/>
          <a:ln w="0">
            <a:noFill/>
          </a:ln>
        </p:spPr>
        <p:txBody>
          <a:bodyPr>
            <a:noAutofit/>
          </a:bodyPr>
          <a:lstStyle/>
          <a:p>
            <a:pPr>
              <a:defRPr sz="1500" b="0">
                <a:solidFill>
                  <a:srgbClr val="233B4D"/>
                </a:solidFill>
                <a:latin typeface="Aptos"/>
                <a:ea typeface="Aptos"/>
                <a:cs typeface="Aptos"/>
              </a:defRPr>
            </a:pPr>
            <a:r>
              <a:rPr sz="1500" b="0">
                <a:solidFill>
                  <a:srgbClr val="233B4D"/>
                </a:solidFill>
                <a:latin typeface="Aptos"/>
                <a:ea typeface="Aptos"/>
                <a:cs typeface="Aptos"/>
              </a:rPr>
              <a:t>Where do we depend too heavily on one vendor?</a:t>
            </a:r>
          </a:p>
        </p:txBody>
      </p:sp>
      <p:sp>
        <p:nvSpPr>
          <p:cNvPr id="19" name="Rectangle 18">
            <a:extLst>
              <a:ext uri="{FF2B5EF4-FFF2-40B4-BE49-F238E27FC236}">
                <a16:creationId xmlns:a16="http://schemas.microsoft.com/office/drawing/2014/main" id="{852B9D09-C929-42F5-B1B5-98AE31AF3BDF}"/>
              </a:ext>
            </a:extLst>
          </p:cNvPr>
          <p:cNvSpPr>
            <a:spLocks noGrp="1"/>
          </p:cNvSpPr>
          <p:nvPr/>
        </p:nvSpPr>
        <p:spPr>
          <a:xfrm>
            <a:off x="6191250" y="3057525"/>
            <a:ext cx="5467350" cy="1162050"/>
          </a:xfrm>
          <a:prstGeom prst="rect">
            <a:avLst/>
          </a:prstGeom>
          <a:solidFill>
            <a:srgbClr val="FFFFFF"/>
          </a:solidFill>
          <a:ln w="12383">
            <a:solidFill>
              <a:srgbClr val="CBD7DF"/>
            </a:solidFill>
          </a:ln>
        </p:spPr>
        <p:txBody>
          <a:bodyPr/>
          <a:lstStyle/>
          <a:p>
            <a:endParaRPr lang="en-US"/>
          </a:p>
        </p:txBody>
      </p:sp>
      <p:sp>
        <p:nvSpPr>
          <p:cNvPr id="20" name="Rectangle 19">
            <a:extLst>
              <a:ext uri="{FF2B5EF4-FFF2-40B4-BE49-F238E27FC236}">
                <a16:creationId xmlns:a16="http://schemas.microsoft.com/office/drawing/2014/main" id="{A55B0758-A982-4B7A-94FB-935E8FDE3A48}"/>
              </a:ext>
            </a:extLst>
          </p:cNvPr>
          <p:cNvSpPr>
            <a:spLocks noGrp="1"/>
          </p:cNvSpPr>
          <p:nvPr/>
        </p:nvSpPr>
        <p:spPr>
          <a:xfrm>
            <a:off x="6191250" y="3057525"/>
            <a:ext cx="47625" cy="1162050"/>
          </a:xfrm>
          <a:prstGeom prst="rect">
            <a:avLst/>
          </a:prstGeom>
          <a:solidFill>
            <a:srgbClr val="078B8C"/>
          </a:solidFill>
          <a:ln w="0">
            <a:noFill/>
          </a:ln>
        </p:spPr>
        <p:txBody>
          <a:bodyPr/>
          <a:lstStyle/>
          <a:p>
            <a:endParaRPr lang="en-US"/>
          </a:p>
        </p:txBody>
      </p:sp>
      <p:sp>
        <p:nvSpPr>
          <p:cNvPr id="21" name="Rectangle 20">
            <a:extLst>
              <a:ext uri="{FF2B5EF4-FFF2-40B4-BE49-F238E27FC236}">
                <a16:creationId xmlns:a16="http://schemas.microsoft.com/office/drawing/2014/main" id="{6C9D0127-3F26-4066-B3A3-6C11B8028AD6}"/>
              </a:ext>
            </a:extLst>
          </p:cNvPr>
          <p:cNvSpPr>
            <a:spLocks noGrp="1"/>
          </p:cNvSpPr>
          <p:nvPr/>
        </p:nvSpPr>
        <p:spPr>
          <a:xfrm>
            <a:off x="6381750" y="3200400"/>
            <a:ext cx="5086350"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04  Rationalization</a:t>
            </a:r>
          </a:p>
        </p:txBody>
      </p:sp>
      <p:sp>
        <p:nvSpPr>
          <p:cNvPr id="22" name="Rectangle 21">
            <a:extLst>
              <a:ext uri="{FF2B5EF4-FFF2-40B4-BE49-F238E27FC236}">
                <a16:creationId xmlns:a16="http://schemas.microsoft.com/office/drawing/2014/main" id="{27203FC0-A3A5-4723-AC05-CB5684681CA2}"/>
              </a:ext>
            </a:extLst>
          </p:cNvPr>
          <p:cNvSpPr>
            <a:spLocks noGrp="1"/>
          </p:cNvSpPr>
          <p:nvPr/>
        </p:nvSpPr>
        <p:spPr>
          <a:xfrm>
            <a:off x="6381750" y="3609975"/>
            <a:ext cx="5086350" cy="504825"/>
          </a:xfrm>
          <a:prstGeom prst="rect">
            <a:avLst/>
          </a:prstGeom>
          <a:noFill/>
          <a:ln w="0">
            <a:noFill/>
          </a:ln>
        </p:spPr>
        <p:txBody>
          <a:bodyPr>
            <a:noAutofit/>
          </a:bodyPr>
          <a:lstStyle/>
          <a:p>
            <a:pPr>
              <a:defRPr sz="1500" b="0">
                <a:solidFill>
                  <a:srgbClr val="233B4D"/>
                </a:solidFill>
                <a:latin typeface="Aptos"/>
                <a:ea typeface="Aptos"/>
                <a:cs typeface="Aptos"/>
              </a:defRPr>
            </a:pPr>
            <a:r>
              <a:rPr sz="1500" b="0">
                <a:solidFill>
                  <a:srgbClr val="233B4D"/>
                </a:solidFill>
                <a:latin typeface="Aptos"/>
                <a:ea typeface="Aptos"/>
                <a:cs typeface="Aptos"/>
              </a:rPr>
              <a:t>Which suppliers overlap, and can we consolidate?</a:t>
            </a:r>
          </a:p>
        </p:txBody>
      </p:sp>
      <p:sp>
        <p:nvSpPr>
          <p:cNvPr id="23" name="Rectangle 22">
            <a:extLst>
              <a:ext uri="{FF2B5EF4-FFF2-40B4-BE49-F238E27FC236}">
                <a16:creationId xmlns:a16="http://schemas.microsoft.com/office/drawing/2014/main" id="{98A0A1E1-3DFF-4721-BC12-72D152FD8B65}"/>
              </a:ext>
            </a:extLst>
          </p:cNvPr>
          <p:cNvSpPr>
            <a:spLocks noGrp="1"/>
          </p:cNvSpPr>
          <p:nvPr/>
        </p:nvSpPr>
        <p:spPr>
          <a:xfrm>
            <a:off x="533400" y="4381500"/>
            <a:ext cx="5467350" cy="1162050"/>
          </a:xfrm>
          <a:prstGeom prst="rect">
            <a:avLst/>
          </a:prstGeom>
          <a:solidFill>
            <a:srgbClr val="FFFFFF"/>
          </a:solidFill>
          <a:ln w="12383">
            <a:solidFill>
              <a:srgbClr val="CBD7DF"/>
            </a:solidFill>
          </a:ln>
        </p:spPr>
        <p:txBody>
          <a:bodyPr/>
          <a:lstStyle/>
          <a:p>
            <a:endParaRPr lang="en-US"/>
          </a:p>
        </p:txBody>
      </p:sp>
      <p:sp>
        <p:nvSpPr>
          <p:cNvPr id="24" name="Rectangle 23">
            <a:extLst>
              <a:ext uri="{FF2B5EF4-FFF2-40B4-BE49-F238E27FC236}">
                <a16:creationId xmlns:a16="http://schemas.microsoft.com/office/drawing/2014/main" id="{5475DAD5-DCC0-41AE-B9A0-7CE729254B1E}"/>
              </a:ext>
            </a:extLst>
          </p:cNvPr>
          <p:cNvSpPr>
            <a:spLocks noGrp="1"/>
          </p:cNvSpPr>
          <p:nvPr/>
        </p:nvSpPr>
        <p:spPr>
          <a:xfrm>
            <a:off x="533400" y="4381500"/>
            <a:ext cx="47625" cy="1162050"/>
          </a:xfrm>
          <a:prstGeom prst="rect">
            <a:avLst/>
          </a:prstGeom>
          <a:solidFill>
            <a:srgbClr val="078B8C"/>
          </a:solidFill>
          <a:ln w="0">
            <a:noFill/>
          </a:ln>
        </p:spPr>
        <p:txBody>
          <a:bodyPr/>
          <a:lstStyle/>
          <a:p>
            <a:endParaRPr lang="en-US"/>
          </a:p>
        </p:txBody>
      </p:sp>
      <p:sp>
        <p:nvSpPr>
          <p:cNvPr id="25" name="Rectangle 24">
            <a:extLst>
              <a:ext uri="{FF2B5EF4-FFF2-40B4-BE49-F238E27FC236}">
                <a16:creationId xmlns:a16="http://schemas.microsoft.com/office/drawing/2014/main" id="{94F53D56-B119-4F55-B67B-C9A4CB8CDBED}"/>
              </a:ext>
            </a:extLst>
          </p:cNvPr>
          <p:cNvSpPr>
            <a:spLocks noGrp="1"/>
          </p:cNvSpPr>
          <p:nvPr/>
        </p:nvSpPr>
        <p:spPr>
          <a:xfrm>
            <a:off x="723900" y="4524375"/>
            <a:ext cx="5086350"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05  Spend variance</a:t>
            </a:r>
          </a:p>
        </p:txBody>
      </p:sp>
      <p:sp>
        <p:nvSpPr>
          <p:cNvPr id="26" name="Rectangle 25">
            <a:extLst>
              <a:ext uri="{FF2B5EF4-FFF2-40B4-BE49-F238E27FC236}">
                <a16:creationId xmlns:a16="http://schemas.microsoft.com/office/drawing/2014/main" id="{6242F387-0923-4445-A75F-F0DF87D08E1C}"/>
              </a:ext>
            </a:extLst>
          </p:cNvPr>
          <p:cNvSpPr>
            <a:spLocks noGrp="1"/>
          </p:cNvSpPr>
          <p:nvPr/>
        </p:nvSpPr>
        <p:spPr>
          <a:xfrm>
            <a:off x="723900" y="4933950"/>
            <a:ext cx="5086350" cy="504825"/>
          </a:xfrm>
          <a:prstGeom prst="rect">
            <a:avLst/>
          </a:prstGeom>
          <a:noFill/>
          <a:ln w="0">
            <a:noFill/>
          </a:ln>
        </p:spPr>
        <p:txBody>
          <a:bodyPr>
            <a:noAutofit/>
          </a:bodyPr>
          <a:lstStyle/>
          <a:p>
            <a:pPr>
              <a:defRPr sz="1500" b="0">
                <a:solidFill>
                  <a:srgbClr val="233B4D"/>
                </a:solidFill>
                <a:latin typeface="Aptos"/>
                <a:ea typeface="Aptos"/>
                <a:cs typeface="Aptos"/>
              </a:defRPr>
            </a:pPr>
            <a:r>
              <a:rPr sz="1500" b="0">
                <a:solidFill>
                  <a:srgbClr val="233B4D"/>
                </a:solidFill>
                <a:latin typeface="Aptos"/>
                <a:ea typeface="Aptos"/>
                <a:cs typeface="Aptos"/>
              </a:rPr>
              <a:t>Why does actual spend differ from forecast?</a:t>
            </a:r>
          </a:p>
        </p:txBody>
      </p:sp>
      <p:sp>
        <p:nvSpPr>
          <p:cNvPr id="27" name="Rectangle 26">
            <a:extLst>
              <a:ext uri="{FF2B5EF4-FFF2-40B4-BE49-F238E27FC236}">
                <a16:creationId xmlns:a16="http://schemas.microsoft.com/office/drawing/2014/main" id="{18FBB5BB-19A3-4EC7-8997-2F1716C4981F}"/>
              </a:ext>
            </a:extLst>
          </p:cNvPr>
          <p:cNvSpPr>
            <a:spLocks noGrp="1"/>
          </p:cNvSpPr>
          <p:nvPr/>
        </p:nvSpPr>
        <p:spPr>
          <a:xfrm>
            <a:off x="6191250" y="4381500"/>
            <a:ext cx="5467350" cy="1162050"/>
          </a:xfrm>
          <a:prstGeom prst="rect">
            <a:avLst/>
          </a:prstGeom>
          <a:solidFill>
            <a:srgbClr val="FFFFFF"/>
          </a:solidFill>
          <a:ln w="12383">
            <a:solidFill>
              <a:srgbClr val="CBD7DF"/>
            </a:solidFill>
          </a:ln>
        </p:spPr>
        <p:txBody>
          <a:bodyPr/>
          <a:lstStyle/>
          <a:p>
            <a:endParaRPr lang="en-US"/>
          </a:p>
        </p:txBody>
      </p:sp>
      <p:sp>
        <p:nvSpPr>
          <p:cNvPr id="28" name="Rectangle 27">
            <a:extLst>
              <a:ext uri="{FF2B5EF4-FFF2-40B4-BE49-F238E27FC236}">
                <a16:creationId xmlns:a16="http://schemas.microsoft.com/office/drawing/2014/main" id="{6832DDEF-485D-4265-93E0-4E83DEDFA2E5}"/>
              </a:ext>
            </a:extLst>
          </p:cNvPr>
          <p:cNvSpPr>
            <a:spLocks noGrp="1"/>
          </p:cNvSpPr>
          <p:nvPr/>
        </p:nvSpPr>
        <p:spPr>
          <a:xfrm>
            <a:off x="6191250" y="4381500"/>
            <a:ext cx="47625" cy="1162050"/>
          </a:xfrm>
          <a:prstGeom prst="rect">
            <a:avLst/>
          </a:prstGeom>
          <a:solidFill>
            <a:srgbClr val="078B8C"/>
          </a:solidFill>
          <a:ln w="0">
            <a:noFill/>
          </a:ln>
        </p:spPr>
        <p:txBody>
          <a:bodyPr/>
          <a:lstStyle/>
          <a:p>
            <a:endParaRPr lang="en-US"/>
          </a:p>
        </p:txBody>
      </p:sp>
      <p:sp>
        <p:nvSpPr>
          <p:cNvPr id="29" name="Rectangle 28">
            <a:extLst>
              <a:ext uri="{FF2B5EF4-FFF2-40B4-BE49-F238E27FC236}">
                <a16:creationId xmlns:a16="http://schemas.microsoft.com/office/drawing/2014/main" id="{9783C7BC-8479-4104-A137-B75B84E53BEB}"/>
              </a:ext>
            </a:extLst>
          </p:cNvPr>
          <p:cNvSpPr>
            <a:spLocks noGrp="1"/>
          </p:cNvSpPr>
          <p:nvPr/>
        </p:nvSpPr>
        <p:spPr>
          <a:xfrm>
            <a:off x="6381750" y="4524375"/>
            <a:ext cx="5086350"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06  Scenario</a:t>
            </a:r>
          </a:p>
        </p:txBody>
      </p:sp>
      <p:sp>
        <p:nvSpPr>
          <p:cNvPr id="30" name="Rectangle 29">
            <a:extLst>
              <a:ext uri="{FF2B5EF4-FFF2-40B4-BE49-F238E27FC236}">
                <a16:creationId xmlns:a16="http://schemas.microsoft.com/office/drawing/2014/main" id="{F1949090-C528-487D-8637-05A33BB83247}"/>
              </a:ext>
            </a:extLst>
          </p:cNvPr>
          <p:cNvSpPr>
            <a:spLocks noGrp="1"/>
          </p:cNvSpPr>
          <p:nvPr/>
        </p:nvSpPr>
        <p:spPr>
          <a:xfrm>
            <a:off x="6381750" y="4933950"/>
            <a:ext cx="5086350" cy="504825"/>
          </a:xfrm>
          <a:prstGeom prst="rect">
            <a:avLst/>
          </a:prstGeom>
          <a:noFill/>
          <a:ln w="0">
            <a:noFill/>
          </a:ln>
        </p:spPr>
        <p:txBody>
          <a:bodyPr>
            <a:noAutofit/>
          </a:bodyPr>
          <a:lstStyle/>
          <a:p>
            <a:pPr>
              <a:defRPr sz="1500" b="0">
                <a:solidFill>
                  <a:srgbClr val="233B4D"/>
                </a:solidFill>
                <a:latin typeface="Aptos"/>
                <a:ea typeface="Aptos"/>
                <a:cs typeface="Aptos"/>
              </a:defRPr>
            </a:pPr>
            <a:r>
              <a:rPr sz="1500" b="0">
                <a:solidFill>
                  <a:srgbClr val="233B4D"/>
                </a:solidFill>
                <a:latin typeface="Aptos"/>
                <a:ea typeface="Aptos"/>
                <a:cs typeface="Aptos"/>
              </a:rPr>
              <a:t>What changes if we alter spend, workforce or supplier?</a:t>
            </a:r>
          </a:p>
        </p:txBody>
      </p:sp>
      <p:sp>
        <p:nvSpPr>
          <p:cNvPr id="31" name="Rectangle 30">
            <a:extLst>
              <a:ext uri="{FF2B5EF4-FFF2-40B4-BE49-F238E27FC236}">
                <a16:creationId xmlns:a16="http://schemas.microsoft.com/office/drawing/2014/main" id="{E0E0D143-AF8D-4614-9E88-91C4F3567FC6}"/>
              </a:ext>
            </a:extLst>
          </p:cNvPr>
          <p:cNvSpPr>
            <a:spLocks noGrp="1"/>
          </p:cNvSpPr>
          <p:nvPr/>
        </p:nvSpPr>
        <p:spPr>
          <a:xfrm>
            <a:off x="533400" y="5753100"/>
            <a:ext cx="11125200" cy="428625"/>
          </a:xfrm>
          <a:prstGeom prst="rect">
            <a:avLst/>
          </a:prstGeom>
          <a:solidFill>
            <a:srgbClr val="EFF5F8"/>
          </a:solidFill>
          <a:ln w="12383">
            <a:solidFill>
              <a:srgbClr val="EFF5F8"/>
            </a:solidFill>
          </a:ln>
        </p:spPr>
        <p:txBody>
          <a:bodyPr/>
          <a:lstStyle/>
          <a:p>
            <a:endParaRPr lang="en-US"/>
          </a:p>
        </p:txBody>
      </p:sp>
      <p:sp>
        <p:nvSpPr>
          <p:cNvPr id="32" name="Rectangle 31">
            <a:extLst>
              <a:ext uri="{FF2B5EF4-FFF2-40B4-BE49-F238E27FC236}">
                <a16:creationId xmlns:a16="http://schemas.microsoft.com/office/drawing/2014/main" id="{088FE7AB-C24B-42F3-94B4-CDFC171D3BAC}"/>
              </a:ext>
            </a:extLst>
          </p:cNvPr>
          <p:cNvSpPr>
            <a:spLocks noGrp="1"/>
          </p:cNvSpPr>
          <p:nvPr/>
        </p:nvSpPr>
        <p:spPr>
          <a:xfrm>
            <a:off x="676275" y="5867400"/>
            <a:ext cx="10839450" cy="238125"/>
          </a:xfrm>
          <a:prstGeom prst="rect">
            <a:avLst/>
          </a:prstGeom>
          <a:noFill/>
          <a:ln w="0">
            <a:noFill/>
          </a:ln>
        </p:spPr>
        <p:txBody>
          <a:bodyPr>
            <a:noAutofit/>
          </a:bodyPr>
          <a:lstStyle/>
          <a:p>
            <a:pPr>
              <a:defRPr sz="1350" b="0">
                <a:solidFill>
                  <a:srgbClr val="102B46"/>
                </a:solidFill>
                <a:latin typeface="Aptos"/>
                <a:ea typeface="Aptos"/>
                <a:cs typeface="Aptos"/>
              </a:defRPr>
            </a:pPr>
            <a:r>
              <a:rPr sz="1350" b="0">
                <a:solidFill>
                  <a:srgbClr val="102B46"/>
                </a:solidFill>
                <a:latin typeface="Aptos"/>
                <a:ea typeface="Aptos"/>
                <a:cs typeface="Aptos"/>
              </a:rPr>
              <a:t>Approved definitions, scoring rules and constraints govern each answer. Citi must validate the policy choices.</a:t>
            </a:r>
          </a:p>
        </p:txBody>
      </p:sp>
    </p:spTree>
    <p:extLst>
      <p:ext uri="{BB962C8B-B14F-4D97-AF65-F5344CB8AC3E}">
        <p14:creationId xmlns:p14="http://schemas.microsoft.com/office/powerpoint/2010/main" val="20243819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4955F06A-A6C8-4522-959C-B1E04ECEA351}"/>
              </a:ext>
            </a:extLst>
          </p:cNvPr>
          <p:cNvSpPr>
            <a:spLocks noGrp="1"/>
          </p:cNvSpPr>
          <p:nvPr/>
        </p:nvSpPr>
        <p:spPr>
          <a:xfrm>
            <a:off x="0" y="0"/>
            <a:ext cx="12192000" cy="95250"/>
          </a:xfrm>
          <a:prstGeom prst="rect">
            <a:avLst/>
          </a:prstGeom>
          <a:solidFill>
            <a:srgbClr val="0067A0"/>
          </a:solidFill>
          <a:ln w="0">
            <a:noFill/>
          </a:ln>
        </p:spPr>
        <p:txBody>
          <a:bodyPr/>
          <a:lstStyle/>
          <a:p>
            <a:endParaRPr lang="en-US"/>
          </a:p>
        </p:txBody>
      </p:sp>
      <p:sp>
        <p:nvSpPr>
          <p:cNvPr id="2" name="Rectangle 1">
            <a:extLst>
              <a:ext uri="{FF2B5EF4-FFF2-40B4-BE49-F238E27FC236}">
                <a16:creationId xmlns:a16="http://schemas.microsoft.com/office/drawing/2014/main" id="{44811C07-C196-4386-8A42-927D3A09E323}"/>
              </a:ext>
            </a:extLst>
          </p:cNvPr>
          <p:cNvSpPr>
            <a:spLocks noGrp="1"/>
          </p:cNvSpPr>
          <p:nvPr/>
        </p:nvSpPr>
        <p:spPr>
          <a:xfrm>
            <a:off x="533400" y="400050"/>
            <a:ext cx="11125200" cy="571500"/>
          </a:xfrm>
          <a:prstGeom prst="rect">
            <a:avLst/>
          </a:prstGeom>
          <a:noFill/>
          <a:ln w="0">
            <a:noFill/>
          </a:ln>
        </p:spPr>
        <p:txBody>
          <a:bodyPr>
            <a:noAutofit/>
          </a:bodyPr>
          <a:lstStyle/>
          <a:p>
            <a:pPr>
              <a:defRPr sz="2700" b="1">
                <a:solidFill>
                  <a:srgbClr val="102B46"/>
                </a:solidFill>
                <a:latin typeface="Aptos"/>
                <a:ea typeface="Aptos"/>
                <a:cs typeface="Aptos"/>
              </a:defRPr>
            </a:pPr>
            <a:r>
              <a:rPr sz="2700" b="1">
                <a:solidFill>
                  <a:srgbClr val="102B46"/>
                </a:solidFill>
                <a:latin typeface="Aptos"/>
                <a:ea typeface="Aptos"/>
                <a:cs typeface="Aptos"/>
              </a:rPr>
              <a:t>The demo tells one story across six screens</a:t>
            </a:r>
          </a:p>
        </p:txBody>
      </p:sp>
      <p:sp>
        <p:nvSpPr>
          <p:cNvPr id="3" name="Rectangle 2">
            <a:extLst>
              <a:ext uri="{FF2B5EF4-FFF2-40B4-BE49-F238E27FC236}">
                <a16:creationId xmlns:a16="http://schemas.microsoft.com/office/drawing/2014/main" id="{3D3BC8B3-8C5F-4026-AB7A-482E23B03F07}"/>
              </a:ext>
            </a:extLst>
          </p:cNvPr>
          <p:cNvSpPr>
            <a:spLocks noGrp="1"/>
          </p:cNvSpPr>
          <p:nvPr/>
        </p:nvSpPr>
        <p:spPr>
          <a:xfrm>
            <a:off x="533400" y="1028700"/>
            <a:ext cx="11125200" cy="504825"/>
          </a:xfrm>
          <a:prstGeom prst="rect">
            <a:avLst/>
          </a:prstGeom>
          <a:noFill/>
          <a:ln w="0">
            <a:noFill/>
          </a:ln>
        </p:spPr>
        <p:txBody>
          <a:bodyPr>
            <a:noAutofit/>
          </a:bodyPr>
          <a:lstStyle/>
          <a:p>
            <a:pPr>
              <a:defRPr sz="1425" b="0">
                <a:solidFill>
                  <a:srgbClr val="5B7080"/>
                </a:solidFill>
                <a:latin typeface="Aptos"/>
                <a:ea typeface="Aptos"/>
                <a:cs typeface="Aptos"/>
              </a:defRPr>
            </a:pPr>
            <a:r>
              <a:rPr sz="1425" b="0">
                <a:solidFill>
                  <a:srgbClr val="5B7080"/>
                </a:solidFill>
                <a:latin typeface="Aptos"/>
                <a:ea typeface="Aptos"/>
                <a:cs typeface="Aptos"/>
              </a:rPr>
              <a:t>An authorized executive moves from a vendor issue to a decision brief.</a:t>
            </a:r>
          </a:p>
        </p:txBody>
      </p:sp>
      <p:sp>
        <p:nvSpPr>
          <p:cNvPr id="4" name="Rectangle 3">
            <a:extLst>
              <a:ext uri="{FF2B5EF4-FFF2-40B4-BE49-F238E27FC236}">
                <a16:creationId xmlns:a16="http://schemas.microsoft.com/office/drawing/2014/main" id="{998A0AFA-3B4E-4532-9AC0-959F3507397F}"/>
              </a:ext>
            </a:extLst>
          </p:cNvPr>
          <p:cNvSpPr>
            <a:spLocks noGrp="1"/>
          </p:cNvSpPr>
          <p:nvPr/>
        </p:nvSpPr>
        <p:spPr>
          <a:xfrm>
            <a:off x="533400" y="6381750"/>
            <a:ext cx="11125200" cy="9525"/>
          </a:xfrm>
          <a:prstGeom prst="rect">
            <a:avLst/>
          </a:prstGeom>
          <a:solidFill>
            <a:srgbClr val="CBD7DF"/>
          </a:solidFill>
          <a:ln w="0">
            <a:noFill/>
          </a:ln>
        </p:spPr>
        <p:txBody>
          <a:bodyPr/>
          <a:lstStyle/>
          <a:p>
            <a:endParaRPr lang="en-US"/>
          </a:p>
        </p:txBody>
      </p:sp>
      <p:sp>
        <p:nvSpPr>
          <p:cNvPr id="5" name="Rectangle 4">
            <a:extLst>
              <a:ext uri="{FF2B5EF4-FFF2-40B4-BE49-F238E27FC236}">
                <a16:creationId xmlns:a16="http://schemas.microsoft.com/office/drawing/2014/main" id="{4B96B0A5-36C0-4EDA-8B2D-FE9E43B5F971}"/>
              </a:ext>
            </a:extLst>
          </p:cNvPr>
          <p:cNvSpPr>
            <a:spLocks noGrp="1"/>
          </p:cNvSpPr>
          <p:nvPr/>
        </p:nvSpPr>
        <p:spPr>
          <a:xfrm>
            <a:off x="533400" y="6477000"/>
            <a:ext cx="10572750" cy="190500"/>
          </a:xfrm>
          <a:prstGeom prst="rect">
            <a:avLst/>
          </a:prstGeom>
          <a:noFill/>
          <a:ln w="0">
            <a:noFill/>
          </a:ln>
        </p:spPr>
        <p:txBody>
          <a:bodyPr>
            <a:noAutofit/>
          </a:bodyPr>
          <a:lstStyle/>
          <a:p>
            <a:pPr>
              <a:defRPr sz="900" b="0">
                <a:solidFill>
                  <a:srgbClr val="5B7080"/>
                </a:solidFill>
                <a:latin typeface="Aptos"/>
                <a:ea typeface="Aptos"/>
                <a:cs typeface="Aptos"/>
              </a:defRPr>
            </a:pPr>
            <a:r>
              <a:rPr sz="900" b="0">
                <a:solidFill>
                  <a:srgbClr val="5B7080"/>
                </a:solidFill>
                <a:latin typeface="Aptos"/>
                <a:ea typeface="Aptos"/>
                <a:cs typeface="Aptos"/>
              </a:rPr>
              <a:t>COMPANY CONFIDENTIAL   •   FSD v1.0   •   §5, §10</a:t>
            </a:r>
          </a:p>
        </p:txBody>
      </p:sp>
      <p:sp>
        <p:nvSpPr>
          <p:cNvPr id="6" name="Rectangle 5">
            <a:extLst>
              <a:ext uri="{FF2B5EF4-FFF2-40B4-BE49-F238E27FC236}">
                <a16:creationId xmlns:a16="http://schemas.microsoft.com/office/drawing/2014/main" id="{704389BF-97C6-4012-A6B0-7855206AF354}"/>
              </a:ext>
            </a:extLst>
          </p:cNvPr>
          <p:cNvSpPr>
            <a:spLocks noGrp="1"/>
          </p:cNvSpPr>
          <p:nvPr/>
        </p:nvSpPr>
        <p:spPr>
          <a:xfrm>
            <a:off x="11315700" y="6477000"/>
            <a:ext cx="342900" cy="190500"/>
          </a:xfrm>
          <a:prstGeom prst="rect">
            <a:avLst/>
          </a:prstGeom>
          <a:noFill/>
          <a:ln w="0">
            <a:noFill/>
          </a:ln>
        </p:spPr>
        <p:txBody>
          <a:bodyPr>
            <a:noAutofit/>
          </a:bodyPr>
          <a:lstStyle/>
          <a:p>
            <a:pPr>
              <a:defRPr sz="975" b="1">
                <a:solidFill>
                  <a:srgbClr val="102B46"/>
                </a:solidFill>
                <a:latin typeface="Aptos"/>
                <a:ea typeface="Aptos"/>
                <a:cs typeface="Aptos"/>
              </a:defRPr>
            </a:pPr>
            <a:r>
              <a:rPr sz="975" b="1">
                <a:solidFill>
                  <a:srgbClr val="102B46"/>
                </a:solidFill>
                <a:latin typeface="Aptos"/>
                <a:ea typeface="Aptos"/>
                <a:cs typeface="Aptos"/>
              </a:rPr>
              <a:t>05</a:t>
            </a:r>
          </a:p>
        </p:txBody>
      </p:sp>
      <p:sp>
        <p:nvSpPr>
          <p:cNvPr id="7" name="Rectangle 6">
            <a:extLst>
              <a:ext uri="{FF2B5EF4-FFF2-40B4-BE49-F238E27FC236}">
                <a16:creationId xmlns:a16="http://schemas.microsoft.com/office/drawing/2014/main" id="{51884384-1255-4FC3-A4FB-161459EEEB35}"/>
              </a:ext>
            </a:extLst>
          </p:cNvPr>
          <p:cNvSpPr>
            <a:spLocks noGrp="1"/>
          </p:cNvSpPr>
          <p:nvPr/>
        </p:nvSpPr>
        <p:spPr>
          <a:xfrm>
            <a:off x="533400" y="1762125"/>
            <a:ext cx="3524250" cy="1666875"/>
          </a:xfrm>
          <a:prstGeom prst="rect">
            <a:avLst/>
          </a:prstGeom>
          <a:solidFill>
            <a:srgbClr val="FFFFFF"/>
          </a:solidFill>
          <a:ln w="12383">
            <a:solidFill>
              <a:srgbClr val="CBD7DF"/>
            </a:solidFill>
          </a:ln>
        </p:spPr>
        <p:txBody>
          <a:bodyPr/>
          <a:lstStyle/>
          <a:p>
            <a:endParaRPr lang="en-US"/>
          </a:p>
        </p:txBody>
      </p:sp>
      <p:sp>
        <p:nvSpPr>
          <p:cNvPr id="8" name="Rectangle 7">
            <a:extLst>
              <a:ext uri="{FF2B5EF4-FFF2-40B4-BE49-F238E27FC236}">
                <a16:creationId xmlns:a16="http://schemas.microsoft.com/office/drawing/2014/main" id="{A7CC9038-1751-487C-8744-05DD8D6481B1}"/>
              </a:ext>
            </a:extLst>
          </p:cNvPr>
          <p:cNvSpPr>
            <a:spLocks noGrp="1"/>
          </p:cNvSpPr>
          <p:nvPr/>
        </p:nvSpPr>
        <p:spPr>
          <a:xfrm>
            <a:off x="533400" y="1762125"/>
            <a:ext cx="47625" cy="1666875"/>
          </a:xfrm>
          <a:prstGeom prst="rect">
            <a:avLst/>
          </a:prstGeom>
          <a:solidFill>
            <a:srgbClr val="078B8C"/>
          </a:solidFill>
          <a:ln w="0">
            <a:noFill/>
          </a:ln>
        </p:spPr>
        <p:txBody>
          <a:bodyPr/>
          <a:lstStyle/>
          <a:p>
            <a:endParaRPr lang="en-US"/>
          </a:p>
        </p:txBody>
      </p:sp>
      <p:sp>
        <p:nvSpPr>
          <p:cNvPr id="9" name="Rectangle 8">
            <a:extLst>
              <a:ext uri="{FF2B5EF4-FFF2-40B4-BE49-F238E27FC236}">
                <a16:creationId xmlns:a16="http://schemas.microsoft.com/office/drawing/2014/main" id="{4E2E30F4-A887-4904-8051-577F0EC91E40}"/>
              </a:ext>
            </a:extLst>
          </p:cNvPr>
          <p:cNvSpPr>
            <a:spLocks noGrp="1"/>
          </p:cNvSpPr>
          <p:nvPr/>
        </p:nvSpPr>
        <p:spPr>
          <a:xfrm>
            <a:off x="723900" y="1905000"/>
            <a:ext cx="3143250"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1  Cockpit and Ask</a:t>
            </a:r>
          </a:p>
        </p:txBody>
      </p:sp>
      <p:sp>
        <p:nvSpPr>
          <p:cNvPr id="10" name="Rectangle 9">
            <a:extLst>
              <a:ext uri="{FF2B5EF4-FFF2-40B4-BE49-F238E27FC236}">
                <a16:creationId xmlns:a16="http://schemas.microsoft.com/office/drawing/2014/main" id="{B6BB65E1-70F0-4D14-95BA-C5D1086A899A}"/>
              </a:ext>
            </a:extLst>
          </p:cNvPr>
          <p:cNvSpPr>
            <a:spLocks noGrp="1"/>
          </p:cNvSpPr>
          <p:nvPr/>
        </p:nvSpPr>
        <p:spPr>
          <a:xfrm>
            <a:off x="723900" y="2447925"/>
            <a:ext cx="3143250" cy="876300"/>
          </a:xfrm>
          <a:prstGeom prst="rect">
            <a:avLst/>
          </a:prstGeom>
          <a:noFill/>
          <a:ln w="0">
            <a:noFill/>
          </a:ln>
        </p:spPr>
        <p:txBody>
          <a:bodyPr>
            <a:noAutofit/>
          </a:bodyPr>
          <a:lstStyle/>
          <a:p>
            <a:pPr>
              <a:defRPr sz="1500" b="0">
                <a:solidFill>
                  <a:srgbClr val="233B4D"/>
                </a:solidFill>
                <a:latin typeface="Aptos"/>
                <a:ea typeface="Aptos"/>
                <a:cs typeface="Aptos"/>
              </a:defRPr>
            </a:pPr>
            <a:r>
              <a:rPr sz="1500" b="0">
                <a:solidFill>
                  <a:srgbClr val="233B4D"/>
                </a:solidFill>
                <a:latin typeface="Aptos"/>
                <a:ea typeface="Aptos"/>
                <a:cs typeface="Aptos"/>
              </a:rPr>
              <a:t>See the alert</a:t>
            </a:r>
          </a:p>
          <a:p>
            <a:pPr>
              <a:defRPr sz="1500" b="0">
                <a:solidFill>
                  <a:srgbClr val="233B4D"/>
                </a:solidFill>
                <a:latin typeface="Aptos"/>
                <a:ea typeface="Aptos"/>
                <a:cs typeface="Aptos"/>
              </a:defRPr>
            </a:pPr>
            <a:r>
              <a:rPr sz="1500" b="0">
                <a:solidFill>
                  <a:srgbClr val="233B4D"/>
                </a:solidFill>
                <a:latin typeface="Aptos"/>
                <a:ea typeface="Aptos"/>
                <a:cs typeface="Aptos"/>
              </a:rPr>
              <a:t>Ask a renewal question</a:t>
            </a:r>
          </a:p>
        </p:txBody>
      </p:sp>
      <p:sp>
        <p:nvSpPr>
          <p:cNvPr id="11" name="Rectangle 10">
            <a:extLst>
              <a:ext uri="{FF2B5EF4-FFF2-40B4-BE49-F238E27FC236}">
                <a16:creationId xmlns:a16="http://schemas.microsoft.com/office/drawing/2014/main" id="{9104A601-BC34-430C-95DC-D35688A1E178}"/>
              </a:ext>
            </a:extLst>
          </p:cNvPr>
          <p:cNvSpPr>
            <a:spLocks noGrp="1"/>
          </p:cNvSpPr>
          <p:nvPr/>
        </p:nvSpPr>
        <p:spPr>
          <a:xfrm>
            <a:off x="4057650" y="2590800"/>
            <a:ext cx="276225" cy="28575"/>
          </a:xfrm>
          <a:prstGeom prst="rect">
            <a:avLst/>
          </a:prstGeom>
          <a:solidFill>
            <a:srgbClr val="078B8C"/>
          </a:solidFill>
          <a:ln w="0">
            <a:noFill/>
          </a:ln>
        </p:spPr>
        <p:txBody>
          <a:bodyPr/>
          <a:lstStyle/>
          <a:p>
            <a:endParaRPr lang="en-US"/>
          </a:p>
        </p:txBody>
      </p:sp>
      <p:sp>
        <p:nvSpPr>
          <p:cNvPr id="12" name="Rectangle 11">
            <a:extLst>
              <a:ext uri="{FF2B5EF4-FFF2-40B4-BE49-F238E27FC236}">
                <a16:creationId xmlns:a16="http://schemas.microsoft.com/office/drawing/2014/main" id="{62782B24-2A35-4702-B931-DFA04D90A06A}"/>
              </a:ext>
            </a:extLst>
          </p:cNvPr>
          <p:cNvSpPr>
            <a:spLocks noGrp="1"/>
          </p:cNvSpPr>
          <p:nvPr/>
        </p:nvSpPr>
        <p:spPr>
          <a:xfrm>
            <a:off x="4333875" y="1762125"/>
            <a:ext cx="3524250" cy="1666875"/>
          </a:xfrm>
          <a:prstGeom prst="rect">
            <a:avLst/>
          </a:prstGeom>
          <a:solidFill>
            <a:srgbClr val="FFFFFF"/>
          </a:solidFill>
          <a:ln w="12383">
            <a:solidFill>
              <a:srgbClr val="CBD7DF"/>
            </a:solidFill>
          </a:ln>
        </p:spPr>
        <p:txBody>
          <a:bodyPr/>
          <a:lstStyle/>
          <a:p>
            <a:endParaRPr lang="en-US"/>
          </a:p>
        </p:txBody>
      </p:sp>
      <p:sp>
        <p:nvSpPr>
          <p:cNvPr id="13" name="Rectangle 12">
            <a:extLst>
              <a:ext uri="{FF2B5EF4-FFF2-40B4-BE49-F238E27FC236}">
                <a16:creationId xmlns:a16="http://schemas.microsoft.com/office/drawing/2014/main" id="{EEC14812-1269-4C28-A954-075AED8EE753}"/>
              </a:ext>
            </a:extLst>
          </p:cNvPr>
          <p:cNvSpPr>
            <a:spLocks noGrp="1"/>
          </p:cNvSpPr>
          <p:nvPr/>
        </p:nvSpPr>
        <p:spPr>
          <a:xfrm>
            <a:off x="4333875" y="1762125"/>
            <a:ext cx="47625" cy="1666875"/>
          </a:xfrm>
          <a:prstGeom prst="rect">
            <a:avLst/>
          </a:prstGeom>
          <a:solidFill>
            <a:srgbClr val="078B8C"/>
          </a:solidFill>
          <a:ln w="0">
            <a:noFill/>
          </a:ln>
        </p:spPr>
        <p:txBody>
          <a:bodyPr/>
          <a:lstStyle/>
          <a:p>
            <a:endParaRPr lang="en-US"/>
          </a:p>
        </p:txBody>
      </p:sp>
      <p:sp>
        <p:nvSpPr>
          <p:cNvPr id="14" name="Rectangle 13">
            <a:extLst>
              <a:ext uri="{FF2B5EF4-FFF2-40B4-BE49-F238E27FC236}">
                <a16:creationId xmlns:a16="http://schemas.microsoft.com/office/drawing/2014/main" id="{60632B44-0254-4512-9C4A-3EDA2A5D2670}"/>
              </a:ext>
            </a:extLst>
          </p:cNvPr>
          <p:cNvSpPr>
            <a:spLocks noGrp="1"/>
          </p:cNvSpPr>
          <p:nvPr/>
        </p:nvSpPr>
        <p:spPr>
          <a:xfrm>
            <a:off x="4524375" y="1905000"/>
            <a:ext cx="3143250"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2  Vendor 360</a:t>
            </a:r>
          </a:p>
        </p:txBody>
      </p:sp>
      <p:sp>
        <p:nvSpPr>
          <p:cNvPr id="15" name="Rectangle 14">
            <a:extLst>
              <a:ext uri="{FF2B5EF4-FFF2-40B4-BE49-F238E27FC236}">
                <a16:creationId xmlns:a16="http://schemas.microsoft.com/office/drawing/2014/main" id="{B6F95AC3-4EF9-479B-82B7-EFEEFE90C86A}"/>
              </a:ext>
            </a:extLst>
          </p:cNvPr>
          <p:cNvSpPr>
            <a:spLocks noGrp="1"/>
          </p:cNvSpPr>
          <p:nvPr/>
        </p:nvSpPr>
        <p:spPr>
          <a:xfrm>
            <a:off x="4524375" y="2447925"/>
            <a:ext cx="3143250" cy="876300"/>
          </a:xfrm>
          <a:prstGeom prst="rect">
            <a:avLst/>
          </a:prstGeom>
          <a:noFill/>
          <a:ln w="0">
            <a:noFill/>
          </a:ln>
        </p:spPr>
        <p:txBody>
          <a:bodyPr>
            <a:noAutofit/>
          </a:bodyPr>
          <a:lstStyle/>
          <a:p>
            <a:pPr>
              <a:defRPr sz="1500" b="0">
                <a:solidFill>
                  <a:srgbClr val="233B4D"/>
                </a:solidFill>
                <a:latin typeface="Aptos"/>
                <a:ea typeface="Aptos"/>
                <a:cs typeface="Aptos"/>
              </a:defRPr>
            </a:pPr>
            <a:r>
              <a:rPr sz="1500" b="0">
                <a:solidFill>
                  <a:srgbClr val="233B4D"/>
                </a:solidFill>
                <a:latin typeface="Aptos"/>
                <a:ea typeface="Aptos"/>
                <a:cs typeface="Aptos"/>
              </a:rPr>
              <a:t>Check facts and ownership</a:t>
            </a:r>
          </a:p>
          <a:p>
            <a:pPr>
              <a:defRPr sz="1500" b="0">
                <a:solidFill>
                  <a:srgbClr val="233B4D"/>
                </a:solidFill>
                <a:latin typeface="Aptos"/>
                <a:ea typeface="Aptos"/>
                <a:cs typeface="Aptos"/>
              </a:defRPr>
            </a:pPr>
            <a:r>
              <a:rPr sz="1500" b="0">
                <a:solidFill>
                  <a:srgbClr val="233B4D"/>
                </a:solidFill>
                <a:latin typeface="Aptos"/>
                <a:ea typeface="Aptos"/>
                <a:cs typeface="Aptos"/>
              </a:rPr>
              <a:t>Open supporting evidence</a:t>
            </a:r>
          </a:p>
        </p:txBody>
      </p:sp>
      <p:sp>
        <p:nvSpPr>
          <p:cNvPr id="16" name="Rectangle 15">
            <a:extLst>
              <a:ext uri="{FF2B5EF4-FFF2-40B4-BE49-F238E27FC236}">
                <a16:creationId xmlns:a16="http://schemas.microsoft.com/office/drawing/2014/main" id="{EC66CC07-E672-44A7-9B46-FDCE5033365F}"/>
              </a:ext>
            </a:extLst>
          </p:cNvPr>
          <p:cNvSpPr>
            <a:spLocks noGrp="1"/>
          </p:cNvSpPr>
          <p:nvPr/>
        </p:nvSpPr>
        <p:spPr>
          <a:xfrm>
            <a:off x="7858125" y="2590800"/>
            <a:ext cx="276225" cy="28575"/>
          </a:xfrm>
          <a:prstGeom prst="rect">
            <a:avLst/>
          </a:prstGeom>
          <a:solidFill>
            <a:srgbClr val="078B8C"/>
          </a:solidFill>
          <a:ln w="0">
            <a:noFill/>
          </a:ln>
        </p:spPr>
        <p:txBody>
          <a:bodyPr/>
          <a:lstStyle/>
          <a:p>
            <a:endParaRPr lang="en-US"/>
          </a:p>
        </p:txBody>
      </p:sp>
      <p:sp>
        <p:nvSpPr>
          <p:cNvPr id="17" name="Rectangle 16">
            <a:extLst>
              <a:ext uri="{FF2B5EF4-FFF2-40B4-BE49-F238E27FC236}">
                <a16:creationId xmlns:a16="http://schemas.microsoft.com/office/drawing/2014/main" id="{C59CFDAF-7D9A-4432-A883-521DE329B5F0}"/>
              </a:ext>
            </a:extLst>
          </p:cNvPr>
          <p:cNvSpPr>
            <a:spLocks noGrp="1"/>
          </p:cNvSpPr>
          <p:nvPr/>
        </p:nvSpPr>
        <p:spPr>
          <a:xfrm>
            <a:off x="8134350" y="1762125"/>
            <a:ext cx="3524250" cy="1666875"/>
          </a:xfrm>
          <a:prstGeom prst="rect">
            <a:avLst/>
          </a:prstGeom>
          <a:solidFill>
            <a:srgbClr val="FFFFFF"/>
          </a:solidFill>
          <a:ln w="12383">
            <a:solidFill>
              <a:srgbClr val="CBD7DF"/>
            </a:solidFill>
          </a:ln>
        </p:spPr>
        <p:txBody>
          <a:bodyPr/>
          <a:lstStyle/>
          <a:p>
            <a:endParaRPr lang="en-US"/>
          </a:p>
        </p:txBody>
      </p:sp>
      <p:sp>
        <p:nvSpPr>
          <p:cNvPr id="18" name="Rectangle 17">
            <a:extLst>
              <a:ext uri="{FF2B5EF4-FFF2-40B4-BE49-F238E27FC236}">
                <a16:creationId xmlns:a16="http://schemas.microsoft.com/office/drawing/2014/main" id="{8BE5FF64-A044-4B45-991B-E4683686C268}"/>
              </a:ext>
            </a:extLst>
          </p:cNvPr>
          <p:cNvSpPr>
            <a:spLocks noGrp="1"/>
          </p:cNvSpPr>
          <p:nvPr/>
        </p:nvSpPr>
        <p:spPr>
          <a:xfrm>
            <a:off x="8134350" y="1762125"/>
            <a:ext cx="47625" cy="1666875"/>
          </a:xfrm>
          <a:prstGeom prst="rect">
            <a:avLst/>
          </a:prstGeom>
          <a:solidFill>
            <a:srgbClr val="078B8C"/>
          </a:solidFill>
          <a:ln w="0">
            <a:noFill/>
          </a:ln>
        </p:spPr>
        <p:txBody>
          <a:bodyPr/>
          <a:lstStyle/>
          <a:p>
            <a:endParaRPr lang="en-US"/>
          </a:p>
        </p:txBody>
      </p:sp>
      <p:sp>
        <p:nvSpPr>
          <p:cNvPr id="19" name="Rectangle 18">
            <a:extLst>
              <a:ext uri="{FF2B5EF4-FFF2-40B4-BE49-F238E27FC236}">
                <a16:creationId xmlns:a16="http://schemas.microsoft.com/office/drawing/2014/main" id="{344954A8-5C31-405E-9DEC-CD9CB827B457}"/>
              </a:ext>
            </a:extLst>
          </p:cNvPr>
          <p:cNvSpPr>
            <a:spLocks noGrp="1"/>
          </p:cNvSpPr>
          <p:nvPr/>
        </p:nvSpPr>
        <p:spPr>
          <a:xfrm>
            <a:off x="8324850" y="1905000"/>
            <a:ext cx="3143250"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3  Dependencies</a:t>
            </a:r>
          </a:p>
        </p:txBody>
      </p:sp>
      <p:sp>
        <p:nvSpPr>
          <p:cNvPr id="20" name="Rectangle 19">
            <a:extLst>
              <a:ext uri="{FF2B5EF4-FFF2-40B4-BE49-F238E27FC236}">
                <a16:creationId xmlns:a16="http://schemas.microsoft.com/office/drawing/2014/main" id="{4D9DE5F3-2F8E-43AA-8682-C7BEC8F06BEE}"/>
              </a:ext>
            </a:extLst>
          </p:cNvPr>
          <p:cNvSpPr>
            <a:spLocks noGrp="1"/>
          </p:cNvSpPr>
          <p:nvPr/>
        </p:nvSpPr>
        <p:spPr>
          <a:xfrm>
            <a:off x="8324850" y="2447925"/>
            <a:ext cx="3143250" cy="876300"/>
          </a:xfrm>
          <a:prstGeom prst="rect">
            <a:avLst/>
          </a:prstGeom>
          <a:noFill/>
          <a:ln w="0">
            <a:noFill/>
          </a:ln>
        </p:spPr>
        <p:txBody>
          <a:bodyPr>
            <a:noAutofit/>
          </a:bodyPr>
          <a:lstStyle/>
          <a:p>
            <a:pPr>
              <a:defRPr sz="1500" b="0">
                <a:solidFill>
                  <a:srgbClr val="233B4D"/>
                </a:solidFill>
                <a:latin typeface="Aptos"/>
                <a:ea typeface="Aptos"/>
                <a:cs typeface="Aptos"/>
              </a:defRPr>
            </a:pPr>
            <a:r>
              <a:rPr sz="1500" b="0">
                <a:solidFill>
                  <a:srgbClr val="233B4D"/>
                </a:solidFill>
                <a:latin typeface="Aptos"/>
                <a:ea typeface="Aptos"/>
                <a:cs typeface="Aptos"/>
              </a:rPr>
              <a:t>Explore contracts and workforce</a:t>
            </a:r>
          </a:p>
          <a:p>
            <a:pPr>
              <a:defRPr sz="1500" b="0">
                <a:solidFill>
                  <a:srgbClr val="233B4D"/>
                </a:solidFill>
                <a:latin typeface="Aptos"/>
                <a:ea typeface="Aptos"/>
                <a:cs typeface="Aptos"/>
              </a:defRPr>
            </a:pPr>
            <a:r>
              <a:rPr sz="1500" b="0">
                <a:solidFill>
                  <a:srgbClr val="233B4D"/>
                </a:solidFill>
                <a:latin typeface="Aptos"/>
                <a:ea typeface="Aptos"/>
                <a:cs typeface="Aptos"/>
              </a:rPr>
              <a:t>Trace applications and products</a:t>
            </a:r>
          </a:p>
        </p:txBody>
      </p:sp>
      <p:sp>
        <p:nvSpPr>
          <p:cNvPr id="21" name="Rectangle 20">
            <a:extLst>
              <a:ext uri="{FF2B5EF4-FFF2-40B4-BE49-F238E27FC236}">
                <a16:creationId xmlns:a16="http://schemas.microsoft.com/office/drawing/2014/main" id="{99A877D6-441F-4118-A40D-6CE39E809395}"/>
              </a:ext>
            </a:extLst>
          </p:cNvPr>
          <p:cNvSpPr>
            <a:spLocks noGrp="1"/>
          </p:cNvSpPr>
          <p:nvPr/>
        </p:nvSpPr>
        <p:spPr>
          <a:xfrm>
            <a:off x="533400" y="3733800"/>
            <a:ext cx="3524250" cy="1666875"/>
          </a:xfrm>
          <a:prstGeom prst="rect">
            <a:avLst/>
          </a:prstGeom>
          <a:solidFill>
            <a:srgbClr val="FFFFFF"/>
          </a:solidFill>
          <a:ln w="12383">
            <a:solidFill>
              <a:srgbClr val="CBD7DF"/>
            </a:solidFill>
          </a:ln>
        </p:spPr>
        <p:txBody>
          <a:bodyPr/>
          <a:lstStyle/>
          <a:p>
            <a:endParaRPr lang="en-US"/>
          </a:p>
        </p:txBody>
      </p:sp>
      <p:sp>
        <p:nvSpPr>
          <p:cNvPr id="22" name="Rectangle 21">
            <a:extLst>
              <a:ext uri="{FF2B5EF4-FFF2-40B4-BE49-F238E27FC236}">
                <a16:creationId xmlns:a16="http://schemas.microsoft.com/office/drawing/2014/main" id="{1FD36E3E-3478-43AB-BE00-224DFDD5F89B}"/>
              </a:ext>
            </a:extLst>
          </p:cNvPr>
          <p:cNvSpPr>
            <a:spLocks noGrp="1"/>
          </p:cNvSpPr>
          <p:nvPr/>
        </p:nvSpPr>
        <p:spPr>
          <a:xfrm>
            <a:off x="533400" y="3733800"/>
            <a:ext cx="47625" cy="1666875"/>
          </a:xfrm>
          <a:prstGeom prst="rect">
            <a:avLst/>
          </a:prstGeom>
          <a:solidFill>
            <a:srgbClr val="078B8C"/>
          </a:solidFill>
          <a:ln w="0">
            <a:noFill/>
          </a:ln>
        </p:spPr>
        <p:txBody>
          <a:bodyPr/>
          <a:lstStyle/>
          <a:p>
            <a:endParaRPr lang="en-US"/>
          </a:p>
        </p:txBody>
      </p:sp>
      <p:sp>
        <p:nvSpPr>
          <p:cNvPr id="23" name="Rectangle 22">
            <a:extLst>
              <a:ext uri="{FF2B5EF4-FFF2-40B4-BE49-F238E27FC236}">
                <a16:creationId xmlns:a16="http://schemas.microsoft.com/office/drawing/2014/main" id="{8749391B-9110-4354-87A3-7CA84AB4886F}"/>
              </a:ext>
            </a:extLst>
          </p:cNvPr>
          <p:cNvSpPr>
            <a:spLocks noGrp="1"/>
          </p:cNvSpPr>
          <p:nvPr/>
        </p:nvSpPr>
        <p:spPr>
          <a:xfrm>
            <a:off x="723900" y="3876675"/>
            <a:ext cx="3143250"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4  Commercial analysis</a:t>
            </a:r>
          </a:p>
        </p:txBody>
      </p:sp>
      <p:sp>
        <p:nvSpPr>
          <p:cNvPr id="24" name="Rectangle 23">
            <a:extLst>
              <a:ext uri="{FF2B5EF4-FFF2-40B4-BE49-F238E27FC236}">
                <a16:creationId xmlns:a16="http://schemas.microsoft.com/office/drawing/2014/main" id="{D5FF3804-64D0-4819-808A-EA4DDF6CC209}"/>
              </a:ext>
            </a:extLst>
          </p:cNvPr>
          <p:cNvSpPr>
            <a:spLocks noGrp="1"/>
          </p:cNvSpPr>
          <p:nvPr/>
        </p:nvSpPr>
        <p:spPr>
          <a:xfrm>
            <a:off x="723900" y="4419600"/>
            <a:ext cx="3143250" cy="876300"/>
          </a:xfrm>
          <a:prstGeom prst="rect">
            <a:avLst/>
          </a:prstGeom>
          <a:noFill/>
          <a:ln w="0">
            <a:noFill/>
          </a:ln>
        </p:spPr>
        <p:txBody>
          <a:bodyPr>
            <a:noAutofit/>
          </a:bodyPr>
          <a:lstStyle/>
          <a:p>
            <a:pPr>
              <a:defRPr sz="1500" b="0">
                <a:solidFill>
                  <a:srgbClr val="233B4D"/>
                </a:solidFill>
                <a:latin typeface="Aptos"/>
                <a:ea typeface="Aptos"/>
                <a:cs typeface="Aptos"/>
              </a:defRPr>
            </a:pPr>
            <a:r>
              <a:rPr sz="1500" b="0">
                <a:solidFill>
                  <a:srgbClr val="233B4D"/>
                </a:solidFill>
                <a:latin typeface="Aptos"/>
                <a:ea typeface="Aptos"/>
                <a:cs typeface="Aptos"/>
              </a:rPr>
              <a:t>Review renewals and overlap</a:t>
            </a:r>
          </a:p>
          <a:p>
            <a:pPr>
              <a:defRPr sz="1500" b="0">
                <a:solidFill>
                  <a:srgbClr val="233B4D"/>
                </a:solidFill>
                <a:latin typeface="Aptos"/>
                <a:ea typeface="Aptos"/>
                <a:cs typeface="Aptos"/>
              </a:defRPr>
            </a:pPr>
            <a:r>
              <a:rPr sz="1500" b="0">
                <a:solidFill>
                  <a:srgbClr val="233B4D"/>
                </a:solidFill>
                <a:latin typeface="Aptos"/>
                <a:ea typeface="Aptos"/>
                <a:cs typeface="Aptos"/>
              </a:rPr>
              <a:t>Explain spend variance</a:t>
            </a:r>
          </a:p>
        </p:txBody>
      </p:sp>
      <p:sp>
        <p:nvSpPr>
          <p:cNvPr id="25" name="Rectangle 24">
            <a:extLst>
              <a:ext uri="{FF2B5EF4-FFF2-40B4-BE49-F238E27FC236}">
                <a16:creationId xmlns:a16="http://schemas.microsoft.com/office/drawing/2014/main" id="{74738D2B-7960-43B0-AB9F-EBA4721A47DF}"/>
              </a:ext>
            </a:extLst>
          </p:cNvPr>
          <p:cNvSpPr>
            <a:spLocks noGrp="1"/>
          </p:cNvSpPr>
          <p:nvPr/>
        </p:nvSpPr>
        <p:spPr>
          <a:xfrm>
            <a:off x="4057650" y="4562475"/>
            <a:ext cx="276225" cy="28575"/>
          </a:xfrm>
          <a:prstGeom prst="rect">
            <a:avLst/>
          </a:prstGeom>
          <a:solidFill>
            <a:srgbClr val="078B8C"/>
          </a:solidFill>
          <a:ln w="0">
            <a:noFill/>
          </a:ln>
        </p:spPr>
        <p:txBody>
          <a:bodyPr/>
          <a:lstStyle/>
          <a:p>
            <a:endParaRPr lang="en-US"/>
          </a:p>
        </p:txBody>
      </p:sp>
      <p:sp>
        <p:nvSpPr>
          <p:cNvPr id="26" name="Rectangle 25">
            <a:extLst>
              <a:ext uri="{FF2B5EF4-FFF2-40B4-BE49-F238E27FC236}">
                <a16:creationId xmlns:a16="http://schemas.microsoft.com/office/drawing/2014/main" id="{9CAC9D9D-CD60-4211-B231-C849BE44FCEA}"/>
              </a:ext>
            </a:extLst>
          </p:cNvPr>
          <p:cNvSpPr>
            <a:spLocks noGrp="1"/>
          </p:cNvSpPr>
          <p:nvPr/>
        </p:nvSpPr>
        <p:spPr>
          <a:xfrm>
            <a:off x="4333875" y="3733800"/>
            <a:ext cx="3524250" cy="1666875"/>
          </a:xfrm>
          <a:prstGeom prst="rect">
            <a:avLst/>
          </a:prstGeom>
          <a:solidFill>
            <a:srgbClr val="FFFFFF"/>
          </a:solidFill>
          <a:ln w="12383">
            <a:solidFill>
              <a:srgbClr val="CBD7DF"/>
            </a:solidFill>
          </a:ln>
        </p:spPr>
        <p:txBody>
          <a:bodyPr/>
          <a:lstStyle/>
          <a:p>
            <a:endParaRPr lang="en-US"/>
          </a:p>
        </p:txBody>
      </p:sp>
      <p:sp>
        <p:nvSpPr>
          <p:cNvPr id="27" name="Rectangle 26">
            <a:extLst>
              <a:ext uri="{FF2B5EF4-FFF2-40B4-BE49-F238E27FC236}">
                <a16:creationId xmlns:a16="http://schemas.microsoft.com/office/drawing/2014/main" id="{E159FC9C-15C5-43D9-9407-BBFA9F0BA7E2}"/>
              </a:ext>
            </a:extLst>
          </p:cNvPr>
          <p:cNvSpPr>
            <a:spLocks noGrp="1"/>
          </p:cNvSpPr>
          <p:nvPr/>
        </p:nvSpPr>
        <p:spPr>
          <a:xfrm>
            <a:off x="4333875" y="3733800"/>
            <a:ext cx="47625" cy="1666875"/>
          </a:xfrm>
          <a:prstGeom prst="rect">
            <a:avLst/>
          </a:prstGeom>
          <a:solidFill>
            <a:srgbClr val="078B8C"/>
          </a:solidFill>
          <a:ln w="0">
            <a:noFill/>
          </a:ln>
        </p:spPr>
        <p:txBody>
          <a:bodyPr/>
          <a:lstStyle/>
          <a:p>
            <a:endParaRPr lang="en-US"/>
          </a:p>
        </p:txBody>
      </p:sp>
      <p:sp>
        <p:nvSpPr>
          <p:cNvPr id="28" name="Rectangle 27">
            <a:extLst>
              <a:ext uri="{FF2B5EF4-FFF2-40B4-BE49-F238E27FC236}">
                <a16:creationId xmlns:a16="http://schemas.microsoft.com/office/drawing/2014/main" id="{F7619B2E-8AAD-4F67-8FF2-B252082F948E}"/>
              </a:ext>
            </a:extLst>
          </p:cNvPr>
          <p:cNvSpPr>
            <a:spLocks noGrp="1"/>
          </p:cNvSpPr>
          <p:nvPr/>
        </p:nvSpPr>
        <p:spPr>
          <a:xfrm>
            <a:off x="4524375" y="3876675"/>
            <a:ext cx="3143250"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5  What-if scenario</a:t>
            </a:r>
          </a:p>
        </p:txBody>
      </p:sp>
      <p:sp>
        <p:nvSpPr>
          <p:cNvPr id="29" name="Rectangle 28">
            <a:extLst>
              <a:ext uri="{FF2B5EF4-FFF2-40B4-BE49-F238E27FC236}">
                <a16:creationId xmlns:a16="http://schemas.microsoft.com/office/drawing/2014/main" id="{7D604313-4CB8-49DC-8BE7-E16361E3C89B}"/>
              </a:ext>
            </a:extLst>
          </p:cNvPr>
          <p:cNvSpPr>
            <a:spLocks noGrp="1"/>
          </p:cNvSpPr>
          <p:nvPr/>
        </p:nvSpPr>
        <p:spPr>
          <a:xfrm>
            <a:off x="4524375" y="4419600"/>
            <a:ext cx="3143250" cy="876300"/>
          </a:xfrm>
          <a:prstGeom prst="rect">
            <a:avLst/>
          </a:prstGeom>
          <a:noFill/>
          <a:ln w="0">
            <a:noFill/>
          </a:ln>
        </p:spPr>
        <p:txBody>
          <a:bodyPr>
            <a:noAutofit/>
          </a:bodyPr>
          <a:lstStyle/>
          <a:p>
            <a:pPr>
              <a:defRPr sz="1500" b="0">
                <a:solidFill>
                  <a:srgbClr val="233B4D"/>
                </a:solidFill>
                <a:latin typeface="Aptos"/>
                <a:ea typeface="Aptos"/>
                <a:cs typeface="Aptos"/>
              </a:defRPr>
            </a:pPr>
            <a:r>
              <a:rPr sz="1500" b="0">
                <a:solidFill>
                  <a:srgbClr val="233B4D"/>
                </a:solidFill>
                <a:latin typeface="Aptos"/>
                <a:ea typeface="Aptos"/>
                <a:cs typeface="Aptos"/>
              </a:rPr>
              <a:t>Set an allowed lever</a:t>
            </a:r>
          </a:p>
          <a:p>
            <a:pPr>
              <a:defRPr sz="1500" b="0">
                <a:solidFill>
                  <a:srgbClr val="233B4D"/>
                </a:solidFill>
                <a:latin typeface="Aptos"/>
                <a:ea typeface="Aptos"/>
                <a:cs typeface="Aptos"/>
              </a:defRPr>
            </a:pPr>
            <a:r>
              <a:rPr sz="1500" b="0">
                <a:solidFill>
                  <a:srgbClr val="233B4D"/>
                </a:solidFill>
                <a:latin typeface="Aptos"/>
                <a:ea typeface="Aptos"/>
                <a:cs typeface="Aptos"/>
              </a:rPr>
              <a:t>Compare impacts and assumptions</a:t>
            </a:r>
          </a:p>
        </p:txBody>
      </p:sp>
      <p:sp>
        <p:nvSpPr>
          <p:cNvPr id="30" name="Rectangle 29">
            <a:extLst>
              <a:ext uri="{FF2B5EF4-FFF2-40B4-BE49-F238E27FC236}">
                <a16:creationId xmlns:a16="http://schemas.microsoft.com/office/drawing/2014/main" id="{A7ECF2FB-448F-4D76-B108-582647A38B3C}"/>
              </a:ext>
            </a:extLst>
          </p:cNvPr>
          <p:cNvSpPr>
            <a:spLocks noGrp="1"/>
          </p:cNvSpPr>
          <p:nvPr/>
        </p:nvSpPr>
        <p:spPr>
          <a:xfrm>
            <a:off x="7858125" y="4562475"/>
            <a:ext cx="276225" cy="28575"/>
          </a:xfrm>
          <a:prstGeom prst="rect">
            <a:avLst/>
          </a:prstGeom>
          <a:solidFill>
            <a:srgbClr val="078B8C"/>
          </a:solidFill>
          <a:ln w="0">
            <a:noFill/>
          </a:ln>
        </p:spPr>
        <p:txBody>
          <a:bodyPr/>
          <a:lstStyle/>
          <a:p>
            <a:endParaRPr lang="en-US"/>
          </a:p>
        </p:txBody>
      </p:sp>
      <p:sp>
        <p:nvSpPr>
          <p:cNvPr id="31" name="Rectangle 30">
            <a:extLst>
              <a:ext uri="{FF2B5EF4-FFF2-40B4-BE49-F238E27FC236}">
                <a16:creationId xmlns:a16="http://schemas.microsoft.com/office/drawing/2014/main" id="{31DC3709-B14E-41B8-A60E-C2B3D1935C53}"/>
              </a:ext>
            </a:extLst>
          </p:cNvPr>
          <p:cNvSpPr>
            <a:spLocks noGrp="1"/>
          </p:cNvSpPr>
          <p:nvPr/>
        </p:nvSpPr>
        <p:spPr>
          <a:xfrm>
            <a:off x="8134350" y="3733800"/>
            <a:ext cx="3524250" cy="1666875"/>
          </a:xfrm>
          <a:prstGeom prst="rect">
            <a:avLst/>
          </a:prstGeom>
          <a:solidFill>
            <a:srgbClr val="FFFFFF"/>
          </a:solidFill>
          <a:ln w="12383">
            <a:solidFill>
              <a:srgbClr val="CBD7DF"/>
            </a:solidFill>
          </a:ln>
        </p:spPr>
        <p:txBody>
          <a:bodyPr/>
          <a:lstStyle/>
          <a:p>
            <a:endParaRPr lang="en-US"/>
          </a:p>
        </p:txBody>
      </p:sp>
      <p:sp>
        <p:nvSpPr>
          <p:cNvPr id="32" name="Rectangle 31">
            <a:extLst>
              <a:ext uri="{FF2B5EF4-FFF2-40B4-BE49-F238E27FC236}">
                <a16:creationId xmlns:a16="http://schemas.microsoft.com/office/drawing/2014/main" id="{06E218A2-20E7-484A-B8D4-DF730511B47C}"/>
              </a:ext>
            </a:extLst>
          </p:cNvPr>
          <p:cNvSpPr>
            <a:spLocks noGrp="1"/>
          </p:cNvSpPr>
          <p:nvPr/>
        </p:nvSpPr>
        <p:spPr>
          <a:xfrm>
            <a:off x="8134350" y="3733800"/>
            <a:ext cx="47625" cy="1666875"/>
          </a:xfrm>
          <a:prstGeom prst="rect">
            <a:avLst/>
          </a:prstGeom>
          <a:solidFill>
            <a:srgbClr val="078B8C"/>
          </a:solidFill>
          <a:ln w="0">
            <a:noFill/>
          </a:ln>
        </p:spPr>
        <p:txBody>
          <a:bodyPr/>
          <a:lstStyle/>
          <a:p>
            <a:endParaRPr lang="en-US"/>
          </a:p>
        </p:txBody>
      </p:sp>
      <p:sp>
        <p:nvSpPr>
          <p:cNvPr id="33" name="Rectangle 32">
            <a:extLst>
              <a:ext uri="{FF2B5EF4-FFF2-40B4-BE49-F238E27FC236}">
                <a16:creationId xmlns:a16="http://schemas.microsoft.com/office/drawing/2014/main" id="{75A180FD-1EDF-4D22-9DB5-3AAA54B7F474}"/>
              </a:ext>
            </a:extLst>
          </p:cNvPr>
          <p:cNvSpPr>
            <a:spLocks noGrp="1"/>
          </p:cNvSpPr>
          <p:nvPr/>
        </p:nvSpPr>
        <p:spPr>
          <a:xfrm>
            <a:off x="8324850" y="3876675"/>
            <a:ext cx="3143250"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6  Decision brief</a:t>
            </a:r>
          </a:p>
        </p:txBody>
      </p:sp>
      <p:sp>
        <p:nvSpPr>
          <p:cNvPr id="34" name="Rectangle 33">
            <a:extLst>
              <a:ext uri="{FF2B5EF4-FFF2-40B4-BE49-F238E27FC236}">
                <a16:creationId xmlns:a16="http://schemas.microsoft.com/office/drawing/2014/main" id="{6D8B605F-E2D7-459B-B544-FBEC4A334C50}"/>
              </a:ext>
            </a:extLst>
          </p:cNvPr>
          <p:cNvSpPr>
            <a:spLocks noGrp="1"/>
          </p:cNvSpPr>
          <p:nvPr/>
        </p:nvSpPr>
        <p:spPr>
          <a:xfrm>
            <a:off x="8324850" y="4419600"/>
            <a:ext cx="3143250" cy="876300"/>
          </a:xfrm>
          <a:prstGeom prst="rect">
            <a:avLst/>
          </a:prstGeom>
          <a:noFill/>
          <a:ln w="0">
            <a:noFill/>
          </a:ln>
        </p:spPr>
        <p:txBody>
          <a:bodyPr>
            <a:noAutofit/>
          </a:bodyPr>
          <a:lstStyle/>
          <a:p>
            <a:pPr>
              <a:defRPr sz="1500" b="0">
                <a:solidFill>
                  <a:srgbClr val="233B4D"/>
                </a:solidFill>
                <a:latin typeface="Aptos"/>
                <a:ea typeface="Aptos"/>
                <a:cs typeface="Aptos"/>
              </a:defRPr>
            </a:pPr>
            <a:r>
              <a:rPr sz="1500" b="0">
                <a:solidFill>
                  <a:srgbClr val="233B4D"/>
                </a:solidFill>
                <a:latin typeface="Aptos"/>
                <a:ea typeface="Aptos"/>
                <a:cs typeface="Aptos"/>
              </a:rPr>
              <a:t>Compare explainable options</a:t>
            </a:r>
          </a:p>
          <a:p>
            <a:pPr>
              <a:defRPr sz="1500" b="0">
                <a:solidFill>
                  <a:srgbClr val="233B4D"/>
                </a:solidFill>
                <a:latin typeface="Aptos"/>
                <a:ea typeface="Aptos"/>
                <a:cs typeface="Aptos"/>
              </a:defRPr>
            </a:pPr>
            <a:r>
              <a:rPr sz="1500" b="0">
                <a:solidFill>
                  <a:srgbClr val="233B4D"/>
                </a:solidFill>
                <a:latin typeface="Aptos"/>
                <a:ea typeface="Aptos"/>
                <a:cs typeface="Aptos"/>
              </a:rPr>
              <a:t>Human reviews and decides</a:t>
            </a:r>
          </a:p>
        </p:txBody>
      </p:sp>
      <p:sp>
        <p:nvSpPr>
          <p:cNvPr id="35" name="Rectangle 34">
            <a:extLst>
              <a:ext uri="{FF2B5EF4-FFF2-40B4-BE49-F238E27FC236}">
                <a16:creationId xmlns:a16="http://schemas.microsoft.com/office/drawing/2014/main" id="{242ABD70-AB74-4182-A6A5-3196AA5F62CA}"/>
              </a:ext>
            </a:extLst>
          </p:cNvPr>
          <p:cNvSpPr>
            <a:spLocks noGrp="1"/>
          </p:cNvSpPr>
          <p:nvPr/>
        </p:nvSpPr>
        <p:spPr>
          <a:xfrm>
            <a:off x="533400" y="5753100"/>
            <a:ext cx="11125200" cy="428625"/>
          </a:xfrm>
          <a:prstGeom prst="rect">
            <a:avLst/>
          </a:prstGeom>
          <a:solidFill>
            <a:srgbClr val="EFF5F8"/>
          </a:solidFill>
          <a:ln w="12383">
            <a:solidFill>
              <a:srgbClr val="EFF5F8"/>
            </a:solidFill>
          </a:ln>
        </p:spPr>
        <p:txBody>
          <a:bodyPr/>
          <a:lstStyle/>
          <a:p>
            <a:endParaRPr lang="en-US"/>
          </a:p>
        </p:txBody>
      </p:sp>
      <p:sp>
        <p:nvSpPr>
          <p:cNvPr id="36" name="Rectangle 35">
            <a:extLst>
              <a:ext uri="{FF2B5EF4-FFF2-40B4-BE49-F238E27FC236}">
                <a16:creationId xmlns:a16="http://schemas.microsoft.com/office/drawing/2014/main" id="{2DB5E8A2-7734-4188-8591-83CC1A2CD6E5}"/>
              </a:ext>
            </a:extLst>
          </p:cNvPr>
          <p:cNvSpPr>
            <a:spLocks noGrp="1"/>
          </p:cNvSpPr>
          <p:nvPr/>
        </p:nvSpPr>
        <p:spPr>
          <a:xfrm>
            <a:off x="676275" y="5867400"/>
            <a:ext cx="10839450" cy="238125"/>
          </a:xfrm>
          <a:prstGeom prst="rect">
            <a:avLst/>
          </a:prstGeom>
          <a:noFill/>
          <a:ln w="0">
            <a:noFill/>
          </a:ln>
        </p:spPr>
        <p:txBody>
          <a:bodyPr>
            <a:noAutofit/>
          </a:bodyPr>
          <a:lstStyle/>
          <a:p>
            <a:pPr>
              <a:defRPr sz="1350" b="0">
                <a:solidFill>
                  <a:srgbClr val="102B46"/>
                </a:solidFill>
                <a:latin typeface="Aptos"/>
                <a:ea typeface="Aptos"/>
                <a:cs typeface="Aptos"/>
              </a:defRPr>
            </a:pPr>
            <a:r>
              <a:rPr sz="1350" b="0">
                <a:solidFill>
                  <a:srgbClr val="102B46"/>
                </a:solidFill>
                <a:latin typeface="Aptos"/>
                <a:ea typeface="Aptos"/>
                <a:cs typeface="Aptos"/>
              </a:rPr>
              <a:t>The same evidence context follows the user. Follow-up questions and exports recheck authorization.</a:t>
            </a:r>
          </a:p>
        </p:txBody>
      </p:sp>
    </p:spTree>
    <p:extLst>
      <p:ext uri="{BB962C8B-B14F-4D97-AF65-F5344CB8AC3E}">
        <p14:creationId xmlns:p14="http://schemas.microsoft.com/office/powerpoint/2010/main" val="3259411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9766007A-264D-41F7-AB48-5029F76697E0}"/>
              </a:ext>
            </a:extLst>
          </p:cNvPr>
          <p:cNvSpPr>
            <a:spLocks noGrp="1"/>
          </p:cNvSpPr>
          <p:nvPr/>
        </p:nvSpPr>
        <p:spPr>
          <a:xfrm>
            <a:off x="0" y="0"/>
            <a:ext cx="12192000" cy="95250"/>
          </a:xfrm>
          <a:prstGeom prst="rect">
            <a:avLst/>
          </a:prstGeom>
          <a:solidFill>
            <a:srgbClr val="0067A0"/>
          </a:solidFill>
          <a:ln w="0">
            <a:noFill/>
          </a:ln>
        </p:spPr>
        <p:txBody>
          <a:bodyPr/>
          <a:lstStyle/>
          <a:p>
            <a:endParaRPr lang="en-US"/>
          </a:p>
        </p:txBody>
      </p:sp>
      <p:sp>
        <p:nvSpPr>
          <p:cNvPr id="2" name="Rectangle 1">
            <a:extLst>
              <a:ext uri="{FF2B5EF4-FFF2-40B4-BE49-F238E27FC236}">
                <a16:creationId xmlns:a16="http://schemas.microsoft.com/office/drawing/2014/main" id="{C9E9266A-F7CD-4AEC-90C0-BF428E86776B}"/>
              </a:ext>
            </a:extLst>
          </p:cNvPr>
          <p:cNvSpPr>
            <a:spLocks noGrp="1"/>
          </p:cNvSpPr>
          <p:nvPr/>
        </p:nvSpPr>
        <p:spPr>
          <a:xfrm>
            <a:off x="533400" y="400050"/>
            <a:ext cx="11125200" cy="571500"/>
          </a:xfrm>
          <a:prstGeom prst="rect">
            <a:avLst/>
          </a:prstGeom>
          <a:noFill/>
          <a:ln w="0">
            <a:noFill/>
          </a:ln>
        </p:spPr>
        <p:txBody>
          <a:bodyPr>
            <a:noAutofit/>
          </a:bodyPr>
          <a:lstStyle/>
          <a:p>
            <a:pPr>
              <a:defRPr sz="2700" b="1">
                <a:solidFill>
                  <a:srgbClr val="102B46"/>
                </a:solidFill>
                <a:latin typeface="Aptos"/>
                <a:ea typeface="Aptos"/>
                <a:cs typeface="Aptos"/>
              </a:defRPr>
            </a:pPr>
            <a:r>
              <a:rPr sz="2700" b="1">
                <a:solidFill>
                  <a:srgbClr val="102B46"/>
                </a:solidFill>
                <a:latin typeface="Aptos"/>
                <a:ea typeface="Aptos"/>
                <a:cs typeface="Aptos"/>
              </a:rPr>
              <a:t>Trust and human control are part of the demo</a:t>
            </a:r>
          </a:p>
        </p:txBody>
      </p:sp>
      <p:sp>
        <p:nvSpPr>
          <p:cNvPr id="3" name="Rectangle 2">
            <a:extLst>
              <a:ext uri="{FF2B5EF4-FFF2-40B4-BE49-F238E27FC236}">
                <a16:creationId xmlns:a16="http://schemas.microsoft.com/office/drawing/2014/main" id="{6EAB6FFF-D6EC-4128-859A-58973AEBD508}"/>
              </a:ext>
            </a:extLst>
          </p:cNvPr>
          <p:cNvSpPr>
            <a:spLocks noGrp="1"/>
          </p:cNvSpPr>
          <p:nvPr/>
        </p:nvSpPr>
        <p:spPr>
          <a:xfrm>
            <a:off x="533400" y="1028700"/>
            <a:ext cx="11125200" cy="504825"/>
          </a:xfrm>
          <a:prstGeom prst="rect">
            <a:avLst/>
          </a:prstGeom>
          <a:noFill/>
          <a:ln w="0">
            <a:noFill/>
          </a:ln>
        </p:spPr>
        <p:txBody>
          <a:bodyPr>
            <a:noAutofit/>
          </a:bodyPr>
          <a:lstStyle/>
          <a:p>
            <a:pPr>
              <a:defRPr sz="1425" b="0">
                <a:solidFill>
                  <a:srgbClr val="5B7080"/>
                </a:solidFill>
                <a:latin typeface="Aptos"/>
                <a:ea typeface="Aptos"/>
                <a:cs typeface="Aptos"/>
              </a:defRPr>
            </a:pPr>
            <a:r>
              <a:rPr sz="1425" b="0">
                <a:solidFill>
                  <a:srgbClr val="5B7080"/>
                </a:solidFill>
                <a:latin typeface="Aptos"/>
                <a:ea typeface="Aptos"/>
                <a:cs typeface="Aptos"/>
              </a:rPr>
              <a:t>The FSD defines how the experience behaves when evidence is restricted, incomplete or uncertain.</a:t>
            </a:r>
          </a:p>
        </p:txBody>
      </p:sp>
      <p:sp>
        <p:nvSpPr>
          <p:cNvPr id="4" name="Rectangle 3">
            <a:extLst>
              <a:ext uri="{FF2B5EF4-FFF2-40B4-BE49-F238E27FC236}">
                <a16:creationId xmlns:a16="http://schemas.microsoft.com/office/drawing/2014/main" id="{1B7A071C-F196-4E41-BB39-C8BC6492542E}"/>
              </a:ext>
            </a:extLst>
          </p:cNvPr>
          <p:cNvSpPr>
            <a:spLocks noGrp="1"/>
          </p:cNvSpPr>
          <p:nvPr/>
        </p:nvSpPr>
        <p:spPr>
          <a:xfrm>
            <a:off x="533400" y="6381750"/>
            <a:ext cx="11125200" cy="9525"/>
          </a:xfrm>
          <a:prstGeom prst="rect">
            <a:avLst/>
          </a:prstGeom>
          <a:solidFill>
            <a:srgbClr val="CBD7DF"/>
          </a:solidFill>
          <a:ln w="0">
            <a:noFill/>
          </a:ln>
        </p:spPr>
        <p:txBody>
          <a:bodyPr/>
          <a:lstStyle/>
          <a:p>
            <a:endParaRPr lang="en-US"/>
          </a:p>
        </p:txBody>
      </p:sp>
      <p:sp>
        <p:nvSpPr>
          <p:cNvPr id="5" name="Rectangle 4">
            <a:extLst>
              <a:ext uri="{FF2B5EF4-FFF2-40B4-BE49-F238E27FC236}">
                <a16:creationId xmlns:a16="http://schemas.microsoft.com/office/drawing/2014/main" id="{494EEC36-DB74-4EFF-B3F2-71286CAA4702}"/>
              </a:ext>
            </a:extLst>
          </p:cNvPr>
          <p:cNvSpPr>
            <a:spLocks noGrp="1"/>
          </p:cNvSpPr>
          <p:nvPr/>
        </p:nvSpPr>
        <p:spPr>
          <a:xfrm>
            <a:off x="533400" y="6477000"/>
            <a:ext cx="10572750" cy="190500"/>
          </a:xfrm>
          <a:prstGeom prst="rect">
            <a:avLst/>
          </a:prstGeom>
          <a:noFill/>
          <a:ln w="0">
            <a:noFill/>
          </a:ln>
        </p:spPr>
        <p:txBody>
          <a:bodyPr>
            <a:noAutofit/>
          </a:bodyPr>
          <a:lstStyle/>
          <a:p>
            <a:pPr>
              <a:defRPr sz="900" b="0">
                <a:solidFill>
                  <a:srgbClr val="5B7080"/>
                </a:solidFill>
                <a:latin typeface="Aptos"/>
                <a:ea typeface="Aptos"/>
                <a:cs typeface="Aptos"/>
              </a:defRPr>
            </a:pPr>
            <a:r>
              <a:rPr sz="900" b="0">
                <a:solidFill>
                  <a:srgbClr val="5B7080"/>
                </a:solidFill>
                <a:latin typeface="Aptos"/>
                <a:ea typeface="Aptos"/>
                <a:cs typeface="Aptos"/>
              </a:rPr>
              <a:t>COMPANY CONFIDENTIAL   •   FSD v1.0   •   §7, §9, §11–15, §19–22</a:t>
            </a:r>
          </a:p>
        </p:txBody>
      </p:sp>
      <p:sp>
        <p:nvSpPr>
          <p:cNvPr id="6" name="Rectangle 5">
            <a:extLst>
              <a:ext uri="{FF2B5EF4-FFF2-40B4-BE49-F238E27FC236}">
                <a16:creationId xmlns:a16="http://schemas.microsoft.com/office/drawing/2014/main" id="{0868E7B5-A326-45FE-8BDD-98E611A1E5D6}"/>
              </a:ext>
            </a:extLst>
          </p:cNvPr>
          <p:cNvSpPr>
            <a:spLocks noGrp="1"/>
          </p:cNvSpPr>
          <p:nvPr/>
        </p:nvSpPr>
        <p:spPr>
          <a:xfrm>
            <a:off x="11315700" y="6477000"/>
            <a:ext cx="342900" cy="190500"/>
          </a:xfrm>
          <a:prstGeom prst="rect">
            <a:avLst/>
          </a:prstGeom>
          <a:noFill/>
          <a:ln w="0">
            <a:noFill/>
          </a:ln>
        </p:spPr>
        <p:txBody>
          <a:bodyPr>
            <a:noAutofit/>
          </a:bodyPr>
          <a:lstStyle/>
          <a:p>
            <a:pPr>
              <a:defRPr sz="975" b="1">
                <a:solidFill>
                  <a:srgbClr val="102B46"/>
                </a:solidFill>
                <a:latin typeface="Aptos"/>
                <a:ea typeface="Aptos"/>
                <a:cs typeface="Aptos"/>
              </a:defRPr>
            </a:pPr>
            <a:r>
              <a:rPr sz="975" b="1">
                <a:solidFill>
                  <a:srgbClr val="102B46"/>
                </a:solidFill>
                <a:latin typeface="Aptos"/>
                <a:ea typeface="Aptos"/>
                <a:cs typeface="Aptos"/>
              </a:rPr>
              <a:t>06</a:t>
            </a:r>
          </a:p>
        </p:txBody>
      </p:sp>
      <p:sp>
        <p:nvSpPr>
          <p:cNvPr id="7" name="Rectangle 6">
            <a:extLst>
              <a:ext uri="{FF2B5EF4-FFF2-40B4-BE49-F238E27FC236}">
                <a16:creationId xmlns:a16="http://schemas.microsoft.com/office/drawing/2014/main" id="{36BF7185-4281-489A-B486-68F0015205FC}"/>
              </a:ext>
            </a:extLst>
          </p:cNvPr>
          <p:cNvSpPr>
            <a:spLocks noGrp="1"/>
          </p:cNvSpPr>
          <p:nvPr/>
        </p:nvSpPr>
        <p:spPr>
          <a:xfrm>
            <a:off x="533400" y="1800225"/>
            <a:ext cx="3524250" cy="2276475"/>
          </a:xfrm>
          <a:prstGeom prst="rect">
            <a:avLst/>
          </a:prstGeom>
          <a:solidFill>
            <a:srgbClr val="FFFFFF"/>
          </a:solidFill>
          <a:ln w="12383">
            <a:solidFill>
              <a:srgbClr val="CBD7DF"/>
            </a:solidFill>
          </a:ln>
        </p:spPr>
        <p:txBody>
          <a:bodyPr/>
          <a:lstStyle/>
          <a:p>
            <a:endParaRPr lang="en-US"/>
          </a:p>
        </p:txBody>
      </p:sp>
      <p:sp>
        <p:nvSpPr>
          <p:cNvPr id="8" name="Rectangle 7">
            <a:extLst>
              <a:ext uri="{FF2B5EF4-FFF2-40B4-BE49-F238E27FC236}">
                <a16:creationId xmlns:a16="http://schemas.microsoft.com/office/drawing/2014/main" id="{8012E7B9-2759-4926-AA76-98D93BB06169}"/>
              </a:ext>
            </a:extLst>
          </p:cNvPr>
          <p:cNvSpPr>
            <a:spLocks noGrp="1"/>
          </p:cNvSpPr>
          <p:nvPr/>
        </p:nvSpPr>
        <p:spPr>
          <a:xfrm>
            <a:off x="533400" y="1800225"/>
            <a:ext cx="47625" cy="2276475"/>
          </a:xfrm>
          <a:prstGeom prst="rect">
            <a:avLst/>
          </a:prstGeom>
          <a:solidFill>
            <a:srgbClr val="078B8C"/>
          </a:solidFill>
          <a:ln w="0">
            <a:noFill/>
          </a:ln>
        </p:spPr>
        <p:txBody>
          <a:bodyPr/>
          <a:lstStyle/>
          <a:p>
            <a:endParaRPr lang="en-US"/>
          </a:p>
        </p:txBody>
      </p:sp>
      <p:sp>
        <p:nvSpPr>
          <p:cNvPr id="9" name="Rectangle 8">
            <a:extLst>
              <a:ext uri="{FF2B5EF4-FFF2-40B4-BE49-F238E27FC236}">
                <a16:creationId xmlns:a16="http://schemas.microsoft.com/office/drawing/2014/main" id="{77262D66-A3E6-4784-8ED1-A07397439E36}"/>
              </a:ext>
            </a:extLst>
          </p:cNvPr>
          <p:cNvSpPr>
            <a:spLocks noGrp="1"/>
          </p:cNvSpPr>
          <p:nvPr/>
        </p:nvSpPr>
        <p:spPr>
          <a:xfrm>
            <a:off x="723900" y="1943100"/>
            <a:ext cx="3143250"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Evidence</a:t>
            </a:r>
          </a:p>
        </p:txBody>
      </p:sp>
      <p:sp>
        <p:nvSpPr>
          <p:cNvPr id="10" name="Rectangle 9">
            <a:extLst>
              <a:ext uri="{FF2B5EF4-FFF2-40B4-BE49-F238E27FC236}">
                <a16:creationId xmlns:a16="http://schemas.microsoft.com/office/drawing/2014/main" id="{39C1B64C-7200-4C81-89FE-9F60E09181A7}"/>
              </a:ext>
            </a:extLst>
          </p:cNvPr>
          <p:cNvSpPr>
            <a:spLocks noGrp="1"/>
          </p:cNvSpPr>
          <p:nvPr/>
        </p:nvSpPr>
        <p:spPr>
          <a:xfrm>
            <a:off x="723900" y="2486025"/>
            <a:ext cx="3143250" cy="1485900"/>
          </a:xfrm>
          <a:prstGeom prst="rect">
            <a:avLst/>
          </a:prstGeom>
          <a:noFill/>
          <a:ln w="0">
            <a:noFill/>
          </a:ln>
        </p:spPr>
        <p:txBody>
          <a:bodyPr>
            <a:noAutofit/>
          </a:bodyPr>
          <a:lstStyle/>
          <a:p>
            <a:pPr>
              <a:defRPr sz="1500" b="0">
                <a:solidFill>
                  <a:srgbClr val="233B4D"/>
                </a:solidFill>
                <a:latin typeface="Aptos"/>
                <a:ea typeface="Aptos"/>
                <a:cs typeface="Aptos"/>
              </a:defRPr>
            </a:pPr>
            <a:r>
              <a:rPr sz="1500" b="0">
                <a:solidFill>
                  <a:srgbClr val="233B4D"/>
                </a:solidFill>
                <a:latin typeface="Aptos"/>
                <a:ea typeface="Aptos"/>
                <a:cs typeface="Aptos"/>
              </a:rPr>
              <a:t>Sources and as-of dates</a:t>
            </a:r>
          </a:p>
          <a:p>
            <a:pPr>
              <a:defRPr sz="1500" b="0">
                <a:solidFill>
                  <a:srgbClr val="233B4D"/>
                </a:solidFill>
                <a:latin typeface="Aptos"/>
                <a:ea typeface="Aptos"/>
                <a:cs typeface="Aptos"/>
              </a:defRPr>
            </a:pPr>
            <a:r>
              <a:rPr sz="1500" b="0">
                <a:solidFill>
                  <a:srgbClr val="233B4D"/>
                </a:solidFill>
                <a:latin typeface="Aptos"/>
                <a:ea typeface="Aptos"/>
                <a:cs typeface="Aptos"/>
              </a:rPr>
              <a:t>Approved metrics and score versions</a:t>
            </a:r>
          </a:p>
          <a:p>
            <a:pPr>
              <a:defRPr sz="1500" b="0">
                <a:solidFill>
                  <a:srgbClr val="233B4D"/>
                </a:solidFill>
                <a:latin typeface="Aptos"/>
                <a:ea typeface="Aptos"/>
                <a:cs typeface="Aptos"/>
              </a:defRPr>
            </a:pPr>
            <a:r>
              <a:rPr sz="1500" b="0">
                <a:solidFill>
                  <a:srgbClr val="233B4D"/>
                </a:solidFill>
                <a:latin typeface="Aptos"/>
                <a:ea typeface="Aptos"/>
                <a:cs typeface="Aptos"/>
              </a:rPr>
              <a:t>Facts separate from recommendations</a:t>
            </a:r>
          </a:p>
        </p:txBody>
      </p:sp>
      <p:sp>
        <p:nvSpPr>
          <p:cNvPr id="11" name="Rectangle 10">
            <a:extLst>
              <a:ext uri="{FF2B5EF4-FFF2-40B4-BE49-F238E27FC236}">
                <a16:creationId xmlns:a16="http://schemas.microsoft.com/office/drawing/2014/main" id="{D9B6A143-6E98-4805-A5E2-D0C5669D6935}"/>
              </a:ext>
            </a:extLst>
          </p:cNvPr>
          <p:cNvSpPr>
            <a:spLocks noGrp="1"/>
          </p:cNvSpPr>
          <p:nvPr/>
        </p:nvSpPr>
        <p:spPr>
          <a:xfrm>
            <a:off x="4333875" y="1800225"/>
            <a:ext cx="3524250" cy="2276475"/>
          </a:xfrm>
          <a:prstGeom prst="rect">
            <a:avLst/>
          </a:prstGeom>
          <a:solidFill>
            <a:srgbClr val="FFFFFF"/>
          </a:solidFill>
          <a:ln w="12383">
            <a:solidFill>
              <a:srgbClr val="CBD7DF"/>
            </a:solidFill>
          </a:ln>
        </p:spPr>
        <p:txBody>
          <a:bodyPr/>
          <a:lstStyle/>
          <a:p>
            <a:endParaRPr lang="en-US"/>
          </a:p>
        </p:txBody>
      </p:sp>
      <p:sp>
        <p:nvSpPr>
          <p:cNvPr id="12" name="Rectangle 11">
            <a:extLst>
              <a:ext uri="{FF2B5EF4-FFF2-40B4-BE49-F238E27FC236}">
                <a16:creationId xmlns:a16="http://schemas.microsoft.com/office/drawing/2014/main" id="{B8521BF4-B220-4E20-B092-061389B49999}"/>
              </a:ext>
            </a:extLst>
          </p:cNvPr>
          <p:cNvSpPr>
            <a:spLocks noGrp="1"/>
          </p:cNvSpPr>
          <p:nvPr/>
        </p:nvSpPr>
        <p:spPr>
          <a:xfrm>
            <a:off x="4333875" y="1800225"/>
            <a:ext cx="47625" cy="2276475"/>
          </a:xfrm>
          <a:prstGeom prst="rect">
            <a:avLst/>
          </a:prstGeom>
          <a:solidFill>
            <a:srgbClr val="078B8C"/>
          </a:solidFill>
          <a:ln w="0">
            <a:noFill/>
          </a:ln>
        </p:spPr>
        <p:txBody>
          <a:bodyPr/>
          <a:lstStyle/>
          <a:p>
            <a:endParaRPr lang="en-US"/>
          </a:p>
        </p:txBody>
      </p:sp>
      <p:sp>
        <p:nvSpPr>
          <p:cNvPr id="13" name="Rectangle 12">
            <a:extLst>
              <a:ext uri="{FF2B5EF4-FFF2-40B4-BE49-F238E27FC236}">
                <a16:creationId xmlns:a16="http://schemas.microsoft.com/office/drawing/2014/main" id="{F049DFED-9ECC-4A32-8C33-E3CE579786B2}"/>
              </a:ext>
            </a:extLst>
          </p:cNvPr>
          <p:cNvSpPr>
            <a:spLocks noGrp="1"/>
          </p:cNvSpPr>
          <p:nvPr/>
        </p:nvSpPr>
        <p:spPr>
          <a:xfrm>
            <a:off x="4524375" y="1943100"/>
            <a:ext cx="3143250"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Access and oversight</a:t>
            </a:r>
          </a:p>
        </p:txBody>
      </p:sp>
      <p:sp>
        <p:nvSpPr>
          <p:cNvPr id="14" name="Rectangle 13">
            <a:extLst>
              <a:ext uri="{FF2B5EF4-FFF2-40B4-BE49-F238E27FC236}">
                <a16:creationId xmlns:a16="http://schemas.microsoft.com/office/drawing/2014/main" id="{A7EDD370-25D8-484C-86CD-F5E308B039D4}"/>
              </a:ext>
            </a:extLst>
          </p:cNvPr>
          <p:cNvSpPr>
            <a:spLocks noGrp="1"/>
          </p:cNvSpPr>
          <p:nvPr/>
        </p:nvSpPr>
        <p:spPr>
          <a:xfrm>
            <a:off x="4524375" y="2486025"/>
            <a:ext cx="3143250" cy="1485900"/>
          </a:xfrm>
          <a:prstGeom prst="rect">
            <a:avLst/>
          </a:prstGeom>
          <a:noFill/>
          <a:ln w="0">
            <a:noFill/>
          </a:ln>
        </p:spPr>
        <p:txBody>
          <a:bodyPr>
            <a:noAutofit/>
          </a:bodyPr>
          <a:lstStyle/>
          <a:p>
            <a:pPr>
              <a:defRPr sz="1500" b="0">
                <a:solidFill>
                  <a:srgbClr val="233B4D"/>
                </a:solidFill>
                <a:latin typeface="Aptos"/>
                <a:ea typeface="Aptos"/>
                <a:cs typeface="Aptos"/>
              </a:defRPr>
            </a:pPr>
            <a:r>
              <a:rPr sz="1500" b="0">
                <a:solidFill>
                  <a:srgbClr val="233B4D"/>
                </a:solidFill>
                <a:latin typeface="Aptos"/>
                <a:ea typeface="Aptos"/>
                <a:cs typeface="Aptos"/>
              </a:rPr>
              <a:t>Role, row and document controls</a:t>
            </a:r>
          </a:p>
          <a:p>
            <a:pPr>
              <a:defRPr sz="1500" b="0">
                <a:solidFill>
                  <a:srgbClr val="233B4D"/>
                </a:solidFill>
                <a:latin typeface="Aptos"/>
                <a:ea typeface="Aptos"/>
                <a:cs typeface="Aptos"/>
              </a:defRPr>
            </a:pPr>
            <a:r>
              <a:rPr sz="1500" b="0">
                <a:solidFill>
                  <a:srgbClr val="233B4D"/>
                </a:solidFill>
                <a:latin typeface="Aptos"/>
                <a:ea typeface="Aptos"/>
                <a:cs typeface="Aptos"/>
              </a:rPr>
              <a:t>Authorized export and audit trail</a:t>
            </a:r>
          </a:p>
          <a:p>
            <a:pPr>
              <a:defRPr sz="1500" b="0">
                <a:solidFill>
                  <a:srgbClr val="233B4D"/>
                </a:solidFill>
                <a:latin typeface="Aptos"/>
                <a:ea typeface="Aptos"/>
                <a:cs typeface="Aptos"/>
              </a:defRPr>
            </a:pPr>
            <a:r>
              <a:rPr sz="1500" b="0">
                <a:solidFill>
                  <a:srgbClr val="233B4D"/>
                </a:solidFill>
                <a:latin typeface="Aptos"/>
                <a:ea typeface="Aptos"/>
                <a:cs typeface="Aptos"/>
              </a:rPr>
              <a:t>Human review of decisions and clauses</a:t>
            </a:r>
          </a:p>
        </p:txBody>
      </p:sp>
      <p:sp>
        <p:nvSpPr>
          <p:cNvPr id="15" name="Rectangle 14">
            <a:extLst>
              <a:ext uri="{FF2B5EF4-FFF2-40B4-BE49-F238E27FC236}">
                <a16:creationId xmlns:a16="http://schemas.microsoft.com/office/drawing/2014/main" id="{8A9D226E-E434-44ED-A312-C6D0E1EEF342}"/>
              </a:ext>
            </a:extLst>
          </p:cNvPr>
          <p:cNvSpPr>
            <a:spLocks noGrp="1"/>
          </p:cNvSpPr>
          <p:nvPr/>
        </p:nvSpPr>
        <p:spPr>
          <a:xfrm>
            <a:off x="8134350" y="1800225"/>
            <a:ext cx="3524250" cy="2276475"/>
          </a:xfrm>
          <a:prstGeom prst="rect">
            <a:avLst/>
          </a:prstGeom>
          <a:solidFill>
            <a:srgbClr val="FFFFFF"/>
          </a:solidFill>
          <a:ln w="12383">
            <a:solidFill>
              <a:srgbClr val="CBD7DF"/>
            </a:solidFill>
          </a:ln>
        </p:spPr>
        <p:txBody>
          <a:bodyPr/>
          <a:lstStyle/>
          <a:p>
            <a:endParaRPr lang="en-US"/>
          </a:p>
        </p:txBody>
      </p:sp>
      <p:sp>
        <p:nvSpPr>
          <p:cNvPr id="16" name="Rectangle 15">
            <a:extLst>
              <a:ext uri="{FF2B5EF4-FFF2-40B4-BE49-F238E27FC236}">
                <a16:creationId xmlns:a16="http://schemas.microsoft.com/office/drawing/2014/main" id="{6907106F-D41C-4736-B072-0273F91BE6DE}"/>
              </a:ext>
            </a:extLst>
          </p:cNvPr>
          <p:cNvSpPr>
            <a:spLocks noGrp="1"/>
          </p:cNvSpPr>
          <p:nvPr/>
        </p:nvSpPr>
        <p:spPr>
          <a:xfrm>
            <a:off x="8134350" y="1800225"/>
            <a:ext cx="47625" cy="2276475"/>
          </a:xfrm>
          <a:prstGeom prst="rect">
            <a:avLst/>
          </a:prstGeom>
          <a:solidFill>
            <a:srgbClr val="078B8C"/>
          </a:solidFill>
          <a:ln w="0">
            <a:noFill/>
          </a:ln>
        </p:spPr>
        <p:txBody>
          <a:bodyPr/>
          <a:lstStyle/>
          <a:p>
            <a:endParaRPr lang="en-US"/>
          </a:p>
        </p:txBody>
      </p:sp>
      <p:sp>
        <p:nvSpPr>
          <p:cNvPr id="17" name="Rectangle 16">
            <a:extLst>
              <a:ext uri="{FF2B5EF4-FFF2-40B4-BE49-F238E27FC236}">
                <a16:creationId xmlns:a16="http://schemas.microsoft.com/office/drawing/2014/main" id="{C3416697-5EF2-469B-9CE0-C291F207B11B}"/>
              </a:ext>
            </a:extLst>
          </p:cNvPr>
          <p:cNvSpPr>
            <a:spLocks noGrp="1"/>
          </p:cNvSpPr>
          <p:nvPr/>
        </p:nvSpPr>
        <p:spPr>
          <a:xfrm>
            <a:off x="8324850" y="1943100"/>
            <a:ext cx="3143250"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Visible limitations</a:t>
            </a:r>
          </a:p>
        </p:txBody>
      </p:sp>
      <p:sp>
        <p:nvSpPr>
          <p:cNvPr id="18" name="Rectangle 17">
            <a:extLst>
              <a:ext uri="{FF2B5EF4-FFF2-40B4-BE49-F238E27FC236}">
                <a16:creationId xmlns:a16="http://schemas.microsoft.com/office/drawing/2014/main" id="{A41F03F3-E6CD-482B-93DC-644F08B0C367}"/>
              </a:ext>
            </a:extLst>
          </p:cNvPr>
          <p:cNvSpPr>
            <a:spLocks noGrp="1"/>
          </p:cNvSpPr>
          <p:nvPr/>
        </p:nvSpPr>
        <p:spPr>
          <a:xfrm>
            <a:off x="8324850" y="2486025"/>
            <a:ext cx="3143250" cy="1485900"/>
          </a:xfrm>
          <a:prstGeom prst="rect">
            <a:avLst/>
          </a:prstGeom>
          <a:noFill/>
          <a:ln w="0">
            <a:noFill/>
          </a:ln>
        </p:spPr>
        <p:txBody>
          <a:bodyPr>
            <a:noAutofit/>
          </a:bodyPr>
          <a:lstStyle/>
          <a:p>
            <a:pPr>
              <a:defRPr sz="1500" b="0">
                <a:solidFill>
                  <a:srgbClr val="233B4D"/>
                </a:solidFill>
                <a:latin typeface="Aptos"/>
                <a:ea typeface="Aptos"/>
                <a:cs typeface="Aptos"/>
              </a:defRPr>
            </a:pPr>
            <a:r>
              <a:rPr sz="1500" b="0">
                <a:solidFill>
                  <a:srgbClr val="233B4D"/>
                </a:solidFill>
                <a:latin typeface="Aptos"/>
                <a:ea typeface="Aptos"/>
                <a:cs typeface="Aptos"/>
              </a:rPr>
              <a:t>Clarify ambiguous vendor or scope</a:t>
            </a:r>
          </a:p>
          <a:p>
            <a:pPr>
              <a:defRPr sz="1500" b="0">
                <a:solidFill>
                  <a:srgbClr val="233B4D"/>
                </a:solidFill>
                <a:latin typeface="Aptos"/>
                <a:ea typeface="Aptos"/>
                <a:cs typeface="Aptos"/>
              </a:defRPr>
            </a:pPr>
            <a:r>
              <a:rPr sz="1500" b="0">
                <a:solidFill>
                  <a:srgbClr val="233B4D"/>
                </a:solidFill>
                <a:latin typeface="Aptos"/>
                <a:ea typeface="Aptos"/>
                <a:cs typeface="Aptos"/>
              </a:rPr>
              <a:t>Show missing, stale or conflicting data</a:t>
            </a:r>
          </a:p>
          <a:p>
            <a:pPr>
              <a:defRPr sz="1500" b="0">
                <a:solidFill>
                  <a:srgbClr val="233B4D"/>
                </a:solidFill>
                <a:latin typeface="Aptos"/>
                <a:ea typeface="Aptos"/>
                <a:cs typeface="Aptos"/>
              </a:defRPr>
            </a:pPr>
            <a:r>
              <a:rPr sz="1500" b="0">
                <a:solidFill>
                  <a:srgbClr val="233B4D"/>
                </a:solidFill>
                <a:latin typeface="Aptos"/>
                <a:ea typeface="Aptos"/>
                <a:cs typeface="Aptos"/>
              </a:rPr>
              <a:t>Reject invalid scenarios</a:t>
            </a:r>
          </a:p>
        </p:txBody>
      </p:sp>
      <p:sp>
        <p:nvSpPr>
          <p:cNvPr id="19" name="Rectangle 18">
            <a:extLst>
              <a:ext uri="{FF2B5EF4-FFF2-40B4-BE49-F238E27FC236}">
                <a16:creationId xmlns:a16="http://schemas.microsoft.com/office/drawing/2014/main" id="{CFD7BB33-7A65-4072-AFFA-0213E089AAD5}"/>
              </a:ext>
            </a:extLst>
          </p:cNvPr>
          <p:cNvSpPr>
            <a:spLocks noGrp="1"/>
          </p:cNvSpPr>
          <p:nvPr/>
        </p:nvSpPr>
        <p:spPr>
          <a:xfrm>
            <a:off x="533400" y="4410075"/>
            <a:ext cx="11125200" cy="457200"/>
          </a:xfrm>
          <a:prstGeom prst="rect">
            <a:avLst/>
          </a:prstGeom>
          <a:solidFill>
            <a:srgbClr val="102B46"/>
          </a:solidFill>
          <a:ln w="12383">
            <a:solidFill>
              <a:srgbClr val="102B46"/>
            </a:solidFill>
          </a:ln>
        </p:spPr>
        <p:txBody>
          <a:bodyPr/>
          <a:lstStyle/>
          <a:p>
            <a:endParaRPr lang="en-US"/>
          </a:p>
        </p:txBody>
      </p:sp>
      <p:sp>
        <p:nvSpPr>
          <p:cNvPr id="20" name="Rectangle 19">
            <a:extLst>
              <a:ext uri="{FF2B5EF4-FFF2-40B4-BE49-F238E27FC236}">
                <a16:creationId xmlns:a16="http://schemas.microsoft.com/office/drawing/2014/main" id="{8B9F6FDF-9346-4D4F-AF55-0C0F01320926}"/>
              </a:ext>
            </a:extLst>
          </p:cNvPr>
          <p:cNvSpPr>
            <a:spLocks noGrp="1"/>
          </p:cNvSpPr>
          <p:nvPr/>
        </p:nvSpPr>
        <p:spPr>
          <a:xfrm>
            <a:off x="676275" y="4524375"/>
            <a:ext cx="10839450" cy="266700"/>
          </a:xfrm>
          <a:prstGeom prst="rect">
            <a:avLst/>
          </a:prstGeom>
          <a:noFill/>
          <a:ln w="0">
            <a:noFill/>
          </a:ln>
        </p:spPr>
        <p:txBody>
          <a:bodyPr>
            <a:noAutofit/>
          </a:bodyPr>
          <a:lstStyle/>
          <a:p>
            <a:pPr>
              <a:defRPr sz="1725" b="1">
                <a:solidFill>
                  <a:srgbClr val="FFFFFF"/>
                </a:solidFill>
                <a:latin typeface="Aptos"/>
                <a:ea typeface="Aptos"/>
                <a:cs typeface="Aptos"/>
              </a:defRPr>
            </a:pPr>
            <a:r>
              <a:rPr sz="1725" b="1">
                <a:solidFill>
                  <a:srgbClr val="FFFFFF"/>
                </a:solidFill>
                <a:latin typeface="Aptos"/>
                <a:ea typeface="Aptos"/>
                <a:cs typeface="Aptos"/>
              </a:rPr>
              <a:t>Citi validation before implementation</a:t>
            </a:r>
          </a:p>
        </p:txBody>
      </p:sp>
      <p:sp>
        <p:nvSpPr>
          <p:cNvPr id="21" name="Rectangle 20">
            <a:extLst>
              <a:ext uri="{FF2B5EF4-FFF2-40B4-BE49-F238E27FC236}">
                <a16:creationId xmlns:a16="http://schemas.microsoft.com/office/drawing/2014/main" id="{87376527-ACE5-4FA3-9E46-8AC2A53B54E5}"/>
              </a:ext>
            </a:extLst>
          </p:cNvPr>
          <p:cNvSpPr>
            <a:spLocks noGrp="1"/>
          </p:cNvSpPr>
          <p:nvPr/>
        </p:nvSpPr>
        <p:spPr>
          <a:xfrm>
            <a:off x="685800" y="5095875"/>
            <a:ext cx="10839450" cy="561975"/>
          </a:xfrm>
          <a:prstGeom prst="rect">
            <a:avLst/>
          </a:prstGeom>
          <a:noFill/>
          <a:ln w="0">
            <a:noFill/>
          </a:ln>
        </p:spPr>
        <p:txBody>
          <a:bodyPr>
            <a:noAutofit/>
          </a:bodyPr>
          <a:lstStyle/>
          <a:p>
            <a:pPr>
              <a:defRPr sz="1575" b="0">
                <a:solidFill>
                  <a:srgbClr val="233B4D"/>
                </a:solidFill>
                <a:latin typeface="Aptos"/>
                <a:ea typeface="Aptos"/>
                <a:cs typeface="Aptos"/>
              </a:defRPr>
            </a:pPr>
            <a:r>
              <a:rPr sz="1575" b="0">
                <a:solidFill>
                  <a:srgbClr val="233B4D"/>
                </a:solidFill>
                <a:latin typeface="Aptos"/>
                <a:ea typeface="Aptos"/>
                <a:cs typeface="Aptos"/>
              </a:rPr>
              <a:t>Sources and IDs / metrics and thresholds / roles and entitlements / scenario bounds / model and hosting approvals / service targets / expected demo answers</a:t>
            </a:r>
          </a:p>
        </p:txBody>
      </p:sp>
      <p:sp>
        <p:nvSpPr>
          <p:cNvPr id="22" name="Rectangle 21">
            <a:extLst>
              <a:ext uri="{FF2B5EF4-FFF2-40B4-BE49-F238E27FC236}">
                <a16:creationId xmlns:a16="http://schemas.microsoft.com/office/drawing/2014/main" id="{5F7F9552-EA73-4434-9809-82F47404A518}"/>
              </a:ext>
            </a:extLst>
          </p:cNvPr>
          <p:cNvSpPr>
            <a:spLocks noGrp="1"/>
          </p:cNvSpPr>
          <p:nvPr/>
        </p:nvSpPr>
        <p:spPr>
          <a:xfrm>
            <a:off x="533400" y="5753100"/>
            <a:ext cx="11125200" cy="428625"/>
          </a:xfrm>
          <a:prstGeom prst="rect">
            <a:avLst/>
          </a:prstGeom>
          <a:solidFill>
            <a:srgbClr val="EFF5F8"/>
          </a:solidFill>
          <a:ln w="12383">
            <a:solidFill>
              <a:srgbClr val="EFF5F8"/>
            </a:solidFill>
          </a:ln>
        </p:spPr>
        <p:txBody>
          <a:bodyPr/>
          <a:lstStyle/>
          <a:p>
            <a:endParaRPr lang="en-US"/>
          </a:p>
        </p:txBody>
      </p:sp>
      <p:sp>
        <p:nvSpPr>
          <p:cNvPr id="23" name="Rectangle 22">
            <a:extLst>
              <a:ext uri="{FF2B5EF4-FFF2-40B4-BE49-F238E27FC236}">
                <a16:creationId xmlns:a16="http://schemas.microsoft.com/office/drawing/2014/main" id="{A5854356-0BCF-43E7-B5D5-975B71483EFA}"/>
              </a:ext>
            </a:extLst>
          </p:cNvPr>
          <p:cNvSpPr>
            <a:spLocks noGrp="1"/>
          </p:cNvSpPr>
          <p:nvPr/>
        </p:nvSpPr>
        <p:spPr>
          <a:xfrm>
            <a:off x="676275" y="5867400"/>
            <a:ext cx="10839450" cy="238125"/>
          </a:xfrm>
          <a:prstGeom prst="rect">
            <a:avLst/>
          </a:prstGeom>
          <a:noFill/>
          <a:ln w="0">
            <a:noFill/>
          </a:ln>
        </p:spPr>
        <p:txBody>
          <a:bodyPr>
            <a:noAutofit/>
          </a:bodyPr>
          <a:lstStyle/>
          <a:p>
            <a:pPr>
              <a:defRPr sz="1350" b="0">
                <a:solidFill>
                  <a:srgbClr val="102B46"/>
                </a:solidFill>
                <a:latin typeface="Aptos"/>
                <a:ea typeface="Aptos"/>
                <a:cs typeface="Aptos"/>
              </a:defRPr>
            </a:pPr>
            <a:r>
              <a:rPr sz="1350" b="0">
                <a:solidFill>
                  <a:srgbClr val="102B46"/>
                </a:solidFill>
                <a:latin typeface="Aptos"/>
                <a:ea typeface="Aptos"/>
                <a:cs typeface="Aptos"/>
              </a:rPr>
              <a:t>The demo uses synthetic or approved data. Scenarios and dispositions do not execute changes in source systems.</a:t>
            </a:r>
          </a:p>
        </p:txBody>
      </p:sp>
    </p:spTree>
    <p:extLst>
      <p:ext uri="{BB962C8B-B14F-4D97-AF65-F5344CB8AC3E}">
        <p14:creationId xmlns:p14="http://schemas.microsoft.com/office/powerpoint/2010/main" val="1986759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17F9861E-D4FC-4D6B-840A-01D71A9C2927}"/>
              </a:ext>
            </a:extLst>
          </p:cNvPr>
          <p:cNvSpPr>
            <a:spLocks noGrp="1"/>
          </p:cNvSpPr>
          <p:nvPr/>
        </p:nvSpPr>
        <p:spPr>
          <a:xfrm>
            <a:off x="0" y="0"/>
            <a:ext cx="12192000" cy="95250"/>
          </a:xfrm>
          <a:prstGeom prst="rect">
            <a:avLst/>
          </a:prstGeom>
          <a:solidFill>
            <a:srgbClr val="0067A0"/>
          </a:solidFill>
          <a:ln w="0">
            <a:noFill/>
          </a:ln>
        </p:spPr>
        <p:txBody>
          <a:bodyPr/>
          <a:lstStyle/>
          <a:p>
            <a:endParaRPr lang="en-US"/>
          </a:p>
        </p:txBody>
      </p:sp>
      <p:sp>
        <p:nvSpPr>
          <p:cNvPr id="2" name="Rectangle 1">
            <a:extLst>
              <a:ext uri="{FF2B5EF4-FFF2-40B4-BE49-F238E27FC236}">
                <a16:creationId xmlns:a16="http://schemas.microsoft.com/office/drawing/2014/main" id="{64B8F368-6788-45F2-825F-397DEEE17F17}"/>
              </a:ext>
            </a:extLst>
          </p:cNvPr>
          <p:cNvSpPr>
            <a:spLocks noGrp="1"/>
          </p:cNvSpPr>
          <p:nvPr/>
        </p:nvSpPr>
        <p:spPr>
          <a:xfrm>
            <a:off x="533400" y="400050"/>
            <a:ext cx="11125200" cy="571500"/>
          </a:xfrm>
          <a:prstGeom prst="rect">
            <a:avLst/>
          </a:prstGeom>
          <a:noFill/>
          <a:ln w="0">
            <a:noFill/>
          </a:ln>
        </p:spPr>
        <p:txBody>
          <a:bodyPr>
            <a:noAutofit/>
          </a:bodyPr>
          <a:lstStyle/>
          <a:p>
            <a:pPr>
              <a:defRPr sz="2700" b="1">
                <a:solidFill>
                  <a:srgbClr val="102B46"/>
                </a:solidFill>
                <a:latin typeface="Aptos"/>
                <a:ea typeface="Aptos"/>
                <a:cs typeface="Aptos"/>
              </a:defRPr>
            </a:pPr>
            <a:r>
              <a:rPr sz="2700" b="1">
                <a:solidFill>
                  <a:srgbClr val="102B46"/>
                </a:solidFill>
                <a:latin typeface="Aptos"/>
                <a:ea typeface="Aptos"/>
                <a:cs typeface="Aptos"/>
              </a:rPr>
              <a:t>Alpha Technology: a renewal triggers the investigation</a:t>
            </a:r>
          </a:p>
        </p:txBody>
      </p:sp>
      <p:sp>
        <p:nvSpPr>
          <p:cNvPr id="3" name="Rectangle 2">
            <a:extLst>
              <a:ext uri="{FF2B5EF4-FFF2-40B4-BE49-F238E27FC236}">
                <a16:creationId xmlns:a16="http://schemas.microsoft.com/office/drawing/2014/main" id="{F65933A0-AF0A-4CDA-AF14-5ACDB1E2901F}"/>
              </a:ext>
            </a:extLst>
          </p:cNvPr>
          <p:cNvSpPr>
            <a:spLocks noGrp="1"/>
          </p:cNvSpPr>
          <p:nvPr/>
        </p:nvSpPr>
        <p:spPr>
          <a:xfrm>
            <a:off x="533400" y="1028700"/>
            <a:ext cx="11125200" cy="504825"/>
          </a:xfrm>
          <a:prstGeom prst="rect">
            <a:avLst/>
          </a:prstGeom>
          <a:noFill/>
          <a:ln w="0">
            <a:noFill/>
          </a:ln>
        </p:spPr>
        <p:txBody>
          <a:bodyPr>
            <a:noAutofit/>
          </a:bodyPr>
          <a:lstStyle/>
          <a:p>
            <a:pPr>
              <a:defRPr sz="1425" b="0">
                <a:solidFill>
                  <a:srgbClr val="5B7080"/>
                </a:solidFill>
                <a:latin typeface="Aptos"/>
                <a:ea typeface="Aptos"/>
                <a:cs typeface="Aptos"/>
              </a:defRPr>
            </a:pPr>
            <a:r>
              <a:rPr sz="1425" b="0">
                <a:solidFill>
                  <a:srgbClr val="5B7080"/>
                </a:solidFill>
                <a:latin typeface="Aptos"/>
                <a:ea typeface="Aptos"/>
                <a:cs typeface="Aptos"/>
              </a:rPr>
              <a:t>Illustrative example • Snapshot: 27 September 2026 • All figures and records are synthetic</a:t>
            </a:r>
          </a:p>
        </p:txBody>
      </p:sp>
      <p:sp>
        <p:nvSpPr>
          <p:cNvPr id="4" name="Rectangle 3">
            <a:extLst>
              <a:ext uri="{FF2B5EF4-FFF2-40B4-BE49-F238E27FC236}">
                <a16:creationId xmlns:a16="http://schemas.microsoft.com/office/drawing/2014/main" id="{D732C824-48B0-4E2E-B28A-FBBFD9CC1EB2}"/>
              </a:ext>
            </a:extLst>
          </p:cNvPr>
          <p:cNvSpPr>
            <a:spLocks noGrp="1"/>
          </p:cNvSpPr>
          <p:nvPr/>
        </p:nvSpPr>
        <p:spPr>
          <a:xfrm>
            <a:off x="533400" y="6381750"/>
            <a:ext cx="11125200" cy="9525"/>
          </a:xfrm>
          <a:prstGeom prst="rect">
            <a:avLst/>
          </a:prstGeom>
          <a:solidFill>
            <a:srgbClr val="CBD7DF"/>
          </a:solidFill>
          <a:ln w="0">
            <a:noFill/>
          </a:ln>
        </p:spPr>
        <p:txBody>
          <a:bodyPr/>
          <a:lstStyle/>
          <a:p>
            <a:endParaRPr lang="en-US"/>
          </a:p>
        </p:txBody>
      </p:sp>
      <p:sp>
        <p:nvSpPr>
          <p:cNvPr id="5" name="Rectangle 4">
            <a:extLst>
              <a:ext uri="{FF2B5EF4-FFF2-40B4-BE49-F238E27FC236}">
                <a16:creationId xmlns:a16="http://schemas.microsoft.com/office/drawing/2014/main" id="{96BE29E0-D548-45CD-8530-5A6176BB40FE}"/>
              </a:ext>
            </a:extLst>
          </p:cNvPr>
          <p:cNvSpPr>
            <a:spLocks noGrp="1"/>
          </p:cNvSpPr>
          <p:nvPr/>
        </p:nvSpPr>
        <p:spPr>
          <a:xfrm>
            <a:off x="533400" y="6477000"/>
            <a:ext cx="10572750" cy="190500"/>
          </a:xfrm>
          <a:prstGeom prst="rect">
            <a:avLst/>
          </a:prstGeom>
          <a:noFill/>
          <a:ln w="0">
            <a:noFill/>
          </a:ln>
        </p:spPr>
        <p:txBody>
          <a:bodyPr>
            <a:noAutofit/>
          </a:bodyPr>
          <a:lstStyle/>
          <a:p>
            <a:pPr>
              <a:defRPr sz="900" b="0">
                <a:solidFill>
                  <a:srgbClr val="5B7080"/>
                </a:solidFill>
                <a:latin typeface="Aptos"/>
                <a:ea typeface="Aptos"/>
                <a:cs typeface="Aptos"/>
              </a:defRPr>
            </a:pPr>
            <a:r>
              <a:rPr sz="900" b="0">
                <a:solidFill>
                  <a:srgbClr val="5B7080"/>
                </a:solidFill>
                <a:latin typeface="Aptos"/>
                <a:ea typeface="Aptos"/>
                <a:cs typeface="Aptos"/>
              </a:rPr>
              <a:t>COMPANY CONFIDENTIAL   •   FSD v1.0   •   UC-01, UC-02, UC-07, §21</a:t>
            </a:r>
          </a:p>
        </p:txBody>
      </p:sp>
      <p:sp>
        <p:nvSpPr>
          <p:cNvPr id="6" name="Rectangle 5">
            <a:extLst>
              <a:ext uri="{FF2B5EF4-FFF2-40B4-BE49-F238E27FC236}">
                <a16:creationId xmlns:a16="http://schemas.microsoft.com/office/drawing/2014/main" id="{CA06359C-55C9-4557-8C26-217A2ABF367A}"/>
              </a:ext>
            </a:extLst>
          </p:cNvPr>
          <p:cNvSpPr>
            <a:spLocks noGrp="1"/>
          </p:cNvSpPr>
          <p:nvPr/>
        </p:nvSpPr>
        <p:spPr>
          <a:xfrm>
            <a:off x="11315700" y="6477000"/>
            <a:ext cx="342900" cy="190500"/>
          </a:xfrm>
          <a:prstGeom prst="rect">
            <a:avLst/>
          </a:prstGeom>
          <a:noFill/>
          <a:ln w="0">
            <a:noFill/>
          </a:ln>
        </p:spPr>
        <p:txBody>
          <a:bodyPr>
            <a:noAutofit/>
          </a:bodyPr>
          <a:lstStyle/>
          <a:p>
            <a:pPr>
              <a:defRPr sz="975" b="1">
                <a:solidFill>
                  <a:srgbClr val="102B46"/>
                </a:solidFill>
                <a:latin typeface="Aptos"/>
                <a:ea typeface="Aptos"/>
                <a:cs typeface="Aptos"/>
              </a:defRPr>
            </a:pPr>
            <a:r>
              <a:rPr sz="975" b="1">
                <a:solidFill>
                  <a:srgbClr val="102B46"/>
                </a:solidFill>
                <a:latin typeface="Aptos"/>
                <a:ea typeface="Aptos"/>
                <a:cs typeface="Aptos"/>
              </a:rPr>
              <a:t>07</a:t>
            </a:r>
          </a:p>
        </p:txBody>
      </p:sp>
      <p:sp>
        <p:nvSpPr>
          <p:cNvPr id="7" name="Rectangle 6">
            <a:extLst>
              <a:ext uri="{FF2B5EF4-FFF2-40B4-BE49-F238E27FC236}">
                <a16:creationId xmlns:a16="http://schemas.microsoft.com/office/drawing/2014/main" id="{4107B670-D374-48B8-BCB8-08D3AD602966}"/>
              </a:ext>
            </a:extLst>
          </p:cNvPr>
          <p:cNvSpPr>
            <a:spLocks noGrp="1"/>
          </p:cNvSpPr>
          <p:nvPr/>
        </p:nvSpPr>
        <p:spPr>
          <a:xfrm>
            <a:off x="533400" y="1714500"/>
            <a:ext cx="11125200" cy="590550"/>
          </a:xfrm>
          <a:prstGeom prst="rect">
            <a:avLst/>
          </a:prstGeom>
          <a:solidFill>
            <a:srgbClr val="102B46"/>
          </a:solidFill>
          <a:ln w="12383">
            <a:solidFill>
              <a:srgbClr val="102B46"/>
            </a:solidFill>
          </a:ln>
        </p:spPr>
        <p:txBody>
          <a:bodyPr/>
          <a:lstStyle/>
          <a:p>
            <a:endParaRPr lang="en-US"/>
          </a:p>
        </p:txBody>
      </p:sp>
      <p:sp>
        <p:nvSpPr>
          <p:cNvPr id="8" name="Rectangle 7">
            <a:extLst>
              <a:ext uri="{FF2B5EF4-FFF2-40B4-BE49-F238E27FC236}">
                <a16:creationId xmlns:a16="http://schemas.microsoft.com/office/drawing/2014/main" id="{FC63978D-82C9-4B77-95A1-8680F10F4C9D}"/>
              </a:ext>
            </a:extLst>
          </p:cNvPr>
          <p:cNvSpPr>
            <a:spLocks noGrp="1"/>
          </p:cNvSpPr>
          <p:nvPr/>
        </p:nvSpPr>
        <p:spPr>
          <a:xfrm>
            <a:off x="676275" y="1828800"/>
            <a:ext cx="10839450" cy="400050"/>
          </a:xfrm>
          <a:prstGeom prst="rect">
            <a:avLst/>
          </a:prstGeom>
          <a:noFill/>
          <a:ln w="0">
            <a:noFill/>
          </a:ln>
        </p:spPr>
        <p:txBody>
          <a:bodyPr>
            <a:noAutofit/>
          </a:bodyPr>
          <a:lstStyle/>
          <a:p>
            <a:pPr>
              <a:defRPr sz="2100" b="1">
                <a:solidFill>
                  <a:srgbClr val="FFFFFF"/>
                </a:solidFill>
                <a:latin typeface="Aptos"/>
                <a:ea typeface="Aptos"/>
                <a:cs typeface="Aptos"/>
              </a:defRPr>
            </a:pPr>
            <a:r>
              <a:rPr sz="2100" b="1">
                <a:solidFill>
                  <a:srgbClr val="FFFFFF"/>
                </a:solidFill>
                <a:latin typeface="Aptos"/>
                <a:ea typeface="Aptos"/>
                <a:cs typeface="Aptos"/>
              </a:rPr>
              <a:t>ALERT: Contract C-01 expires in 90 days</a:t>
            </a:r>
          </a:p>
        </p:txBody>
      </p:sp>
      <p:sp>
        <p:nvSpPr>
          <p:cNvPr id="9" name="Rectangle 8">
            <a:extLst>
              <a:ext uri="{FF2B5EF4-FFF2-40B4-BE49-F238E27FC236}">
                <a16:creationId xmlns:a16="http://schemas.microsoft.com/office/drawing/2014/main" id="{C59B651F-1739-4A50-A144-D2599BE62FA9}"/>
              </a:ext>
            </a:extLst>
          </p:cNvPr>
          <p:cNvSpPr>
            <a:spLocks noGrp="1"/>
          </p:cNvSpPr>
          <p:nvPr/>
        </p:nvSpPr>
        <p:spPr>
          <a:xfrm>
            <a:off x="533400" y="2609850"/>
            <a:ext cx="2095500" cy="1085850"/>
          </a:xfrm>
          <a:prstGeom prst="rect">
            <a:avLst/>
          </a:prstGeom>
          <a:solidFill>
            <a:srgbClr val="EFF5F8"/>
          </a:solidFill>
          <a:ln w="12383">
            <a:solidFill>
              <a:srgbClr val="EFF5F8"/>
            </a:solidFill>
          </a:ln>
        </p:spPr>
        <p:txBody>
          <a:bodyPr/>
          <a:lstStyle/>
          <a:p>
            <a:endParaRPr lang="en-US"/>
          </a:p>
        </p:txBody>
      </p:sp>
      <p:sp>
        <p:nvSpPr>
          <p:cNvPr id="10" name="Rectangle 9">
            <a:extLst>
              <a:ext uri="{FF2B5EF4-FFF2-40B4-BE49-F238E27FC236}">
                <a16:creationId xmlns:a16="http://schemas.microsoft.com/office/drawing/2014/main" id="{12BD1D34-86D3-46DE-A276-29E143354252}"/>
              </a:ext>
            </a:extLst>
          </p:cNvPr>
          <p:cNvSpPr>
            <a:spLocks noGrp="1"/>
          </p:cNvSpPr>
          <p:nvPr/>
        </p:nvSpPr>
        <p:spPr>
          <a:xfrm>
            <a:off x="676275" y="2724150"/>
            <a:ext cx="1809750" cy="895350"/>
          </a:xfrm>
          <a:prstGeom prst="rect">
            <a:avLst/>
          </a:prstGeom>
          <a:noFill/>
          <a:ln w="0">
            <a:noFill/>
          </a:ln>
        </p:spPr>
        <p:txBody>
          <a:bodyPr>
            <a:noAutofit/>
          </a:bodyPr>
          <a:lstStyle/>
          <a:p>
            <a:pPr>
              <a:defRPr sz="2550" b="1">
                <a:solidFill>
                  <a:srgbClr val="233B4D"/>
                </a:solidFill>
                <a:latin typeface="Aptos"/>
                <a:ea typeface="Aptos"/>
                <a:cs typeface="Aptos"/>
              </a:defRPr>
            </a:pPr>
            <a:r>
              <a:rPr sz="2550" b="1">
                <a:solidFill>
                  <a:srgbClr val="233B4D"/>
                </a:solidFill>
                <a:latin typeface="Aptos"/>
                <a:ea typeface="Aptos"/>
                <a:cs typeface="Aptos"/>
              </a:rPr>
              <a:t>$48M</a:t>
            </a:r>
          </a:p>
        </p:txBody>
      </p:sp>
      <p:sp>
        <p:nvSpPr>
          <p:cNvPr id="11" name="Rectangle 10">
            <a:extLst>
              <a:ext uri="{FF2B5EF4-FFF2-40B4-BE49-F238E27FC236}">
                <a16:creationId xmlns:a16="http://schemas.microsoft.com/office/drawing/2014/main" id="{E9D81C7D-B5F0-4BA8-B6EF-F88898B6A95E}"/>
              </a:ext>
            </a:extLst>
          </p:cNvPr>
          <p:cNvSpPr>
            <a:spLocks noGrp="1"/>
          </p:cNvSpPr>
          <p:nvPr/>
        </p:nvSpPr>
        <p:spPr>
          <a:xfrm>
            <a:off x="723900" y="3295650"/>
            <a:ext cx="1714500" cy="266700"/>
          </a:xfrm>
          <a:prstGeom prst="rect">
            <a:avLst/>
          </a:prstGeom>
          <a:noFill/>
          <a:ln w="0">
            <a:noFill/>
          </a:ln>
        </p:spPr>
        <p:txBody>
          <a:bodyPr>
            <a:noAutofit/>
          </a:bodyPr>
          <a:lstStyle/>
          <a:p>
            <a:pPr>
              <a:defRPr sz="1350" b="0">
                <a:solidFill>
                  <a:srgbClr val="5B7080"/>
                </a:solidFill>
                <a:latin typeface="Aptos"/>
                <a:ea typeface="Aptos"/>
                <a:cs typeface="Aptos"/>
              </a:defRPr>
            </a:pPr>
            <a:r>
              <a:rPr sz="1350" b="0">
                <a:solidFill>
                  <a:srgbClr val="5B7080"/>
                </a:solidFill>
                <a:latin typeface="Aptos"/>
                <a:ea typeface="Aptos"/>
                <a:cs typeface="Aptos"/>
              </a:rPr>
              <a:t>annual spend</a:t>
            </a:r>
          </a:p>
        </p:txBody>
      </p:sp>
      <p:sp>
        <p:nvSpPr>
          <p:cNvPr id="12" name="Rectangle 11">
            <a:extLst>
              <a:ext uri="{FF2B5EF4-FFF2-40B4-BE49-F238E27FC236}">
                <a16:creationId xmlns:a16="http://schemas.microsoft.com/office/drawing/2014/main" id="{44FB557E-4B42-4166-A7C8-BAA25012B2EC}"/>
              </a:ext>
            </a:extLst>
          </p:cNvPr>
          <p:cNvSpPr>
            <a:spLocks noGrp="1"/>
          </p:cNvSpPr>
          <p:nvPr/>
        </p:nvSpPr>
        <p:spPr>
          <a:xfrm>
            <a:off x="2790825" y="2609850"/>
            <a:ext cx="2095500" cy="1085850"/>
          </a:xfrm>
          <a:prstGeom prst="rect">
            <a:avLst/>
          </a:prstGeom>
          <a:solidFill>
            <a:srgbClr val="EFF5F8"/>
          </a:solidFill>
          <a:ln w="12383">
            <a:solidFill>
              <a:srgbClr val="EFF5F8"/>
            </a:solidFill>
          </a:ln>
        </p:spPr>
        <p:txBody>
          <a:bodyPr/>
          <a:lstStyle/>
          <a:p>
            <a:endParaRPr lang="en-US"/>
          </a:p>
        </p:txBody>
      </p:sp>
      <p:sp>
        <p:nvSpPr>
          <p:cNvPr id="13" name="Rectangle 12">
            <a:extLst>
              <a:ext uri="{FF2B5EF4-FFF2-40B4-BE49-F238E27FC236}">
                <a16:creationId xmlns:a16="http://schemas.microsoft.com/office/drawing/2014/main" id="{F8DE023B-7457-4D8A-AEB8-0B5DD2CF2CB4}"/>
              </a:ext>
            </a:extLst>
          </p:cNvPr>
          <p:cNvSpPr>
            <a:spLocks noGrp="1"/>
          </p:cNvSpPr>
          <p:nvPr/>
        </p:nvSpPr>
        <p:spPr>
          <a:xfrm>
            <a:off x="2933700" y="2724150"/>
            <a:ext cx="1809750" cy="895350"/>
          </a:xfrm>
          <a:prstGeom prst="rect">
            <a:avLst/>
          </a:prstGeom>
          <a:noFill/>
          <a:ln w="0">
            <a:noFill/>
          </a:ln>
        </p:spPr>
        <p:txBody>
          <a:bodyPr>
            <a:noAutofit/>
          </a:bodyPr>
          <a:lstStyle/>
          <a:p>
            <a:pPr>
              <a:defRPr sz="2550" b="1">
                <a:solidFill>
                  <a:srgbClr val="233B4D"/>
                </a:solidFill>
                <a:latin typeface="Aptos"/>
                <a:ea typeface="Aptos"/>
                <a:cs typeface="Aptos"/>
              </a:defRPr>
            </a:pPr>
            <a:r>
              <a:rPr sz="2550" b="1">
                <a:solidFill>
                  <a:srgbClr val="233B4D"/>
                </a:solidFill>
                <a:latin typeface="Aptos"/>
                <a:ea typeface="Aptos"/>
                <a:cs typeface="Aptos"/>
              </a:rPr>
              <a:t>4</a:t>
            </a:r>
          </a:p>
        </p:txBody>
      </p:sp>
      <p:sp>
        <p:nvSpPr>
          <p:cNvPr id="14" name="Rectangle 13">
            <a:extLst>
              <a:ext uri="{FF2B5EF4-FFF2-40B4-BE49-F238E27FC236}">
                <a16:creationId xmlns:a16="http://schemas.microsoft.com/office/drawing/2014/main" id="{6F8823B5-CB7A-4A99-AF11-2EBF9CFA110C}"/>
              </a:ext>
            </a:extLst>
          </p:cNvPr>
          <p:cNvSpPr>
            <a:spLocks noGrp="1"/>
          </p:cNvSpPr>
          <p:nvPr/>
        </p:nvSpPr>
        <p:spPr>
          <a:xfrm>
            <a:off x="2981325" y="3295650"/>
            <a:ext cx="1714500" cy="266700"/>
          </a:xfrm>
          <a:prstGeom prst="rect">
            <a:avLst/>
          </a:prstGeom>
          <a:noFill/>
          <a:ln w="0">
            <a:noFill/>
          </a:ln>
        </p:spPr>
        <p:txBody>
          <a:bodyPr>
            <a:noAutofit/>
          </a:bodyPr>
          <a:lstStyle/>
          <a:p>
            <a:pPr>
              <a:defRPr sz="1350" b="0">
                <a:solidFill>
                  <a:srgbClr val="5B7080"/>
                </a:solidFill>
                <a:latin typeface="Aptos"/>
                <a:ea typeface="Aptos"/>
                <a:cs typeface="Aptos"/>
              </a:defRPr>
            </a:pPr>
            <a:r>
              <a:rPr sz="1350" b="0">
                <a:solidFill>
                  <a:srgbClr val="5B7080"/>
                </a:solidFill>
                <a:latin typeface="Aptos"/>
                <a:ea typeface="Aptos"/>
                <a:cs typeface="Aptos"/>
              </a:rPr>
              <a:t>contracts</a:t>
            </a:r>
          </a:p>
        </p:txBody>
      </p:sp>
      <p:sp>
        <p:nvSpPr>
          <p:cNvPr id="15" name="Rectangle 14">
            <a:extLst>
              <a:ext uri="{FF2B5EF4-FFF2-40B4-BE49-F238E27FC236}">
                <a16:creationId xmlns:a16="http://schemas.microsoft.com/office/drawing/2014/main" id="{705C4FCC-F4F9-4120-A756-C05862D357AF}"/>
              </a:ext>
            </a:extLst>
          </p:cNvPr>
          <p:cNvSpPr>
            <a:spLocks noGrp="1"/>
          </p:cNvSpPr>
          <p:nvPr/>
        </p:nvSpPr>
        <p:spPr>
          <a:xfrm>
            <a:off x="5048250" y="2609850"/>
            <a:ext cx="2095500" cy="1085850"/>
          </a:xfrm>
          <a:prstGeom prst="rect">
            <a:avLst/>
          </a:prstGeom>
          <a:solidFill>
            <a:srgbClr val="EFF5F8"/>
          </a:solidFill>
          <a:ln w="12383">
            <a:solidFill>
              <a:srgbClr val="EFF5F8"/>
            </a:solidFill>
          </a:ln>
        </p:spPr>
        <p:txBody>
          <a:bodyPr/>
          <a:lstStyle/>
          <a:p>
            <a:endParaRPr lang="en-US"/>
          </a:p>
        </p:txBody>
      </p:sp>
      <p:sp>
        <p:nvSpPr>
          <p:cNvPr id="16" name="Rectangle 15">
            <a:extLst>
              <a:ext uri="{FF2B5EF4-FFF2-40B4-BE49-F238E27FC236}">
                <a16:creationId xmlns:a16="http://schemas.microsoft.com/office/drawing/2014/main" id="{F60DF88C-3FD8-4FCA-B780-22F3BAB9C9FE}"/>
              </a:ext>
            </a:extLst>
          </p:cNvPr>
          <p:cNvSpPr>
            <a:spLocks noGrp="1"/>
          </p:cNvSpPr>
          <p:nvPr/>
        </p:nvSpPr>
        <p:spPr>
          <a:xfrm>
            <a:off x="5191125" y="2724150"/>
            <a:ext cx="1809750" cy="895350"/>
          </a:xfrm>
          <a:prstGeom prst="rect">
            <a:avLst/>
          </a:prstGeom>
          <a:noFill/>
          <a:ln w="0">
            <a:noFill/>
          </a:ln>
        </p:spPr>
        <p:txBody>
          <a:bodyPr>
            <a:noAutofit/>
          </a:bodyPr>
          <a:lstStyle/>
          <a:p>
            <a:pPr>
              <a:defRPr sz="2550" b="1">
                <a:solidFill>
                  <a:srgbClr val="233B4D"/>
                </a:solidFill>
                <a:latin typeface="Aptos"/>
                <a:ea typeface="Aptos"/>
                <a:cs typeface="Aptos"/>
              </a:defRPr>
            </a:pPr>
            <a:r>
              <a:rPr sz="2550" b="1">
                <a:solidFill>
                  <a:srgbClr val="233B4D"/>
                </a:solidFill>
                <a:latin typeface="Aptos"/>
                <a:ea typeface="Aptos"/>
                <a:cs typeface="Aptos"/>
              </a:rPr>
              <a:t>380</a:t>
            </a:r>
          </a:p>
        </p:txBody>
      </p:sp>
      <p:sp>
        <p:nvSpPr>
          <p:cNvPr id="17" name="Rectangle 16">
            <a:extLst>
              <a:ext uri="{FF2B5EF4-FFF2-40B4-BE49-F238E27FC236}">
                <a16:creationId xmlns:a16="http://schemas.microsoft.com/office/drawing/2014/main" id="{A65DBB3A-83FE-4FFF-B220-72687CB27879}"/>
              </a:ext>
            </a:extLst>
          </p:cNvPr>
          <p:cNvSpPr>
            <a:spLocks noGrp="1"/>
          </p:cNvSpPr>
          <p:nvPr/>
        </p:nvSpPr>
        <p:spPr>
          <a:xfrm>
            <a:off x="5238750" y="3295650"/>
            <a:ext cx="1714500" cy="266700"/>
          </a:xfrm>
          <a:prstGeom prst="rect">
            <a:avLst/>
          </a:prstGeom>
          <a:noFill/>
          <a:ln w="0">
            <a:noFill/>
          </a:ln>
        </p:spPr>
        <p:txBody>
          <a:bodyPr>
            <a:noAutofit/>
          </a:bodyPr>
          <a:lstStyle/>
          <a:p>
            <a:pPr>
              <a:defRPr sz="1350" b="0">
                <a:solidFill>
                  <a:srgbClr val="5B7080"/>
                </a:solidFill>
                <a:latin typeface="Aptos"/>
                <a:ea typeface="Aptos"/>
                <a:cs typeface="Aptos"/>
              </a:defRPr>
            </a:pPr>
            <a:r>
              <a:rPr sz="1350" b="0">
                <a:solidFill>
                  <a:srgbClr val="5B7080"/>
                </a:solidFill>
                <a:latin typeface="Aptos"/>
                <a:ea typeface="Aptos"/>
                <a:cs typeface="Aptos"/>
              </a:rPr>
              <a:t>workers</a:t>
            </a:r>
          </a:p>
        </p:txBody>
      </p:sp>
      <p:sp>
        <p:nvSpPr>
          <p:cNvPr id="18" name="Rectangle 17">
            <a:extLst>
              <a:ext uri="{FF2B5EF4-FFF2-40B4-BE49-F238E27FC236}">
                <a16:creationId xmlns:a16="http://schemas.microsoft.com/office/drawing/2014/main" id="{000B82B2-8FC9-461B-8EB9-FFA76E77F5B3}"/>
              </a:ext>
            </a:extLst>
          </p:cNvPr>
          <p:cNvSpPr>
            <a:spLocks noGrp="1"/>
          </p:cNvSpPr>
          <p:nvPr/>
        </p:nvSpPr>
        <p:spPr>
          <a:xfrm>
            <a:off x="7305675" y="2609850"/>
            <a:ext cx="2095500" cy="1085850"/>
          </a:xfrm>
          <a:prstGeom prst="rect">
            <a:avLst/>
          </a:prstGeom>
          <a:solidFill>
            <a:srgbClr val="EFF5F8"/>
          </a:solidFill>
          <a:ln w="12383">
            <a:solidFill>
              <a:srgbClr val="EFF5F8"/>
            </a:solidFill>
          </a:ln>
        </p:spPr>
        <p:txBody>
          <a:bodyPr/>
          <a:lstStyle/>
          <a:p>
            <a:endParaRPr lang="en-US"/>
          </a:p>
        </p:txBody>
      </p:sp>
      <p:sp>
        <p:nvSpPr>
          <p:cNvPr id="19" name="Rectangle 18">
            <a:extLst>
              <a:ext uri="{FF2B5EF4-FFF2-40B4-BE49-F238E27FC236}">
                <a16:creationId xmlns:a16="http://schemas.microsoft.com/office/drawing/2014/main" id="{F076214E-7AE7-4925-A4E7-A51714ECB048}"/>
              </a:ext>
            </a:extLst>
          </p:cNvPr>
          <p:cNvSpPr>
            <a:spLocks noGrp="1"/>
          </p:cNvSpPr>
          <p:nvPr/>
        </p:nvSpPr>
        <p:spPr>
          <a:xfrm>
            <a:off x="7448550" y="2724150"/>
            <a:ext cx="1809750" cy="895350"/>
          </a:xfrm>
          <a:prstGeom prst="rect">
            <a:avLst/>
          </a:prstGeom>
          <a:noFill/>
          <a:ln w="0">
            <a:noFill/>
          </a:ln>
        </p:spPr>
        <p:txBody>
          <a:bodyPr>
            <a:noAutofit/>
          </a:bodyPr>
          <a:lstStyle/>
          <a:p>
            <a:pPr>
              <a:defRPr sz="2550" b="1">
                <a:solidFill>
                  <a:srgbClr val="233B4D"/>
                </a:solidFill>
                <a:latin typeface="Aptos"/>
                <a:ea typeface="Aptos"/>
                <a:cs typeface="Aptos"/>
              </a:defRPr>
            </a:pPr>
            <a:r>
              <a:rPr sz="2550" b="1">
                <a:solidFill>
                  <a:srgbClr val="233B4D"/>
                </a:solidFill>
                <a:latin typeface="Aptos"/>
                <a:ea typeface="Aptos"/>
                <a:cs typeface="Aptos"/>
              </a:rPr>
              <a:t>11</a:t>
            </a:r>
          </a:p>
        </p:txBody>
      </p:sp>
      <p:sp>
        <p:nvSpPr>
          <p:cNvPr id="20" name="Rectangle 19">
            <a:extLst>
              <a:ext uri="{FF2B5EF4-FFF2-40B4-BE49-F238E27FC236}">
                <a16:creationId xmlns:a16="http://schemas.microsoft.com/office/drawing/2014/main" id="{D761EF94-C974-4186-8901-30C9D9CE6FC9}"/>
              </a:ext>
            </a:extLst>
          </p:cNvPr>
          <p:cNvSpPr>
            <a:spLocks noGrp="1"/>
          </p:cNvSpPr>
          <p:nvPr/>
        </p:nvSpPr>
        <p:spPr>
          <a:xfrm>
            <a:off x="7496175" y="3295650"/>
            <a:ext cx="1714500" cy="266700"/>
          </a:xfrm>
          <a:prstGeom prst="rect">
            <a:avLst/>
          </a:prstGeom>
          <a:noFill/>
          <a:ln w="0">
            <a:noFill/>
          </a:ln>
        </p:spPr>
        <p:txBody>
          <a:bodyPr>
            <a:noAutofit/>
          </a:bodyPr>
          <a:lstStyle/>
          <a:p>
            <a:pPr>
              <a:defRPr sz="1350" b="0">
                <a:solidFill>
                  <a:srgbClr val="5B7080"/>
                </a:solidFill>
                <a:latin typeface="Aptos"/>
                <a:ea typeface="Aptos"/>
                <a:cs typeface="Aptos"/>
              </a:defRPr>
            </a:pPr>
            <a:r>
              <a:rPr sz="1350" b="0">
                <a:solidFill>
                  <a:srgbClr val="5B7080"/>
                </a:solidFill>
                <a:latin typeface="Aptos"/>
                <a:ea typeface="Aptos"/>
                <a:cs typeface="Aptos"/>
              </a:rPr>
              <a:t>applications</a:t>
            </a:r>
          </a:p>
        </p:txBody>
      </p:sp>
      <p:sp>
        <p:nvSpPr>
          <p:cNvPr id="21" name="Rectangle 20">
            <a:extLst>
              <a:ext uri="{FF2B5EF4-FFF2-40B4-BE49-F238E27FC236}">
                <a16:creationId xmlns:a16="http://schemas.microsoft.com/office/drawing/2014/main" id="{D8BEA631-88F3-4464-B1F5-16080EBD0237}"/>
              </a:ext>
            </a:extLst>
          </p:cNvPr>
          <p:cNvSpPr>
            <a:spLocks noGrp="1"/>
          </p:cNvSpPr>
          <p:nvPr/>
        </p:nvSpPr>
        <p:spPr>
          <a:xfrm>
            <a:off x="9563100" y="2609850"/>
            <a:ext cx="2095500" cy="1085850"/>
          </a:xfrm>
          <a:prstGeom prst="rect">
            <a:avLst/>
          </a:prstGeom>
          <a:solidFill>
            <a:srgbClr val="EFF5F8"/>
          </a:solidFill>
          <a:ln w="12383">
            <a:solidFill>
              <a:srgbClr val="EFF5F8"/>
            </a:solidFill>
          </a:ln>
        </p:spPr>
        <p:txBody>
          <a:bodyPr/>
          <a:lstStyle/>
          <a:p>
            <a:endParaRPr lang="en-US"/>
          </a:p>
        </p:txBody>
      </p:sp>
      <p:sp>
        <p:nvSpPr>
          <p:cNvPr id="22" name="Rectangle 21">
            <a:extLst>
              <a:ext uri="{FF2B5EF4-FFF2-40B4-BE49-F238E27FC236}">
                <a16:creationId xmlns:a16="http://schemas.microsoft.com/office/drawing/2014/main" id="{98110C9E-38FD-4BF9-B80A-3E0A712A26FC}"/>
              </a:ext>
            </a:extLst>
          </p:cNvPr>
          <p:cNvSpPr>
            <a:spLocks noGrp="1"/>
          </p:cNvSpPr>
          <p:nvPr/>
        </p:nvSpPr>
        <p:spPr>
          <a:xfrm>
            <a:off x="9705975" y="2724150"/>
            <a:ext cx="1809750" cy="895350"/>
          </a:xfrm>
          <a:prstGeom prst="rect">
            <a:avLst/>
          </a:prstGeom>
          <a:noFill/>
          <a:ln w="0">
            <a:noFill/>
          </a:ln>
        </p:spPr>
        <p:txBody>
          <a:bodyPr>
            <a:noAutofit/>
          </a:bodyPr>
          <a:lstStyle/>
          <a:p>
            <a:pPr>
              <a:defRPr sz="2550" b="1">
                <a:solidFill>
                  <a:srgbClr val="233B4D"/>
                </a:solidFill>
                <a:latin typeface="Aptos"/>
                <a:ea typeface="Aptos"/>
                <a:cs typeface="Aptos"/>
              </a:defRPr>
            </a:pPr>
            <a:r>
              <a:rPr sz="2550" b="1">
                <a:solidFill>
                  <a:srgbClr val="233B4D"/>
                </a:solidFill>
                <a:latin typeface="Aptos"/>
                <a:ea typeface="Aptos"/>
                <a:cs typeface="Aptos"/>
              </a:rPr>
              <a:t>4</a:t>
            </a:r>
          </a:p>
        </p:txBody>
      </p:sp>
      <p:sp>
        <p:nvSpPr>
          <p:cNvPr id="23" name="Rectangle 22">
            <a:extLst>
              <a:ext uri="{FF2B5EF4-FFF2-40B4-BE49-F238E27FC236}">
                <a16:creationId xmlns:a16="http://schemas.microsoft.com/office/drawing/2014/main" id="{B334783F-3F2E-471C-9BC5-5C3F3D782A5B}"/>
              </a:ext>
            </a:extLst>
          </p:cNvPr>
          <p:cNvSpPr>
            <a:spLocks noGrp="1"/>
          </p:cNvSpPr>
          <p:nvPr/>
        </p:nvSpPr>
        <p:spPr>
          <a:xfrm>
            <a:off x="9753600" y="3295650"/>
            <a:ext cx="1714500" cy="266700"/>
          </a:xfrm>
          <a:prstGeom prst="rect">
            <a:avLst/>
          </a:prstGeom>
          <a:noFill/>
          <a:ln w="0">
            <a:noFill/>
          </a:ln>
        </p:spPr>
        <p:txBody>
          <a:bodyPr>
            <a:noAutofit/>
          </a:bodyPr>
          <a:lstStyle/>
          <a:p>
            <a:pPr>
              <a:defRPr sz="1350" b="0">
                <a:solidFill>
                  <a:srgbClr val="5B7080"/>
                </a:solidFill>
                <a:latin typeface="Aptos"/>
                <a:ea typeface="Aptos"/>
                <a:cs typeface="Aptos"/>
              </a:defRPr>
            </a:pPr>
            <a:r>
              <a:rPr sz="1350" b="0">
                <a:solidFill>
                  <a:srgbClr val="5B7080"/>
                </a:solidFill>
                <a:latin typeface="Aptos"/>
                <a:ea typeface="Aptos"/>
                <a:cs typeface="Aptos"/>
              </a:rPr>
              <a:t>critical apps</a:t>
            </a:r>
          </a:p>
        </p:txBody>
      </p:sp>
      <p:sp>
        <p:nvSpPr>
          <p:cNvPr id="24" name="Rectangle 23">
            <a:extLst>
              <a:ext uri="{FF2B5EF4-FFF2-40B4-BE49-F238E27FC236}">
                <a16:creationId xmlns:a16="http://schemas.microsoft.com/office/drawing/2014/main" id="{B9831B89-A17B-4F5E-B716-938E5901CCF6}"/>
              </a:ext>
            </a:extLst>
          </p:cNvPr>
          <p:cNvSpPr>
            <a:spLocks noGrp="1"/>
          </p:cNvSpPr>
          <p:nvPr/>
        </p:nvSpPr>
        <p:spPr>
          <a:xfrm>
            <a:off x="533400" y="4067175"/>
            <a:ext cx="5429250" cy="1362075"/>
          </a:xfrm>
          <a:prstGeom prst="rect">
            <a:avLst/>
          </a:prstGeom>
          <a:solidFill>
            <a:srgbClr val="FFFFFF"/>
          </a:solidFill>
          <a:ln w="12383">
            <a:solidFill>
              <a:srgbClr val="CBD7DF"/>
            </a:solidFill>
          </a:ln>
        </p:spPr>
        <p:txBody>
          <a:bodyPr/>
          <a:lstStyle/>
          <a:p>
            <a:endParaRPr lang="en-US"/>
          </a:p>
        </p:txBody>
      </p:sp>
      <p:sp>
        <p:nvSpPr>
          <p:cNvPr id="25" name="Rectangle 24">
            <a:extLst>
              <a:ext uri="{FF2B5EF4-FFF2-40B4-BE49-F238E27FC236}">
                <a16:creationId xmlns:a16="http://schemas.microsoft.com/office/drawing/2014/main" id="{BA118C86-1C28-42E0-886B-2196A6770196}"/>
              </a:ext>
            </a:extLst>
          </p:cNvPr>
          <p:cNvSpPr>
            <a:spLocks noGrp="1"/>
          </p:cNvSpPr>
          <p:nvPr/>
        </p:nvSpPr>
        <p:spPr>
          <a:xfrm>
            <a:off x="533400" y="4067175"/>
            <a:ext cx="47625" cy="1362075"/>
          </a:xfrm>
          <a:prstGeom prst="rect">
            <a:avLst/>
          </a:prstGeom>
          <a:solidFill>
            <a:srgbClr val="078B8C"/>
          </a:solidFill>
          <a:ln w="0">
            <a:noFill/>
          </a:ln>
        </p:spPr>
        <p:txBody>
          <a:bodyPr/>
          <a:lstStyle/>
          <a:p>
            <a:endParaRPr lang="en-US"/>
          </a:p>
        </p:txBody>
      </p:sp>
      <p:sp>
        <p:nvSpPr>
          <p:cNvPr id="26" name="Rectangle 25">
            <a:extLst>
              <a:ext uri="{FF2B5EF4-FFF2-40B4-BE49-F238E27FC236}">
                <a16:creationId xmlns:a16="http://schemas.microsoft.com/office/drawing/2014/main" id="{5BADE4B6-23C6-43E5-B40B-298BB516CD9C}"/>
              </a:ext>
            </a:extLst>
          </p:cNvPr>
          <p:cNvSpPr>
            <a:spLocks noGrp="1"/>
          </p:cNvSpPr>
          <p:nvPr/>
        </p:nvSpPr>
        <p:spPr>
          <a:xfrm>
            <a:off x="723900" y="4210050"/>
            <a:ext cx="5048250"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Executive asks</a:t>
            </a:r>
          </a:p>
        </p:txBody>
      </p:sp>
      <p:sp>
        <p:nvSpPr>
          <p:cNvPr id="27" name="Rectangle 26">
            <a:extLst>
              <a:ext uri="{FF2B5EF4-FFF2-40B4-BE49-F238E27FC236}">
                <a16:creationId xmlns:a16="http://schemas.microsoft.com/office/drawing/2014/main" id="{14F57C0C-07E4-413D-B4EE-C87F3F61AFBC}"/>
              </a:ext>
            </a:extLst>
          </p:cNvPr>
          <p:cNvSpPr>
            <a:spLocks noGrp="1"/>
          </p:cNvSpPr>
          <p:nvPr/>
        </p:nvSpPr>
        <p:spPr>
          <a:xfrm>
            <a:off x="723900" y="4752975"/>
            <a:ext cx="5048250" cy="571500"/>
          </a:xfrm>
          <a:prstGeom prst="rect">
            <a:avLst/>
          </a:prstGeom>
          <a:noFill/>
          <a:ln w="0">
            <a:noFill/>
          </a:ln>
        </p:spPr>
        <p:txBody>
          <a:bodyPr>
            <a:noAutofit/>
          </a:bodyPr>
          <a:lstStyle/>
          <a:p>
            <a:pPr>
              <a:defRPr sz="1725" b="0">
                <a:solidFill>
                  <a:srgbClr val="233B4D"/>
                </a:solidFill>
                <a:latin typeface="Aptos"/>
                <a:ea typeface="Aptos"/>
                <a:cs typeface="Aptos"/>
              </a:defRPr>
            </a:pPr>
            <a:r>
              <a:rPr sz="1725" b="0">
                <a:solidFill>
                  <a:srgbClr val="233B4D"/>
                </a:solidFill>
                <a:latin typeface="Aptos"/>
                <a:ea typeface="Aptos"/>
                <a:cs typeface="Aptos"/>
              </a:rPr>
              <a:t>“Should we renew Alpha, renegotiate, consolidate, or reduce our dependency?”</a:t>
            </a:r>
          </a:p>
        </p:txBody>
      </p:sp>
      <p:sp>
        <p:nvSpPr>
          <p:cNvPr id="28" name="Rectangle 27">
            <a:extLst>
              <a:ext uri="{FF2B5EF4-FFF2-40B4-BE49-F238E27FC236}">
                <a16:creationId xmlns:a16="http://schemas.microsoft.com/office/drawing/2014/main" id="{418555B8-EB50-4419-A290-F5C38A0CBF1A}"/>
              </a:ext>
            </a:extLst>
          </p:cNvPr>
          <p:cNvSpPr>
            <a:spLocks noGrp="1"/>
          </p:cNvSpPr>
          <p:nvPr/>
        </p:nvSpPr>
        <p:spPr>
          <a:xfrm>
            <a:off x="6229350" y="4067175"/>
            <a:ext cx="5429250" cy="1362075"/>
          </a:xfrm>
          <a:prstGeom prst="rect">
            <a:avLst/>
          </a:prstGeom>
          <a:solidFill>
            <a:srgbClr val="FFFFFF"/>
          </a:solidFill>
          <a:ln w="12383">
            <a:solidFill>
              <a:srgbClr val="CBD7DF"/>
            </a:solidFill>
          </a:ln>
        </p:spPr>
        <p:txBody>
          <a:bodyPr/>
          <a:lstStyle/>
          <a:p>
            <a:endParaRPr lang="en-US"/>
          </a:p>
        </p:txBody>
      </p:sp>
      <p:sp>
        <p:nvSpPr>
          <p:cNvPr id="29" name="Rectangle 28">
            <a:extLst>
              <a:ext uri="{FF2B5EF4-FFF2-40B4-BE49-F238E27FC236}">
                <a16:creationId xmlns:a16="http://schemas.microsoft.com/office/drawing/2014/main" id="{C7AC9DC9-E9A9-40D6-A492-225792394DD2}"/>
              </a:ext>
            </a:extLst>
          </p:cNvPr>
          <p:cNvSpPr>
            <a:spLocks noGrp="1"/>
          </p:cNvSpPr>
          <p:nvPr/>
        </p:nvSpPr>
        <p:spPr>
          <a:xfrm>
            <a:off x="6229350" y="4067175"/>
            <a:ext cx="47625" cy="1362075"/>
          </a:xfrm>
          <a:prstGeom prst="rect">
            <a:avLst/>
          </a:prstGeom>
          <a:solidFill>
            <a:srgbClr val="078B8C"/>
          </a:solidFill>
          <a:ln w="0">
            <a:noFill/>
          </a:ln>
        </p:spPr>
        <p:txBody>
          <a:bodyPr/>
          <a:lstStyle/>
          <a:p>
            <a:endParaRPr lang="en-US"/>
          </a:p>
        </p:txBody>
      </p:sp>
      <p:sp>
        <p:nvSpPr>
          <p:cNvPr id="30" name="Rectangle 29">
            <a:extLst>
              <a:ext uri="{FF2B5EF4-FFF2-40B4-BE49-F238E27FC236}">
                <a16:creationId xmlns:a16="http://schemas.microsoft.com/office/drawing/2014/main" id="{934B8D6C-9959-4841-9F41-28E1BC5977CC}"/>
              </a:ext>
            </a:extLst>
          </p:cNvPr>
          <p:cNvSpPr>
            <a:spLocks noGrp="1"/>
          </p:cNvSpPr>
          <p:nvPr/>
        </p:nvSpPr>
        <p:spPr>
          <a:xfrm>
            <a:off x="6419850" y="4210050"/>
            <a:ext cx="5048250"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The investigation starts</a:t>
            </a:r>
          </a:p>
        </p:txBody>
      </p:sp>
      <p:sp>
        <p:nvSpPr>
          <p:cNvPr id="31" name="Rectangle 30">
            <a:extLst>
              <a:ext uri="{FF2B5EF4-FFF2-40B4-BE49-F238E27FC236}">
                <a16:creationId xmlns:a16="http://schemas.microsoft.com/office/drawing/2014/main" id="{A8D490C3-1EFC-411D-AE83-27A1A3B1A112}"/>
              </a:ext>
            </a:extLst>
          </p:cNvPr>
          <p:cNvSpPr>
            <a:spLocks noGrp="1"/>
          </p:cNvSpPr>
          <p:nvPr/>
        </p:nvSpPr>
        <p:spPr>
          <a:xfrm>
            <a:off x="6419850" y="4752975"/>
            <a:ext cx="5048250" cy="571500"/>
          </a:xfrm>
          <a:prstGeom prst="rect">
            <a:avLst/>
          </a:prstGeom>
          <a:noFill/>
          <a:ln w="0">
            <a:noFill/>
          </a:ln>
        </p:spPr>
        <p:txBody>
          <a:bodyPr>
            <a:noAutofit/>
          </a:bodyPr>
          <a:lstStyle/>
          <a:p>
            <a:pPr>
              <a:defRPr sz="1725" b="0">
                <a:solidFill>
                  <a:srgbClr val="233B4D"/>
                </a:solidFill>
                <a:latin typeface="Aptos"/>
                <a:ea typeface="Aptos"/>
                <a:cs typeface="Aptos"/>
              </a:defRPr>
            </a:pPr>
            <a:r>
              <a:rPr sz="1725" b="0">
                <a:solidFill>
                  <a:srgbClr val="233B4D"/>
                </a:solidFill>
                <a:latin typeface="Aptos"/>
                <a:ea typeface="Aptos"/>
                <a:cs typeface="Aptos"/>
              </a:rPr>
              <a:t>Contract evidence + operational dependency + commercial alternatives</a:t>
            </a:r>
          </a:p>
        </p:txBody>
      </p:sp>
      <p:sp>
        <p:nvSpPr>
          <p:cNvPr id="32" name="Rectangle 31">
            <a:extLst>
              <a:ext uri="{FF2B5EF4-FFF2-40B4-BE49-F238E27FC236}">
                <a16:creationId xmlns:a16="http://schemas.microsoft.com/office/drawing/2014/main" id="{BE819674-9FAB-4F3A-BA0E-BFC191D8F2F5}"/>
              </a:ext>
            </a:extLst>
          </p:cNvPr>
          <p:cNvSpPr>
            <a:spLocks noGrp="1"/>
          </p:cNvSpPr>
          <p:nvPr/>
        </p:nvSpPr>
        <p:spPr>
          <a:xfrm>
            <a:off x="533400" y="5753100"/>
            <a:ext cx="11125200" cy="428625"/>
          </a:xfrm>
          <a:prstGeom prst="rect">
            <a:avLst/>
          </a:prstGeom>
          <a:solidFill>
            <a:srgbClr val="EFF5F8"/>
          </a:solidFill>
          <a:ln w="12383">
            <a:solidFill>
              <a:srgbClr val="EFF5F8"/>
            </a:solidFill>
          </a:ln>
        </p:spPr>
        <p:txBody>
          <a:bodyPr/>
          <a:lstStyle/>
          <a:p>
            <a:endParaRPr lang="en-US"/>
          </a:p>
        </p:txBody>
      </p:sp>
      <p:sp>
        <p:nvSpPr>
          <p:cNvPr id="33" name="Rectangle 32">
            <a:extLst>
              <a:ext uri="{FF2B5EF4-FFF2-40B4-BE49-F238E27FC236}">
                <a16:creationId xmlns:a16="http://schemas.microsoft.com/office/drawing/2014/main" id="{A2B6FED7-EC40-4118-8A16-9F0A43BD6973}"/>
              </a:ext>
            </a:extLst>
          </p:cNvPr>
          <p:cNvSpPr>
            <a:spLocks noGrp="1"/>
          </p:cNvSpPr>
          <p:nvPr/>
        </p:nvSpPr>
        <p:spPr>
          <a:xfrm>
            <a:off x="676275" y="5867400"/>
            <a:ext cx="10839450" cy="238125"/>
          </a:xfrm>
          <a:prstGeom prst="rect">
            <a:avLst/>
          </a:prstGeom>
          <a:noFill/>
          <a:ln w="0">
            <a:noFill/>
          </a:ln>
        </p:spPr>
        <p:txBody>
          <a:bodyPr>
            <a:noAutofit/>
          </a:bodyPr>
          <a:lstStyle/>
          <a:p>
            <a:pPr>
              <a:defRPr sz="1350" b="0">
                <a:solidFill>
                  <a:srgbClr val="102B46"/>
                </a:solidFill>
                <a:latin typeface="Aptos"/>
                <a:ea typeface="Aptos"/>
                <a:cs typeface="Aptos"/>
              </a:defRPr>
            </a:pPr>
            <a:r>
              <a:rPr sz="1350" b="0">
                <a:solidFill>
                  <a:srgbClr val="102B46"/>
                </a:solidFill>
                <a:latin typeface="Aptos"/>
                <a:ea typeface="Aptos"/>
                <a:cs typeface="Aptos"/>
              </a:rPr>
              <a:t>The cockpit surfaces the issue. The answer must explain which contract and services need attention, with traceable evidence.</a:t>
            </a:r>
          </a:p>
        </p:txBody>
      </p:sp>
    </p:spTree>
    <p:extLst>
      <p:ext uri="{BB962C8B-B14F-4D97-AF65-F5344CB8AC3E}">
        <p14:creationId xmlns:p14="http://schemas.microsoft.com/office/powerpoint/2010/main" val="1409682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4E8002B0-A4D3-4ABF-B102-24142EEB12A0}"/>
              </a:ext>
            </a:extLst>
          </p:cNvPr>
          <p:cNvSpPr>
            <a:spLocks noGrp="1"/>
          </p:cNvSpPr>
          <p:nvPr/>
        </p:nvSpPr>
        <p:spPr>
          <a:xfrm>
            <a:off x="0" y="0"/>
            <a:ext cx="12192000" cy="95250"/>
          </a:xfrm>
          <a:prstGeom prst="rect">
            <a:avLst/>
          </a:prstGeom>
          <a:solidFill>
            <a:srgbClr val="0067A0"/>
          </a:solidFill>
          <a:ln w="0">
            <a:noFill/>
          </a:ln>
        </p:spPr>
        <p:txBody>
          <a:bodyPr/>
          <a:lstStyle/>
          <a:p>
            <a:endParaRPr lang="en-US"/>
          </a:p>
        </p:txBody>
      </p:sp>
      <p:sp>
        <p:nvSpPr>
          <p:cNvPr id="2" name="Rectangle 1">
            <a:extLst>
              <a:ext uri="{FF2B5EF4-FFF2-40B4-BE49-F238E27FC236}">
                <a16:creationId xmlns:a16="http://schemas.microsoft.com/office/drawing/2014/main" id="{389A486A-8006-4914-AC98-C5A3D43E788A}"/>
              </a:ext>
            </a:extLst>
          </p:cNvPr>
          <p:cNvSpPr>
            <a:spLocks noGrp="1"/>
          </p:cNvSpPr>
          <p:nvPr/>
        </p:nvSpPr>
        <p:spPr>
          <a:xfrm>
            <a:off x="533400" y="400050"/>
            <a:ext cx="11125200" cy="571500"/>
          </a:xfrm>
          <a:prstGeom prst="rect">
            <a:avLst/>
          </a:prstGeom>
          <a:noFill/>
          <a:ln w="0">
            <a:noFill/>
          </a:ln>
        </p:spPr>
        <p:txBody>
          <a:bodyPr>
            <a:noAutofit/>
          </a:bodyPr>
          <a:lstStyle/>
          <a:p>
            <a:pPr>
              <a:defRPr sz="2700" b="1">
                <a:solidFill>
                  <a:srgbClr val="102B46"/>
                </a:solidFill>
                <a:latin typeface="Aptos"/>
                <a:ea typeface="Aptos"/>
                <a:cs typeface="Aptos"/>
              </a:defRPr>
            </a:pPr>
            <a:r>
              <a:rPr sz="2700" b="1">
                <a:solidFill>
                  <a:srgbClr val="102B46"/>
                </a:solidFill>
                <a:latin typeface="Aptos"/>
                <a:ea typeface="Aptos"/>
                <a:cs typeface="Aptos"/>
              </a:rPr>
              <a:t>Alpha’s contract supports critical payment services</a:t>
            </a:r>
          </a:p>
        </p:txBody>
      </p:sp>
      <p:sp>
        <p:nvSpPr>
          <p:cNvPr id="3" name="Rectangle 2">
            <a:extLst>
              <a:ext uri="{FF2B5EF4-FFF2-40B4-BE49-F238E27FC236}">
                <a16:creationId xmlns:a16="http://schemas.microsoft.com/office/drawing/2014/main" id="{039C606B-016F-4381-AF3C-D88EAD730DC5}"/>
              </a:ext>
            </a:extLst>
          </p:cNvPr>
          <p:cNvSpPr>
            <a:spLocks noGrp="1"/>
          </p:cNvSpPr>
          <p:nvPr/>
        </p:nvSpPr>
        <p:spPr>
          <a:xfrm>
            <a:off x="533400" y="1028700"/>
            <a:ext cx="11125200" cy="504825"/>
          </a:xfrm>
          <a:prstGeom prst="rect">
            <a:avLst/>
          </a:prstGeom>
          <a:noFill/>
          <a:ln w="0">
            <a:noFill/>
          </a:ln>
        </p:spPr>
        <p:txBody>
          <a:bodyPr>
            <a:noAutofit/>
          </a:bodyPr>
          <a:lstStyle/>
          <a:p>
            <a:pPr>
              <a:defRPr sz="1425" b="0">
                <a:solidFill>
                  <a:srgbClr val="5B7080"/>
                </a:solidFill>
                <a:latin typeface="Aptos"/>
                <a:ea typeface="Aptos"/>
                <a:cs typeface="Aptos"/>
              </a:defRPr>
            </a:pPr>
            <a:r>
              <a:rPr sz="1425" b="0">
                <a:solidFill>
                  <a:srgbClr val="5B7080"/>
                </a:solidFill>
                <a:latin typeface="Aptos"/>
                <a:ea typeface="Aptos"/>
                <a:cs typeface="Aptos"/>
              </a:rPr>
              <a:t>Illustrative dependency explorer • Two paths within Alpha’s 11-application inventory</a:t>
            </a:r>
          </a:p>
        </p:txBody>
      </p:sp>
      <p:sp>
        <p:nvSpPr>
          <p:cNvPr id="4" name="Rectangle 3">
            <a:extLst>
              <a:ext uri="{FF2B5EF4-FFF2-40B4-BE49-F238E27FC236}">
                <a16:creationId xmlns:a16="http://schemas.microsoft.com/office/drawing/2014/main" id="{27AFB321-A441-4D38-9A93-E25CEFF99146}"/>
              </a:ext>
            </a:extLst>
          </p:cNvPr>
          <p:cNvSpPr>
            <a:spLocks noGrp="1"/>
          </p:cNvSpPr>
          <p:nvPr/>
        </p:nvSpPr>
        <p:spPr>
          <a:xfrm>
            <a:off x="533400" y="6381750"/>
            <a:ext cx="11125200" cy="9525"/>
          </a:xfrm>
          <a:prstGeom prst="rect">
            <a:avLst/>
          </a:prstGeom>
          <a:solidFill>
            <a:srgbClr val="CBD7DF"/>
          </a:solidFill>
          <a:ln w="0">
            <a:noFill/>
          </a:ln>
        </p:spPr>
        <p:txBody>
          <a:bodyPr/>
          <a:lstStyle/>
          <a:p>
            <a:endParaRPr lang="en-US"/>
          </a:p>
        </p:txBody>
      </p:sp>
      <p:sp>
        <p:nvSpPr>
          <p:cNvPr id="5" name="Rectangle 4">
            <a:extLst>
              <a:ext uri="{FF2B5EF4-FFF2-40B4-BE49-F238E27FC236}">
                <a16:creationId xmlns:a16="http://schemas.microsoft.com/office/drawing/2014/main" id="{061D148F-DABD-493D-8F43-CE05E22678D6}"/>
              </a:ext>
            </a:extLst>
          </p:cNvPr>
          <p:cNvSpPr>
            <a:spLocks noGrp="1"/>
          </p:cNvSpPr>
          <p:nvPr/>
        </p:nvSpPr>
        <p:spPr>
          <a:xfrm>
            <a:off x="533400" y="6477000"/>
            <a:ext cx="10572750" cy="190500"/>
          </a:xfrm>
          <a:prstGeom prst="rect">
            <a:avLst/>
          </a:prstGeom>
          <a:noFill/>
          <a:ln w="0">
            <a:noFill/>
          </a:ln>
        </p:spPr>
        <p:txBody>
          <a:bodyPr>
            <a:noAutofit/>
          </a:bodyPr>
          <a:lstStyle/>
          <a:p>
            <a:pPr>
              <a:defRPr sz="900" b="0">
                <a:solidFill>
                  <a:srgbClr val="5B7080"/>
                </a:solidFill>
                <a:latin typeface="Aptos"/>
                <a:ea typeface="Aptos"/>
                <a:cs typeface="Aptos"/>
              </a:defRPr>
            </a:pPr>
            <a:r>
              <a:rPr sz="900" b="0">
                <a:solidFill>
                  <a:srgbClr val="5B7080"/>
                </a:solidFill>
                <a:latin typeface="Aptos"/>
                <a:ea typeface="Aptos"/>
                <a:cs typeface="Aptos"/>
              </a:rPr>
              <a:t>COMPANY CONFIDENTIAL   •   FSD v1.0   •   FR-031, FR-033–036, FR-051</a:t>
            </a:r>
          </a:p>
        </p:txBody>
      </p:sp>
      <p:sp>
        <p:nvSpPr>
          <p:cNvPr id="6" name="Rectangle 5">
            <a:extLst>
              <a:ext uri="{FF2B5EF4-FFF2-40B4-BE49-F238E27FC236}">
                <a16:creationId xmlns:a16="http://schemas.microsoft.com/office/drawing/2014/main" id="{23AA18A7-9D8F-46A9-9703-D89D86043DD0}"/>
              </a:ext>
            </a:extLst>
          </p:cNvPr>
          <p:cNvSpPr>
            <a:spLocks noGrp="1"/>
          </p:cNvSpPr>
          <p:nvPr/>
        </p:nvSpPr>
        <p:spPr>
          <a:xfrm>
            <a:off x="11315700" y="6477000"/>
            <a:ext cx="342900" cy="190500"/>
          </a:xfrm>
          <a:prstGeom prst="rect">
            <a:avLst/>
          </a:prstGeom>
          <a:noFill/>
          <a:ln w="0">
            <a:noFill/>
          </a:ln>
        </p:spPr>
        <p:txBody>
          <a:bodyPr>
            <a:noAutofit/>
          </a:bodyPr>
          <a:lstStyle/>
          <a:p>
            <a:pPr>
              <a:defRPr sz="975" b="1">
                <a:solidFill>
                  <a:srgbClr val="102B46"/>
                </a:solidFill>
                <a:latin typeface="Aptos"/>
                <a:ea typeface="Aptos"/>
                <a:cs typeface="Aptos"/>
              </a:defRPr>
            </a:pPr>
            <a:r>
              <a:rPr sz="975" b="1">
                <a:solidFill>
                  <a:srgbClr val="102B46"/>
                </a:solidFill>
                <a:latin typeface="Aptos"/>
                <a:ea typeface="Aptos"/>
                <a:cs typeface="Aptos"/>
              </a:rPr>
              <a:t>08</a:t>
            </a:r>
          </a:p>
        </p:txBody>
      </p:sp>
      <p:sp>
        <p:nvSpPr>
          <p:cNvPr id="7" name="Rectangle 6">
            <a:extLst>
              <a:ext uri="{FF2B5EF4-FFF2-40B4-BE49-F238E27FC236}">
                <a16:creationId xmlns:a16="http://schemas.microsoft.com/office/drawing/2014/main" id="{2BE1420E-6843-43DE-A2BA-685379DB627F}"/>
              </a:ext>
            </a:extLst>
          </p:cNvPr>
          <p:cNvSpPr>
            <a:spLocks noGrp="1"/>
          </p:cNvSpPr>
          <p:nvPr/>
        </p:nvSpPr>
        <p:spPr>
          <a:xfrm>
            <a:off x="533400" y="1895475"/>
            <a:ext cx="2638425" cy="695325"/>
          </a:xfrm>
          <a:prstGeom prst="rect">
            <a:avLst/>
          </a:prstGeom>
          <a:solidFill>
            <a:srgbClr val="0067A0"/>
          </a:solidFill>
          <a:ln w="12383">
            <a:solidFill>
              <a:srgbClr val="CBD7DF"/>
            </a:solidFill>
          </a:ln>
        </p:spPr>
        <p:txBody>
          <a:bodyPr/>
          <a:lstStyle/>
          <a:p>
            <a:endParaRPr lang="en-US"/>
          </a:p>
        </p:txBody>
      </p:sp>
      <p:sp>
        <p:nvSpPr>
          <p:cNvPr id="8" name="Rectangle 7">
            <a:extLst>
              <a:ext uri="{FF2B5EF4-FFF2-40B4-BE49-F238E27FC236}">
                <a16:creationId xmlns:a16="http://schemas.microsoft.com/office/drawing/2014/main" id="{70BD178C-F79F-4C56-A789-737835BADB93}"/>
              </a:ext>
            </a:extLst>
          </p:cNvPr>
          <p:cNvSpPr>
            <a:spLocks noGrp="1"/>
          </p:cNvSpPr>
          <p:nvPr/>
        </p:nvSpPr>
        <p:spPr>
          <a:xfrm>
            <a:off x="676275" y="2009775"/>
            <a:ext cx="2352675" cy="504825"/>
          </a:xfrm>
          <a:prstGeom prst="rect">
            <a:avLst/>
          </a:prstGeom>
          <a:noFill/>
          <a:ln w="0">
            <a:noFill/>
          </a:ln>
        </p:spPr>
        <p:txBody>
          <a:bodyPr>
            <a:noAutofit/>
          </a:bodyPr>
          <a:lstStyle/>
          <a:p>
            <a:pPr>
              <a:defRPr sz="1800" b="1">
                <a:solidFill>
                  <a:srgbClr val="FFFFFF"/>
                </a:solidFill>
                <a:latin typeface="Aptos"/>
                <a:ea typeface="Aptos"/>
                <a:cs typeface="Aptos"/>
              </a:defRPr>
            </a:pPr>
            <a:r>
              <a:rPr sz="1800" b="1">
                <a:solidFill>
                  <a:srgbClr val="FFFFFF"/>
                </a:solidFill>
                <a:latin typeface="Aptos"/>
                <a:ea typeface="Aptos"/>
                <a:cs typeface="Aptos"/>
              </a:rPr>
              <a:t>Alpha</a:t>
            </a:r>
          </a:p>
        </p:txBody>
      </p:sp>
      <p:sp>
        <p:nvSpPr>
          <p:cNvPr id="9" name="Rectangle 8">
            <a:extLst>
              <a:ext uri="{FF2B5EF4-FFF2-40B4-BE49-F238E27FC236}">
                <a16:creationId xmlns:a16="http://schemas.microsoft.com/office/drawing/2014/main" id="{18D57AC5-F143-4341-BD57-2E58489C19D1}"/>
              </a:ext>
            </a:extLst>
          </p:cNvPr>
          <p:cNvSpPr>
            <a:spLocks noGrp="1"/>
          </p:cNvSpPr>
          <p:nvPr/>
        </p:nvSpPr>
        <p:spPr>
          <a:xfrm>
            <a:off x="666750" y="2695575"/>
            <a:ext cx="2333625" cy="276225"/>
          </a:xfrm>
          <a:prstGeom prst="rect">
            <a:avLst/>
          </a:prstGeom>
          <a:noFill/>
          <a:ln w="0">
            <a:noFill/>
          </a:ln>
        </p:spPr>
        <p:txBody>
          <a:bodyPr>
            <a:noAutofit/>
          </a:bodyPr>
          <a:lstStyle/>
          <a:p>
            <a:pPr>
              <a:defRPr sz="1275" b="0">
                <a:solidFill>
                  <a:srgbClr val="5B7080"/>
                </a:solidFill>
                <a:latin typeface="Aptos"/>
                <a:ea typeface="Aptos"/>
                <a:cs typeface="Aptos"/>
              </a:defRPr>
            </a:pPr>
            <a:r>
              <a:rPr sz="1275" b="0">
                <a:solidFill>
                  <a:srgbClr val="5B7080"/>
                </a:solidFill>
                <a:latin typeface="Aptos"/>
                <a:ea typeface="Aptos"/>
                <a:cs typeface="Aptos"/>
              </a:rPr>
              <a:t>Vendor</a:t>
            </a:r>
          </a:p>
        </p:txBody>
      </p:sp>
      <p:sp>
        <p:nvSpPr>
          <p:cNvPr id="10" name="Rectangle 9">
            <a:extLst>
              <a:ext uri="{FF2B5EF4-FFF2-40B4-BE49-F238E27FC236}">
                <a16:creationId xmlns:a16="http://schemas.microsoft.com/office/drawing/2014/main" id="{362F817F-276D-47DD-B022-5DA0946DDD75}"/>
              </a:ext>
            </a:extLst>
          </p:cNvPr>
          <p:cNvSpPr>
            <a:spLocks noGrp="1"/>
          </p:cNvSpPr>
          <p:nvPr/>
        </p:nvSpPr>
        <p:spPr>
          <a:xfrm>
            <a:off x="3171825" y="2228850"/>
            <a:ext cx="190500" cy="28575"/>
          </a:xfrm>
          <a:prstGeom prst="rect">
            <a:avLst/>
          </a:prstGeom>
          <a:solidFill>
            <a:srgbClr val="078B8C"/>
          </a:solidFill>
          <a:ln w="0">
            <a:noFill/>
          </a:ln>
        </p:spPr>
        <p:txBody>
          <a:bodyPr/>
          <a:lstStyle/>
          <a:p>
            <a:endParaRPr lang="en-US"/>
          </a:p>
        </p:txBody>
      </p:sp>
      <p:sp>
        <p:nvSpPr>
          <p:cNvPr id="11" name="Rectangle 10">
            <a:extLst>
              <a:ext uri="{FF2B5EF4-FFF2-40B4-BE49-F238E27FC236}">
                <a16:creationId xmlns:a16="http://schemas.microsoft.com/office/drawing/2014/main" id="{03C122BA-2CD2-4E9A-9A7A-511F9C7BE42E}"/>
              </a:ext>
            </a:extLst>
          </p:cNvPr>
          <p:cNvSpPr>
            <a:spLocks noGrp="1"/>
          </p:cNvSpPr>
          <p:nvPr/>
        </p:nvSpPr>
        <p:spPr>
          <a:xfrm>
            <a:off x="3362325" y="1895475"/>
            <a:ext cx="2638425" cy="695325"/>
          </a:xfrm>
          <a:prstGeom prst="rect">
            <a:avLst/>
          </a:prstGeom>
          <a:solidFill>
            <a:srgbClr val="EFF5F8"/>
          </a:solidFill>
          <a:ln w="12383">
            <a:solidFill>
              <a:srgbClr val="CBD7DF"/>
            </a:solidFill>
          </a:ln>
        </p:spPr>
        <p:txBody>
          <a:bodyPr/>
          <a:lstStyle/>
          <a:p>
            <a:endParaRPr lang="en-US"/>
          </a:p>
        </p:txBody>
      </p:sp>
      <p:sp>
        <p:nvSpPr>
          <p:cNvPr id="12" name="Rectangle 11">
            <a:extLst>
              <a:ext uri="{FF2B5EF4-FFF2-40B4-BE49-F238E27FC236}">
                <a16:creationId xmlns:a16="http://schemas.microsoft.com/office/drawing/2014/main" id="{42A13F5A-81AA-430E-9151-288F44D60C54}"/>
              </a:ext>
            </a:extLst>
          </p:cNvPr>
          <p:cNvSpPr>
            <a:spLocks noGrp="1"/>
          </p:cNvSpPr>
          <p:nvPr/>
        </p:nvSpPr>
        <p:spPr>
          <a:xfrm>
            <a:off x="3505200" y="2009775"/>
            <a:ext cx="2352675" cy="504825"/>
          </a:xfrm>
          <a:prstGeom prst="rect">
            <a:avLst/>
          </a:prstGeom>
          <a:noFill/>
          <a:ln w="0">
            <a:noFill/>
          </a:ln>
        </p:spPr>
        <p:txBody>
          <a:bodyPr>
            <a:noAutofit/>
          </a:bodyPr>
          <a:lstStyle/>
          <a:p>
            <a:pPr>
              <a:defRPr sz="1800" b="1">
                <a:solidFill>
                  <a:srgbClr val="102B46"/>
                </a:solidFill>
                <a:latin typeface="Aptos"/>
                <a:ea typeface="Aptos"/>
                <a:cs typeface="Aptos"/>
              </a:defRPr>
            </a:pPr>
            <a:r>
              <a:rPr sz="1800" b="1">
                <a:solidFill>
                  <a:srgbClr val="102B46"/>
                </a:solidFill>
                <a:latin typeface="Aptos"/>
                <a:ea typeface="Aptos"/>
                <a:cs typeface="Aptos"/>
              </a:rPr>
              <a:t>C-01</a:t>
            </a:r>
          </a:p>
        </p:txBody>
      </p:sp>
      <p:sp>
        <p:nvSpPr>
          <p:cNvPr id="13" name="Rectangle 12">
            <a:extLst>
              <a:ext uri="{FF2B5EF4-FFF2-40B4-BE49-F238E27FC236}">
                <a16:creationId xmlns:a16="http://schemas.microsoft.com/office/drawing/2014/main" id="{1F4AC57D-866F-4AEA-8607-34A4CEFF326E}"/>
              </a:ext>
            </a:extLst>
          </p:cNvPr>
          <p:cNvSpPr>
            <a:spLocks noGrp="1"/>
          </p:cNvSpPr>
          <p:nvPr/>
        </p:nvSpPr>
        <p:spPr>
          <a:xfrm>
            <a:off x="3495675" y="2695575"/>
            <a:ext cx="2333625" cy="276225"/>
          </a:xfrm>
          <a:prstGeom prst="rect">
            <a:avLst/>
          </a:prstGeom>
          <a:noFill/>
          <a:ln w="0">
            <a:noFill/>
          </a:ln>
        </p:spPr>
        <p:txBody>
          <a:bodyPr>
            <a:noAutofit/>
          </a:bodyPr>
          <a:lstStyle/>
          <a:p>
            <a:pPr>
              <a:defRPr sz="1275" b="0">
                <a:solidFill>
                  <a:srgbClr val="5B7080"/>
                </a:solidFill>
                <a:latin typeface="Aptos"/>
                <a:ea typeface="Aptos"/>
                <a:cs typeface="Aptos"/>
              </a:defRPr>
            </a:pPr>
            <a:r>
              <a:rPr sz="1275" b="0">
                <a:solidFill>
                  <a:srgbClr val="5B7080"/>
                </a:solidFill>
                <a:latin typeface="Aptos"/>
                <a:ea typeface="Aptos"/>
                <a:cs typeface="Aptos"/>
              </a:rPr>
              <a:t>Contract</a:t>
            </a:r>
          </a:p>
        </p:txBody>
      </p:sp>
      <p:sp>
        <p:nvSpPr>
          <p:cNvPr id="14" name="Rectangle 13">
            <a:extLst>
              <a:ext uri="{FF2B5EF4-FFF2-40B4-BE49-F238E27FC236}">
                <a16:creationId xmlns:a16="http://schemas.microsoft.com/office/drawing/2014/main" id="{FCBAF6F6-E9EF-4DA6-AC12-0C409930BA84}"/>
              </a:ext>
            </a:extLst>
          </p:cNvPr>
          <p:cNvSpPr>
            <a:spLocks noGrp="1"/>
          </p:cNvSpPr>
          <p:nvPr/>
        </p:nvSpPr>
        <p:spPr>
          <a:xfrm>
            <a:off x="6000750" y="2228850"/>
            <a:ext cx="190500" cy="28575"/>
          </a:xfrm>
          <a:prstGeom prst="rect">
            <a:avLst/>
          </a:prstGeom>
          <a:solidFill>
            <a:srgbClr val="078B8C"/>
          </a:solidFill>
          <a:ln w="0">
            <a:noFill/>
          </a:ln>
        </p:spPr>
        <p:txBody>
          <a:bodyPr/>
          <a:lstStyle/>
          <a:p>
            <a:endParaRPr lang="en-US"/>
          </a:p>
        </p:txBody>
      </p:sp>
      <p:sp>
        <p:nvSpPr>
          <p:cNvPr id="15" name="Rectangle 14">
            <a:extLst>
              <a:ext uri="{FF2B5EF4-FFF2-40B4-BE49-F238E27FC236}">
                <a16:creationId xmlns:a16="http://schemas.microsoft.com/office/drawing/2014/main" id="{69EFDFBD-9456-4783-AA73-7D447272D045}"/>
              </a:ext>
            </a:extLst>
          </p:cNvPr>
          <p:cNvSpPr>
            <a:spLocks noGrp="1"/>
          </p:cNvSpPr>
          <p:nvPr/>
        </p:nvSpPr>
        <p:spPr>
          <a:xfrm>
            <a:off x="6191250" y="1895475"/>
            <a:ext cx="2638425" cy="695325"/>
          </a:xfrm>
          <a:prstGeom prst="rect">
            <a:avLst/>
          </a:prstGeom>
          <a:solidFill>
            <a:srgbClr val="EFF5F8"/>
          </a:solidFill>
          <a:ln w="12383">
            <a:solidFill>
              <a:srgbClr val="CBD7DF"/>
            </a:solidFill>
          </a:ln>
        </p:spPr>
        <p:txBody>
          <a:bodyPr/>
          <a:lstStyle/>
          <a:p>
            <a:endParaRPr lang="en-US"/>
          </a:p>
        </p:txBody>
      </p:sp>
      <p:sp>
        <p:nvSpPr>
          <p:cNvPr id="16" name="Rectangle 15">
            <a:extLst>
              <a:ext uri="{FF2B5EF4-FFF2-40B4-BE49-F238E27FC236}">
                <a16:creationId xmlns:a16="http://schemas.microsoft.com/office/drawing/2014/main" id="{72E9B322-705E-42F1-A168-18888ABCC263}"/>
              </a:ext>
            </a:extLst>
          </p:cNvPr>
          <p:cNvSpPr>
            <a:spLocks noGrp="1"/>
          </p:cNvSpPr>
          <p:nvPr/>
        </p:nvSpPr>
        <p:spPr>
          <a:xfrm>
            <a:off x="6334125" y="2009775"/>
            <a:ext cx="2352675" cy="504825"/>
          </a:xfrm>
          <a:prstGeom prst="rect">
            <a:avLst/>
          </a:prstGeom>
          <a:noFill/>
          <a:ln w="0">
            <a:noFill/>
          </a:ln>
        </p:spPr>
        <p:txBody>
          <a:bodyPr>
            <a:noAutofit/>
          </a:bodyPr>
          <a:lstStyle/>
          <a:p>
            <a:pPr>
              <a:defRPr sz="1800" b="1">
                <a:solidFill>
                  <a:srgbClr val="102B46"/>
                </a:solidFill>
                <a:latin typeface="Aptos"/>
                <a:ea typeface="Aptos"/>
                <a:cs typeface="Aptos"/>
              </a:defRPr>
            </a:pPr>
            <a:r>
              <a:rPr sz="1800" b="1">
                <a:solidFill>
                  <a:srgbClr val="102B46"/>
                </a:solidFill>
                <a:latin typeface="Aptos"/>
                <a:ea typeface="Aptos"/>
                <a:cs typeface="Aptos"/>
              </a:rPr>
              <a:t>Payments SOW</a:t>
            </a:r>
          </a:p>
        </p:txBody>
      </p:sp>
      <p:sp>
        <p:nvSpPr>
          <p:cNvPr id="17" name="Rectangle 16">
            <a:extLst>
              <a:ext uri="{FF2B5EF4-FFF2-40B4-BE49-F238E27FC236}">
                <a16:creationId xmlns:a16="http://schemas.microsoft.com/office/drawing/2014/main" id="{C853AC84-FA82-4E8C-8305-DF6A44EB11F8}"/>
              </a:ext>
            </a:extLst>
          </p:cNvPr>
          <p:cNvSpPr>
            <a:spLocks noGrp="1"/>
          </p:cNvSpPr>
          <p:nvPr/>
        </p:nvSpPr>
        <p:spPr>
          <a:xfrm>
            <a:off x="6324600" y="2695575"/>
            <a:ext cx="2333625" cy="276225"/>
          </a:xfrm>
          <a:prstGeom prst="rect">
            <a:avLst/>
          </a:prstGeom>
          <a:noFill/>
          <a:ln w="0">
            <a:noFill/>
          </a:ln>
        </p:spPr>
        <p:txBody>
          <a:bodyPr>
            <a:noAutofit/>
          </a:bodyPr>
          <a:lstStyle/>
          <a:p>
            <a:pPr>
              <a:defRPr sz="1275" b="0">
                <a:solidFill>
                  <a:srgbClr val="5B7080"/>
                </a:solidFill>
                <a:latin typeface="Aptos"/>
                <a:ea typeface="Aptos"/>
                <a:cs typeface="Aptos"/>
              </a:defRPr>
            </a:pPr>
            <a:r>
              <a:rPr sz="1275" b="0">
                <a:solidFill>
                  <a:srgbClr val="5B7080"/>
                </a:solidFill>
                <a:latin typeface="Aptos"/>
                <a:ea typeface="Aptos"/>
                <a:cs typeface="Aptos"/>
              </a:rPr>
              <a:t>Scope</a:t>
            </a:r>
          </a:p>
        </p:txBody>
      </p:sp>
      <p:sp>
        <p:nvSpPr>
          <p:cNvPr id="18" name="Rectangle 17">
            <a:extLst>
              <a:ext uri="{FF2B5EF4-FFF2-40B4-BE49-F238E27FC236}">
                <a16:creationId xmlns:a16="http://schemas.microsoft.com/office/drawing/2014/main" id="{E87AEF23-22E6-4A7B-A268-4F8118D1CC44}"/>
              </a:ext>
            </a:extLst>
          </p:cNvPr>
          <p:cNvSpPr>
            <a:spLocks noGrp="1"/>
          </p:cNvSpPr>
          <p:nvPr/>
        </p:nvSpPr>
        <p:spPr>
          <a:xfrm>
            <a:off x="8829675" y="2228850"/>
            <a:ext cx="190500" cy="28575"/>
          </a:xfrm>
          <a:prstGeom prst="rect">
            <a:avLst/>
          </a:prstGeom>
          <a:solidFill>
            <a:srgbClr val="078B8C"/>
          </a:solidFill>
          <a:ln w="0">
            <a:noFill/>
          </a:ln>
        </p:spPr>
        <p:txBody>
          <a:bodyPr/>
          <a:lstStyle/>
          <a:p>
            <a:endParaRPr lang="en-US"/>
          </a:p>
        </p:txBody>
      </p:sp>
      <p:sp>
        <p:nvSpPr>
          <p:cNvPr id="19" name="Rectangle 18">
            <a:extLst>
              <a:ext uri="{FF2B5EF4-FFF2-40B4-BE49-F238E27FC236}">
                <a16:creationId xmlns:a16="http://schemas.microsoft.com/office/drawing/2014/main" id="{E0AC82AB-05A6-4E3D-BBA6-D06481B3DF3D}"/>
              </a:ext>
            </a:extLst>
          </p:cNvPr>
          <p:cNvSpPr>
            <a:spLocks noGrp="1"/>
          </p:cNvSpPr>
          <p:nvPr/>
        </p:nvSpPr>
        <p:spPr>
          <a:xfrm>
            <a:off x="9020175" y="1895475"/>
            <a:ext cx="2638425" cy="695325"/>
          </a:xfrm>
          <a:prstGeom prst="rect">
            <a:avLst/>
          </a:prstGeom>
          <a:solidFill>
            <a:srgbClr val="EFF5F8"/>
          </a:solidFill>
          <a:ln w="12383">
            <a:solidFill>
              <a:srgbClr val="CBD7DF"/>
            </a:solidFill>
          </a:ln>
        </p:spPr>
        <p:txBody>
          <a:bodyPr/>
          <a:lstStyle/>
          <a:p>
            <a:endParaRPr lang="en-US"/>
          </a:p>
        </p:txBody>
      </p:sp>
      <p:sp>
        <p:nvSpPr>
          <p:cNvPr id="20" name="Rectangle 19">
            <a:extLst>
              <a:ext uri="{FF2B5EF4-FFF2-40B4-BE49-F238E27FC236}">
                <a16:creationId xmlns:a16="http://schemas.microsoft.com/office/drawing/2014/main" id="{45CF62FC-D199-46FF-99C9-5899AF51F501}"/>
              </a:ext>
            </a:extLst>
          </p:cNvPr>
          <p:cNvSpPr>
            <a:spLocks noGrp="1"/>
          </p:cNvSpPr>
          <p:nvPr/>
        </p:nvSpPr>
        <p:spPr>
          <a:xfrm>
            <a:off x="9163050" y="2009775"/>
            <a:ext cx="2352675" cy="504825"/>
          </a:xfrm>
          <a:prstGeom prst="rect">
            <a:avLst/>
          </a:prstGeom>
          <a:noFill/>
          <a:ln w="0">
            <a:noFill/>
          </a:ln>
        </p:spPr>
        <p:txBody>
          <a:bodyPr>
            <a:noAutofit/>
          </a:bodyPr>
          <a:lstStyle/>
          <a:p>
            <a:pPr>
              <a:defRPr sz="1800" b="1">
                <a:solidFill>
                  <a:srgbClr val="102B46"/>
                </a:solidFill>
                <a:latin typeface="Aptos"/>
                <a:ea typeface="Aptos"/>
                <a:cs typeface="Aptos"/>
              </a:defRPr>
            </a:pPr>
            <a:r>
              <a:rPr sz="1800" b="1">
                <a:solidFill>
                  <a:srgbClr val="102B46"/>
                </a:solidFill>
                <a:latin typeface="Aptos"/>
                <a:ea typeface="Aptos"/>
                <a:cs typeface="Aptos"/>
              </a:rPr>
              <a:t>140 assignments</a:t>
            </a:r>
          </a:p>
        </p:txBody>
      </p:sp>
      <p:sp>
        <p:nvSpPr>
          <p:cNvPr id="21" name="Rectangle 20">
            <a:extLst>
              <a:ext uri="{FF2B5EF4-FFF2-40B4-BE49-F238E27FC236}">
                <a16:creationId xmlns:a16="http://schemas.microsoft.com/office/drawing/2014/main" id="{71E78057-637D-42BA-A02B-EAF323704A67}"/>
              </a:ext>
            </a:extLst>
          </p:cNvPr>
          <p:cNvSpPr>
            <a:spLocks noGrp="1"/>
          </p:cNvSpPr>
          <p:nvPr/>
        </p:nvSpPr>
        <p:spPr>
          <a:xfrm>
            <a:off x="9153525" y="2695575"/>
            <a:ext cx="2333625" cy="276225"/>
          </a:xfrm>
          <a:prstGeom prst="rect">
            <a:avLst/>
          </a:prstGeom>
          <a:noFill/>
          <a:ln w="0">
            <a:noFill/>
          </a:ln>
        </p:spPr>
        <p:txBody>
          <a:bodyPr>
            <a:noAutofit/>
          </a:bodyPr>
          <a:lstStyle/>
          <a:p>
            <a:pPr>
              <a:defRPr sz="1275" b="0">
                <a:solidFill>
                  <a:srgbClr val="5B7080"/>
                </a:solidFill>
                <a:latin typeface="Aptos"/>
                <a:ea typeface="Aptos"/>
                <a:cs typeface="Aptos"/>
              </a:defRPr>
            </a:pPr>
            <a:r>
              <a:rPr sz="1275" b="0">
                <a:solidFill>
                  <a:srgbClr val="5B7080"/>
                </a:solidFill>
                <a:latin typeface="Aptos"/>
                <a:ea typeface="Aptos"/>
                <a:cs typeface="Aptos"/>
              </a:rPr>
              <a:t>Workforce</a:t>
            </a:r>
          </a:p>
        </p:txBody>
      </p:sp>
      <p:sp>
        <p:nvSpPr>
          <p:cNvPr id="22" name="Rectangle 21">
            <a:extLst>
              <a:ext uri="{FF2B5EF4-FFF2-40B4-BE49-F238E27FC236}">
                <a16:creationId xmlns:a16="http://schemas.microsoft.com/office/drawing/2014/main" id="{807E2AB9-23BA-4921-85A9-F6231C96E2BB}"/>
              </a:ext>
            </a:extLst>
          </p:cNvPr>
          <p:cNvSpPr>
            <a:spLocks noGrp="1"/>
          </p:cNvSpPr>
          <p:nvPr/>
        </p:nvSpPr>
        <p:spPr>
          <a:xfrm>
            <a:off x="4953000" y="2590800"/>
            <a:ext cx="28575" cy="523875"/>
          </a:xfrm>
          <a:prstGeom prst="rect">
            <a:avLst/>
          </a:prstGeom>
          <a:solidFill>
            <a:srgbClr val="078B8C"/>
          </a:solidFill>
          <a:ln w="0">
            <a:noFill/>
          </a:ln>
        </p:spPr>
        <p:txBody>
          <a:bodyPr/>
          <a:lstStyle/>
          <a:p>
            <a:endParaRPr lang="en-US"/>
          </a:p>
        </p:txBody>
      </p:sp>
      <p:sp>
        <p:nvSpPr>
          <p:cNvPr id="23" name="Rectangle 22">
            <a:extLst>
              <a:ext uri="{FF2B5EF4-FFF2-40B4-BE49-F238E27FC236}">
                <a16:creationId xmlns:a16="http://schemas.microsoft.com/office/drawing/2014/main" id="{5743FFD9-4D1E-4176-B23A-91A45C3138E1}"/>
              </a:ext>
            </a:extLst>
          </p:cNvPr>
          <p:cNvSpPr>
            <a:spLocks noGrp="1"/>
          </p:cNvSpPr>
          <p:nvPr/>
        </p:nvSpPr>
        <p:spPr>
          <a:xfrm>
            <a:off x="1838325" y="3086100"/>
            <a:ext cx="3143250" cy="28575"/>
          </a:xfrm>
          <a:prstGeom prst="rect">
            <a:avLst/>
          </a:prstGeom>
          <a:solidFill>
            <a:srgbClr val="078B8C"/>
          </a:solidFill>
          <a:ln w="0">
            <a:noFill/>
          </a:ln>
        </p:spPr>
        <p:txBody>
          <a:bodyPr/>
          <a:lstStyle/>
          <a:p>
            <a:endParaRPr lang="en-US"/>
          </a:p>
        </p:txBody>
      </p:sp>
      <p:sp>
        <p:nvSpPr>
          <p:cNvPr id="24" name="Rectangle 23">
            <a:extLst>
              <a:ext uri="{FF2B5EF4-FFF2-40B4-BE49-F238E27FC236}">
                <a16:creationId xmlns:a16="http://schemas.microsoft.com/office/drawing/2014/main" id="{DEF7E508-BFA0-4B94-A652-F1081C23FDF7}"/>
              </a:ext>
            </a:extLst>
          </p:cNvPr>
          <p:cNvSpPr>
            <a:spLocks noGrp="1"/>
          </p:cNvSpPr>
          <p:nvPr/>
        </p:nvSpPr>
        <p:spPr>
          <a:xfrm>
            <a:off x="1838325" y="3086100"/>
            <a:ext cx="28575" cy="428625"/>
          </a:xfrm>
          <a:prstGeom prst="rect">
            <a:avLst/>
          </a:prstGeom>
          <a:solidFill>
            <a:srgbClr val="078B8C"/>
          </a:solidFill>
          <a:ln w="0">
            <a:noFill/>
          </a:ln>
        </p:spPr>
        <p:txBody>
          <a:bodyPr/>
          <a:lstStyle/>
          <a:p>
            <a:endParaRPr lang="en-US"/>
          </a:p>
        </p:txBody>
      </p:sp>
      <p:sp>
        <p:nvSpPr>
          <p:cNvPr id="25" name="Rectangle 24">
            <a:extLst>
              <a:ext uri="{FF2B5EF4-FFF2-40B4-BE49-F238E27FC236}">
                <a16:creationId xmlns:a16="http://schemas.microsoft.com/office/drawing/2014/main" id="{02898D4B-C9AA-4221-82A7-3F86082BCD73}"/>
              </a:ext>
            </a:extLst>
          </p:cNvPr>
          <p:cNvSpPr>
            <a:spLocks noGrp="1"/>
          </p:cNvSpPr>
          <p:nvPr/>
        </p:nvSpPr>
        <p:spPr>
          <a:xfrm>
            <a:off x="2095500" y="3181350"/>
            <a:ext cx="1704975" cy="266700"/>
          </a:xfrm>
          <a:prstGeom prst="rect">
            <a:avLst/>
          </a:prstGeom>
          <a:noFill/>
          <a:ln w="0">
            <a:noFill/>
          </a:ln>
        </p:spPr>
        <p:txBody>
          <a:bodyPr>
            <a:noAutofit/>
          </a:bodyPr>
          <a:lstStyle/>
          <a:p>
            <a:pPr>
              <a:defRPr sz="1200" b="0">
                <a:solidFill>
                  <a:srgbClr val="5B7080"/>
                </a:solidFill>
                <a:latin typeface="Aptos"/>
                <a:ea typeface="Aptos"/>
                <a:cs typeface="Aptos"/>
              </a:defRPr>
            </a:pPr>
            <a:r>
              <a:rPr sz="1200" b="0">
                <a:solidFill>
                  <a:srgbClr val="5B7080"/>
                </a:solidFill>
                <a:latin typeface="Aptos"/>
                <a:ea typeface="Aptos"/>
                <a:cs typeface="Aptos"/>
              </a:rPr>
              <a:t>C-01 funds</a:t>
            </a:r>
          </a:p>
        </p:txBody>
      </p:sp>
      <p:sp>
        <p:nvSpPr>
          <p:cNvPr id="26" name="Rectangle 25">
            <a:extLst>
              <a:ext uri="{FF2B5EF4-FFF2-40B4-BE49-F238E27FC236}">
                <a16:creationId xmlns:a16="http://schemas.microsoft.com/office/drawing/2014/main" id="{17A1049C-041F-400E-9E1F-4F558B4886D3}"/>
              </a:ext>
            </a:extLst>
          </p:cNvPr>
          <p:cNvSpPr>
            <a:spLocks noGrp="1"/>
          </p:cNvSpPr>
          <p:nvPr/>
        </p:nvSpPr>
        <p:spPr>
          <a:xfrm>
            <a:off x="533400" y="3514725"/>
            <a:ext cx="2638425" cy="714375"/>
          </a:xfrm>
          <a:prstGeom prst="rect">
            <a:avLst/>
          </a:prstGeom>
          <a:solidFill>
            <a:srgbClr val="0067A0"/>
          </a:solidFill>
          <a:ln w="12383">
            <a:solidFill>
              <a:srgbClr val="0067A0"/>
            </a:solidFill>
          </a:ln>
        </p:spPr>
        <p:txBody>
          <a:bodyPr/>
          <a:lstStyle/>
          <a:p>
            <a:endParaRPr lang="en-US"/>
          </a:p>
        </p:txBody>
      </p:sp>
      <p:sp>
        <p:nvSpPr>
          <p:cNvPr id="27" name="Rectangle 26">
            <a:extLst>
              <a:ext uri="{FF2B5EF4-FFF2-40B4-BE49-F238E27FC236}">
                <a16:creationId xmlns:a16="http://schemas.microsoft.com/office/drawing/2014/main" id="{D1F88E0E-370B-4998-8478-62BFEB5E3236}"/>
              </a:ext>
            </a:extLst>
          </p:cNvPr>
          <p:cNvSpPr>
            <a:spLocks noGrp="1"/>
          </p:cNvSpPr>
          <p:nvPr/>
        </p:nvSpPr>
        <p:spPr>
          <a:xfrm>
            <a:off x="676275" y="3629025"/>
            <a:ext cx="2352675" cy="523875"/>
          </a:xfrm>
          <a:prstGeom prst="rect">
            <a:avLst/>
          </a:prstGeom>
          <a:noFill/>
          <a:ln w="0">
            <a:noFill/>
          </a:ln>
        </p:spPr>
        <p:txBody>
          <a:bodyPr>
            <a:noAutofit/>
          </a:bodyPr>
          <a:lstStyle/>
          <a:p>
            <a:pPr>
              <a:defRPr sz="1800" b="1">
                <a:solidFill>
                  <a:srgbClr val="FFFFFF"/>
                </a:solidFill>
                <a:latin typeface="Aptos"/>
                <a:ea typeface="Aptos"/>
                <a:cs typeface="Aptos"/>
              </a:defRPr>
            </a:pPr>
            <a:r>
              <a:rPr sz="1800" b="1">
                <a:solidFill>
                  <a:srgbClr val="FFFFFF"/>
                </a:solidFill>
                <a:latin typeface="Aptos"/>
                <a:ea typeface="Aptos"/>
                <a:cs typeface="Aptos"/>
              </a:rPr>
              <a:t>Payment support</a:t>
            </a:r>
          </a:p>
        </p:txBody>
      </p:sp>
      <p:sp>
        <p:nvSpPr>
          <p:cNvPr id="28" name="Rectangle 27">
            <a:extLst>
              <a:ext uri="{FF2B5EF4-FFF2-40B4-BE49-F238E27FC236}">
                <a16:creationId xmlns:a16="http://schemas.microsoft.com/office/drawing/2014/main" id="{0209DD3B-D29C-48EA-81E7-1DCAFC1934F7}"/>
              </a:ext>
            </a:extLst>
          </p:cNvPr>
          <p:cNvSpPr>
            <a:spLocks noGrp="1"/>
          </p:cNvSpPr>
          <p:nvPr/>
        </p:nvSpPr>
        <p:spPr>
          <a:xfrm>
            <a:off x="4305300" y="3200400"/>
            <a:ext cx="3048000" cy="790575"/>
          </a:xfrm>
          <a:prstGeom prst="rect">
            <a:avLst/>
          </a:prstGeom>
          <a:solidFill>
            <a:srgbClr val="FFFFFF"/>
          </a:solidFill>
          <a:ln w="12383">
            <a:solidFill>
              <a:srgbClr val="CBD7DF"/>
            </a:solidFill>
          </a:ln>
        </p:spPr>
        <p:txBody>
          <a:bodyPr/>
          <a:lstStyle/>
          <a:p>
            <a:endParaRPr lang="en-US"/>
          </a:p>
        </p:txBody>
      </p:sp>
      <p:sp>
        <p:nvSpPr>
          <p:cNvPr id="29" name="Rectangle 28">
            <a:extLst>
              <a:ext uri="{FF2B5EF4-FFF2-40B4-BE49-F238E27FC236}">
                <a16:creationId xmlns:a16="http://schemas.microsoft.com/office/drawing/2014/main" id="{0869FDA1-48E7-44B4-A45F-92F1F35ECE72}"/>
              </a:ext>
            </a:extLst>
          </p:cNvPr>
          <p:cNvSpPr>
            <a:spLocks noGrp="1"/>
          </p:cNvSpPr>
          <p:nvPr/>
        </p:nvSpPr>
        <p:spPr>
          <a:xfrm>
            <a:off x="4448175" y="3314700"/>
            <a:ext cx="2762250" cy="600075"/>
          </a:xfrm>
          <a:prstGeom prst="rect">
            <a:avLst/>
          </a:prstGeom>
          <a:noFill/>
          <a:ln w="0">
            <a:noFill/>
          </a:ln>
        </p:spPr>
        <p:txBody>
          <a:bodyPr>
            <a:noAutofit/>
          </a:bodyPr>
          <a:lstStyle/>
          <a:p>
            <a:pPr>
              <a:defRPr sz="1650" b="1">
                <a:solidFill>
                  <a:srgbClr val="233B4D"/>
                </a:solidFill>
                <a:latin typeface="Aptos"/>
                <a:ea typeface="Aptos"/>
                <a:cs typeface="Aptos"/>
              </a:defRPr>
            </a:pPr>
            <a:r>
              <a:rPr sz="1650" b="1">
                <a:solidFill>
                  <a:srgbClr val="233B4D"/>
                </a:solidFill>
                <a:latin typeface="Aptos"/>
                <a:ea typeface="Aptos"/>
                <a:cs typeface="Aptos"/>
              </a:rPr>
              <a:t>PaymentHub</a:t>
            </a:r>
          </a:p>
          <a:p>
            <a:pPr>
              <a:defRPr sz="1650" b="1">
                <a:solidFill>
                  <a:srgbClr val="233B4D"/>
                </a:solidFill>
                <a:latin typeface="Aptos"/>
                <a:ea typeface="Aptos"/>
                <a:cs typeface="Aptos"/>
              </a:defRPr>
            </a:pPr>
            <a:r>
              <a:rPr sz="1650" b="1">
                <a:solidFill>
                  <a:srgbClr val="233B4D"/>
                </a:solidFill>
                <a:latin typeface="Aptos"/>
                <a:ea typeface="Aptos"/>
                <a:cs typeface="Aptos"/>
              </a:rPr>
              <a:t>CRITICAL</a:t>
            </a:r>
          </a:p>
        </p:txBody>
      </p:sp>
      <p:sp>
        <p:nvSpPr>
          <p:cNvPr id="30" name="Rectangle 29">
            <a:extLst>
              <a:ext uri="{FF2B5EF4-FFF2-40B4-BE49-F238E27FC236}">
                <a16:creationId xmlns:a16="http://schemas.microsoft.com/office/drawing/2014/main" id="{24E38DC2-909E-44B4-A900-DF6037658E45}"/>
              </a:ext>
            </a:extLst>
          </p:cNvPr>
          <p:cNvSpPr>
            <a:spLocks noGrp="1"/>
          </p:cNvSpPr>
          <p:nvPr/>
        </p:nvSpPr>
        <p:spPr>
          <a:xfrm>
            <a:off x="4305300" y="4229100"/>
            <a:ext cx="3048000" cy="790575"/>
          </a:xfrm>
          <a:prstGeom prst="rect">
            <a:avLst/>
          </a:prstGeom>
          <a:solidFill>
            <a:srgbClr val="FFFFFF"/>
          </a:solidFill>
          <a:ln w="12383">
            <a:solidFill>
              <a:srgbClr val="CBD7DF"/>
            </a:solidFill>
          </a:ln>
        </p:spPr>
        <p:txBody>
          <a:bodyPr/>
          <a:lstStyle/>
          <a:p>
            <a:endParaRPr lang="en-US"/>
          </a:p>
        </p:txBody>
      </p:sp>
      <p:sp>
        <p:nvSpPr>
          <p:cNvPr id="31" name="Rectangle 30">
            <a:extLst>
              <a:ext uri="{FF2B5EF4-FFF2-40B4-BE49-F238E27FC236}">
                <a16:creationId xmlns:a16="http://schemas.microsoft.com/office/drawing/2014/main" id="{6272E079-5927-43D0-9E57-FC699A3A3FCF}"/>
              </a:ext>
            </a:extLst>
          </p:cNvPr>
          <p:cNvSpPr>
            <a:spLocks noGrp="1"/>
          </p:cNvSpPr>
          <p:nvPr/>
        </p:nvSpPr>
        <p:spPr>
          <a:xfrm>
            <a:off x="4448175" y="4343400"/>
            <a:ext cx="2762250" cy="600075"/>
          </a:xfrm>
          <a:prstGeom prst="rect">
            <a:avLst/>
          </a:prstGeom>
          <a:noFill/>
          <a:ln w="0">
            <a:noFill/>
          </a:ln>
        </p:spPr>
        <p:txBody>
          <a:bodyPr>
            <a:noAutofit/>
          </a:bodyPr>
          <a:lstStyle/>
          <a:p>
            <a:pPr>
              <a:defRPr sz="1650" b="1">
                <a:solidFill>
                  <a:srgbClr val="233B4D"/>
                </a:solidFill>
                <a:latin typeface="Aptos"/>
                <a:ea typeface="Aptos"/>
                <a:cs typeface="Aptos"/>
              </a:defRPr>
            </a:pPr>
            <a:r>
              <a:rPr sz="1650" b="1">
                <a:solidFill>
                  <a:srgbClr val="233B4D"/>
                </a:solidFill>
                <a:latin typeface="Aptos"/>
                <a:ea typeface="Aptos"/>
                <a:cs typeface="Aptos"/>
              </a:rPr>
              <a:t>CardAuth</a:t>
            </a:r>
          </a:p>
          <a:p>
            <a:pPr>
              <a:defRPr sz="1650" b="1">
                <a:solidFill>
                  <a:srgbClr val="233B4D"/>
                </a:solidFill>
                <a:latin typeface="Aptos"/>
                <a:ea typeface="Aptos"/>
                <a:cs typeface="Aptos"/>
              </a:defRPr>
            </a:pPr>
            <a:r>
              <a:rPr sz="1650" b="1">
                <a:solidFill>
                  <a:srgbClr val="233B4D"/>
                </a:solidFill>
                <a:latin typeface="Aptos"/>
                <a:ea typeface="Aptos"/>
                <a:cs typeface="Aptos"/>
              </a:rPr>
              <a:t>CRITICAL</a:t>
            </a:r>
          </a:p>
        </p:txBody>
      </p:sp>
      <p:sp>
        <p:nvSpPr>
          <p:cNvPr id="32" name="Rectangle 31">
            <a:extLst>
              <a:ext uri="{FF2B5EF4-FFF2-40B4-BE49-F238E27FC236}">
                <a16:creationId xmlns:a16="http://schemas.microsoft.com/office/drawing/2014/main" id="{48B2EB10-2E36-4B50-B2D0-6168361E8FF3}"/>
              </a:ext>
            </a:extLst>
          </p:cNvPr>
          <p:cNvSpPr>
            <a:spLocks noGrp="1"/>
          </p:cNvSpPr>
          <p:nvPr/>
        </p:nvSpPr>
        <p:spPr>
          <a:xfrm>
            <a:off x="8515350" y="3705225"/>
            <a:ext cx="3143250" cy="866775"/>
          </a:xfrm>
          <a:prstGeom prst="rect">
            <a:avLst/>
          </a:prstGeom>
          <a:solidFill>
            <a:srgbClr val="EFF5F8"/>
          </a:solidFill>
          <a:ln w="12383">
            <a:solidFill>
              <a:srgbClr val="CBD7DF"/>
            </a:solidFill>
          </a:ln>
        </p:spPr>
        <p:txBody>
          <a:bodyPr/>
          <a:lstStyle/>
          <a:p>
            <a:endParaRPr lang="en-US"/>
          </a:p>
        </p:txBody>
      </p:sp>
      <p:sp>
        <p:nvSpPr>
          <p:cNvPr id="33" name="Rectangle 32">
            <a:extLst>
              <a:ext uri="{FF2B5EF4-FFF2-40B4-BE49-F238E27FC236}">
                <a16:creationId xmlns:a16="http://schemas.microsoft.com/office/drawing/2014/main" id="{82C447BD-9F19-4849-ACA5-8D9D9FB81AB4}"/>
              </a:ext>
            </a:extLst>
          </p:cNvPr>
          <p:cNvSpPr>
            <a:spLocks noGrp="1"/>
          </p:cNvSpPr>
          <p:nvPr/>
        </p:nvSpPr>
        <p:spPr>
          <a:xfrm>
            <a:off x="8658225" y="3819525"/>
            <a:ext cx="2857500" cy="676275"/>
          </a:xfrm>
          <a:prstGeom prst="rect">
            <a:avLst/>
          </a:prstGeom>
          <a:noFill/>
          <a:ln w="0">
            <a:noFill/>
          </a:ln>
        </p:spPr>
        <p:txBody>
          <a:bodyPr>
            <a:noAutofit/>
          </a:bodyPr>
          <a:lstStyle/>
          <a:p>
            <a:pPr>
              <a:defRPr sz="1575" b="1">
                <a:solidFill>
                  <a:srgbClr val="233B4D"/>
                </a:solidFill>
                <a:latin typeface="Aptos"/>
                <a:ea typeface="Aptos"/>
                <a:cs typeface="Aptos"/>
              </a:defRPr>
            </a:pPr>
            <a:r>
              <a:rPr sz="1575" b="1">
                <a:solidFill>
                  <a:srgbClr val="233B4D"/>
                </a:solidFill>
                <a:latin typeface="Aptos"/>
                <a:ea typeface="Aptos"/>
                <a:cs typeface="Aptos"/>
              </a:rPr>
              <a:t>Commercial Payments</a:t>
            </a:r>
          </a:p>
          <a:p>
            <a:pPr>
              <a:defRPr sz="1575" b="1">
                <a:solidFill>
                  <a:srgbClr val="233B4D"/>
                </a:solidFill>
                <a:latin typeface="Aptos"/>
                <a:ea typeface="Aptos"/>
                <a:cs typeface="Aptos"/>
              </a:defRPr>
            </a:pPr>
            <a:r>
              <a:rPr sz="1575" b="1">
                <a:solidFill>
                  <a:srgbClr val="233B4D"/>
                </a:solidFill>
                <a:latin typeface="Aptos"/>
                <a:ea typeface="Aptos"/>
                <a:cs typeface="Aptos"/>
              </a:rPr>
              <a:t>Accountable product owner</a:t>
            </a:r>
          </a:p>
        </p:txBody>
      </p:sp>
      <p:sp>
        <p:nvSpPr>
          <p:cNvPr id="34" name="Rectangle 33">
            <a:extLst>
              <a:ext uri="{FF2B5EF4-FFF2-40B4-BE49-F238E27FC236}">
                <a16:creationId xmlns:a16="http://schemas.microsoft.com/office/drawing/2014/main" id="{EA71E6EE-02E9-438D-876B-712EA6E3B03E}"/>
              </a:ext>
            </a:extLst>
          </p:cNvPr>
          <p:cNvSpPr>
            <a:spLocks noGrp="1"/>
          </p:cNvSpPr>
          <p:nvPr/>
        </p:nvSpPr>
        <p:spPr>
          <a:xfrm>
            <a:off x="3171825" y="3848100"/>
            <a:ext cx="619125" cy="28575"/>
          </a:xfrm>
          <a:prstGeom prst="rect">
            <a:avLst/>
          </a:prstGeom>
          <a:solidFill>
            <a:srgbClr val="078B8C"/>
          </a:solidFill>
          <a:ln w="0">
            <a:noFill/>
          </a:ln>
        </p:spPr>
        <p:txBody>
          <a:bodyPr/>
          <a:lstStyle/>
          <a:p>
            <a:endParaRPr lang="en-US"/>
          </a:p>
        </p:txBody>
      </p:sp>
      <p:sp>
        <p:nvSpPr>
          <p:cNvPr id="35" name="Rectangle 34">
            <a:extLst>
              <a:ext uri="{FF2B5EF4-FFF2-40B4-BE49-F238E27FC236}">
                <a16:creationId xmlns:a16="http://schemas.microsoft.com/office/drawing/2014/main" id="{F1300594-8121-4539-870B-E17D5D82B8A2}"/>
              </a:ext>
            </a:extLst>
          </p:cNvPr>
          <p:cNvSpPr>
            <a:spLocks noGrp="1"/>
          </p:cNvSpPr>
          <p:nvPr/>
        </p:nvSpPr>
        <p:spPr>
          <a:xfrm>
            <a:off x="3781425" y="3600450"/>
            <a:ext cx="28575" cy="1028700"/>
          </a:xfrm>
          <a:prstGeom prst="rect">
            <a:avLst/>
          </a:prstGeom>
          <a:solidFill>
            <a:srgbClr val="078B8C"/>
          </a:solidFill>
          <a:ln w="0">
            <a:noFill/>
          </a:ln>
        </p:spPr>
        <p:txBody>
          <a:bodyPr/>
          <a:lstStyle/>
          <a:p>
            <a:endParaRPr lang="en-US"/>
          </a:p>
        </p:txBody>
      </p:sp>
      <p:sp>
        <p:nvSpPr>
          <p:cNvPr id="36" name="Rectangle 35">
            <a:extLst>
              <a:ext uri="{FF2B5EF4-FFF2-40B4-BE49-F238E27FC236}">
                <a16:creationId xmlns:a16="http://schemas.microsoft.com/office/drawing/2014/main" id="{3F9BE231-35A0-445F-8D41-59076EC204CA}"/>
              </a:ext>
            </a:extLst>
          </p:cNvPr>
          <p:cNvSpPr>
            <a:spLocks noGrp="1"/>
          </p:cNvSpPr>
          <p:nvPr/>
        </p:nvSpPr>
        <p:spPr>
          <a:xfrm>
            <a:off x="3781425" y="3600450"/>
            <a:ext cx="523875" cy="28575"/>
          </a:xfrm>
          <a:prstGeom prst="rect">
            <a:avLst/>
          </a:prstGeom>
          <a:solidFill>
            <a:srgbClr val="078B8C"/>
          </a:solidFill>
          <a:ln w="0">
            <a:noFill/>
          </a:ln>
        </p:spPr>
        <p:txBody>
          <a:bodyPr/>
          <a:lstStyle/>
          <a:p>
            <a:endParaRPr lang="en-US"/>
          </a:p>
        </p:txBody>
      </p:sp>
      <p:sp>
        <p:nvSpPr>
          <p:cNvPr id="37" name="Rectangle 36">
            <a:extLst>
              <a:ext uri="{FF2B5EF4-FFF2-40B4-BE49-F238E27FC236}">
                <a16:creationId xmlns:a16="http://schemas.microsoft.com/office/drawing/2014/main" id="{068C5228-9467-4029-96AD-629DE645A33D}"/>
              </a:ext>
            </a:extLst>
          </p:cNvPr>
          <p:cNvSpPr>
            <a:spLocks noGrp="1"/>
          </p:cNvSpPr>
          <p:nvPr/>
        </p:nvSpPr>
        <p:spPr>
          <a:xfrm>
            <a:off x="3781425" y="4629150"/>
            <a:ext cx="523875" cy="28575"/>
          </a:xfrm>
          <a:prstGeom prst="rect">
            <a:avLst/>
          </a:prstGeom>
          <a:solidFill>
            <a:srgbClr val="078B8C"/>
          </a:solidFill>
          <a:ln w="0">
            <a:noFill/>
          </a:ln>
        </p:spPr>
        <p:txBody>
          <a:bodyPr/>
          <a:lstStyle/>
          <a:p>
            <a:endParaRPr lang="en-US"/>
          </a:p>
        </p:txBody>
      </p:sp>
      <p:sp>
        <p:nvSpPr>
          <p:cNvPr id="38" name="Rectangle 37">
            <a:extLst>
              <a:ext uri="{FF2B5EF4-FFF2-40B4-BE49-F238E27FC236}">
                <a16:creationId xmlns:a16="http://schemas.microsoft.com/office/drawing/2014/main" id="{4B1DA136-A3A5-4A0E-AB5F-4DCD7A8F52C8}"/>
              </a:ext>
            </a:extLst>
          </p:cNvPr>
          <p:cNvSpPr>
            <a:spLocks noGrp="1"/>
          </p:cNvSpPr>
          <p:nvPr/>
        </p:nvSpPr>
        <p:spPr>
          <a:xfrm>
            <a:off x="7353300" y="3600450"/>
            <a:ext cx="552450" cy="28575"/>
          </a:xfrm>
          <a:prstGeom prst="rect">
            <a:avLst/>
          </a:prstGeom>
          <a:solidFill>
            <a:srgbClr val="078B8C"/>
          </a:solidFill>
          <a:ln w="0">
            <a:noFill/>
          </a:ln>
        </p:spPr>
        <p:txBody>
          <a:bodyPr/>
          <a:lstStyle/>
          <a:p>
            <a:endParaRPr lang="en-US"/>
          </a:p>
        </p:txBody>
      </p:sp>
      <p:sp>
        <p:nvSpPr>
          <p:cNvPr id="39" name="Rectangle 38">
            <a:extLst>
              <a:ext uri="{FF2B5EF4-FFF2-40B4-BE49-F238E27FC236}">
                <a16:creationId xmlns:a16="http://schemas.microsoft.com/office/drawing/2014/main" id="{3CED1FB4-F4D7-40F8-97AC-8878CF46F8E8}"/>
              </a:ext>
            </a:extLst>
          </p:cNvPr>
          <p:cNvSpPr>
            <a:spLocks noGrp="1"/>
          </p:cNvSpPr>
          <p:nvPr/>
        </p:nvSpPr>
        <p:spPr>
          <a:xfrm>
            <a:off x="7353300" y="4629150"/>
            <a:ext cx="552450" cy="28575"/>
          </a:xfrm>
          <a:prstGeom prst="rect">
            <a:avLst/>
          </a:prstGeom>
          <a:solidFill>
            <a:srgbClr val="078B8C"/>
          </a:solidFill>
          <a:ln w="0">
            <a:noFill/>
          </a:ln>
        </p:spPr>
        <p:txBody>
          <a:bodyPr/>
          <a:lstStyle/>
          <a:p>
            <a:endParaRPr lang="en-US"/>
          </a:p>
        </p:txBody>
      </p:sp>
      <p:sp>
        <p:nvSpPr>
          <p:cNvPr id="40" name="Rectangle 39">
            <a:extLst>
              <a:ext uri="{FF2B5EF4-FFF2-40B4-BE49-F238E27FC236}">
                <a16:creationId xmlns:a16="http://schemas.microsoft.com/office/drawing/2014/main" id="{16227F8D-C3D3-4542-9F5A-3F79FB71EB8B}"/>
              </a:ext>
            </a:extLst>
          </p:cNvPr>
          <p:cNvSpPr>
            <a:spLocks noGrp="1"/>
          </p:cNvSpPr>
          <p:nvPr/>
        </p:nvSpPr>
        <p:spPr>
          <a:xfrm>
            <a:off x="7896225" y="3600450"/>
            <a:ext cx="28575" cy="1028700"/>
          </a:xfrm>
          <a:prstGeom prst="rect">
            <a:avLst/>
          </a:prstGeom>
          <a:solidFill>
            <a:srgbClr val="078B8C"/>
          </a:solidFill>
          <a:ln w="0">
            <a:noFill/>
          </a:ln>
        </p:spPr>
        <p:txBody>
          <a:bodyPr/>
          <a:lstStyle/>
          <a:p>
            <a:endParaRPr lang="en-US"/>
          </a:p>
        </p:txBody>
      </p:sp>
      <p:sp>
        <p:nvSpPr>
          <p:cNvPr id="41" name="Rectangle 40">
            <a:extLst>
              <a:ext uri="{FF2B5EF4-FFF2-40B4-BE49-F238E27FC236}">
                <a16:creationId xmlns:a16="http://schemas.microsoft.com/office/drawing/2014/main" id="{AD01FCBE-142F-4C03-937B-20129636F1BE}"/>
              </a:ext>
            </a:extLst>
          </p:cNvPr>
          <p:cNvSpPr>
            <a:spLocks noGrp="1"/>
          </p:cNvSpPr>
          <p:nvPr/>
        </p:nvSpPr>
        <p:spPr>
          <a:xfrm>
            <a:off x="7896225" y="4124325"/>
            <a:ext cx="619125" cy="28575"/>
          </a:xfrm>
          <a:prstGeom prst="rect">
            <a:avLst/>
          </a:prstGeom>
          <a:solidFill>
            <a:srgbClr val="078B8C"/>
          </a:solidFill>
          <a:ln w="0">
            <a:noFill/>
          </a:ln>
        </p:spPr>
        <p:txBody>
          <a:bodyPr/>
          <a:lstStyle/>
          <a:p>
            <a:endParaRPr lang="en-US"/>
          </a:p>
        </p:txBody>
      </p:sp>
      <p:sp>
        <p:nvSpPr>
          <p:cNvPr id="42" name="Rectangle 41">
            <a:extLst>
              <a:ext uri="{FF2B5EF4-FFF2-40B4-BE49-F238E27FC236}">
                <a16:creationId xmlns:a16="http://schemas.microsoft.com/office/drawing/2014/main" id="{A9BF3984-C281-4072-B925-105CC78035B4}"/>
              </a:ext>
            </a:extLst>
          </p:cNvPr>
          <p:cNvSpPr>
            <a:spLocks noGrp="1"/>
          </p:cNvSpPr>
          <p:nvPr/>
        </p:nvSpPr>
        <p:spPr>
          <a:xfrm>
            <a:off x="533400" y="5753100"/>
            <a:ext cx="11125200" cy="428625"/>
          </a:xfrm>
          <a:prstGeom prst="rect">
            <a:avLst/>
          </a:prstGeom>
          <a:solidFill>
            <a:srgbClr val="EFF5F8"/>
          </a:solidFill>
          <a:ln w="12383">
            <a:solidFill>
              <a:srgbClr val="EFF5F8"/>
            </a:solidFill>
          </a:ln>
        </p:spPr>
        <p:txBody>
          <a:bodyPr/>
          <a:lstStyle/>
          <a:p>
            <a:endParaRPr lang="en-US"/>
          </a:p>
        </p:txBody>
      </p:sp>
      <p:sp>
        <p:nvSpPr>
          <p:cNvPr id="43" name="Rectangle 42">
            <a:extLst>
              <a:ext uri="{FF2B5EF4-FFF2-40B4-BE49-F238E27FC236}">
                <a16:creationId xmlns:a16="http://schemas.microsoft.com/office/drawing/2014/main" id="{BD91E3F1-038F-4AD4-ACB6-C2A106A0A0E3}"/>
              </a:ext>
            </a:extLst>
          </p:cNvPr>
          <p:cNvSpPr>
            <a:spLocks noGrp="1"/>
          </p:cNvSpPr>
          <p:nvPr/>
        </p:nvSpPr>
        <p:spPr>
          <a:xfrm>
            <a:off x="676275" y="5867400"/>
            <a:ext cx="10839450" cy="238125"/>
          </a:xfrm>
          <a:prstGeom prst="rect">
            <a:avLst/>
          </a:prstGeom>
          <a:noFill/>
          <a:ln w="0">
            <a:noFill/>
          </a:ln>
        </p:spPr>
        <p:txBody>
          <a:bodyPr>
            <a:noAutofit/>
          </a:bodyPr>
          <a:lstStyle/>
          <a:p>
            <a:pPr>
              <a:defRPr sz="1350" b="0">
                <a:solidFill>
                  <a:srgbClr val="102B46"/>
                </a:solidFill>
                <a:latin typeface="Aptos"/>
                <a:ea typeface="Aptos"/>
                <a:cs typeface="Aptos"/>
              </a:defRPr>
            </a:pPr>
            <a:r>
              <a:rPr sz="1350" b="0">
                <a:solidFill>
                  <a:srgbClr val="102B46"/>
                </a:solidFill>
                <a:latin typeface="Aptos"/>
                <a:ea typeface="Aptos"/>
                <a:cs typeface="Aptos"/>
              </a:rPr>
              <a:t>Every link has evidence and ownership. The contract, service and workforce records establish why renewal affects operations.</a:t>
            </a:r>
          </a:p>
        </p:txBody>
      </p:sp>
    </p:spTree>
    <p:extLst>
      <p:ext uri="{BB962C8B-B14F-4D97-AF65-F5344CB8AC3E}">
        <p14:creationId xmlns:p14="http://schemas.microsoft.com/office/powerpoint/2010/main" val="5596157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F7CD773-21A1-4675-B6E1-6AB4A97C1559}"/>
              </a:ext>
            </a:extLst>
          </p:cNvPr>
          <p:cNvSpPr>
            <a:spLocks noGrp="1"/>
          </p:cNvSpPr>
          <p:nvPr/>
        </p:nvSpPr>
        <p:spPr>
          <a:xfrm>
            <a:off x="0" y="0"/>
            <a:ext cx="12192000" cy="95250"/>
          </a:xfrm>
          <a:prstGeom prst="rect">
            <a:avLst/>
          </a:prstGeom>
          <a:solidFill>
            <a:srgbClr val="0067A0"/>
          </a:solidFill>
          <a:ln w="0">
            <a:noFill/>
          </a:ln>
        </p:spPr>
        <p:txBody>
          <a:bodyPr/>
          <a:lstStyle/>
          <a:p>
            <a:endParaRPr lang="en-US"/>
          </a:p>
        </p:txBody>
      </p:sp>
      <p:sp>
        <p:nvSpPr>
          <p:cNvPr id="2" name="Rectangle 1">
            <a:extLst>
              <a:ext uri="{FF2B5EF4-FFF2-40B4-BE49-F238E27FC236}">
                <a16:creationId xmlns:a16="http://schemas.microsoft.com/office/drawing/2014/main" id="{283FED23-A731-4663-A69B-BF1B239F64EB}"/>
              </a:ext>
            </a:extLst>
          </p:cNvPr>
          <p:cNvSpPr>
            <a:spLocks noGrp="1"/>
          </p:cNvSpPr>
          <p:nvPr/>
        </p:nvSpPr>
        <p:spPr>
          <a:xfrm>
            <a:off x="533400" y="400050"/>
            <a:ext cx="11125200" cy="571500"/>
          </a:xfrm>
          <a:prstGeom prst="rect">
            <a:avLst/>
          </a:prstGeom>
          <a:noFill/>
          <a:ln w="0">
            <a:noFill/>
          </a:ln>
        </p:spPr>
        <p:txBody>
          <a:bodyPr>
            <a:noAutofit/>
          </a:bodyPr>
          <a:lstStyle/>
          <a:p>
            <a:pPr>
              <a:defRPr sz="2700" b="1">
                <a:solidFill>
                  <a:srgbClr val="102B46"/>
                </a:solidFill>
                <a:latin typeface="Aptos"/>
                <a:ea typeface="Aptos"/>
                <a:cs typeface="Aptos"/>
              </a:defRPr>
            </a:pPr>
            <a:r>
              <a:rPr sz="2700" b="1">
                <a:solidFill>
                  <a:srgbClr val="102B46"/>
                </a:solidFill>
                <a:latin typeface="Aptos"/>
                <a:ea typeface="Aptos"/>
                <a:cs typeface="Aptos"/>
              </a:rPr>
              <a:t>Alpha’s renewal and consolidation need different evidence</a:t>
            </a:r>
          </a:p>
        </p:txBody>
      </p:sp>
      <p:sp>
        <p:nvSpPr>
          <p:cNvPr id="3" name="Rectangle 2">
            <a:extLst>
              <a:ext uri="{FF2B5EF4-FFF2-40B4-BE49-F238E27FC236}">
                <a16:creationId xmlns:a16="http://schemas.microsoft.com/office/drawing/2014/main" id="{4A88FB26-B2D7-4A42-8E80-0C5501BE8C52}"/>
              </a:ext>
            </a:extLst>
          </p:cNvPr>
          <p:cNvSpPr>
            <a:spLocks noGrp="1"/>
          </p:cNvSpPr>
          <p:nvPr/>
        </p:nvSpPr>
        <p:spPr>
          <a:xfrm>
            <a:off x="533400" y="1028700"/>
            <a:ext cx="11125200" cy="504825"/>
          </a:xfrm>
          <a:prstGeom prst="rect">
            <a:avLst/>
          </a:prstGeom>
          <a:noFill/>
          <a:ln w="0">
            <a:noFill/>
          </a:ln>
        </p:spPr>
        <p:txBody>
          <a:bodyPr>
            <a:noAutofit/>
          </a:bodyPr>
          <a:lstStyle/>
          <a:p>
            <a:pPr>
              <a:defRPr sz="1425" b="0">
                <a:solidFill>
                  <a:srgbClr val="5B7080"/>
                </a:solidFill>
                <a:latin typeface="Aptos"/>
                <a:ea typeface="Aptos"/>
                <a:cs typeface="Aptos"/>
              </a:defRPr>
            </a:pPr>
            <a:r>
              <a:rPr sz="1425" b="0">
                <a:solidFill>
                  <a:srgbClr val="5B7080"/>
                </a:solidFill>
                <a:latin typeface="Aptos"/>
                <a:ea typeface="Aptos"/>
                <a:cs typeface="Aptos"/>
              </a:rPr>
              <a:t>Illustrative analysis • No approved Citi score or automatic supplier substitution</a:t>
            </a:r>
          </a:p>
        </p:txBody>
      </p:sp>
      <p:sp>
        <p:nvSpPr>
          <p:cNvPr id="4" name="Rectangle 3">
            <a:extLst>
              <a:ext uri="{FF2B5EF4-FFF2-40B4-BE49-F238E27FC236}">
                <a16:creationId xmlns:a16="http://schemas.microsoft.com/office/drawing/2014/main" id="{23E4047B-9C12-4412-92B4-FCBAF4FEE1ED}"/>
              </a:ext>
            </a:extLst>
          </p:cNvPr>
          <p:cNvSpPr>
            <a:spLocks noGrp="1"/>
          </p:cNvSpPr>
          <p:nvPr/>
        </p:nvSpPr>
        <p:spPr>
          <a:xfrm>
            <a:off x="533400" y="6381750"/>
            <a:ext cx="11125200" cy="9525"/>
          </a:xfrm>
          <a:prstGeom prst="rect">
            <a:avLst/>
          </a:prstGeom>
          <a:solidFill>
            <a:srgbClr val="CBD7DF"/>
          </a:solidFill>
          <a:ln w="0">
            <a:noFill/>
          </a:ln>
        </p:spPr>
        <p:txBody>
          <a:bodyPr/>
          <a:lstStyle/>
          <a:p>
            <a:endParaRPr lang="en-US"/>
          </a:p>
        </p:txBody>
      </p:sp>
      <p:sp>
        <p:nvSpPr>
          <p:cNvPr id="5" name="Rectangle 4">
            <a:extLst>
              <a:ext uri="{FF2B5EF4-FFF2-40B4-BE49-F238E27FC236}">
                <a16:creationId xmlns:a16="http://schemas.microsoft.com/office/drawing/2014/main" id="{997C8057-9781-4779-9401-96ABBAA7BFEC}"/>
              </a:ext>
            </a:extLst>
          </p:cNvPr>
          <p:cNvSpPr>
            <a:spLocks noGrp="1"/>
          </p:cNvSpPr>
          <p:nvPr/>
        </p:nvSpPr>
        <p:spPr>
          <a:xfrm>
            <a:off x="533400" y="6477000"/>
            <a:ext cx="10572750" cy="190500"/>
          </a:xfrm>
          <a:prstGeom prst="rect">
            <a:avLst/>
          </a:prstGeom>
          <a:noFill/>
          <a:ln w="0">
            <a:noFill/>
          </a:ln>
        </p:spPr>
        <p:txBody>
          <a:bodyPr>
            <a:noAutofit/>
          </a:bodyPr>
          <a:lstStyle/>
          <a:p>
            <a:pPr>
              <a:defRPr sz="900" b="0">
                <a:solidFill>
                  <a:srgbClr val="5B7080"/>
                </a:solidFill>
                <a:latin typeface="Aptos"/>
                <a:ea typeface="Aptos"/>
                <a:cs typeface="Aptos"/>
              </a:defRPr>
            </a:pPr>
            <a:r>
              <a:rPr sz="900" b="0">
                <a:solidFill>
                  <a:srgbClr val="5B7080"/>
                </a:solidFill>
                <a:latin typeface="Aptos"/>
                <a:ea typeface="Aptos"/>
                <a:cs typeface="Aptos"/>
              </a:rPr>
              <a:t>COMPANY CONFIDENTIAL   •   FSD v1.0   •   UC-02–04, FR-040–063</a:t>
            </a:r>
          </a:p>
        </p:txBody>
      </p:sp>
      <p:sp>
        <p:nvSpPr>
          <p:cNvPr id="6" name="Rectangle 5">
            <a:extLst>
              <a:ext uri="{FF2B5EF4-FFF2-40B4-BE49-F238E27FC236}">
                <a16:creationId xmlns:a16="http://schemas.microsoft.com/office/drawing/2014/main" id="{620B8CE0-DD70-4CE2-98E9-E0B7D24D16B1}"/>
              </a:ext>
            </a:extLst>
          </p:cNvPr>
          <p:cNvSpPr>
            <a:spLocks noGrp="1"/>
          </p:cNvSpPr>
          <p:nvPr/>
        </p:nvSpPr>
        <p:spPr>
          <a:xfrm>
            <a:off x="11315700" y="6477000"/>
            <a:ext cx="342900" cy="190500"/>
          </a:xfrm>
          <a:prstGeom prst="rect">
            <a:avLst/>
          </a:prstGeom>
          <a:noFill/>
          <a:ln w="0">
            <a:noFill/>
          </a:ln>
        </p:spPr>
        <p:txBody>
          <a:bodyPr>
            <a:noAutofit/>
          </a:bodyPr>
          <a:lstStyle/>
          <a:p>
            <a:pPr>
              <a:defRPr sz="975" b="1">
                <a:solidFill>
                  <a:srgbClr val="102B46"/>
                </a:solidFill>
                <a:latin typeface="Aptos"/>
                <a:ea typeface="Aptos"/>
                <a:cs typeface="Aptos"/>
              </a:defRPr>
            </a:pPr>
            <a:r>
              <a:rPr sz="975" b="1">
                <a:solidFill>
                  <a:srgbClr val="102B46"/>
                </a:solidFill>
                <a:latin typeface="Aptos"/>
                <a:ea typeface="Aptos"/>
                <a:cs typeface="Aptos"/>
              </a:rPr>
              <a:t>09</a:t>
            </a:r>
          </a:p>
        </p:txBody>
      </p:sp>
      <p:sp>
        <p:nvSpPr>
          <p:cNvPr id="7" name="Rectangle 6">
            <a:extLst>
              <a:ext uri="{FF2B5EF4-FFF2-40B4-BE49-F238E27FC236}">
                <a16:creationId xmlns:a16="http://schemas.microsoft.com/office/drawing/2014/main" id="{2B4C46F3-E8E1-4E10-8898-472714A1A69A}"/>
              </a:ext>
            </a:extLst>
          </p:cNvPr>
          <p:cNvSpPr>
            <a:spLocks noGrp="1"/>
          </p:cNvSpPr>
          <p:nvPr/>
        </p:nvSpPr>
        <p:spPr>
          <a:xfrm>
            <a:off x="533400" y="1781175"/>
            <a:ext cx="3524250" cy="3124200"/>
          </a:xfrm>
          <a:prstGeom prst="rect">
            <a:avLst/>
          </a:prstGeom>
          <a:solidFill>
            <a:srgbClr val="EFF5F8"/>
          </a:solidFill>
          <a:ln w="12383">
            <a:solidFill>
              <a:srgbClr val="CBD7DF"/>
            </a:solidFill>
          </a:ln>
        </p:spPr>
        <p:txBody>
          <a:bodyPr/>
          <a:lstStyle/>
          <a:p>
            <a:endParaRPr lang="en-US"/>
          </a:p>
        </p:txBody>
      </p:sp>
      <p:sp>
        <p:nvSpPr>
          <p:cNvPr id="8" name="Rectangle 7">
            <a:extLst>
              <a:ext uri="{FF2B5EF4-FFF2-40B4-BE49-F238E27FC236}">
                <a16:creationId xmlns:a16="http://schemas.microsoft.com/office/drawing/2014/main" id="{38C6EB4E-643B-4CCD-AFFA-24AB53C51F2A}"/>
              </a:ext>
            </a:extLst>
          </p:cNvPr>
          <p:cNvSpPr>
            <a:spLocks noGrp="1"/>
          </p:cNvSpPr>
          <p:nvPr/>
        </p:nvSpPr>
        <p:spPr>
          <a:xfrm>
            <a:off x="533400" y="1781175"/>
            <a:ext cx="47625" cy="3124200"/>
          </a:xfrm>
          <a:prstGeom prst="rect">
            <a:avLst/>
          </a:prstGeom>
          <a:solidFill>
            <a:srgbClr val="078B8C"/>
          </a:solidFill>
          <a:ln w="0">
            <a:noFill/>
          </a:ln>
        </p:spPr>
        <p:txBody>
          <a:bodyPr/>
          <a:lstStyle/>
          <a:p>
            <a:endParaRPr lang="en-US"/>
          </a:p>
        </p:txBody>
      </p:sp>
      <p:sp>
        <p:nvSpPr>
          <p:cNvPr id="9" name="Rectangle 8">
            <a:extLst>
              <a:ext uri="{FF2B5EF4-FFF2-40B4-BE49-F238E27FC236}">
                <a16:creationId xmlns:a16="http://schemas.microsoft.com/office/drawing/2014/main" id="{29D06AC2-3CFE-4025-BA81-EF0ABB0909E6}"/>
              </a:ext>
            </a:extLst>
          </p:cNvPr>
          <p:cNvSpPr>
            <a:spLocks noGrp="1"/>
          </p:cNvSpPr>
          <p:nvPr/>
        </p:nvSpPr>
        <p:spPr>
          <a:xfrm>
            <a:off x="723900" y="1924050"/>
            <a:ext cx="3143250"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Renewal urgency</a:t>
            </a:r>
          </a:p>
        </p:txBody>
      </p:sp>
      <p:sp>
        <p:nvSpPr>
          <p:cNvPr id="10" name="Rectangle 9">
            <a:extLst>
              <a:ext uri="{FF2B5EF4-FFF2-40B4-BE49-F238E27FC236}">
                <a16:creationId xmlns:a16="http://schemas.microsoft.com/office/drawing/2014/main" id="{4584F133-9D31-4A21-84A2-9F09812AC929}"/>
              </a:ext>
            </a:extLst>
          </p:cNvPr>
          <p:cNvSpPr>
            <a:spLocks noGrp="1"/>
          </p:cNvSpPr>
          <p:nvPr/>
        </p:nvSpPr>
        <p:spPr>
          <a:xfrm>
            <a:off x="723900" y="2466975"/>
            <a:ext cx="3143250" cy="2333625"/>
          </a:xfrm>
          <a:prstGeom prst="rect">
            <a:avLst/>
          </a:prstGeom>
          <a:noFill/>
          <a:ln w="0">
            <a:noFill/>
          </a:ln>
        </p:spPr>
        <p:txBody>
          <a:bodyPr>
            <a:noAutofit/>
          </a:bodyPr>
          <a:lstStyle/>
          <a:p>
            <a:pPr>
              <a:defRPr sz="1575" b="0">
                <a:solidFill>
                  <a:srgbClr val="233B4D"/>
                </a:solidFill>
                <a:latin typeface="Aptos"/>
                <a:ea typeface="Aptos"/>
                <a:cs typeface="Aptos"/>
              </a:defRPr>
            </a:pPr>
            <a:r>
              <a:rPr sz="1575" b="0">
                <a:solidFill>
                  <a:srgbClr val="233B4D"/>
                </a:solidFill>
                <a:latin typeface="Aptos"/>
                <a:ea typeface="Aptos"/>
                <a:cs typeface="Aptos"/>
              </a:rPr>
              <a:t>C-01 expires in 90 days</a:t>
            </a:r>
          </a:p>
          <a:p>
            <a:pPr>
              <a:defRPr sz="1575" b="0">
                <a:solidFill>
                  <a:srgbClr val="233B4D"/>
                </a:solidFill>
                <a:latin typeface="Aptos"/>
                <a:ea typeface="Aptos"/>
                <a:cs typeface="Aptos"/>
              </a:defRPr>
            </a:pPr>
            <a:r>
              <a:rPr sz="1575" b="0">
                <a:solidFill>
                  <a:srgbClr val="233B4D"/>
                </a:solidFill>
                <a:latin typeface="Aptos"/>
                <a:ea typeface="Aptos"/>
                <a:cs typeface="Aptos"/>
              </a:rPr>
              <a:t>2 critical applications</a:t>
            </a:r>
          </a:p>
          <a:p>
            <a:pPr>
              <a:defRPr sz="1575" b="0">
                <a:solidFill>
                  <a:srgbClr val="233B4D"/>
                </a:solidFill>
                <a:latin typeface="Aptos"/>
                <a:ea typeface="Aptos"/>
                <a:cs typeface="Aptos"/>
              </a:defRPr>
            </a:pPr>
            <a:r>
              <a:rPr sz="1575" b="0">
                <a:solidFill>
                  <a:srgbClr val="233B4D"/>
                </a:solidFill>
                <a:latin typeface="Aptos"/>
                <a:ea typeface="Aptos"/>
                <a:cs typeface="Aptos"/>
              </a:rPr>
              <a:t>140 workforce assignments</a:t>
            </a:r>
          </a:p>
          <a:p>
            <a:endParaRPr sz="1575" b="0">
              <a:solidFill>
                <a:srgbClr val="233B4D"/>
              </a:solidFill>
              <a:latin typeface="Aptos"/>
              <a:ea typeface="Aptos"/>
              <a:cs typeface="Aptos"/>
            </a:endParaRPr>
          </a:p>
          <a:p>
            <a:pPr>
              <a:defRPr sz="1575" b="0">
                <a:solidFill>
                  <a:srgbClr val="233B4D"/>
                </a:solidFill>
                <a:latin typeface="Aptos"/>
                <a:ea typeface="Aptos"/>
                <a:cs typeface="Aptos"/>
              </a:defRPr>
            </a:pPr>
            <a:r>
              <a:rPr sz="1575" b="0">
                <a:solidFill>
                  <a:srgbClr val="233B4D"/>
                </a:solidFill>
                <a:latin typeface="Aptos"/>
                <a:ea typeface="Aptos"/>
                <a:cs typeface="Aptos"/>
              </a:rPr>
              <a:t>Demo rule R1 v1: High</a:t>
            </a:r>
          </a:p>
          <a:p>
            <a:pPr>
              <a:defRPr sz="1575" b="0">
                <a:solidFill>
                  <a:srgbClr val="233B4D"/>
                </a:solidFill>
                <a:latin typeface="Aptos"/>
                <a:ea typeface="Aptos"/>
                <a:cs typeface="Aptos"/>
              </a:defRPr>
            </a:pPr>
            <a:r>
              <a:rPr sz="1575" b="0">
                <a:solidFill>
                  <a:srgbClr val="233B4D"/>
                </a:solidFill>
                <a:latin typeface="Aptos"/>
                <a:ea typeface="Aptos"/>
                <a:cs typeface="Aptos"/>
              </a:rPr>
              <a:t>Within 120 days + critical support</a:t>
            </a:r>
          </a:p>
        </p:txBody>
      </p:sp>
      <p:sp>
        <p:nvSpPr>
          <p:cNvPr id="11" name="Rectangle 10">
            <a:extLst>
              <a:ext uri="{FF2B5EF4-FFF2-40B4-BE49-F238E27FC236}">
                <a16:creationId xmlns:a16="http://schemas.microsoft.com/office/drawing/2014/main" id="{C3B648A8-0473-42C0-BF70-C5C0A46C81F5}"/>
              </a:ext>
            </a:extLst>
          </p:cNvPr>
          <p:cNvSpPr>
            <a:spLocks noGrp="1"/>
          </p:cNvSpPr>
          <p:nvPr/>
        </p:nvSpPr>
        <p:spPr>
          <a:xfrm>
            <a:off x="4333875" y="1781175"/>
            <a:ext cx="3524250" cy="3124200"/>
          </a:xfrm>
          <a:prstGeom prst="rect">
            <a:avLst/>
          </a:prstGeom>
          <a:solidFill>
            <a:srgbClr val="FFFFFF"/>
          </a:solidFill>
          <a:ln w="12383">
            <a:solidFill>
              <a:srgbClr val="CBD7DF"/>
            </a:solidFill>
          </a:ln>
        </p:spPr>
        <p:txBody>
          <a:bodyPr/>
          <a:lstStyle/>
          <a:p>
            <a:endParaRPr lang="en-US"/>
          </a:p>
        </p:txBody>
      </p:sp>
      <p:sp>
        <p:nvSpPr>
          <p:cNvPr id="12" name="Rectangle 11">
            <a:extLst>
              <a:ext uri="{FF2B5EF4-FFF2-40B4-BE49-F238E27FC236}">
                <a16:creationId xmlns:a16="http://schemas.microsoft.com/office/drawing/2014/main" id="{A32E0C4C-9792-4D7B-863C-35E76A2402C9}"/>
              </a:ext>
            </a:extLst>
          </p:cNvPr>
          <p:cNvSpPr>
            <a:spLocks noGrp="1"/>
          </p:cNvSpPr>
          <p:nvPr/>
        </p:nvSpPr>
        <p:spPr>
          <a:xfrm>
            <a:off x="4333875" y="1781175"/>
            <a:ext cx="47625" cy="3124200"/>
          </a:xfrm>
          <a:prstGeom prst="rect">
            <a:avLst/>
          </a:prstGeom>
          <a:solidFill>
            <a:srgbClr val="078B8C"/>
          </a:solidFill>
          <a:ln w="0">
            <a:noFill/>
          </a:ln>
        </p:spPr>
        <p:txBody>
          <a:bodyPr/>
          <a:lstStyle/>
          <a:p>
            <a:endParaRPr lang="en-US"/>
          </a:p>
        </p:txBody>
      </p:sp>
      <p:sp>
        <p:nvSpPr>
          <p:cNvPr id="13" name="Rectangle 12">
            <a:extLst>
              <a:ext uri="{FF2B5EF4-FFF2-40B4-BE49-F238E27FC236}">
                <a16:creationId xmlns:a16="http://schemas.microsoft.com/office/drawing/2014/main" id="{155EB01D-25E5-4771-94B3-561F4EC783DC}"/>
              </a:ext>
            </a:extLst>
          </p:cNvPr>
          <p:cNvSpPr>
            <a:spLocks noGrp="1"/>
          </p:cNvSpPr>
          <p:nvPr/>
        </p:nvSpPr>
        <p:spPr>
          <a:xfrm>
            <a:off x="4524375" y="1924050"/>
            <a:ext cx="3143250"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Operational concentration</a:t>
            </a:r>
          </a:p>
        </p:txBody>
      </p:sp>
      <p:sp>
        <p:nvSpPr>
          <p:cNvPr id="14" name="Rectangle 13">
            <a:extLst>
              <a:ext uri="{FF2B5EF4-FFF2-40B4-BE49-F238E27FC236}">
                <a16:creationId xmlns:a16="http://schemas.microsoft.com/office/drawing/2014/main" id="{AB982787-2FE4-429E-9416-7013C4100DB2}"/>
              </a:ext>
            </a:extLst>
          </p:cNvPr>
          <p:cNvSpPr>
            <a:spLocks noGrp="1"/>
          </p:cNvSpPr>
          <p:nvPr/>
        </p:nvSpPr>
        <p:spPr>
          <a:xfrm>
            <a:off x="4524375" y="2466975"/>
            <a:ext cx="3143250" cy="2333625"/>
          </a:xfrm>
          <a:prstGeom prst="rect">
            <a:avLst/>
          </a:prstGeom>
          <a:noFill/>
          <a:ln w="0">
            <a:noFill/>
          </a:ln>
        </p:spPr>
        <p:txBody>
          <a:bodyPr>
            <a:noAutofit/>
          </a:bodyPr>
          <a:lstStyle/>
          <a:p>
            <a:pPr>
              <a:defRPr sz="1575" b="0">
                <a:solidFill>
                  <a:srgbClr val="233B4D"/>
                </a:solidFill>
                <a:latin typeface="Aptos"/>
                <a:ea typeface="Aptos"/>
                <a:cs typeface="Aptos"/>
              </a:defRPr>
            </a:pPr>
            <a:r>
              <a:rPr sz="1575" b="0">
                <a:solidFill>
                  <a:srgbClr val="233B4D"/>
                </a:solidFill>
                <a:latin typeface="Aptos"/>
                <a:ea typeface="Aptos"/>
                <a:cs typeface="Aptos"/>
              </a:rPr>
              <a:t>Selected portfolio: 6 critical apps</a:t>
            </a:r>
          </a:p>
          <a:p>
            <a:pPr>
              <a:defRPr sz="1575" b="0">
                <a:solidFill>
                  <a:srgbClr val="233B4D"/>
                </a:solidFill>
                <a:latin typeface="Aptos"/>
                <a:ea typeface="Aptos"/>
                <a:cs typeface="Aptos"/>
              </a:defRPr>
            </a:pPr>
            <a:r>
              <a:rPr sz="1575" b="0">
                <a:solidFill>
                  <a:srgbClr val="233B4D"/>
                </a:solidFill>
                <a:latin typeface="Aptos"/>
                <a:ea typeface="Aptos"/>
                <a:cs typeface="Aptos"/>
              </a:rPr>
              <a:t>Alpha supports 4 of 6 (67%)</a:t>
            </a:r>
          </a:p>
          <a:p>
            <a:endParaRPr sz="1575" b="0">
              <a:solidFill>
                <a:srgbClr val="233B4D"/>
              </a:solidFill>
              <a:latin typeface="Aptos"/>
              <a:ea typeface="Aptos"/>
              <a:cs typeface="Aptos"/>
            </a:endParaRPr>
          </a:p>
          <a:p>
            <a:pPr>
              <a:defRPr sz="1575" b="0">
                <a:solidFill>
                  <a:srgbClr val="233B4D"/>
                </a:solidFill>
                <a:latin typeface="Aptos"/>
                <a:ea typeface="Aptos"/>
                <a:cs typeface="Aptos"/>
              </a:defRPr>
            </a:pPr>
            <a:r>
              <a:rPr sz="1575" b="0">
                <a:solidFill>
                  <a:srgbClr val="233B4D"/>
                </a:solidFill>
                <a:latin typeface="Aptos"/>
                <a:ea typeface="Aptos"/>
                <a:cs typeface="Aptos"/>
              </a:rPr>
              <a:t>Spend share alone would not</a:t>
            </a:r>
          </a:p>
          <a:p>
            <a:pPr>
              <a:defRPr sz="1575" b="0">
                <a:solidFill>
                  <a:srgbClr val="233B4D"/>
                </a:solidFill>
                <a:latin typeface="Aptos"/>
                <a:ea typeface="Aptos"/>
                <a:cs typeface="Aptos"/>
              </a:defRPr>
            </a:pPr>
            <a:r>
              <a:rPr sz="1575" b="0">
                <a:solidFill>
                  <a:srgbClr val="233B4D"/>
                </a:solidFill>
                <a:latin typeface="Aptos"/>
                <a:ea typeface="Aptos"/>
                <a:cs typeface="Aptos"/>
              </a:rPr>
              <a:t>show this operational exposure</a:t>
            </a:r>
          </a:p>
          <a:p>
            <a:pPr>
              <a:defRPr sz="1575" b="0">
                <a:solidFill>
                  <a:srgbClr val="233B4D"/>
                </a:solidFill>
                <a:latin typeface="Aptos"/>
                <a:ea typeface="Aptos"/>
                <a:cs typeface="Aptos"/>
              </a:defRPr>
            </a:pPr>
            <a:r>
              <a:rPr sz="1575" b="0">
                <a:solidFill>
                  <a:srgbClr val="233B4D"/>
                </a:solidFill>
                <a:latin typeface="Aptos"/>
                <a:ea typeface="Aptos"/>
                <a:cs typeface="Aptos"/>
              </a:rPr>
              <a:t>Trace each application to evidence</a:t>
            </a:r>
          </a:p>
        </p:txBody>
      </p:sp>
      <p:sp>
        <p:nvSpPr>
          <p:cNvPr id="15" name="Rectangle 14">
            <a:extLst>
              <a:ext uri="{FF2B5EF4-FFF2-40B4-BE49-F238E27FC236}">
                <a16:creationId xmlns:a16="http://schemas.microsoft.com/office/drawing/2014/main" id="{2863B501-9B6A-4A71-B6FC-B9D16354D8DD}"/>
              </a:ext>
            </a:extLst>
          </p:cNvPr>
          <p:cNvSpPr>
            <a:spLocks noGrp="1"/>
          </p:cNvSpPr>
          <p:nvPr/>
        </p:nvSpPr>
        <p:spPr>
          <a:xfrm>
            <a:off x="8134350" y="1781175"/>
            <a:ext cx="3524250" cy="3124200"/>
          </a:xfrm>
          <a:prstGeom prst="rect">
            <a:avLst/>
          </a:prstGeom>
          <a:solidFill>
            <a:srgbClr val="FFFFFF"/>
          </a:solidFill>
          <a:ln w="12383">
            <a:solidFill>
              <a:srgbClr val="CBD7DF"/>
            </a:solidFill>
          </a:ln>
        </p:spPr>
        <p:txBody>
          <a:bodyPr/>
          <a:lstStyle/>
          <a:p>
            <a:endParaRPr lang="en-US"/>
          </a:p>
        </p:txBody>
      </p:sp>
      <p:sp>
        <p:nvSpPr>
          <p:cNvPr id="16" name="Rectangle 15">
            <a:extLst>
              <a:ext uri="{FF2B5EF4-FFF2-40B4-BE49-F238E27FC236}">
                <a16:creationId xmlns:a16="http://schemas.microsoft.com/office/drawing/2014/main" id="{92FB9FF2-1B21-4488-91F1-134CE7C064C8}"/>
              </a:ext>
            </a:extLst>
          </p:cNvPr>
          <p:cNvSpPr>
            <a:spLocks noGrp="1"/>
          </p:cNvSpPr>
          <p:nvPr/>
        </p:nvSpPr>
        <p:spPr>
          <a:xfrm>
            <a:off x="8134350" y="1781175"/>
            <a:ext cx="47625" cy="3124200"/>
          </a:xfrm>
          <a:prstGeom prst="rect">
            <a:avLst/>
          </a:prstGeom>
          <a:solidFill>
            <a:srgbClr val="078B8C"/>
          </a:solidFill>
          <a:ln w="0">
            <a:noFill/>
          </a:ln>
        </p:spPr>
        <p:txBody>
          <a:bodyPr/>
          <a:lstStyle/>
          <a:p>
            <a:endParaRPr lang="en-US"/>
          </a:p>
        </p:txBody>
      </p:sp>
      <p:sp>
        <p:nvSpPr>
          <p:cNvPr id="17" name="Rectangle 16">
            <a:extLst>
              <a:ext uri="{FF2B5EF4-FFF2-40B4-BE49-F238E27FC236}">
                <a16:creationId xmlns:a16="http://schemas.microsoft.com/office/drawing/2014/main" id="{BA25FF5B-C52A-43E9-93AB-EEDC7B3AB068}"/>
              </a:ext>
            </a:extLst>
          </p:cNvPr>
          <p:cNvSpPr>
            <a:spLocks noGrp="1"/>
          </p:cNvSpPr>
          <p:nvPr/>
        </p:nvSpPr>
        <p:spPr>
          <a:xfrm>
            <a:off x="8324850" y="1924050"/>
            <a:ext cx="3143250"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Beta overlap candidate</a:t>
            </a:r>
          </a:p>
        </p:txBody>
      </p:sp>
      <p:sp>
        <p:nvSpPr>
          <p:cNvPr id="18" name="Rectangle 17">
            <a:extLst>
              <a:ext uri="{FF2B5EF4-FFF2-40B4-BE49-F238E27FC236}">
                <a16:creationId xmlns:a16="http://schemas.microsoft.com/office/drawing/2014/main" id="{4274A879-3B80-464B-BC35-0C10F6A20E71}"/>
              </a:ext>
            </a:extLst>
          </p:cNvPr>
          <p:cNvSpPr>
            <a:spLocks noGrp="1"/>
          </p:cNvSpPr>
          <p:nvPr/>
        </p:nvSpPr>
        <p:spPr>
          <a:xfrm>
            <a:off x="8324850" y="2466975"/>
            <a:ext cx="3143250" cy="2333625"/>
          </a:xfrm>
          <a:prstGeom prst="rect">
            <a:avLst/>
          </a:prstGeom>
          <a:noFill/>
          <a:ln w="0">
            <a:noFill/>
          </a:ln>
        </p:spPr>
        <p:txBody>
          <a:bodyPr>
            <a:noAutofit/>
          </a:bodyPr>
          <a:lstStyle/>
          <a:p>
            <a:pPr>
              <a:defRPr sz="1575" b="0">
                <a:solidFill>
                  <a:srgbClr val="233B4D"/>
                </a:solidFill>
                <a:latin typeface="Aptos"/>
                <a:ea typeface="Aptos"/>
                <a:cs typeface="Aptos"/>
              </a:defRPr>
            </a:pPr>
            <a:r>
              <a:rPr sz="1575" b="0">
                <a:solidFill>
                  <a:srgbClr val="233B4D"/>
                </a:solidFill>
                <a:latin typeface="Aptos"/>
                <a:ea typeface="Aptos"/>
                <a:cs typeface="Aptos"/>
              </a:rPr>
              <a:t>Java and cloud skills overlap</a:t>
            </a:r>
          </a:p>
          <a:p>
            <a:pPr>
              <a:defRPr sz="1575" b="0">
                <a:solidFill>
                  <a:srgbClr val="233B4D"/>
                </a:solidFill>
                <a:latin typeface="Aptos"/>
                <a:ea typeface="Aptos"/>
                <a:cs typeface="Aptos"/>
              </a:defRPr>
            </a:pPr>
            <a:r>
              <a:rPr sz="1575" b="0">
                <a:solidFill>
                  <a:srgbClr val="233B4D"/>
                </a:solidFill>
                <a:latin typeface="Aptos"/>
                <a:ea typeface="Aptos"/>
                <a:cs typeface="Aptos"/>
              </a:rPr>
              <a:t>Capacity: unvalidated</a:t>
            </a:r>
          </a:p>
          <a:p>
            <a:pPr>
              <a:defRPr sz="1575" b="0">
                <a:solidFill>
                  <a:srgbClr val="233B4D"/>
                </a:solidFill>
                <a:latin typeface="Aptos"/>
                <a:ea typeface="Aptos"/>
                <a:cs typeface="Aptos"/>
              </a:defRPr>
            </a:pPr>
            <a:r>
              <a:rPr sz="1575" b="0">
                <a:solidFill>
                  <a:srgbClr val="233B4D"/>
                </a:solidFill>
                <a:latin typeface="Aptos"/>
                <a:ea typeface="Aptos"/>
                <a:cs typeface="Aptos"/>
              </a:rPr>
              <a:t>Transition readiness: unknown</a:t>
            </a:r>
          </a:p>
          <a:p>
            <a:pPr>
              <a:defRPr sz="1575" b="0">
                <a:solidFill>
                  <a:srgbClr val="233B4D"/>
                </a:solidFill>
                <a:latin typeface="Aptos"/>
                <a:ea typeface="Aptos"/>
                <a:cs typeface="Aptos"/>
              </a:defRPr>
            </a:pPr>
            <a:r>
              <a:rPr sz="1575" b="0">
                <a:solidFill>
                  <a:srgbClr val="233B4D"/>
                </a:solidFill>
                <a:latin typeface="Aptos"/>
                <a:ea typeface="Aptos"/>
                <a:cs typeface="Aptos"/>
              </a:rPr>
              <a:t>Contract constraints: review</a:t>
            </a:r>
          </a:p>
          <a:p>
            <a:endParaRPr sz="1575" b="0">
              <a:solidFill>
                <a:srgbClr val="233B4D"/>
              </a:solidFill>
              <a:latin typeface="Aptos"/>
              <a:ea typeface="Aptos"/>
              <a:cs typeface="Aptos"/>
            </a:endParaRPr>
          </a:p>
          <a:p>
            <a:pPr>
              <a:defRPr sz="1575" b="0">
                <a:solidFill>
                  <a:srgbClr val="233B4D"/>
                </a:solidFill>
                <a:latin typeface="Aptos"/>
                <a:ea typeface="Aptos"/>
                <a:cs typeface="Aptos"/>
              </a:defRPr>
            </a:pPr>
            <a:r>
              <a:rPr sz="1575" b="0">
                <a:solidFill>
                  <a:srgbClr val="233B4D"/>
                </a:solidFill>
                <a:latin typeface="Aptos"/>
                <a:ea typeface="Aptos"/>
                <a:cs typeface="Aptos"/>
              </a:rPr>
              <a:t>No substitution conclusion</a:t>
            </a:r>
          </a:p>
        </p:txBody>
      </p:sp>
      <p:sp>
        <p:nvSpPr>
          <p:cNvPr id="19" name="Rectangle 18">
            <a:extLst>
              <a:ext uri="{FF2B5EF4-FFF2-40B4-BE49-F238E27FC236}">
                <a16:creationId xmlns:a16="http://schemas.microsoft.com/office/drawing/2014/main" id="{967D3BB1-557F-4727-95F0-C0C8AC832E66}"/>
              </a:ext>
            </a:extLst>
          </p:cNvPr>
          <p:cNvSpPr>
            <a:spLocks noGrp="1"/>
          </p:cNvSpPr>
          <p:nvPr/>
        </p:nvSpPr>
        <p:spPr>
          <a:xfrm>
            <a:off x="533400" y="5753100"/>
            <a:ext cx="11125200" cy="428625"/>
          </a:xfrm>
          <a:prstGeom prst="rect">
            <a:avLst/>
          </a:prstGeom>
          <a:solidFill>
            <a:srgbClr val="EFF5F8"/>
          </a:solidFill>
          <a:ln w="12383">
            <a:solidFill>
              <a:srgbClr val="EFF5F8"/>
            </a:solidFill>
          </a:ln>
        </p:spPr>
        <p:txBody>
          <a:bodyPr/>
          <a:lstStyle/>
          <a:p>
            <a:endParaRPr lang="en-US"/>
          </a:p>
        </p:txBody>
      </p:sp>
      <p:sp>
        <p:nvSpPr>
          <p:cNvPr id="20" name="Rectangle 19">
            <a:extLst>
              <a:ext uri="{FF2B5EF4-FFF2-40B4-BE49-F238E27FC236}">
                <a16:creationId xmlns:a16="http://schemas.microsoft.com/office/drawing/2014/main" id="{F80D5CED-C9DE-4D33-8182-078ABBB264E4}"/>
              </a:ext>
            </a:extLst>
          </p:cNvPr>
          <p:cNvSpPr>
            <a:spLocks noGrp="1"/>
          </p:cNvSpPr>
          <p:nvPr/>
        </p:nvSpPr>
        <p:spPr>
          <a:xfrm>
            <a:off x="676275" y="5867400"/>
            <a:ext cx="10839450" cy="238125"/>
          </a:xfrm>
          <a:prstGeom prst="rect">
            <a:avLst/>
          </a:prstGeom>
          <a:noFill/>
          <a:ln w="0">
            <a:noFill/>
          </a:ln>
        </p:spPr>
        <p:txBody>
          <a:bodyPr>
            <a:noAutofit/>
          </a:bodyPr>
          <a:lstStyle/>
          <a:p>
            <a:pPr>
              <a:defRPr sz="1350" b="0">
                <a:solidFill>
                  <a:srgbClr val="102B46"/>
                </a:solidFill>
                <a:latin typeface="Aptos"/>
                <a:ea typeface="Aptos"/>
                <a:cs typeface="Aptos"/>
              </a:defRPr>
            </a:pPr>
            <a:r>
              <a:rPr sz="1350" b="0">
                <a:solidFill>
                  <a:srgbClr val="102B46"/>
                </a:solidFill>
                <a:latin typeface="Aptos"/>
                <a:ea typeface="Aptos"/>
                <a:cs typeface="Aptos"/>
              </a:rPr>
              <a:t>Decision implication: prioritize the critical renewal and validate alternatives before recommending consolidation.</a:t>
            </a:r>
          </a:p>
        </p:txBody>
      </p:sp>
    </p:spTree>
    <p:extLst>
      <p:ext uri="{BB962C8B-B14F-4D97-AF65-F5344CB8AC3E}">
        <p14:creationId xmlns:p14="http://schemas.microsoft.com/office/powerpoint/2010/main" val="11429689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87786B7D-872E-418E-A69F-65B6CA2DA92C}"/>
              </a:ext>
            </a:extLst>
          </p:cNvPr>
          <p:cNvSpPr>
            <a:spLocks noGrp="1"/>
          </p:cNvSpPr>
          <p:nvPr/>
        </p:nvSpPr>
        <p:spPr>
          <a:xfrm>
            <a:off x="0" y="0"/>
            <a:ext cx="12192000" cy="95250"/>
          </a:xfrm>
          <a:prstGeom prst="rect">
            <a:avLst/>
          </a:prstGeom>
          <a:solidFill>
            <a:srgbClr val="0067A0"/>
          </a:solidFill>
          <a:ln w="0">
            <a:noFill/>
          </a:ln>
        </p:spPr>
        <p:txBody>
          <a:bodyPr/>
          <a:lstStyle/>
          <a:p>
            <a:endParaRPr lang="en-US"/>
          </a:p>
        </p:txBody>
      </p:sp>
      <p:sp>
        <p:nvSpPr>
          <p:cNvPr id="2" name="Rectangle 1">
            <a:extLst>
              <a:ext uri="{FF2B5EF4-FFF2-40B4-BE49-F238E27FC236}">
                <a16:creationId xmlns:a16="http://schemas.microsoft.com/office/drawing/2014/main" id="{EB126820-3C77-45AB-AA50-3DE675F59800}"/>
              </a:ext>
            </a:extLst>
          </p:cNvPr>
          <p:cNvSpPr>
            <a:spLocks noGrp="1"/>
          </p:cNvSpPr>
          <p:nvPr/>
        </p:nvSpPr>
        <p:spPr>
          <a:xfrm>
            <a:off x="533400" y="400050"/>
            <a:ext cx="11125200" cy="571500"/>
          </a:xfrm>
          <a:prstGeom prst="rect">
            <a:avLst/>
          </a:prstGeom>
          <a:noFill/>
          <a:ln w="0">
            <a:noFill/>
          </a:ln>
        </p:spPr>
        <p:txBody>
          <a:bodyPr>
            <a:noAutofit/>
          </a:bodyPr>
          <a:lstStyle/>
          <a:p>
            <a:pPr>
              <a:defRPr sz="2700" b="1">
                <a:solidFill>
                  <a:srgbClr val="102B46"/>
                </a:solidFill>
                <a:latin typeface="Aptos"/>
                <a:ea typeface="Aptos"/>
                <a:cs typeface="Aptos"/>
              </a:defRPr>
            </a:pPr>
            <a:r>
              <a:rPr sz="2700" b="1">
                <a:solidFill>
                  <a:srgbClr val="102B46"/>
                </a:solidFill>
                <a:latin typeface="Aptos"/>
                <a:ea typeface="Aptos"/>
                <a:cs typeface="Aptos"/>
              </a:rPr>
              <a:t>Alpha’s $8M spend variance has traceable drivers</a:t>
            </a:r>
          </a:p>
        </p:txBody>
      </p:sp>
      <p:sp>
        <p:nvSpPr>
          <p:cNvPr id="3" name="Rectangle 2">
            <a:extLst>
              <a:ext uri="{FF2B5EF4-FFF2-40B4-BE49-F238E27FC236}">
                <a16:creationId xmlns:a16="http://schemas.microsoft.com/office/drawing/2014/main" id="{1FAC57C1-6027-4AFA-B56F-A8934D91C91C}"/>
              </a:ext>
            </a:extLst>
          </p:cNvPr>
          <p:cNvSpPr>
            <a:spLocks noGrp="1"/>
          </p:cNvSpPr>
          <p:nvPr/>
        </p:nvSpPr>
        <p:spPr>
          <a:xfrm>
            <a:off x="533400" y="1028700"/>
            <a:ext cx="11125200" cy="504825"/>
          </a:xfrm>
          <a:prstGeom prst="rect">
            <a:avLst/>
          </a:prstGeom>
          <a:noFill/>
          <a:ln w="0">
            <a:noFill/>
          </a:ln>
        </p:spPr>
        <p:txBody>
          <a:bodyPr>
            <a:noAutofit/>
          </a:bodyPr>
          <a:lstStyle/>
          <a:p>
            <a:pPr>
              <a:defRPr sz="1425" b="0">
                <a:solidFill>
                  <a:srgbClr val="5B7080"/>
                </a:solidFill>
                <a:latin typeface="Aptos"/>
                <a:ea typeface="Aptos"/>
                <a:cs typeface="Aptos"/>
              </a:defRPr>
            </a:pPr>
            <a:r>
              <a:rPr sz="1425" b="0">
                <a:solidFill>
                  <a:srgbClr val="5B7080"/>
                </a:solidFill>
                <a:latin typeface="Aptos"/>
                <a:ea typeface="Aptos"/>
                <a:cs typeface="Aptos"/>
              </a:rPr>
              <a:t>Illustrative closed reporting year • USD • Actual and forecast use the same scope and period</a:t>
            </a:r>
          </a:p>
        </p:txBody>
      </p:sp>
      <p:sp>
        <p:nvSpPr>
          <p:cNvPr id="4" name="Rectangle 3">
            <a:extLst>
              <a:ext uri="{FF2B5EF4-FFF2-40B4-BE49-F238E27FC236}">
                <a16:creationId xmlns:a16="http://schemas.microsoft.com/office/drawing/2014/main" id="{1CAF3734-F9D1-48D5-83A9-7E9BD9D3CC8E}"/>
              </a:ext>
            </a:extLst>
          </p:cNvPr>
          <p:cNvSpPr>
            <a:spLocks noGrp="1"/>
          </p:cNvSpPr>
          <p:nvPr/>
        </p:nvSpPr>
        <p:spPr>
          <a:xfrm>
            <a:off x="533400" y="6381750"/>
            <a:ext cx="11125200" cy="9525"/>
          </a:xfrm>
          <a:prstGeom prst="rect">
            <a:avLst/>
          </a:prstGeom>
          <a:solidFill>
            <a:srgbClr val="CBD7DF"/>
          </a:solidFill>
          <a:ln w="0">
            <a:noFill/>
          </a:ln>
        </p:spPr>
        <p:txBody>
          <a:bodyPr/>
          <a:lstStyle/>
          <a:p>
            <a:endParaRPr lang="en-US"/>
          </a:p>
        </p:txBody>
      </p:sp>
      <p:sp>
        <p:nvSpPr>
          <p:cNvPr id="5" name="Rectangle 4">
            <a:extLst>
              <a:ext uri="{FF2B5EF4-FFF2-40B4-BE49-F238E27FC236}">
                <a16:creationId xmlns:a16="http://schemas.microsoft.com/office/drawing/2014/main" id="{491042BD-7421-42B6-9595-E5C3317C04E4}"/>
              </a:ext>
            </a:extLst>
          </p:cNvPr>
          <p:cNvSpPr>
            <a:spLocks noGrp="1"/>
          </p:cNvSpPr>
          <p:nvPr/>
        </p:nvSpPr>
        <p:spPr>
          <a:xfrm>
            <a:off x="533400" y="6477000"/>
            <a:ext cx="10572750" cy="190500"/>
          </a:xfrm>
          <a:prstGeom prst="rect">
            <a:avLst/>
          </a:prstGeom>
          <a:noFill/>
          <a:ln w="0">
            <a:noFill/>
          </a:ln>
        </p:spPr>
        <p:txBody>
          <a:bodyPr>
            <a:noAutofit/>
          </a:bodyPr>
          <a:lstStyle/>
          <a:p>
            <a:pPr>
              <a:defRPr sz="900" b="0">
                <a:solidFill>
                  <a:srgbClr val="5B7080"/>
                </a:solidFill>
                <a:latin typeface="Aptos"/>
                <a:ea typeface="Aptos"/>
                <a:cs typeface="Aptos"/>
              </a:defRPr>
            </a:pPr>
            <a:r>
              <a:rPr sz="900" b="0">
                <a:solidFill>
                  <a:srgbClr val="5B7080"/>
                </a:solidFill>
                <a:latin typeface="Aptos"/>
                <a:ea typeface="Aptos"/>
                <a:cs typeface="Aptos"/>
              </a:rPr>
              <a:t>COMPANY CONFIDENTIAL   •   FSD v1.0   •   UC-05, FR-070–073</a:t>
            </a:r>
          </a:p>
        </p:txBody>
      </p:sp>
      <p:sp>
        <p:nvSpPr>
          <p:cNvPr id="6" name="Rectangle 5">
            <a:extLst>
              <a:ext uri="{FF2B5EF4-FFF2-40B4-BE49-F238E27FC236}">
                <a16:creationId xmlns:a16="http://schemas.microsoft.com/office/drawing/2014/main" id="{B6D9D0CF-3ECB-41B8-9E5B-FB491D9949C2}"/>
              </a:ext>
            </a:extLst>
          </p:cNvPr>
          <p:cNvSpPr>
            <a:spLocks noGrp="1"/>
          </p:cNvSpPr>
          <p:nvPr/>
        </p:nvSpPr>
        <p:spPr>
          <a:xfrm>
            <a:off x="11315700" y="6477000"/>
            <a:ext cx="342900" cy="190500"/>
          </a:xfrm>
          <a:prstGeom prst="rect">
            <a:avLst/>
          </a:prstGeom>
          <a:noFill/>
          <a:ln w="0">
            <a:noFill/>
          </a:ln>
        </p:spPr>
        <p:txBody>
          <a:bodyPr>
            <a:noAutofit/>
          </a:bodyPr>
          <a:lstStyle/>
          <a:p>
            <a:pPr>
              <a:defRPr sz="975" b="1">
                <a:solidFill>
                  <a:srgbClr val="102B46"/>
                </a:solidFill>
                <a:latin typeface="Aptos"/>
                <a:ea typeface="Aptos"/>
                <a:cs typeface="Aptos"/>
              </a:defRPr>
            </a:pPr>
            <a:r>
              <a:rPr sz="975" b="1">
                <a:solidFill>
                  <a:srgbClr val="102B46"/>
                </a:solidFill>
                <a:latin typeface="Aptos"/>
                <a:ea typeface="Aptos"/>
                <a:cs typeface="Aptos"/>
              </a:rPr>
              <a:t>10</a:t>
            </a:r>
          </a:p>
        </p:txBody>
      </p:sp>
      <p:sp>
        <p:nvSpPr>
          <p:cNvPr id="7" name="Rectangle 6">
            <a:extLst>
              <a:ext uri="{FF2B5EF4-FFF2-40B4-BE49-F238E27FC236}">
                <a16:creationId xmlns:a16="http://schemas.microsoft.com/office/drawing/2014/main" id="{82E4348B-DD68-4C5F-A041-BC511CE90427}"/>
              </a:ext>
            </a:extLst>
          </p:cNvPr>
          <p:cNvSpPr>
            <a:spLocks noGrp="1"/>
          </p:cNvSpPr>
          <p:nvPr/>
        </p:nvSpPr>
        <p:spPr>
          <a:xfrm>
            <a:off x="533400" y="1828800"/>
            <a:ext cx="3333750" cy="809625"/>
          </a:xfrm>
          <a:prstGeom prst="rect">
            <a:avLst/>
          </a:prstGeom>
          <a:solidFill>
            <a:srgbClr val="102B46"/>
          </a:solidFill>
          <a:ln w="12383">
            <a:solidFill>
              <a:srgbClr val="102B46"/>
            </a:solidFill>
          </a:ln>
        </p:spPr>
        <p:txBody>
          <a:bodyPr/>
          <a:lstStyle/>
          <a:p>
            <a:endParaRPr lang="en-US"/>
          </a:p>
        </p:txBody>
      </p:sp>
      <p:sp>
        <p:nvSpPr>
          <p:cNvPr id="8" name="Rectangle 7">
            <a:extLst>
              <a:ext uri="{FF2B5EF4-FFF2-40B4-BE49-F238E27FC236}">
                <a16:creationId xmlns:a16="http://schemas.microsoft.com/office/drawing/2014/main" id="{5F023DB7-4E5A-438E-9271-23AC7CA0B693}"/>
              </a:ext>
            </a:extLst>
          </p:cNvPr>
          <p:cNvSpPr>
            <a:spLocks noGrp="1"/>
          </p:cNvSpPr>
          <p:nvPr/>
        </p:nvSpPr>
        <p:spPr>
          <a:xfrm>
            <a:off x="676275" y="1943100"/>
            <a:ext cx="3048000" cy="619125"/>
          </a:xfrm>
          <a:prstGeom prst="rect">
            <a:avLst/>
          </a:prstGeom>
          <a:noFill/>
          <a:ln w="0">
            <a:noFill/>
          </a:ln>
        </p:spPr>
        <p:txBody>
          <a:bodyPr>
            <a:noAutofit/>
          </a:bodyPr>
          <a:lstStyle/>
          <a:p>
            <a:pPr>
              <a:defRPr sz="2250" b="1">
                <a:solidFill>
                  <a:srgbClr val="FFFFFF"/>
                </a:solidFill>
                <a:latin typeface="Aptos"/>
                <a:ea typeface="Aptos"/>
                <a:cs typeface="Aptos"/>
              </a:defRPr>
            </a:pPr>
            <a:r>
              <a:rPr sz="2250" b="1">
                <a:solidFill>
                  <a:srgbClr val="FFFFFF"/>
                </a:solidFill>
                <a:latin typeface="Aptos"/>
                <a:ea typeface="Aptos"/>
                <a:cs typeface="Aptos"/>
              </a:rPr>
              <a:t>Actual  $48M</a:t>
            </a:r>
          </a:p>
        </p:txBody>
      </p:sp>
      <p:sp>
        <p:nvSpPr>
          <p:cNvPr id="9" name="Rectangle 8">
            <a:extLst>
              <a:ext uri="{FF2B5EF4-FFF2-40B4-BE49-F238E27FC236}">
                <a16:creationId xmlns:a16="http://schemas.microsoft.com/office/drawing/2014/main" id="{64E88B4A-14C5-4A54-8BCB-3AFEF9D7A011}"/>
              </a:ext>
            </a:extLst>
          </p:cNvPr>
          <p:cNvSpPr>
            <a:spLocks noGrp="1"/>
          </p:cNvSpPr>
          <p:nvPr/>
        </p:nvSpPr>
        <p:spPr>
          <a:xfrm>
            <a:off x="4086225" y="2000250"/>
            <a:ext cx="523875" cy="523875"/>
          </a:xfrm>
          <a:prstGeom prst="rect">
            <a:avLst/>
          </a:prstGeom>
          <a:noFill/>
          <a:ln w="0">
            <a:noFill/>
          </a:ln>
        </p:spPr>
        <p:txBody>
          <a:bodyPr>
            <a:noAutofit/>
          </a:bodyPr>
          <a:lstStyle/>
          <a:p>
            <a:pPr>
              <a:defRPr sz="2700" b="1">
                <a:solidFill>
                  <a:srgbClr val="102B46"/>
                </a:solidFill>
                <a:latin typeface="Aptos"/>
                <a:ea typeface="Aptos"/>
                <a:cs typeface="Aptos"/>
              </a:defRPr>
            </a:pPr>
            <a:r>
              <a:rPr sz="2700" b="1">
                <a:solidFill>
                  <a:srgbClr val="102B46"/>
                </a:solidFill>
                <a:latin typeface="Aptos"/>
                <a:ea typeface="Aptos"/>
                <a:cs typeface="Aptos"/>
              </a:rPr>
              <a:t>−</a:t>
            </a:r>
          </a:p>
        </p:txBody>
      </p:sp>
      <p:sp>
        <p:nvSpPr>
          <p:cNvPr id="10" name="Rectangle 9">
            <a:extLst>
              <a:ext uri="{FF2B5EF4-FFF2-40B4-BE49-F238E27FC236}">
                <a16:creationId xmlns:a16="http://schemas.microsoft.com/office/drawing/2014/main" id="{8D232528-A5DA-4E59-BF71-F007C6F0018C}"/>
              </a:ext>
            </a:extLst>
          </p:cNvPr>
          <p:cNvSpPr>
            <a:spLocks noGrp="1"/>
          </p:cNvSpPr>
          <p:nvPr/>
        </p:nvSpPr>
        <p:spPr>
          <a:xfrm>
            <a:off x="4733925" y="1828800"/>
            <a:ext cx="3333750" cy="809625"/>
          </a:xfrm>
          <a:prstGeom prst="rect">
            <a:avLst/>
          </a:prstGeom>
          <a:solidFill>
            <a:srgbClr val="102B46"/>
          </a:solidFill>
          <a:ln w="12383">
            <a:solidFill>
              <a:srgbClr val="102B46"/>
            </a:solidFill>
          </a:ln>
        </p:spPr>
        <p:txBody>
          <a:bodyPr/>
          <a:lstStyle/>
          <a:p>
            <a:endParaRPr lang="en-US"/>
          </a:p>
        </p:txBody>
      </p:sp>
      <p:sp>
        <p:nvSpPr>
          <p:cNvPr id="11" name="Rectangle 10">
            <a:extLst>
              <a:ext uri="{FF2B5EF4-FFF2-40B4-BE49-F238E27FC236}">
                <a16:creationId xmlns:a16="http://schemas.microsoft.com/office/drawing/2014/main" id="{11106508-8950-484B-95C2-9628FC84577B}"/>
              </a:ext>
            </a:extLst>
          </p:cNvPr>
          <p:cNvSpPr>
            <a:spLocks noGrp="1"/>
          </p:cNvSpPr>
          <p:nvPr/>
        </p:nvSpPr>
        <p:spPr>
          <a:xfrm>
            <a:off x="4876800" y="1943100"/>
            <a:ext cx="3048000" cy="619125"/>
          </a:xfrm>
          <a:prstGeom prst="rect">
            <a:avLst/>
          </a:prstGeom>
          <a:noFill/>
          <a:ln w="0">
            <a:noFill/>
          </a:ln>
        </p:spPr>
        <p:txBody>
          <a:bodyPr>
            <a:noAutofit/>
          </a:bodyPr>
          <a:lstStyle/>
          <a:p>
            <a:pPr>
              <a:defRPr sz="2250" b="1">
                <a:solidFill>
                  <a:srgbClr val="FFFFFF"/>
                </a:solidFill>
                <a:latin typeface="Aptos"/>
                <a:ea typeface="Aptos"/>
                <a:cs typeface="Aptos"/>
              </a:defRPr>
            </a:pPr>
            <a:r>
              <a:rPr sz="2250" b="1">
                <a:solidFill>
                  <a:srgbClr val="FFFFFF"/>
                </a:solidFill>
                <a:latin typeface="Aptos"/>
                <a:ea typeface="Aptos"/>
                <a:cs typeface="Aptos"/>
              </a:rPr>
              <a:t>Forecast  $40M</a:t>
            </a:r>
          </a:p>
        </p:txBody>
      </p:sp>
      <p:sp>
        <p:nvSpPr>
          <p:cNvPr id="12" name="Rectangle 11">
            <a:extLst>
              <a:ext uri="{FF2B5EF4-FFF2-40B4-BE49-F238E27FC236}">
                <a16:creationId xmlns:a16="http://schemas.microsoft.com/office/drawing/2014/main" id="{D84FEEA2-47F9-4478-BBD5-47C001831F72}"/>
              </a:ext>
            </a:extLst>
          </p:cNvPr>
          <p:cNvSpPr>
            <a:spLocks noGrp="1"/>
          </p:cNvSpPr>
          <p:nvPr/>
        </p:nvSpPr>
        <p:spPr>
          <a:xfrm>
            <a:off x="8258175" y="2000250"/>
            <a:ext cx="523875" cy="523875"/>
          </a:xfrm>
          <a:prstGeom prst="rect">
            <a:avLst/>
          </a:prstGeom>
          <a:noFill/>
          <a:ln w="0">
            <a:noFill/>
          </a:ln>
        </p:spPr>
        <p:txBody>
          <a:bodyPr>
            <a:noAutofit/>
          </a:bodyPr>
          <a:lstStyle/>
          <a:p>
            <a:pPr>
              <a:defRPr sz="2700" b="1">
                <a:solidFill>
                  <a:srgbClr val="102B46"/>
                </a:solidFill>
                <a:latin typeface="Aptos"/>
                <a:ea typeface="Aptos"/>
                <a:cs typeface="Aptos"/>
              </a:defRPr>
            </a:pPr>
            <a:r>
              <a:rPr sz="2700" b="1">
                <a:solidFill>
                  <a:srgbClr val="102B46"/>
                </a:solidFill>
                <a:latin typeface="Aptos"/>
                <a:ea typeface="Aptos"/>
                <a:cs typeface="Aptos"/>
              </a:rPr>
              <a:t>=</a:t>
            </a:r>
          </a:p>
        </p:txBody>
      </p:sp>
      <p:sp>
        <p:nvSpPr>
          <p:cNvPr id="13" name="Rectangle 12">
            <a:extLst>
              <a:ext uri="{FF2B5EF4-FFF2-40B4-BE49-F238E27FC236}">
                <a16:creationId xmlns:a16="http://schemas.microsoft.com/office/drawing/2014/main" id="{B77BDB2E-8E1C-445E-8ADD-3589AA9FC398}"/>
              </a:ext>
            </a:extLst>
          </p:cNvPr>
          <p:cNvSpPr>
            <a:spLocks noGrp="1"/>
          </p:cNvSpPr>
          <p:nvPr/>
        </p:nvSpPr>
        <p:spPr>
          <a:xfrm>
            <a:off x="8896350" y="1828800"/>
            <a:ext cx="2762250" cy="809625"/>
          </a:xfrm>
          <a:prstGeom prst="rect">
            <a:avLst/>
          </a:prstGeom>
          <a:solidFill>
            <a:srgbClr val="0067A0"/>
          </a:solidFill>
          <a:ln w="12383">
            <a:solidFill>
              <a:srgbClr val="0067A0"/>
            </a:solidFill>
          </a:ln>
        </p:spPr>
        <p:txBody>
          <a:bodyPr/>
          <a:lstStyle/>
          <a:p>
            <a:endParaRPr lang="en-US"/>
          </a:p>
        </p:txBody>
      </p:sp>
      <p:sp>
        <p:nvSpPr>
          <p:cNvPr id="14" name="Rectangle 13">
            <a:extLst>
              <a:ext uri="{FF2B5EF4-FFF2-40B4-BE49-F238E27FC236}">
                <a16:creationId xmlns:a16="http://schemas.microsoft.com/office/drawing/2014/main" id="{435D324C-864F-4700-A56A-B936773C88EB}"/>
              </a:ext>
            </a:extLst>
          </p:cNvPr>
          <p:cNvSpPr>
            <a:spLocks noGrp="1"/>
          </p:cNvSpPr>
          <p:nvPr/>
        </p:nvSpPr>
        <p:spPr>
          <a:xfrm>
            <a:off x="9039225" y="1943100"/>
            <a:ext cx="2476500" cy="619125"/>
          </a:xfrm>
          <a:prstGeom prst="rect">
            <a:avLst/>
          </a:prstGeom>
          <a:noFill/>
          <a:ln w="0">
            <a:noFill/>
          </a:ln>
        </p:spPr>
        <p:txBody>
          <a:bodyPr>
            <a:noAutofit/>
          </a:bodyPr>
          <a:lstStyle/>
          <a:p>
            <a:pPr>
              <a:defRPr sz="2025" b="1">
                <a:solidFill>
                  <a:srgbClr val="FFFFFF"/>
                </a:solidFill>
                <a:latin typeface="Aptos"/>
                <a:ea typeface="Aptos"/>
                <a:cs typeface="Aptos"/>
              </a:defRPr>
            </a:pPr>
            <a:r>
              <a:rPr sz="2025" b="1">
                <a:solidFill>
                  <a:srgbClr val="FFFFFF"/>
                </a:solidFill>
                <a:latin typeface="Aptos"/>
                <a:ea typeface="Aptos"/>
                <a:cs typeface="Aptos"/>
              </a:rPr>
              <a:t>Variance  +$8M</a:t>
            </a:r>
          </a:p>
        </p:txBody>
      </p:sp>
      <p:sp>
        <p:nvSpPr>
          <p:cNvPr id="15" name="Rectangle 14">
            <a:extLst>
              <a:ext uri="{FF2B5EF4-FFF2-40B4-BE49-F238E27FC236}">
                <a16:creationId xmlns:a16="http://schemas.microsoft.com/office/drawing/2014/main" id="{1070998B-A1FF-4DB2-946A-14CF2E3D31A5}"/>
              </a:ext>
            </a:extLst>
          </p:cNvPr>
          <p:cNvSpPr>
            <a:spLocks noGrp="1"/>
          </p:cNvSpPr>
          <p:nvPr/>
        </p:nvSpPr>
        <p:spPr>
          <a:xfrm>
            <a:off x="533400" y="3257550"/>
            <a:ext cx="2095500" cy="1428750"/>
          </a:xfrm>
          <a:prstGeom prst="rect">
            <a:avLst/>
          </a:prstGeom>
          <a:solidFill>
            <a:srgbClr val="EFF5F8"/>
          </a:solidFill>
          <a:ln w="12383">
            <a:solidFill>
              <a:srgbClr val="CBD7DF"/>
            </a:solidFill>
          </a:ln>
        </p:spPr>
        <p:txBody>
          <a:bodyPr/>
          <a:lstStyle/>
          <a:p>
            <a:endParaRPr lang="en-US"/>
          </a:p>
        </p:txBody>
      </p:sp>
      <p:sp>
        <p:nvSpPr>
          <p:cNvPr id="16" name="Rectangle 15">
            <a:extLst>
              <a:ext uri="{FF2B5EF4-FFF2-40B4-BE49-F238E27FC236}">
                <a16:creationId xmlns:a16="http://schemas.microsoft.com/office/drawing/2014/main" id="{431B635E-92CF-475C-AB18-771B55C9E62C}"/>
              </a:ext>
            </a:extLst>
          </p:cNvPr>
          <p:cNvSpPr>
            <a:spLocks noGrp="1"/>
          </p:cNvSpPr>
          <p:nvPr/>
        </p:nvSpPr>
        <p:spPr>
          <a:xfrm>
            <a:off x="676275" y="3371850"/>
            <a:ext cx="1809750" cy="1238250"/>
          </a:xfrm>
          <a:prstGeom prst="rect">
            <a:avLst/>
          </a:prstGeom>
          <a:noFill/>
          <a:ln w="0">
            <a:noFill/>
          </a:ln>
        </p:spPr>
        <p:txBody>
          <a:bodyPr>
            <a:noAutofit/>
          </a:bodyPr>
          <a:lstStyle/>
          <a:p>
            <a:pPr>
              <a:defRPr sz="2100" b="1">
                <a:solidFill>
                  <a:srgbClr val="233B4D"/>
                </a:solidFill>
                <a:latin typeface="Aptos"/>
                <a:ea typeface="Aptos"/>
                <a:cs typeface="Aptos"/>
              </a:defRPr>
            </a:pPr>
            <a:r>
              <a:rPr sz="2100" b="1">
                <a:solidFill>
                  <a:srgbClr val="233B4D"/>
                </a:solidFill>
                <a:latin typeface="Aptos"/>
                <a:ea typeface="Aptos"/>
                <a:cs typeface="Aptos"/>
              </a:rPr>
              <a:t>+$3.4M</a:t>
            </a:r>
          </a:p>
        </p:txBody>
      </p:sp>
      <p:sp>
        <p:nvSpPr>
          <p:cNvPr id="17" name="Rectangle 16">
            <a:extLst>
              <a:ext uri="{FF2B5EF4-FFF2-40B4-BE49-F238E27FC236}">
                <a16:creationId xmlns:a16="http://schemas.microsoft.com/office/drawing/2014/main" id="{DE32CB3C-051A-4614-85A6-686C26E878B5}"/>
              </a:ext>
            </a:extLst>
          </p:cNvPr>
          <p:cNvSpPr>
            <a:spLocks noGrp="1"/>
          </p:cNvSpPr>
          <p:nvPr/>
        </p:nvSpPr>
        <p:spPr>
          <a:xfrm>
            <a:off x="723900" y="3895725"/>
            <a:ext cx="1724025" cy="638175"/>
          </a:xfrm>
          <a:prstGeom prst="rect">
            <a:avLst/>
          </a:prstGeom>
          <a:noFill/>
          <a:ln w="0">
            <a:noFill/>
          </a:ln>
        </p:spPr>
        <p:txBody>
          <a:bodyPr>
            <a:noAutofit/>
          </a:bodyPr>
          <a:lstStyle/>
          <a:p>
            <a:pPr>
              <a:defRPr sz="1575" b="0">
                <a:solidFill>
                  <a:srgbClr val="233B4D"/>
                </a:solidFill>
                <a:latin typeface="Aptos"/>
                <a:ea typeface="Aptos"/>
                <a:cs typeface="Aptos"/>
              </a:defRPr>
            </a:pPr>
            <a:r>
              <a:rPr sz="1575" b="0">
                <a:solidFill>
                  <a:srgbClr val="233B4D"/>
                </a:solidFill>
                <a:latin typeface="Aptos"/>
                <a:ea typeface="Aptos"/>
                <a:cs typeface="Aptos"/>
              </a:rPr>
              <a:t>Additional</a:t>
            </a:r>
          </a:p>
          <a:p>
            <a:pPr>
              <a:defRPr sz="1575" b="0">
                <a:solidFill>
                  <a:srgbClr val="233B4D"/>
                </a:solidFill>
                <a:latin typeface="Aptos"/>
                <a:ea typeface="Aptos"/>
                <a:cs typeface="Aptos"/>
              </a:defRPr>
            </a:pPr>
            <a:r>
              <a:rPr sz="1575" b="0">
                <a:solidFill>
                  <a:srgbClr val="233B4D"/>
                </a:solidFill>
                <a:latin typeface="Aptos"/>
                <a:ea typeface="Aptos"/>
                <a:cs typeface="Aptos"/>
              </a:rPr>
              <a:t>workforce</a:t>
            </a:r>
          </a:p>
        </p:txBody>
      </p:sp>
      <p:sp>
        <p:nvSpPr>
          <p:cNvPr id="18" name="Rectangle 17">
            <a:extLst>
              <a:ext uri="{FF2B5EF4-FFF2-40B4-BE49-F238E27FC236}">
                <a16:creationId xmlns:a16="http://schemas.microsoft.com/office/drawing/2014/main" id="{B85BC18A-7359-4575-9326-227C1313070D}"/>
              </a:ext>
            </a:extLst>
          </p:cNvPr>
          <p:cNvSpPr>
            <a:spLocks noGrp="1"/>
          </p:cNvSpPr>
          <p:nvPr/>
        </p:nvSpPr>
        <p:spPr>
          <a:xfrm>
            <a:off x="2790825" y="3257550"/>
            <a:ext cx="2095500" cy="1428750"/>
          </a:xfrm>
          <a:prstGeom prst="rect">
            <a:avLst/>
          </a:prstGeom>
          <a:solidFill>
            <a:srgbClr val="EFF5F8"/>
          </a:solidFill>
          <a:ln w="12383">
            <a:solidFill>
              <a:srgbClr val="CBD7DF"/>
            </a:solidFill>
          </a:ln>
        </p:spPr>
        <p:txBody>
          <a:bodyPr/>
          <a:lstStyle/>
          <a:p>
            <a:endParaRPr lang="en-US"/>
          </a:p>
        </p:txBody>
      </p:sp>
      <p:sp>
        <p:nvSpPr>
          <p:cNvPr id="19" name="Rectangle 18">
            <a:extLst>
              <a:ext uri="{FF2B5EF4-FFF2-40B4-BE49-F238E27FC236}">
                <a16:creationId xmlns:a16="http://schemas.microsoft.com/office/drawing/2014/main" id="{282ACB67-E2D2-44B6-8C59-E0ABD29E07BF}"/>
              </a:ext>
            </a:extLst>
          </p:cNvPr>
          <p:cNvSpPr>
            <a:spLocks noGrp="1"/>
          </p:cNvSpPr>
          <p:nvPr/>
        </p:nvSpPr>
        <p:spPr>
          <a:xfrm>
            <a:off x="2933700" y="3371850"/>
            <a:ext cx="1809750" cy="1238250"/>
          </a:xfrm>
          <a:prstGeom prst="rect">
            <a:avLst/>
          </a:prstGeom>
          <a:noFill/>
          <a:ln w="0">
            <a:noFill/>
          </a:ln>
        </p:spPr>
        <p:txBody>
          <a:bodyPr>
            <a:noAutofit/>
          </a:bodyPr>
          <a:lstStyle/>
          <a:p>
            <a:pPr>
              <a:defRPr sz="2100" b="1">
                <a:solidFill>
                  <a:srgbClr val="233B4D"/>
                </a:solidFill>
                <a:latin typeface="Aptos"/>
                <a:ea typeface="Aptos"/>
                <a:cs typeface="Aptos"/>
              </a:defRPr>
            </a:pPr>
            <a:r>
              <a:rPr sz="2100" b="1">
                <a:solidFill>
                  <a:srgbClr val="233B4D"/>
                </a:solidFill>
                <a:latin typeface="Aptos"/>
                <a:ea typeface="Aptos"/>
                <a:cs typeface="Aptos"/>
              </a:rPr>
              <a:t>+$2.2M</a:t>
            </a:r>
          </a:p>
        </p:txBody>
      </p:sp>
      <p:sp>
        <p:nvSpPr>
          <p:cNvPr id="20" name="Rectangle 19">
            <a:extLst>
              <a:ext uri="{FF2B5EF4-FFF2-40B4-BE49-F238E27FC236}">
                <a16:creationId xmlns:a16="http://schemas.microsoft.com/office/drawing/2014/main" id="{4902164E-A0E2-45C8-9F1B-A0DA89E0D439}"/>
              </a:ext>
            </a:extLst>
          </p:cNvPr>
          <p:cNvSpPr>
            <a:spLocks noGrp="1"/>
          </p:cNvSpPr>
          <p:nvPr/>
        </p:nvSpPr>
        <p:spPr>
          <a:xfrm>
            <a:off x="2981325" y="3895725"/>
            <a:ext cx="1724025" cy="638175"/>
          </a:xfrm>
          <a:prstGeom prst="rect">
            <a:avLst/>
          </a:prstGeom>
          <a:noFill/>
          <a:ln w="0">
            <a:noFill/>
          </a:ln>
        </p:spPr>
        <p:txBody>
          <a:bodyPr>
            <a:noAutofit/>
          </a:bodyPr>
          <a:lstStyle/>
          <a:p>
            <a:pPr>
              <a:defRPr sz="1575" b="0">
                <a:solidFill>
                  <a:srgbClr val="233B4D"/>
                </a:solidFill>
                <a:latin typeface="Aptos"/>
                <a:ea typeface="Aptos"/>
                <a:cs typeface="Aptos"/>
              </a:defRPr>
            </a:pPr>
            <a:r>
              <a:rPr sz="1575" b="0">
                <a:solidFill>
                  <a:srgbClr val="233B4D"/>
                </a:solidFill>
                <a:latin typeface="Aptos"/>
                <a:ea typeface="Aptos"/>
                <a:cs typeface="Aptos"/>
              </a:rPr>
              <a:t>Project</a:t>
            </a:r>
          </a:p>
          <a:p>
            <a:pPr>
              <a:defRPr sz="1575" b="0">
                <a:solidFill>
                  <a:srgbClr val="233B4D"/>
                </a:solidFill>
                <a:latin typeface="Aptos"/>
                <a:ea typeface="Aptos"/>
                <a:cs typeface="Aptos"/>
              </a:defRPr>
            </a:pPr>
            <a:r>
              <a:rPr sz="1575" b="0">
                <a:solidFill>
                  <a:srgbClr val="233B4D"/>
                </a:solidFill>
                <a:latin typeface="Aptos"/>
                <a:ea typeface="Aptos"/>
                <a:cs typeface="Aptos"/>
              </a:rPr>
              <a:t>extension</a:t>
            </a:r>
          </a:p>
        </p:txBody>
      </p:sp>
      <p:sp>
        <p:nvSpPr>
          <p:cNvPr id="21" name="Rectangle 20">
            <a:extLst>
              <a:ext uri="{FF2B5EF4-FFF2-40B4-BE49-F238E27FC236}">
                <a16:creationId xmlns:a16="http://schemas.microsoft.com/office/drawing/2014/main" id="{BE4684BA-AA0A-4E13-9152-0538EE0B586E}"/>
              </a:ext>
            </a:extLst>
          </p:cNvPr>
          <p:cNvSpPr>
            <a:spLocks noGrp="1"/>
          </p:cNvSpPr>
          <p:nvPr/>
        </p:nvSpPr>
        <p:spPr>
          <a:xfrm>
            <a:off x="5048250" y="3257550"/>
            <a:ext cx="2095500" cy="1428750"/>
          </a:xfrm>
          <a:prstGeom prst="rect">
            <a:avLst/>
          </a:prstGeom>
          <a:solidFill>
            <a:srgbClr val="EFF5F8"/>
          </a:solidFill>
          <a:ln w="12383">
            <a:solidFill>
              <a:srgbClr val="CBD7DF"/>
            </a:solidFill>
          </a:ln>
        </p:spPr>
        <p:txBody>
          <a:bodyPr/>
          <a:lstStyle/>
          <a:p>
            <a:endParaRPr lang="en-US"/>
          </a:p>
        </p:txBody>
      </p:sp>
      <p:sp>
        <p:nvSpPr>
          <p:cNvPr id="22" name="Rectangle 21">
            <a:extLst>
              <a:ext uri="{FF2B5EF4-FFF2-40B4-BE49-F238E27FC236}">
                <a16:creationId xmlns:a16="http://schemas.microsoft.com/office/drawing/2014/main" id="{2A5B3391-FF1A-4C1C-A7A8-38654C857A7A}"/>
              </a:ext>
            </a:extLst>
          </p:cNvPr>
          <p:cNvSpPr>
            <a:spLocks noGrp="1"/>
          </p:cNvSpPr>
          <p:nvPr/>
        </p:nvSpPr>
        <p:spPr>
          <a:xfrm>
            <a:off x="5191125" y="3371850"/>
            <a:ext cx="1809750" cy="1238250"/>
          </a:xfrm>
          <a:prstGeom prst="rect">
            <a:avLst/>
          </a:prstGeom>
          <a:noFill/>
          <a:ln w="0">
            <a:noFill/>
          </a:ln>
        </p:spPr>
        <p:txBody>
          <a:bodyPr>
            <a:noAutofit/>
          </a:bodyPr>
          <a:lstStyle/>
          <a:p>
            <a:pPr>
              <a:defRPr sz="2100" b="1">
                <a:solidFill>
                  <a:srgbClr val="233B4D"/>
                </a:solidFill>
                <a:latin typeface="Aptos"/>
                <a:ea typeface="Aptos"/>
                <a:cs typeface="Aptos"/>
              </a:defRPr>
            </a:pPr>
            <a:r>
              <a:rPr sz="2100" b="1">
                <a:solidFill>
                  <a:srgbClr val="233B4D"/>
                </a:solidFill>
                <a:latin typeface="Aptos"/>
                <a:ea typeface="Aptos"/>
                <a:cs typeface="Aptos"/>
              </a:rPr>
              <a:t>+$1.5M</a:t>
            </a:r>
          </a:p>
        </p:txBody>
      </p:sp>
      <p:sp>
        <p:nvSpPr>
          <p:cNvPr id="23" name="Rectangle 22">
            <a:extLst>
              <a:ext uri="{FF2B5EF4-FFF2-40B4-BE49-F238E27FC236}">
                <a16:creationId xmlns:a16="http://schemas.microsoft.com/office/drawing/2014/main" id="{2BE69A8B-7AE3-4C18-A52A-3CA4F98BF877}"/>
              </a:ext>
            </a:extLst>
          </p:cNvPr>
          <p:cNvSpPr>
            <a:spLocks noGrp="1"/>
          </p:cNvSpPr>
          <p:nvPr/>
        </p:nvSpPr>
        <p:spPr>
          <a:xfrm>
            <a:off x="5238750" y="3895725"/>
            <a:ext cx="1724025" cy="638175"/>
          </a:xfrm>
          <a:prstGeom prst="rect">
            <a:avLst/>
          </a:prstGeom>
          <a:noFill/>
          <a:ln w="0">
            <a:noFill/>
          </a:ln>
        </p:spPr>
        <p:txBody>
          <a:bodyPr>
            <a:noAutofit/>
          </a:bodyPr>
          <a:lstStyle/>
          <a:p>
            <a:pPr>
              <a:defRPr sz="1575" b="0">
                <a:solidFill>
                  <a:srgbClr val="233B4D"/>
                </a:solidFill>
                <a:latin typeface="Aptos"/>
                <a:ea typeface="Aptos"/>
                <a:cs typeface="Aptos"/>
              </a:defRPr>
            </a:pPr>
            <a:r>
              <a:rPr sz="1575" b="0">
                <a:solidFill>
                  <a:srgbClr val="233B4D"/>
                </a:solidFill>
                <a:latin typeface="Aptos"/>
                <a:ea typeface="Aptos"/>
                <a:cs typeface="Aptos"/>
              </a:rPr>
              <a:t>Higher support</a:t>
            </a:r>
          </a:p>
          <a:p>
            <a:pPr>
              <a:defRPr sz="1575" b="0">
                <a:solidFill>
                  <a:srgbClr val="233B4D"/>
                </a:solidFill>
                <a:latin typeface="Aptos"/>
                <a:ea typeface="Aptos"/>
                <a:cs typeface="Aptos"/>
              </a:defRPr>
            </a:pPr>
            <a:r>
              <a:rPr sz="1575" b="0">
                <a:solidFill>
                  <a:srgbClr val="233B4D"/>
                </a:solidFill>
                <a:latin typeface="Aptos"/>
                <a:ea typeface="Aptos"/>
                <a:cs typeface="Aptos"/>
              </a:rPr>
              <a:t>usage</a:t>
            </a:r>
          </a:p>
        </p:txBody>
      </p:sp>
      <p:sp>
        <p:nvSpPr>
          <p:cNvPr id="24" name="Rectangle 23">
            <a:extLst>
              <a:ext uri="{FF2B5EF4-FFF2-40B4-BE49-F238E27FC236}">
                <a16:creationId xmlns:a16="http://schemas.microsoft.com/office/drawing/2014/main" id="{B8F5C65E-0EE4-4932-88E8-10F3A511D25E}"/>
              </a:ext>
            </a:extLst>
          </p:cNvPr>
          <p:cNvSpPr>
            <a:spLocks noGrp="1"/>
          </p:cNvSpPr>
          <p:nvPr/>
        </p:nvSpPr>
        <p:spPr>
          <a:xfrm>
            <a:off x="7305675" y="3257550"/>
            <a:ext cx="2095500" cy="1428750"/>
          </a:xfrm>
          <a:prstGeom prst="rect">
            <a:avLst/>
          </a:prstGeom>
          <a:solidFill>
            <a:srgbClr val="EFF5F8"/>
          </a:solidFill>
          <a:ln w="12383">
            <a:solidFill>
              <a:srgbClr val="CBD7DF"/>
            </a:solidFill>
          </a:ln>
        </p:spPr>
        <p:txBody>
          <a:bodyPr/>
          <a:lstStyle/>
          <a:p>
            <a:endParaRPr lang="en-US"/>
          </a:p>
        </p:txBody>
      </p:sp>
      <p:sp>
        <p:nvSpPr>
          <p:cNvPr id="25" name="Rectangle 24">
            <a:extLst>
              <a:ext uri="{FF2B5EF4-FFF2-40B4-BE49-F238E27FC236}">
                <a16:creationId xmlns:a16="http://schemas.microsoft.com/office/drawing/2014/main" id="{19C4E245-795E-4FF8-9683-B1470D6107AA}"/>
              </a:ext>
            </a:extLst>
          </p:cNvPr>
          <p:cNvSpPr>
            <a:spLocks noGrp="1"/>
          </p:cNvSpPr>
          <p:nvPr/>
        </p:nvSpPr>
        <p:spPr>
          <a:xfrm>
            <a:off x="7448550" y="3371850"/>
            <a:ext cx="1809750" cy="1238250"/>
          </a:xfrm>
          <a:prstGeom prst="rect">
            <a:avLst/>
          </a:prstGeom>
          <a:noFill/>
          <a:ln w="0">
            <a:noFill/>
          </a:ln>
        </p:spPr>
        <p:txBody>
          <a:bodyPr>
            <a:noAutofit/>
          </a:bodyPr>
          <a:lstStyle/>
          <a:p>
            <a:pPr>
              <a:defRPr sz="2100" b="1">
                <a:solidFill>
                  <a:srgbClr val="233B4D"/>
                </a:solidFill>
                <a:latin typeface="Aptos"/>
                <a:ea typeface="Aptos"/>
                <a:cs typeface="Aptos"/>
              </a:defRPr>
            </a:pPr>
            <a:r>
              <a:rPr sz="2100" b="1">
                <a:solidFill>
                  <a:srgbClr val="233B4D"/>
                </a:solidFill>
                <a:latin typeface="Aptos"/>
                <a:ea typeface="Aptos"/>
                <a:cs typeface="Aptos"/>
              </a:rPr>
              <a:t>+$1.1M</a:t>
            </a:r>
          </a:p>
        </p:txBody>
      </p:sp>
      <p:sp>
        <p:nvSpPr>
          <p:cNvPr id="26" name="Rectangle 25">
            <a:extLst>
              <a:ext uri="{FF2B5EF4-FFF2-40B4-BE49-F238E27FC236}">
                <a16:creationId xmlns:a16="http://schemas.microsoft.com/office/drawing/2014/main" id="{7837611B-A1C0-4725-BE82-CD8750EA043D}"/>
              </a:ext>
            </a:extLst>
          </p:cNvPr>
          <p:cNvSpPr>
            <a:spLocks noGrp="1"/>
          </p:cNvSpPr>
          <p:nvPr/>
        </p:nvSpPr>
        <p:spPr>
          <a:xfrm>
            <a:off x="7496175" y="3895725"/>
            <a:ext cx="1724025" cy="638175"/>
          </a:xfrm>
          <a:prstGeom prst="rect">
            <a:avLst/>
          </a:prstGeom>
          <a:noFill/>
          <a:ln w="0">
            <a:noFill/>
          </a:ln>
        </p:spPr>
        <p:txBody>
          <a:bodyPr>
            <a:noAutofit/>
          </a:bodyPr>
          <a:lstStyle/>
          <a:p>
            <a:pPr>
              <a:defRPr sz="1575" b="0">
                <a:solidFill>
                  <a:srgbClr val="233B4D"/>
                </a:solidFill>
                <a:latin typeface="Aptos"/>
                <a:ea typeface="Aptos"/>
                <a:cs typeface="Aptos"/>
              </a:defRPr>
            </a:pPr>
            <a:r>
              <a:rPr sz="1575" b="0">
                <a:solidFill>
                  <a:srgbClr val="233B4D"/>
                </a:solidFill>
                <a:latin typeface="Aptos"/>
                <a:ea typeface="Aptos"/>
                <a:cs typeface="Aptos"/>
              </a:rPr>
              <a:t>Currency</a:t>
            </a:r>
          </a:p>
          <a:p>
            <a:pPr>
              <a:defRPr sz="1575" b="0">
                <a:solidFill>
                  <a:srgbClr val="233B4D"/>
                </a:solidFill>
                <a:latin typeface="Aptos"/>
                <a:ea typeface="Aptos"/>
                <a:cs typeface="Aptos"/>
              </a:defRPr>
            </a:pPr>
            <a:r>
              <a:rPr sz="1575" b="0">
                <a:solidFill>
                  <a:srgbClr val="233B4D"/>
                </a:solidFill>
                <a:latin typeface="Aptos"/>
                <a:ea typeface="Aptos"/>
                <a:cs typeface="Aptos"/>
              </a:rPr>
              <a:t>impact</a:t>
            </a:r>
          </a:p>
        </p:txBody>
      </p:sp>
      <p:sp>
        <p:nvSpPr>
          <p:cNvPr id="27" name="Rectangle 26">
            <a:extLst>
              <a:ext uri="{FF2B5EF4-FFF2-40B4-BE49-F238E27FC236}">
                <a16:creationId xmlns:a16="http://schemas.microsoft.com/office/drawing/2014/main" id="{4CC5815D-769C-41C7-A50C-D27CC89E9E4A}"/>
              </a:ext>
            </a:extLst>
          </p:cNvPr>
          <p:cNvSpPr>
            <a:spLocks noGrp="1"/>
          </p:cNvSpPr>
          <p:nvPr/>
        </p:nvSpPr>
        <p:spPr>
          <a:xfrm>
            <a:off x="9563100" y="3257550"/>
            <a:ext cx="2095500" cy="1428750"/>
          </a:xfrm>
          <a:prstGeom prst="rect">
            <a:avLst/>
          </a:prstGeom>
          <a:solidFill>
            <a:srgbClr val="EFF5F8"/>
          </a:solidFill>
          <a:ln w="12383">
            <a:solidFill>
              <a:srgbClr val="CBD7DF"/>
            </a:solidFill>
          </a:ln>
        </p:spPr>
        <p:txBody>
          <a:bodyPr/>
          <a:lstStyle/>
          <a:p>
            <a:endParaRPr lang="en-US"/>
          </a:p>
        </p:txBody>
      </p:sp>
      <p:sp>
        <p:nvSpPr>
          <p:cNvPr id="28" name="Rectangle 27">
            <a:extLst>
              <a:ext uri="{FF2B5EF4-FFF2-40B4-BE49-F238E27FC236}">
                <a16:creationId xmlns:a16="http://schemas.microsoft.com/office/drawing/2014/main" id="{0430A4FF-E488-4AC7-A9A0-667663322FD9}"/>
              </a:ext>
            </a:extLst>
          </p:cNvPr>
          <p:cNvSpPr>
            <a:spLocks noGrp="1"/>
          </p:cNvSpPr>
          <p:nvPr/>
        </p:nvSpPr>
        <p:spPr>
          <a:xfrm>
            <a:off x="9705975" y="3371850"/>
            <a:ext cx="1809750" cy="1238250"/>
          </a:xfrm>
          <a:prstGeom prst="rect">
            <a:avLst/>
          </a:prstGeom>
          <a:noFill/>
          <a:ln w="0">
            <a:noFill/>
          </a:ln>
        </p:spPr>
        <p:txBody>
          <a:bodyPr>
            <a:noAutofit/>
          </a:bodyPr>
          <a:lstStyle/>
          <a:p>
            <a:pPr>
              <a:defRPr sz="2100" b="1">
                <a:solidFill>
                  <a:srgbClr val="233B4D"/>
                </a:solidFill>
                <a:latin typeface="Aptos"/>
                <a:ea typeface="Aptos"/>
                <a:cs typeface="Aptos"/>
              </a:defRPr>
            </a:pPr>
            <a:r>
              <a:rPr sz="2100" b="1">
                <a:solidFill>
                  <a:srgbClr val="233B4D"/>
                </a:solidFill>
                <a:latin typeface="Aptos"/>
                <a:ea typeface="Aptos"/>
                <a:cs typeface="Aptos"/>
              </a:rPr>
              <a:t>−$0.2M</a:t>
            </a:r>
          </a:p>
        </p:txBody>
      </p:sp>
      <p:sp>
        <p:nvSpPr>
          <p:cNvPr id="29" name="Rectangle 28">
            <a:extLst>
              <a:ext uri="{FF2B5EF4-FFF2-40B4-BE49-F238E27FC236}">
                <a16:creationId xmlns:a16="http://schemas.microsoft.com/office/drawing/2014/main" id="{DA6A8ADA-4A0B-4C32-A155-10F7BCE11657}"/>
              </a:ext>
            </a:extLst>
          </p:cNvPr>
          <p:cNvSpPr>
            <a:spLocks noGrp="1"/>
          </p:cNvSpPr>
          <p:nvPr/>
        </p:nvSpPr>
        <p:spPr>
          <a:xfrm>
            <a:off x="9753600" y="3895725"/>
            <a:ext cx="1724025" cy="638175"/>
          </a:xfrm>
          <a:prstGeom prst="rect">
            <a:avLst/>
          </a:prstGeom>
          <a:noFill/>
          <a:ln w="0">
            <a:noFill/>
          </a:ln>
        </p:spPr>
        <p:txBody>
          <a:bodyPr>
            <a:noAutofit/>
          </a:bodyPr>
          <a:lstStyle/>
          <a:p>
            <a:pPr>
              <a:defRPr sz="1575" b="0">
                <a:solidFill>
                  <a:srgbClr val="233B4D"/>
                </a:solidFill>
                <a:latin typeface="Aptos"/>
                <a:ea typeface="Aptos"/>
                <a:cs typeface="Aptos"/>
              </a:defRPr>
            </a:pPr>
            <a:r>
              <a:rPr sz="1575" b="0">
                <a:solidFill>
                  <a:srgbClr val="233B4D"/>
                </a:solidFill>
                <a:latin typeface="Aptos"/>
                <a:ea typeface="Aptos"/>
                <a:cs typeface="Aptos"/>
              </a:rPr>
              <a:t>Infrastructure</a:t>
            </a:r>
          </a:p>
          <a:p>
            <a:pPr>
              <a:defRPr sz="1575" b="0">
                <a:solidFill>
                  <a:srgbClr val="233B4D"/>
                </a:solidFill>
                <a:latin typeface="Aptos"/>
                <a:ea typeface="Aptos"/>
                <a:cs typeface="Aptos"/>
              </a:defRPr>
            </a:pPr>
            <a:r>
              <a:rPr sz="1575" b="0">
                <a:solidFill>
                  <a:srgbClr val="233B4D"/>
                </a:solidFill>
                <a:latin typeface="Aptos"/>
                <a:ea typeface="Aptos"/>
                <a:cs typeface="Aptos"/>
              </a:rPr>
              <a:t>savings</a:t>
            </a:r>
          </a:p>
        </p:txBody>
      </p:sp>
      <p:sp>
        <p:nvSpPr>
          <p:cNvPr id="30" name="Rectangle 29">
            <a:extLst>
              <a:ext uri="{FF2B5EF4-FFF2-40B4-BE49-F238E27FC236}">
                <a16:creationId xmlns:a16="http://schemas.microsoft.com/office/drawing/2014/main" id="{D1933515-29F5-4528-A4E1-6904231AD424}"/>
              </a:ext>
            </a:extLst>
          </p:cNvPr>
          <p:cNvSpPr>
            <a:spLocks noGrp="1"/>
          </p:cNvSpPr>
          <p:nvPr/>
        </p:nvSpPr>
        <p:spPr>
          <a:xfrm>
            <a:off x="533400" y="5105400"/>
            <a:ext cx="10477500" cy="419100"/>
          </a:xfrm>
          <a:prstGeom prst="rect">
            <a:avLst/>
          </a:prstGeom>
          <a:noFill/>
          <a:ln w="0">
            <a:noFill/>
          </a:ln>
        </p:spPr>
        <p:txBody>
          <a:bodyPr>
            <a:noAutofit/>
          </a:bodyPr>
          <a:lstStyle/>
          <a:p>
            <a:pPr>
              <a:defRPr sz="2175" b="1">
                <a:solidFill>
                  <a:srgbClr val="0067A0"/>
                </a:solidFill>
                <a:latin typeface="Aptos"/>
                <a:ea typeface="Aptos"/>
                <a:cs typeface="Aptos"/>
              </a:defRPr>
            </a:pPr>
            <a:r>
              <a:rPr sz="2175" b="1">
                <a:solidFill>
                  <a:srgbClr val="0067A0"/>
                </a:solidFill>
                <a:latin typeface="Aptos"/>
                <a:ea typeface="Aptos"/>
                <a:cs typeface="Aptos"/>
              </a:rPr>
              <a:t>The five drivers total $8.0M</a:t>
            </a:r>
          </a:p>
        </p:txBody>
      </p:sp>
      <p:sp>
        <p:nvSpPr>
          <p:cNvPr id="31" name="Rectangle 30">
            <a:extLst>
              <a:ext uri="{FF2B5EF4-FFF2-40B4-BE49-F238E27FC236}">
                <a16:creationId xmlns:a16="http://schemas.microsoft.com/office/drawing/2014/main" id="{50249DE3-295D-4FE2-8ACA-BE24666EFAE2}"/>
              </a:ext>
            </a:extLst>
          </p:cNvPr>
          <p:cNvSpPr>
            <a:spLocks noGrp="1"/>
          </p:cNvSpPr>
          <p:nvPr/>
        </p:nvSpPr>
        <p:spPr>
          <a:xfrm>
            <a:off x="533400" y="5753100"/>
            <a:ext cx="11125200" cy="428625"/>
          </a:xfrm>
          <a:prstGeom prst="rect">
            <a:avLst/>
          </a:prstGeom>
          <a:solidFill>
            <a:srgbClr val="EFF5F8"/>
          </a:solidFill>
          <a:ln w="12383">
            <a:solidFill>
              <a:srgbClr val="EFF5F8"/>
            </a:solidFill>
          </a:ln>
        </p:spPr>
        <p:txBody>
          <a:bodyPr/>
          <a:lstStyle/>
          <a:p>
            <a:endParaRPr lang="en-US"/>
          </a:p>
        </p:txBody>
      </p:sp>
      <p:sp>
        <p:nvSpPr>
          <p:cNvPr id="32" name="Rectangle 31">
            <a:extLst>
              <a:ext uri="{FF2B5EF4-FFF2-40B4-BE49-F238E27FC236}">
                <a16:creationId xmlns:a16="http://schemas.microsoft.com/office/drawing/2014/main" id="{711AFFE4-4BC8-48A3-BB19-1BE229E15452}"/>
              </a:ext>
            </a:extLst>
          </p:cNvPr>
          <p:cNvSpPr>
            <a:spLocks noGrp="1"/>
          </p:cNvSpPr>
          <p:nvPr/>
        </p:nvSpPr>
        <p:spPr>
          <a:xfrm>
            <a:off x="676275" y="5867400"/>
            <a:ext cx="10839450" cy="238125"/>
          </a:xfrm>
          <a:prstGeom prst="rect">
            <a:avLst/>
          </a:prstGeom>
          <a:noFill/>
          <a:ln w="0">
            <a:noFill/>
          </a:ln>
        </p:spPr>
        <p:txBody>
          <a:bodyPr>
            <a:noAutofit/>
          </a:bodyPr>
          <a:lstStyle/>
          <a:p>
            <a:pPr>
              <a:defRPr sz="1350" b="0">
                <a:solidFill>
                  <a:srgbClr val="102B46"/>
                </a:solidFill>
                <a:latin typeface="Aptos"/>
                <a:ea typeface="Aptos"/>
                <a:cs typeface="Aptos"/>
              </a:defRPr>
            </a:pPr>
            <a:r>
              <a:rPr sz="1350" b="0">
                <a:solidFill>
                  <a:srgbClr val="102B46"/>
                </a:solidFill>
                <a:latin typeface="Aptos"/>
                <a:ea typeface="Aptos"/>
                <a:cs typeface="Aptos"/>
              </a:rPr>
              <a:t>Drill-through shows supporting records, source version and exchange-rate source/date. Driver contributions must reconcile.</a:t>
            </a:r>
          </a:p>
        </p:txBody>
      </p:sp>
    </p:spTree>
    <p:extLst>
      <p:ext uri="{BB962C8B-B14F-4D97-AF65-F5344CB8AC3E}">
        <p14:creationId xmlns:p14="http://schemas.microsoft.com/office/powerpoint/2010/main" val="12760848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88CB9F81-2143-4DEF-AB94-BF553E25E88B}"/>
              </a:ext>
            </a:extLst>
          </p:cNvPr>
          <p:cNvSpPr>
            <a:spLocks noGrp="1"/>
          </p:cNvSpPr>
          <p:nvPr/>
        </p:nvSpPr>
        <p:spPr>
          <a:xfrm>
            <a:off x="0" y="0"/>
            <a:ext cx="12192000" cy="95250"/>
          </a:xfrm>
          <a:prstGeom prst="rect">
            <a:avLst/>
          </a:prstGeom>
          <a:solidFill>
            <a:srgbClr val="0067A0"/>
          </a:solidFill>
          <a:ln w="0">
            <a:noFill/>
          </a:ln>
        </p:spPr>
        <p:txBody>
          <a:bodyPr/>
          <a:lstStyle/>
          <a:p>
            <a:endParaRPr lang="en-US"/>
          </a:p>
        </p:txBody>
      </p:sp>
      <p:sp>
        <p:nvSpPr>
          <p:cNvPr id="2" name="Rectangle 1">
            <a:extLst>
              <a:ext uri="{FF2B5EF4-FFF2-40B4-BE49-F238E27FC236}">
                <a16:creationId xmlns:a16="http://schemas.microsoft.com/office/drawing/2014/main" id="{A0EF731C-61B9-48C2-8862-8ADAA5BC6D95}"/>
              </a:ext>
            </a:extLst>
          </p:cNvPr>
          <p:cNvSpPr>
            <a:spLocks noGrp="1"/>
          </p:cNvSpPr>
          <p:nvPr/>
        </p:nvSpPr>
        <p:spPr>
          <a:xfrm>
            <a:off x="533400" y="400050"/>
            <a:ext cx="11125200" cy="571500"/>
          </a:xfrm>
          <a:prstGeom prst="rect">
            <a:avLst/>
          </a:prstGeom>
          <a:noFill/>
          <a:ln w="0">
            <a:noFill/>
          </a:ln>
        </p:spPr>
        <p:txBody>
          <a:bodyPr>
            <a:noAutofit/>
          </a:bodyPr>
          <a:lstStyle/>
          <a:p>
            <a:pPr>
              <a:defRPr sz="2700" b="1">
                <a:solidFill>
                  <a:srgbClr val="102B46"/>
                </a:solidFill>
                <a:latin typeface="Aptos"/>
                <a:ea typeface="Aptos"/>
                <a:cs typeface="Aptos"/>
              </a:defRPr>
            </a:pPr>
            <a:r>
              <a:rPr sz="2700" b="1">
                <a:solidFill>
                  <a:srgbClr val="102B46"/>
                </a:solidFill>
                <a:latin typeface="Aptos"/>
                <a:ea typeface="Aptos"/>
                <a:cs typeface="Aptos"/>
              </a:rPr>
              <a:t>An Alpha reduction scenario exposes cost and service impacts</a:t>
            </a:r>
          </a:p>
        </p:txBody>
      </p:sp>
      <p:sp>
        <p:nvSpPr>
          <p:cNvPr id="3" name="Rectangle 2">
            <a:extLst>
              <a:ext uri="{FF2B5EF4-FFF2-40B4-BE49-F238E27FC236}">
                <a16:creationId xmlns:a16="http://schemas.microsoft.com/office/drawing/2014/main" id="{D0BDEDB5-3421-47DA-839D-CEA25928F62F}"/>
              </a:ext>
            </a:extLst>
          </p:cNvPr>
          <p:cNvSpPr>
            <a:spLocks noGrp="1"/>
          </p:cNvSpPr>
          <p:nvPr/>
        </p:nvSpPr>
        <p:spPr>
          <a:xfrm>
            <a:off x="533400" y="1028700"/>
            <a:ext cx="11125200" cy="504825"/>
          </a:xfrm>
          <a:prstGeom prst="rect">
            <a:avLst/>
          </a:prstGeom>
          <a:noFill/>
          <a:ln w="0">
            <a:noFill/>
          </a:ln>
        </p:spPr>
        <p:txBody>
          <a:bodyPr>
            <a:noAutofit/>
          </a:bodyPr>
          <a:lstStyle/>
          <a:p>
            <a:pPr>
              <a:defRPr sz="1425" b="0">
                <a:solidFill>
                  <a:srgbClr val="5B7080"/>
                </a:solidFill>
                <a:latin typeface="Aptos"/>
                <a:ea typeface="Aptos"/>
                <a:cs typeface="Aptos"/>
              </a:defRPr>
            </a:pPr>
            <a:r>
              <a:rPr sz="1425" b="0">
                <a:solidFill>
                  <a:srgbClr val="5B7080"/>
                </a:solidFill>
                <a:latin typeface="Aptos"/>
                <a:ea typeface="Aptos"/>
                <a:cs typeface="Aptos"/>
              </a:rPr>
              <a:t>Illustrative scenario • Select C-03 scope equal to 25% of Alpha’s annual spend</a:t>
            </a:r>
          </a:p>
        </p:txBody>
      </p:sp>
      <p:sp>
        <p:nvSpPr>
          <p:cNvPr id="4" name="Rectangle 3">
            <a:extLst>
              <a:ext uri="{FF2B5EF4-FFF2-40B4-BE49-F238E27FC236}">
                <a16:creationId xmlns:a16="http://schemas.microsoft.com/office/drawing/2014/main" id="{B7DBD37D-D0A5-4284-AC49-C8F181717A7C}"/>
              </a:ext>
            </a:extLst>
          </p:cNvPr>
          <p:cNvSpPr>
            <a:spLocks noGrp="1"/>
          </p:cNvSpPr>
          <p:nvPr/>
        </p:nvSpPr>
        <p:spPr>
          <a:xfrm>
            <a:off x="533400" y="6381750"/>
            <a:ext cx="11125200" cy="9525"/>
          </a:xfrm>
          <a:prstGeom prst="rect">
            <a:avLst/>
          </a:prstGeom>
          <a:solidFill>
            <a:srgbClr val="CBD7DF"/>
          </a:solidFill>
          <a:ln w="0">
            <a:noFill/>
          </a:ln>
        </p:spPr>
        <p:txBody>
          <a:bodyPr/>
          <a:lstStyle/>
          <a:p>
            <a:endParaRPr lang="en-US"/>
          </a:p>
        </p:txBody>
      </p:sp>
      <p:sp>
        <p:nvSpPr>
          <p:cNvPr id="5" name="Rectangle 4">
            <a:extLst>
              <a:ext uri="{FF2B5EF4-FFF2-40B4-BE49-F238E27FC236}">
                <a16:creationId xmlns:a16="http://schemas.microsoft.com/office/drawing/2014/main" id="{5E34F48C-54EE-421A-9ADD-A8ED79B1D6CC}"/>
              </a:ext>
            </a:extLst>
          </p:cNvPr>
          <p:cNvSpPr>
            <a:spLocks noGrp="1"/>
          </p:cNvSpPr>
          <p:nvPr/>
        </p:nvSpPr>
        <p:spPr>
          <a:xfrm>
            <a:off x="533400" y="6477000"/>
            <a:ext cx="10572750" cy="190500"/>
          </a:xfrm>
          <a:prstGeom prst="rect">
            <a:avLst/>
          </a:prstGeom>
          <a:noFill/>
          <a:ln w="0">
            <a:noFill/>
          </a:ln>
        </p:spPr>
        <p:txBody>
          <a:bodyPr>
            <a:noAutofit/>
          </a:bodyPr>
          <a:lstStyle/>
          <a:p>
            <a:pPr>
              <a:defRPr sz="900" b="0">
                <a:solidFill>
                  <a:srgbClr val="5B7080"/>
                </a:solidFill>
                <a:latin typeface="Aptos"/>
                <a:ea typeface="Aptos"/>
                <a:cs typeface="Aptos"/>
              </a:defRPr>
            </a:pPr>
            <a:r>
              <a:rPr sz="900" b="0">
                <a:solidFill>
                  <a:srgbClr val="5B7080"/>
                </a:solidFill>
                <a:latin typeface="Aptos"/>
                <a:ea typeface="Aptos"/>
                <a:cs typeface="Aptos"/>
              </a:rPr>
              <a:t>COMPANY CONFIDENTIAL   •   FSD v1.0   •   UC-06, FR-080–085</a:t>
            </a:r>
          </a:p>
        </p:txBody>
      </p:sp>
      <p:sp>
        <p:nvSpPr>
          <p:cNvPr id="6" name="Rectangle 5">
            <a:extLst>
              <a:ext uri="{FF2B5EF4-FFF2-40B4-BE49-F238E27FC236}">
                <a16:creationId xmlns:a16="http://schemas.microsoft.com/office/drawing/2014/main" id="{2796D933-292B-42B2-8E64-72CDC24620A6}"/>
              </a:ext>
            </a:extLst>
          </p:cNvPr>
          <p:cNvSpPr>
            <a:spLocks noGrp="1"/>
          </p:cNvSpPr>
          <p:nvPr/>
        </p:nvSpPr>
        <p:spPr>
          <a:xfrm>
            <a:off x="11315700" y="6477000"/>
            <a:ext cx="342900" cy="190500"/>
          </a:xfrm>
          <a:prstGeom prst="rect">
            <a:avLst/>
          </a:prstGeom>
          <a:noFill/>
          <a:ln w="0">
            <a:noFill/>
          </a:ln>
        </p:spPr>
        <p:txBody>
          <a:bodyPr>
            <a:noAutofit/>
          </a:bodyPr>
          <a:lstStyle/>
          <a:p>
            <a:pPr>
              <a:defRPr sz="975" b="1">
                <a:solidFill>
                  <a:srgbClr val="102B46"/>
                </a:solidFill>
                <a:latin typeface="Aptos"/>
                <a:ea typeface="Aptos"/>
                <a:cs typeface="Aptos"/>
              </a:defRPr>
            </a:pPr>
            <a:r>
              <a:rPr sz="975" b="1">
                <a:solidFill>
                  <a:srgbClr val="102B46"/>
                </a:solidFill>
                <a:latin typeface="Aptos"/>
                <a:ea typeface="Aptos"/>
                <a:cs typeface="Aptos"/>
              </a:rPr>
              <a:t>11</a:t>
            </a:r>
          </a:p>
        </p:txBody>
      </p:sp>
      <p:sp>
        <p:nvSpPr>
          <p:cNvPr id="7" name="Rectangle 6">
            <a:extLst>
              <a:ext uri="{FF2B5EF4-FFF2-40B4-BE49-F238E27FC236}">
                <a16:creationId xmlns:a16="http://schemas.microsoft.com/office/drawing/2014/main" id="{F6F3E6D3-EDAA-4D6E-ACF5-2C9B171A751B}"/>
              </a:ext>
            </a:extLst>
          </p:cNvPr>
          <p:cNvSpPr>
            <a:spLocks noGrp="1"/>
          </p:cNvSpPr>
          <p:nvPr/>
        </p:nvSpPr>
        <p:spPr>
          <a:xfrm>
            <a:off x="533400" y="1743075"/>
            <a:ext cx="3524250" cy="2857500"/>
          </a:xfrm>
          <a:prstGeom prst="rect">
            <a:avLst/>
          </a:prstGeom>
          <a:solidFill>
            <a:srgbClr val="FFFFFF"/>
          </a:solidFill>
          <a:ln w="12383">
            <a:solidFill>
              <a:srgbClr val="CBD7DF"/>
            </a:solidFill>
          </a:ln>
        </p:spPr>
        <p:txBody>
          <a:bodyPr/>
          <a:lstStyle/>
          <a:p>
            <a:endParaRPr lang="en-US"/>
          </a:p>
        </p:txBody>
      </p:sp>
      <p:sp>
        <p:nvSpPr>
          <p:cNvPr id="8" name="Rectangle 7">
            <a:extLst>
              <a:ext uri="{FF2B5EF4-FFF2-40B4-BE49-F238E27FC236}">
                <a16:creationId xmlns:a16="http://schemas.microsoft.com/office/drawing/2014/main" id="{01BA0BC4-4812-4A15-8800-B0FC2FE56CDD}"/>
              </a:ext>
            </a:extLst>
          </p:cNvPr>
          <p:cNvSpPr>
            <a:spLocks noGrp="1"/>
          </p:cNvSpPr>
          <p:nvPr/>
        </p:nvSpPr>
        <p:spPr>
          <a:xfrm>
            <a:off x="533400" y="1743075"/>
            <a:ext cx="47625" cy="2857500"/>
          </a:xfrm>
          <a:prstGeom prst="rect">
            <a:avLst/>
          </a:prstGeom>
          <a:solidFill>
            <a:srgbClr val="078B8C"/>
          </a:solidFill>
          <a:ln w="0">
            <a:noFill/>
          </a:ln>
        </p:spPr>
        <p:txBody>
          <a:bodyPr/>
          <a:lstStyle/>
          <a:p>
            <a:endParaRPr lang="en-US"/>
          </a:p>
        </p:txBody>
      </p:sp>
      <p:sp>
        <p:nvSpPr>
          <p:cNvPr id="9" name="Rectangle 8">
            <a:extLst>
              <a:ext uri="{FF2B5EF4-FFF2-40B4-BE49-F238E27FC236}">
                <a16:creationId xmlns:a16="http://schemas.microsoft.com/office/drawing/2014/main" id="{A79179C2-7D3D-41C6-A273-322DE57BA446}"/>
              </a:ext>
            </a:extLst>
          </p:cNvPr>
          <p:cNvSpPr>
            <a:spLocks noGrp="1"/>
          </p:cNvSpPr>
          <p:nvPr/>
        </p:nvSpPr>
        <p:spPr>
          <a:xfrm>
            <a:off x="723900" y="1885950"/>
            <a:ext cx="3143250"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1  Select the scope</a:t>
            </a:r>
          </a:p>
        </p:txBody>
      </p:sp>
      <p:sp>
        <p:nvSpPr>
          <p:cNvPr id="10" name="Rectangle 9">
            <a:extLst>
              <a:ext uri="{FF2B5EF4-FFF2-40B4-BE49-F238E27FC236}">
                <a16:creationId xmlns:a16="http://schemas.microsoft.com/office/drawing/2014/main" id="{A812EC5B-E201-4A49-80E8-5189332D8F11}"/>
              </a:ext>
            </a:extLst>
          </p:cNvPr>
          <p:cNvSpPr>
            <a:spLocks noGrp="1"/>
          </p:cNvSpPr>
          <p:nvPr/>
        </p:nvSpPr>
        <p:spPr>
          <a:xfrm>
            <a:off x="723900" y="2428875"/>
            <a:ext cx="3143250" cy="2066925"/>
          </a:xfrm>
          <a:prstGeom prst="rect">
            <a:avLst/>
          </a:prstGeom>
          <a:noFill/>
          <a:ln w="0">
            <a:noFill/>
          </a:ln>
        </p:spPr>
        <p:txBody>
          <a:bodyPr>
            <a:noAutofit/>
          </a:bodyPr>
          <a:lstStyle/>
          <a:p>
            <a:pPr>
              <a:defRPr sz="1650" b="0">
                <a:solidFill>
                  <a:srgbClr val="233B4D"/>
                </a:solidFill>
                <a:latin typeface="Aptos"/>
                <a:ea typeface="Aptos"/>
                <a:cs typeface="Aptos"/>
              </a:defRPr>
            </a:pPr>
            <a:r>
              <a:rPr sz="1650" b="0">
                <a:solidFill>
                  <a:srgbClr val="233B4D"/>
                </a:solidFill>
                <a:latin typeface="Aptos"/>
                <a:ea typeface="Aptos"/>
                <a:cs typeface="Aptos"/>
              </a:rPr>
              <a:t>Baseline spend: $48M</a:t>
            </a:r>
          </a:p>
          <a:p>
            <a:pPr>
              <a:defRPr sz="1650" b="0">
                <a:solidFill>
                  <a:srgbClr val="233B4D"/>
                </a:solidFill>
                <a:latin typeface="Aptos"/>
                <a:ea typeface="Aptos"/>
                <a:cs typeface="Aptos"/>
              </a:defRPr>
            </a:pPr>
            <a:r>
              <a:rPr sz="1650" b="0">
                <a:solidFill>
                  <a:srgbClr val="233B4D"/>
                </a:solidFill>
                <a:latin typeface="Aptos"/>
                <a:ea typeface="Aptos"/>
                <a:cs typeface="Aptos"/>
              </a:rPr>
              <a:t>C-03 scope: $12M</a:t>
            </a:r>
          </a:p>
          <a:p>
            <a:pPr>
              <a:defRPr sz="1650" b="0">
                <a:solidFill>
                  <a:srgbClr val="233B4D"/>
                </a:solidFill>
                <a:latin typeface="Aptos"/>
                <a:ea typeface="Aptos"/>
                <a:cs typeface="Aptos"/>
              </a:defRPr>
            </a:pPr>
            <a:r>
              <a:rPr sz="1650" b="0">
                <a:solidFill>
                  <a:srgbClr val="233B4D"/>
                </a:solidFill>
                <a:latin typeface="Aptos"/>
                <a:ea typeface="Aptos"/>
                <a:cs typeface="Aptos"/>
              </a:rPr>
              <a:t>Equivalent to 25%</a:t>
            </a:r>
          </a:p>
          <a:p>
            <a:endParaRPr sz="1650" b="0">
              <a:solidFill>
                <a:srgbClr val="233B4D"/>
              </a:solidFill>
              <a:latin typeface="Aptos"/>
              <a:ea typeface="Aptos"/>
              <a:cs typeface="Aptos"/>
            </a:endParaRPr>
          </a:p>
          <a:p>
            <a:pPr>
              <a:defRPr sz="1650" b="0">
                <a:solidFill>
                  <a:srgbClr val="233B4D"/>
                </a:solidFill>
                <a:latin typeface="Aptos"/>
                <a:ea typeface="Aptos"/>
                <a:cs typeface="Aptos"/>
              </a:defRPr>
            </a:pPr>
            <a:r>
              <a:rPr sz="1650" b="0">
                <a:solidFill>
                  <a:srgbClr val="233B4D"/>
                </a:solidFill>
                <a:latin typeface="Aptos"/>
                <a:ea typeface="Aptos"/>
                <a:cs typeface="Aptos"/>
              </a:rPr>
              <a:t>Approved levers and bounds</a:t>
            </a:r>
          </a:p>
          <a:p>
            <a:pPr>
              <a:defRPr sz="1650" b="0">
                <a:solidFill>
                  <a:srgbClr val="233B4D"/>
                </a:solidFill>
                <a:latin typeface="Aptos"/>
                <a:ea typeface="Aptos"/>
                <a:cs typeface="Aptos"/>
              </a:defRPr>
            </a:pPr>
            <a:r>
              <a:rPr sz="1650" b="0">
                <a:solidFill>
                  <a:srgbClr val="233B4D"/>
                </a:solidFill>
                <a:latin typeface="Aptos"/>
                <a:ea typeface="Aptos"/>
                <a:cs typeface="Aptos"/>
              </a:rPr>
              <a:t>Named baseline and owner</a:t>
            </a:r>
          </a:p>
        </p:txBody>
      </p:sp>
      <p:sp>
        <p:nvSpPr>
          <p:cNvPr id="11" name="Rectangle 10">
            <a:extLst>
              <a:ext uri="{FF2B5EF4-FFF2-40B4-BE49-F238E27FC236}">
                <a16:creationId xmlns:a16="http://schemas.microsoft.com/office/drawing/2014/main" id="{6B37B33A-B875-45CD-90C4-3F759B5C88BB}"/>
              </a:ext>
            </a:extLst>
          </p:cNvPr>
          <p:cNvSpPr>
            <a:spLocks noGrp="1"/>
          </p:cNvSpPr>
          <p:nvPr/>
        </p:nvSpPr>
        <p:spPr>
          <a:xfrm>
            <a:off x="4333875" y="1743075"/>
            <a:ext cx="3524250" cy="2857500"/>
          </a:xfrm>
          <a:prstGeom prst="rect">
            <a:avLst/>
          </a:prstGeom>
          <a:solidFill>
            <a:srgbClr val="FFFFFF"/>
          </a:solidFill>
          <a:ln w="12383">
            <a:solidFill>
              <a:srgbClr val="CBD7DF"/>
            </a:solidFill>
          </a:ln>
        </p:spPr>
        <p:txBody>
          <a:bodyPr/>
          <a:lstStyle/>
          <a:p>
            <a:endParaRPr lang="en-US"/>
          </a:p>
        </p:txBody>
      </p:sp>
      <p:sp>
        <p:nvSpPr>
          <p:cNvPr id="12" name="Rectangle 11">
            <a:extLst>
              <a:ext uri="{FF2B5EF4-FFF2-40B4-BE49-F238E27FC236}">
                <a16:creationId xmlns:a16="http://schemas.microsoft.com/office/drawing/2014/main" id="{9A416F9A-1419-4556-BF4E-D62571822D4A}"/>
              </a:ext>
            </a:extLst>
          </p:cNvPr>
          <p:cNvSpPr>
            <a:spLocks noGrp="1"/>
          </p:cNvSpPr>
          <p:nvPr/>
        </p:nvSpPr>
        <p:spPr>
          <a:xfrm>
            <a:off x="4333875" y="1743075"/>
            <a:ext cx="47625" cy="2857500"/>
          </a:xfrm>
          <a:prstGeom prst="rect">
            <a:avLst/>
          </a:prstGeom>
          <a:solidFill>
            <a:srgbClr val="078B8C"/>
          </a:solidFill>
          <a:ln w="0">
            <a:noFill/>
          </a:ln>
        </p:spPr>
        <p:txBody>
          <a:bodyPr/>
          <a:lstStyle/>
          <a:p>
            <a:endParaRPr lang="en-US"/>
          </a:p>
        </p:txBody>
      </p:sp>
      <p:sp>
        <p:nvSpPr>
          <p:cNvPr id="13" name="Rectangle 12">
            <a:extLst>
              <a:ext uri="{FF2B5EF4-FFF2-40B4-BE49-F238E27FC236}">
                <a16:creationId xmlns:a16="http://schemas.microsoft.com/office/drawing/2014/main" id="{C83BDB58-A2F0-4496-B163-4918346C4E26}"/>
              </a:ext>
            </a:extLst>
          </p:cNvPr>
          <p:cNvSpPr>
            <a:spLocks noGrp="1"/>
          </p:cNvSpPr>
          <p:nvPr/>
        </p:nvSpPr>
        <p:spPr>
          <a:xfrm>
            <a:off x="4524375" y="1885950"/>
            <a:ext cx="3143250"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2  Trace the impact</a:t>
            </a:r>
          </a:p>
        </p:txBody>
      </p:sp>
      <p:sp>
        <p:nvSpPr>
          <p:cNvPr id="14" name="Rectangle 13">
            <a:extLst>
              <a:ext uri="{FF2B5EF4-FFF2-40B4-BE49-F238E27FC236}">
                <a16:creationId xmlns:a16="http://schemas.microsoft.com/office/drawing/2014/main" id="{D9344AFD-2687-451F-899E-2994B7B2DB5B}"/>
              </a:ext>
            </a:extLst>
          </p:cNvPr>
          <p:cNvSpPr>
            <a:spLocks noGrp="1"/>
          </p:cNvSpPr>
          <p:nvPr/>
        </p:nvSpPr>
        <p:spPr>
          <a:xfrm>
            <a:off x="4524375" y="2428875"/>
            <a:ext cx="3143250" cy="2066925"/>
          </a:xfrm>
          <a:prstGeom prst="rect">
            <a:avLst/>
          </a:prstGeom>
          <a:noFill/>
          <a:ln w="0">
            <a:noFill/>
          </a:ln>
        </p:spPr>
        <p:txBody>
          <a:bodyPr>
            <a:noAutofit/>
          </a:bodyPr>
          <a:lstStyle/>
          <a:p>
            <a:pPr>
              <a:defRPr sz="1650" b="0">
                <a:solidFill>
                  <a:srgbClr val="233B4D"/>
                </a:solidFill>
                <a:latin typeface="Aptos"/>
                <a:ea typeface="Aptos"/>
                <a:cs typeface="Aptos"/>
              </a:defRPr>
            </a:pPr>
            <a:r>
              <a:rPr sz="1650" b="0">
                <a:solidFill>
                  <a:srgbClr val="233B4D"/>
                </a:solidFill>
                <a:latin typeface="Aptos"/>
                <a:ea typeface="Aptos"/>
                <a:cs typeface="Aptos"/>
              </a:rPr>
              <a:t>3 non-critical applications</a:t>
            </a:r>
          </a:p>
          <a:p>
            <a:pPr>
              <a:defRPr sz="1650" b="0">
                <a:solidFill>
                  <a:srgbClr val="233B4D"/>
                </a:solidFill>
                <a:latin typeface="Aptos"/>
                <a:ea typeface="Aptos"/>
                <a:cs typeface="Aptos"/>
              </a:defRPr>
            </a:pPr>
            <a:r>
              <a:rPr sz="1650" b="0">
                <a:solidFill>
                  <a:srgbClr val="233B4D"/>
                </a:solidFill>
                <a:latin typeface="Aptos"/>
                <a:ea typeface="Aptos"/>
                <a:cs typeface="Aptos"/>
              </a:rPr>
              <a:t>80 assignments affected</a:t>
            </a:r>
          </a:p>
          <a:p>
            <a:pPr>
              <a:defRPr sz="1650" b="0">
                <a:solidFill>
                  <a:srgbClr val="233B4D"/>
                </a:solidFill>
                <a:latin typeface="Aptos"/>
                <a:ea typeface="Aptos"/>
                <a:cs typeface="Aptos"/>
              </a:defRPr>
            </a:pPr>
            <a:r>
              <a:rPr sz="1650" b="0">
                <a:solidFill>
                  <a:srgbClr val="233B4D"/>
                </a:solidFill>
                <a:latin typeface="Aptos"/>
                <a:ea typeface="Aptos"/>
                <a:cs typeface="Aptos"/>
              </a:rPr>
              <a:t>1 contract in selected scope</a:t>
            </a:r>
          </a:p>
          <a:p>
            <a:endParaRPr sz="1650" b="0">
              <a:solidFill>
                <a:srgbClr val="233B4D"/>
              </a:solidFill>
              <a:latin typeface="Aptos"/>
              <a:ea typeface="Aptos"/>
              <a:cs typeface="Aptos"/>
            </a:endParaRPr>
          </a:p>
          <a:p>
            <a:pPr>
              <a:defRPr sz="1650" b="0">
                <a:solidFill>
                  <a:srgbClr val="233B4D"/>
                </a:solidFill>
                <a:latin typeface="Aptos"/>
                <a:ea typeface="Aptos"/>
                <a:cs typeface="Aptos"/>
              </a:defRPr>
            </a:pPr>
            <a:r>
              <a:rPr sz="1650" b="0">
                <a:solidFill>
                  <a:srgbClr val="233B4D"/>
                </a:solidFill>
                <a:latin typeface="Aptos"/>
                <a:ea typeface="Aptos"/>
                <a:cs typeface="Aptos"/>
              </a:rPr>
              <a:t>Affected roles are not</a:t>
            </a:r>
          </a:p>
          <a:p>
            <a:pPr>
              <a:defRPr sz="1650" b="0">
                <a:solidFill>
                  <a:srgbClr val="233B4D"/>
                </a:solidFill>
                <a:latin typeface="Aptos"/>
                <a:ea typeface="Aptos"/>
                <a:cs typeface="Aptos"/>
              </a:defRPr>
            </a:pPr>
            <a:r>
              <a:rPr sz="1650" b="0">
                <a:solidFill>
                  <a:srgbClr val="233B4D"/>
                </a:solidFill>
                <a:latin typeface="Aptos"/>
                <a:ea typeface="Aptos"/>
                <a:cs typeface="Aptos"/>
              </a:rPr>
              <a:t>automatic workforce cuts</a:t>
            </a:r>
          </a:p>
        </p:txBody>
      </p:sp>
      <p:sp>
        <p:nvSpPr>
          <p:cNvPr id="15" name="Rectangle 14">
            <a:extLst>
              <a:ext uri="{FF2B5EF4-FFF2-40B4-BE49-F238E27FC236}">
                <a16:creationId xmlns:a16="http://schemas.microsoft.com/office/drawing/2014/main" id="{FBFE0C69-7F0B-4BF2-A8EF-CFEF66C87D49}"/>
              </a:ext>
            </a:extLst>
          </p:cNvPr>
          <p:cNvSpPr>
            <a:spLocks noGrp="1"/>
          </p:cNvSpPr>
          <p:nvPr/>
        </p:nvSpPr>
        <p:spPr>
          <a:xfrm>
            <a:off x="8134350" y="1743075"/>
            <a:ext cx="3524250" cy="2857500"/>
          </a:xfrm>
          <a:prstGeom prst="rect">
            <a:avLst/>
          </a:prstGeom>
          <a:solidFill>
            <a:srgbClr val="EFF5F8"/>
          </a:solidFill>
          <a:ln w="12383">
            <a:solidFill>
              <a:srgbClr val="CBD7DF"/>
            </a:solidFill>
          </a:ln>
        </p:spPr>
        <p:txBody>
          <a:bodyPr/>
          <a:lstStyle/>
          <a:p>
            <a:endParaRPr lang="en-US"/>
          </a:p>
        </p:txBody>
      </p:sp>
      <p:sp>
        <p:nvSpPr>
          <p:cNvPr id="16" name="Rectangle 15">
            <a:extLst>
              <a:ext uri="{FF2B5EF4-FFF2-40B4-BE49-F238E27FC236}">
                <a16:creationId xmlns:a16="http://schemas.microsoft.com/office/drawing/2014/main" id="{C479B055-8658-48F7-9853-011B481C6D27}"/>
              </a:ext>
            </a:extLst>
          </p:cNvPr>
          <p:cNvSpPr>
            <a:spLocks noGrp="1"/>
          </p:cNvSpPr>
          <p:nvPr/>
        </p:nvSpPr>
        <p:spPr>
          <a:xfrm>
            <a:off x="8134350" y="1743075"/>
            <a:ext cx="47625" cy="2857500"/>
          </a:xfrm>
          <a:prstGeom prst="rect">
            <a:avLst/>
          </a:prstGeom>
          <a:solidFill>
            <a:srgbClr val="078B8C"/>
          </a:solidFill>
          <a:ln w="0">
            <a:noFill/>
          </a:ln>
        </p:spPr>
        <p:txBody>
          <a:bodyPr/>
          <a:lstStyle/>
          <a:p>
            <a:endParaRPr lang="en-US"/>
          </a:p>
        </p:txBody>
      </p:sp>
      <p:sp>
        <p:nvSpPr>
          <p:cNvPr id="17" name="Rectangle 16">
            <a:extLst>
              <a:ext uri="{FF2B5EF4-FFF2-40B4-BE49-F238E27FC236}">
                <a16:creationId xmlns:a16="http://schemas.microsoft.com/office/drawing/2014/main" id="{D83CD100-AA37-4E73-B397-47F9652AC65E}"/>
              </a:ext>
            </a:extLst>
          </p:cNvPr>
          <p:cNvSpPr>
            <a:spLocks noGrp="1"/>
          </p:cNvSpPr>
          <p:nvPr/>
        </p:nvSpPr>
        <p:spPr>
          <a:xfrm>
            <a:off x="8324850" y="1885950"/>
            <a:ext cx="3143250"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3  Model the first year</a:t>
            </a:r>
          </a:p>
        </p:txBody>
      </p:sp>
      <p:sp>
        <p:nvSpPr>
          <p:cNvPr id="18" name="Rectangle 17">
            <a:extLst>
              <a:ext uri="{FF2B5EF4-FFF2-40B4-BE49-F238E27FC236}">
                <a16:creationId xmlns:a16="http://schemas.microsoft.com/office/drawing/2014/main" id="{28A325BA-2E75-4BF4-A595-91FAD2C32182}"/>
              </a:ext>
            </a:extLst>
          </p:cNvPr>
          <p:cNvSpPr>
            <a:spLocks noGrp="1"/>
          </p:cNvSpPr>
          <p:nvPr/>
        </p:nvSpPr>
        <p:spPr>
          <a:xfrm>
            <a:off x="8324850" y="2428875"/>
            <a:ext cx="3143250" cy="2066925"/>
          </a:xfrm>
          <a:prstGeom prst="rect">
            <a:avLst/>
          </a:prstGeom>
          <a:noFill/>
          <a:ln w="0">
            <a:noFill/>
          </a:ln>
        </p:spPr>
        <p:txBody>
          <a:bodyPr>
            <a:noAutofit/>
          </a:bodyPr>
          <a:lstStyle/>
          <a:p>
            <a:pPr>
              <a:defRPr sz="1650" b="0">
                <a:solidFill>
                  <a:srgbClr val="233B4D"/>
                </a:solidFill>
                <a:latin typeface="Aptos"/>
                <a:ea typeface="Aptos"/>
                <a:cs typeface="Aptos"/>
              </a:defRPr>
            </a:pPr>
            <a:r>
              <a:rPr sz="1650" b="0">
                <a:solidFill>
                  <a:srgbClr val="233B4D"/>
                </a:solidFill>
                <a:latin typeface="Aptos"/>
                <a:ea typeface="Aptos"/>
                <a:cs typeface="Aptos"/>
              </a:rPr>
              <a:t>Gross reduction: $12M</a:t>
            </a:r>
          </a:p>
          <a:p>
            <a:pPr>
              <a:defRPr sz="1650" b="0">
                <a:solidFill>
                  <a:srgbClr val="233B4D"/>
                </a:solidFill>
                <a:latin typeface="Aptos"/>
                <a:ea typeface="Aptos"/>
                <a:cs typeface="Aptos"/>
              </a:defRPr>
            </a:pPr>
            <a:r>
              <a:rPr sz="1650" b="0">
                <a:solidFill>
                  <a:srgbClr val="233B4D"/>
                </a:solidFill>
                <a:latin typeface="Aptos"/>
                <a:ea typeface="Aptos"/>
                <a:cs typeface="Aptos"/>
              </a:rPr>
              <a:t>Less transition cost: $2M</a:t>
            </a:r>
          </a:p>
          <a:p>
            <a:pPr>
              <a:defRPr sz="1650" b="0">
                <a:solidFill>
                  <a:srgbClr val="233B4D"/>
                </a:solidFill>
                <a:latin typeface="Aptos"/>
                <a:ea typeface="Aptos"/>
                <a:cs typeface="Aptos"/>
              </a:defRPr>
            </a:pPr>
            <a:r>
              <a:rPr sz="1650" b="0">
                <a:solidFill>
                  <a:srgbClr val="233B4D"/>
                </a:solidFill>
                <a:latin typeface="Aptos"/>
                <a:ea typeface="Aptos"/>
                <a:cs typeface="Aptos"/>
              </a:rPr>
              <a:t>Less retained costs: $1M</a:t>
            </a:r>
          </a:p>
          <a:p>
            <a:endParaRPr sz="1650" b="0">
              <a:solidFill>
                <a:srgbClr val="233B4D"/>
              </a:solidFill>
              <a:latin typeface="Aptos"/>
              <a:ea typeface="Aptos"/>
              <a:cs typeface="Aptos"/>
            </a:endParaRPr>
          </a:p>
          <a:p>
            <a:pPr>
              <a:defRPr sz="1650" b="0">
                <a:solidFill>
                  <a:srgbClr val="233B4D"/>
                </a:solidFill>
                <a:latin typeface="Aptos"/>
                <a:ea typeface="Aptos"/>
                <a:cs typeface="Aptos"/>
              </a:defRPr>
            </a:pPr>
            <a:r>
              <a:rPr sz="1650" b="0">
                <a:solidFill>
                  <a:srgbClr val="233B4D"/>
                </a:solidFill>
                <a:latin typeface="Aptos"/>
                <a:ea typeface="Aptos"/>
                <a:cs typeface="Aptos"/>
              </a:rPr>
              <a:t>Estimated net saving: $9M</a:t>
            </a:r>
          </a:p>
          <a:p>
            <a:pPr>
              <a:defRPr sz="1650" b="0">
                <a:solidFill>
                  <a:srgbClr val="233B4D"/>
                </a:solidFill>
                <a:latin typeface="Aptos"/>
                <a:ea typeface="Aptos"/>
                <a:cs typeface="Aptos"/>
              </a:defRPr>
            </a:pPr>
            <a:r>
              <a:rPr sz="1650" b="0">
                <a:solidFill>
                  <a:srgbClr val="233B4D"/>
                </a:solidFill>
                <a:latin typeface="Aptos"/>
                <a:ea typeface="Aptos"/>
                <a:cs typeface="Aptos"/>
              </a:rPr>
              <a:t>Modeled total cost: $39M</a:t>
            </a:r>
          </a:p>
        </p:txBody>
      </p:sp>
      <p:sp>
        <p:nvSpPr>
          <p:cNvPr id="19" name="Rectangle 18">
            <a:extLst>
              <a:ext uri="{FF2B5EF4-FFF2-40B4-BE49-F238E27FC236}">
                <a16:creationId xmlns:a16="http://schemas.microsoft.com/office/drawing/2014/main" id="{0BDF02AB-771E-47F1-8AA5-8509C0BF2141}"/>
              </a:ext>
            </a:extLst>
          </p:cNvPr>
          <p:cNvSpPr>
            <a:spLocks noGrp="1"/>
          </p:cNvSpPr>
          <p:nvPr/>
        </p:nvSpPr>
        <p:spPr>
          <a:xfrm>
            <a:off x="533400" y="4981575"/>
            <a:ext cx="11125200" cy="542925"/>
          </a:xfrm>
          <a:prstGeom prst="rect">
            <a:avLst/>
          </a:prstGeom>
          <a:solidFill>
            <a:srgbClr val="FBF3E8"/>
          </a:solidFill>
          <a:ln w="12383">
            <a:solidFill>
              <a:srgbClr val="FBF3E8"/>
            </a:solidFill>
          </a:ln>
        </p:spPr>
        <p:txBody>
          <a:bodyPr/>
          <a:lstStyle/>
          <a:p>
            <a:endParaRPr lang="en-US"/>
          </a:p>
        </p:txBody>
      </p:sp>
      <p:sp>
        <p:nvSpPr>
          <p:cNvPr id="20" name="Rectangle 19">
            <a:extLst>
              <a:ext uri="{FF2B5EF4-FFF2-40B4-BE49-F238E27FC236}">
                <a16:creationId xmlns:a16="http://schemas.microsoft.com/office/drawing/2014/main" id="{92DD8F2F-2102-4FC5-A691-3F6B61A4D281}"/>
              </a:ext>
            </a:extLst>
          </p:cNvPr>
          <p:cNvSpPr>
            <a:spLocks noGrp="1"/>
          </p:cNvSpPr>
          <p:nvPr/>
        </p:nvSpPr>
        <p:spPr>
          <a:xfrm>
            <a:off x="676275" y="5095875"/>
            <a:ext cx="10839450" cy="352425"/>
          </a:xfrm>
          <a:prstGeom prst="rect">
            <a:avLst/>
          </a:prstGeom>
          <a:noFill/>
          <a:ln w="0">
            <a:noFill/>
          </a:ln>
        </p:spPr>
        <p:txBody>
          <a:bodyPr>
            <a:noAutofit/>
          </a:bodyPr>
          <a:lstStyle/>
          <a:p>
            <a:pPr>
              <a:defRPr sz="1575" b="1">
                <a:solidFill>
                  <a:srgbClr val="A76315"/>
                </a:solidFill>
                <a:latin typeface="Aptos"/>
                <a:ea typeface="Aptos"/>
                <a:cs typeface="Aptos"/>
              </a:defRPr>
            </a:pPr>
            <a:r>
              <a:rPr sz="1575" b="1">
                <a:solidFill>
                  <a:srgbClr val="A76315"/>
                </a:solidFill>
                <a:latin typeface="Aptos"/>
                <a:ea typeface="Aptos"/>
                <a:cs typeface="Aptos"/>
              </a:rPr>
              <a:t>Unresolved: supplier capacity / contract exit terms / transition plan / service continuity</a:t>
            </a:r>
          </a:p>
        </p:txBody>
      </p:sp>
      <p:sp>
        <p:nvSpPr>
          <p:cNvPr id="21" name="Rectangle 20">
            <a:extLst>
              <a:ext uri="{FF2B5EF4-FFF2-40B4-BE49-F238E27FC236}">
                <a16:creationId xmlns:a16="http://schemas.microsoft.com/office/drawing/2014/main" id="{1ECCE3C1-A19E-4359-9920-AD19D0C94CA3}"/>
              </a:ext>
            </a:extLst>
          </p:cNvPr>
          <p:cNvSpPr>
            <a:spLocks noGrp="1"/>
          </p:cNvSpPr>
          <p:nvPr/>
        </p:nvSpPr>
        <p:spPr>
          <a:xfrm>
            <a:off x="533400" y="5753100"/>
            <a:ext cx="11125200" cy="428625"/>
          </a:xfrm>
          <a:prstGeom prst="rect">
            <a:avLst/>
          </a:prstGeom>
          <a:solidFill>
            <a:srgbClr val="EFF5F8"/>
          </a:solidFill>
          <a:ln w="12383">
            <a:solidFill>
              <a:srgbClr val="EFF5F8"/>
            </a:solidFill>
          </a:ln>
        </p:spPr>
        <p:txBody>
          <a:bodyPr/>
          <a:lstStyle/>
          <a:p>
            <a:endParaRPr lang="en-US"/>
          </a:p>
        </p:txBody>
      </p:sp>
      <p:sp>
        <p:nvSpPr>
          <p:cNvPr id="22" name="Rectangle 21">
            <a:extLst>
              <a:ext uri="{FF2B5EF4-FFF2-40B4-BE49-F238E27FC236}">
                <a16:creationId xmlns:a16="http://schemas.microsoft.com/office/drawing/2014/main" id="{013BD00E-7925-4D67-B6C8-C4F04EA7B2B3}"/>
              </a:ext>
            </a:extLst>
          </p:cNvPr>
          <p:cNvSpPr>
            <a:spLocks noGrp="1"/>
          </p:cNvSpPr>
          <p:nvPr/>
        </p:nvSpPr>
        <p:spPr>
          <a:xfrm>
            <a:off x="676275" y="5867400"/>
            <a:ext cx="10839450" cy="238125"/>
          </a:xfrm>
          <a:prstGeom prst="rect">
            <a:avLst/>
          </a:prstGeom>
          <a:noFill/>
          <a:ln w="0">
            <a:noFill/>
          </a:ln>
        </p:spPr>
        <p:txBody>
          <a:bodyPr>
            <a:noAutofit/>
          </a:bodyPr>
          <a:lstStyle/>
          <a:p>
            <a:pPr>
              <a:defRPr sz="1350" b="0">
                <a:solidFill>
                  <a:srgbClr val="102B46"/>
                </a:solidFill>
                <a:latin typeface="Aptos"/>
                <a:ea typeface="Aptos"/>
                <a:cs typeface="Aptos"/>
              </a:defRPr>
            </a:pPr>
            <a:r>
              <a:rPr sz="1350" b="0">
                <a:solidFill>
                  <a:srgbClr val="102B46"/>
                </a:solidFill>
                <a:latin typeface="Aptos"/>
                <a:ea typeface="Aptos"/>
                <a:cs typeface="Aptos"/>
              </a:rPr>
              <a:t>All costs are scenario assumptions. The baseline stays unchanged; feasibility and savings require human validation.</a:t>
            </a:r>
          </a:p>
        </p:txBody>
      </p:sp>
    </p:spTree>
    <p:extLst>
      <p:ext uri="{BB962C8B-B14F-4D97-AF65-F5344CB8AC3E}">
        <p14:creationId xmlns:p14="http://schemas.microsoft.com/office/powerpoint/2010/main" val="12215947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E11EE700-DFCD-4C7E-B1D3-AAB1A024E2CF}"/>
              </a:ext>
            </a:extLst>
          </p:cNvPr>
          <p:cNvSpPr>
            <a:spLocks noGrp="1"/>
          </p:cNvSpPr>
          <p:nvPr/>
        </p:nvSpPr>
        <p:spPr>
          <a:xfrm>
            <a:off x="0" y="0"/>
            <a:ext cx="12192000" cy="95250"/>
          </a:xfrm>
          <a:prstGeom prst="rect">
            <a:avLst/>
          </a:prstGeom>
          <a:solidFill>
            <a:srgbClr val="0067A0"/>
          </a:solidFill>
          <a:ln w="0">
            <a:noFill/>
          </a:ln>
        </p:spPr>
        <p:txBody>
          <a:bodyPr/>
          <a:lstStyle/>
          <a:p>
            <a:endParaRPr lang="en-US"/>
          </a:p>
        </p:txBody>
      </p:sp>
      <p:sp>
        <p:nvSpPr>
          <p:cNvPr id="2" name="Rectangle 1">
            <a:extLst>
              <a:ext uri="{FF2B5EF4-FFF2-40B4-BE49-F238E27FC236}">
                <a16:creationId xmlns:a16="http://schemas.microsoft.com/office/drawing/2014/main" id="{DDD56A88-E43B-4B6A-86B2-6957D9C45D89}"/>
              </a:ext>
            </a:extLst>
          </p:cNvPr>
          <p:cNvSpPr>
            <a:spLocks noGrp="1"/>
          </p:cNvSpPr>
          <p:nvPr/>
        </p:nvSpPr>
        <p:spPr>
          <a:xfrm>
            <a:off x="533400" y="400050"/>
            <a:ext cx="11125200" cy="571500"/>
          </a:xfrm>
          <a:prstGeom prst="rect">
            <a:avLst/>
          </a:prstGeom>
          <a:noFill/>
          <a:ln w="0">
            <a:noFill/>
          </a:ln>
        </p:spPr>
        <p:txBody>
          <a:bodyPr>
            <a:noAutofit/>
          </a:bodyPr>
          <a:lstStyle/>
          <a:p>
            <a:pPr>
              <a:defRPr sz="2700" b="1">
                <a:solidFill>
                  <a:srgbClr val="102B46"/>
                </a:solidFill>
                <a:latin typeface="Aptos"/>
                <a:ea typeface="Aptos"/>
                <a:cs typeface="Aptos"/>
              </a:defRPr>
            </a:pPr>
            <a:r>
              <a:rPr sz="2700" b="1">
                <a:solidFill>
                  <a:srgbClr val="102B46"/>
                </a:solidFill>
                <a:latin typeface="Aptos"/>
                <a:ea typeface="Aptos"/>
                <a:cs typeface="Aptos"/>
              </a:rPr>
              <a:t>The Alpha brief turns evidence into decision options</a:t>
            </a:r>
          </a:p>
        </p:txBody>
      </p:sp>
      <p:sp>
        <p:nvSpPr>
          <p:cNvPr id="3" name="Rectangle 2">
            <a:extLst>
              <a:ext uri="{FF2B5EF4-FFF2-40B4-BE49-F238E27FC236}">
                <a16:creationId xmlns:a16="http://schemas.microsoft.com/office/drawing/2014/main" id="{62921996-AF63-4BC0-8315-CA2E4BDE702E}"/>
              </a:ext>
            </a:extLst>
          </p:cNvPr>
          <p:cNvSpPr>
            <a:spLocks noGrp="1"/>
          </p:cNvSpPr>
          <p:nvPr/>
        </p:nvSpPr>
        <p:spPr>
          <a:xfrm>
            <a:off x="533400" y="1028700"/>
            <a:ext cx="11125200" cy="504825"/>
          </a:xfrm>
          <a:prstGeom prst="rect">
            <a:avLst/>
          </a:prstGeom>
          <a:noFill/>
          <a:ln w="0">
            <a:noFill/>
          </a:ln>
        </p:spPr>
        <p:txBody>
          <a:bodyPr>
            <a:noAutofit/>
          </a:bodyPr>
          <a:lstStyle/>
          <a:p>
            <a:pPr>
              <a:defRPr sz="1425" b="0">
                <a:solidFill>
                  <a:srgbClr val="5B7080"/>
                </a:solidFill>
                <a:latin typeface="Aptos"/>
                <a:ea typeface="Aptos"/>
                <a:cs typeface="Aptos"/>
              </a:defRPr>
            </a:pPr>
            <a:r>
              <a:rPr sz="1425" b="0">
                <a:solidFill>
                  <a:srgbClr val="5B7080"/>
                </a:solidFill>
                <a:latin typeface="Aptos"/>
                <a:ea typeface="Aptos"/>
                <a:cs typeface="Aptos"/>
              </a:rPr>
              <a:t>The demo proves the journey from a vendor issue to an explainable recommendation and human review.</a:t>
            </a:r>
          </a:p>
        </p:txBody>
      </p:sp>
      <p:sp>
        <p:nvSpPr>
          <p:cNvPr id="4" name="Rectangle 3">
            <a:extLst>
              <a:ext uri="{FF2B5EF4-FFF2-40B4-BE49-F238E27FC236}">
                <a16:creationId xmlns:a16="http://schemas.microsoft.com/office/drawing/2014/main" id="{8AF9CC12-71C7-4F3D-B069-5C8250B1316F}"/>
              </a:ext>
            </a:extLst>
          </p:cNvPr>
          <p:cNvSpPr>
            <a:spLocks noGrp="1"/>
          </p:cNvSpPr>
          <p:nvPr/>
        </p:nvSpPr>
        <p:spPr>
          <a:xfrm>
            <a:off x="533400" y="6381750"/>
            <a:ext cx="11125200" cy="9525"/>
          </a:xfrm>
          <a:prstGeom prst="rect">
            <a:avLst/>
          </a:prstGeom>
          <a:solidFill>
            <a:srgbClr val="CBD7DF"/>
          </a:solidFill>
          <a:ln w="0">
            <a:noFill/>
          </a:ln>
        </p:spPr>
        <p:txBody>
          <a:bodyPr/>
          <a:lstStyle/>
          <a:p>
            <a:endParaRPr lang="en-US"/>
          </a:p>
        </p:txBody>
      </p:sp>
      <p:sp>
        <p:nvSpPr>
          <p:cNvPr id="5" name="Rectangle 4">
            <a:extLst>
              <a:ext uri="{FF2B5EF4-FFF2-40B4-BE49-F238E27FC236}">
                <a16:creationId xmlns:a16="http://schemas.microsoft.com/office/drawing/2014/main" id="{B310A344-44A9-4044-B89B-FD10849EE819}"/>
              </a:ext>
            </a:extLst>
          </p:cNvPr>
          <p:cNvSpPr>
            <a:spLocks noGrp="1"/>
          </p:cNvSpPr>
          <p:nvPr/>
        </p:nvSpPr>
        <p:spPr>
          <a:xfrm>
            <a:off x="533400" y="6477000"/>
            <a:ext cx="10572750" cy="190500"/>
          </a:xfrm>
          <a:prstGeom prst="rect">
            <a:avLst/>
          </a:prstGeom>
          <a:noFill/>
          <a:ln w="0">
            <a:noFill/>
          </a:ln>
        </p:spPr>
        <p:txBody>
          <a:bodyPr>
            <a:noAutofit/>
          </a:bodyPr>
          <a:lstStyle/>
          <a:p>
            <a:pPr>
              <a:defRPr sz="900" b="0">
                <a:solidFill>
                  <a:srgbClr val="5B7080"/>
                </a:solidFill>
                <a:latin typeface="Aptos"/>
                <a:ea typeface="Aptos"/>
                <a:cs typeface="Aptos"/>
              </a:defRPr>
            </a:pPr>
            <a:r>
              <a:rPr sz="900" b="0">
                <a:solidFill>
                  <a:srgbClr val="5B7080"/>
                </a:solidFill>
                <a:latin typeface="Aptos"/>
                <a:ea typeface="Aptos"/>
                <a:cs typeface="Aptos"/>
              </a:rPr>
              <a:t>COMPANY CONFIDENTIAL   •   FSD v1.0   •   FR-090–093, §16–17</a:t>
            </a:r>
          </a:p>
        </p:txBody>
      </p:sp>
      <p:sp>
        <p:nvSpPr>
          <p:cNvPr id="6" name="Rectangle 5">
            <a:extLst>
              <a:ext uri="{FF2B5EF4-FFF2-40B4-BE49-F238E27FC236}">
                <a16:creationId xmlns:a16="http://schemas.microsoft.com/office/drawing/2014/main" id="{69A02D1F-BF48-439A-B36B-DE85A23AA833}"/>
              </a:ext>
            </a:extLst>
          </p:cNvPr>
          <p:cNvSpPr>
            <a:spLocks noGrp="1"/>
          </p:cNvSpPr>
          <p:nvPr/>
        </p:nvSpPr>
        <p:spPr>
          <a:xfrm>
            <a:off x="11315700" y="6477000"/>
            <a:ext cx="342900" cy="190500"/>
          </a:xfrm>
          <a:prstGeom prst="rect">
            <a:avLst/>
          </a:prstGeom>
          <a:noFill/>
          <a:ln w="0">
            <a:noFill/>
          </a:ln>
        </p:spPr>
        <p:txBody>
          <a:bodyPr>
            <a:noAutofit/>
          </a:bodyPr>
          <a:lstStyle/>
          <a:p>
            <a:pPr>
              <a:defRPr sz="975" b="1">
                <a:solidFill>
                  <a:srgbClr val="102B46"/>
                </a:solidFill>
                <a:latin typeface="Aptos"/>
                <a:ea typeface="Aptos"/>
                <a:cs typeface="Aptos"/>
              </a:defRPr>
            </a:pPr>
            <a:r>
              <a:rPr sz="975" b="1">
                <a:solidFill>
                  <a:srgbClr val="102B46"/>
                </a:solidFill>
                <a:latin typeface="Aptos"/>
                <a:ea typeface="Aptos"/>
                <a:cs typeface="Aptos"/>
              </a:rPr>
              <a:t>12</a:t>
            </a:r>
          </a:p>
        </p:txBody>
      </p:sp>
      <p:sp>
        <p:nvSpPr>
          <p:cNvPr id="7" name="Rectangle 6">
            <a:extLst>
              <a:ext uri="{FF2B5EF4-FFF2-40B4-BE49-F238E27FC236}">
                <a16:creationId xmlns:a16="http://schemas.microsoft.com/office/drawing/2014/main" id="{0497177E-01B3-4BD4-8CC8-4C9230B82362}"/>
              </a:ext>
            </a:extLst>
          </p:cNvPr>
          <p:cNvSpPr>
            <a:spLocks noGrp="1"/>
          </p:cNvSpPr>
          <p:nvPr/>
        </p:nvSpPr>
        <p:spPr>
          <a:xfrm>
            <a:off x="533400" y="1743075"/>
            <a:ext cx="3524250" cy="2124075"/>
          </a:xfrm>
          <a:prstGeom prst="rect">
            <a:avLst/>
          </a:prstGeom>
          <a:solidFill>
            <a:srgbClr val="FFFFFF"/>
          </a:solidFill>
          <a:ln w="12383">
            <a:solidFill>
              <a:srgbClr val="CBD7DF"/>
            </a:solidFill>
          </a:ln>
        </p:spPr>
        <p:txBody>
          <a:bodyPr/>
          <a:lstStyle/>
          <a:p>
            <a:endParaRPr lang="en-US"/>
          </a:p>
        </p:txBody>
      </p:sp>
      <p:sp>
        <p:nvSpPr>
          <p:cNvPr id="8" name="Rectangle 7">
            <a:extLst>
              <a:ext uri="{FF2B5EF4-FFF2-40B4-BE49-F238E27FC236}">
                <a16:creationId xmlns:a16="http://schemas.microsoft.com/office/drawing/2014/main" id="{921A7ED9-E260-44D3-8D6A-1EEF96A96D99}"/>
              </a:ext>
            </a:extLst>
          </p:cNvPr>
          <p:cNvSpPr>
            <a:spLocks noGrp="1"/>
          </p:cNvSpPr>
          <p:nvPr/>
        </p:nvSpPr>
        <p:spPr>
          <a:xfrm>
            <a:off x="533400" y="1743075"/>
            <a:ext cx="47625" cy="2124075"/>
          </a:xfrm>
          <a:prstGeom prst="rect">
            <a:avLst/>
          </a:prstGeom>
          <a:solidFill>
            <a:srgbClr val="078B8C"/>
          </a:solidFill>
          <a:ln w="0">
            <a:noFill/>
          </a:ln>
        </p:spPr>
        <p:txBody>
          <a:bodyPr/>
          <a:lstStyle/>
          <a:p>
            <a:endParaRPr lang="en-US"/>
          </a:p>
        </p:txBody>
      </p:sp>
      <p:sp>
        <p:nvSpPr>
          <p:cNvPr id="9" name="Rectangle 8">
            <a:extLst>
              <a:ext uri="{FF2B5EF4-FFF2-40B4-BE49-F238E27FC236}">
                <a16:creationId xmlns:a16="http://schemas.microsoft.com/office/drawing/2014/main" id="{ACC66668-DBE8-41EB-9B28-4E5591C2507E}"/>
              </a:ext>
            </a:extLst>
          </p:cNvPr>
          <p:cNvSpPr>
            <a:spLocks noGrp="1"/>
          </p:cNvSpPr>
          <p:nvPr/>
        </p:nvSpPr>
        <p:spPr>
          <a:xfrm>
            <a:off x="723900" y="1885950"/>
            <a:ext cx="3143250"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A  Renew and renegotiate</a:t>
            </a:r>
          </a:p>
        </p:txBody>
      </p:sp>
      <p:sp>
        <p:nvSpPr>
          <p:cNvPr id="10" name="Rectangle 9">
            <a:extLst>
              <a:ext uri="{FF2B5EF4-FFF2-40B4-BE49-F238E27FC236}">
                <a16:creationId xmlns:a16="http://schemas.microsoft.com/office/drawing/2014/main" id="{84845C62-6CBA-4981-8AFF-2CEA8F69C07E}"/>
              </a:ext>
            </a:extLst>
          </p:cNvPr>
          <p:cNvSpPr>
            <a:spLocks noGrp="1"/>
          </p:cNvSpPr>
          <p:nvPr/>
        </p:nvSpPr>
        <p:spPr>
          <a:xfrm>
            <a:off x="723900" y="2428875"/>
            <a:ext cx="3143250" cy="1333500"/>
          </a:xfrm>
          <a:prstGeom prst="rect">
            <a:avLst/>
          </a:prstGeom>
          <a:noFill/>
          <a:ln w="0">
            <a:noFill/>
          </a:ln>
        </p:spPr>
        <p:txBody>
          <a:bodyPr>
            <a:noAutofit/>
          </a:bodyPr>
          <a:lstStyle/>
          <a:p>
            <a:pPr>
              <a:defRPr sz="1500" b="0">
                <a:solidFill>
                  <a:srgbClr val="233B4D"/>
                </a:solidFill>
                <a:latin typeface="Aptos"/>
                <a:ea typeface="Aptos"/>
                <a:cs typeface="Aptos"/>
              </a:defRPr>
            </a:pPr>
            <a:r>
              <a:rPr sz="1500" b="0">
                <a:solidFill>
                  <a:srgbClr val="233B4D"/>
                </a:solidFill>
                <a:latin typeface="Aptos"/>
                <a:ea typeface="Aptos"/>
                <a:cs typeface="Aptos"/>
              </a:rPr>
              <a:t>Protect critical C-01 services</a:t>
            </a:r>
          </a:p>
          <a:p>
            <a:pPr>
              <a:defRPr sz="1500" b="0">
                <a:solidFill>
                  <a:srgbClr val="233B4D"/>
                </a:solidFill>
                <a:latin typeface="Aptos"/>
                <a:ea typeface="Aptos"/>
                <a:cs typeface="Aptos"/>
              </a:defRPr>
            </a:pPr>
            <a:r>
              <a:rPr sz="1500" b="0">
                <a:solidFill>
                  <a:srgbClr val="233B4D"/>
                </a:solidFill>
                <a:latin typeface="Aptos"/>
                <a:ea typeface="Aptos"/>
                <a:cs typeface="Aptos"/>
              </a:rPr>
              <a:t>Negotiate performance terms</a:t>
            </a:r>
          </a:p>
          <a:p>
            <a:pPr>
              <a:defRPr sz="1500" b="0">
                <a:solidFill>
                  <a:srgbClr val="233B4D"/>
                </a:solidFill>
                <a:latin typeface="Aptos"/>
                <a:ea typeface="Aptos"/>
                <a:cs typeface="Aptos"/>
              </a:defRPr>
            </a:pPr>
            <a:r>
              <a:rPr sz="1500" b="0">
                <a:solidFill>
                  <a:srgbClr val="233B4D"/>
                </a:solidFill>
                <a:latin typeface="Aptos"/>
                <a:ea typeface="Aptos"/>
                <a:cs typeface="Aptos"/>
              </a:rPr>
              <a:t>Validate renewal clauses</a:t>
            </a:r>
          </a:p>
        </p:txBody>
      </p:sp>
      <p:sp>
        <p:nvSpPr>
          <p:cNvPr id="11" name="Rectangle 10">
            <a:extLst>
              <a:ext uri="{FF2B5EF4-FFF2-40B4-BE49-F238E27FC236}">
                <a16:creationId xmlns:a16="http://schemas.microsoft.com/office/drawing/2014/main" id="{3C3AC07C-A0F3-410C-9A96-3A4D985BF61D}"/>
              </a:ext>
            </a:extLst>
          </p:cNvPr>
          <p:cNvSpPr>
            <a:spLocks noGrp="1"/>
          </p:cNvSpPr>
          <p:nvPr/>
        </p:nvSpPr>
        <p:spPr>
          <a:xfrm>
            <a:off x="4333875" y="1743075"/>
            <a:ext cx="3524250" cy="2124075"/>
          </a:xfrm>
          <a:prstGeom prst="rect">
            <a:avLst/>
          </a:prstGeom>
          <a:solidFill>
            <a:srgbClr val="FFFFFF"/>
          </a:solidFill>
          <a:ln w="12383">
            <a:solidFill>
              <a:srgbClr val="CBD7DF"/>
            </a:solidFill>
          </a:ln>
        </p:spPr>
        <p:txBody>
          <a:bodyPr/>
          <a:lstStyle/>
          <a:p>
            <a:endParaRPr lang="en-US"/>
          </a:p>
        </p:txBody>
      </p:sp>
      <p:sp>
        <p:nvSpPr>
          <p:cNvPr id="12" name="Rectangle 11">
            <a:extLst>
              <a:ext uri="{FF2B5EF4-FFF2-40B4-BE49-F238E27FC236}">
                <a16:creationId xmlns:a16="http://schemas.microsoft.com/office/drawing/2014/main" id="{2007B818-EAF1-4F68-93F9-FB26FA0A024F}"/>
              </a:ext>
            </a:extLst>
          </p:cNvPr>
          <p:cNvSpPr>
            <a:spLocks noGrp="1"/>
          </p:cNvSpPr>
          <p:nvPr/>
        </p:nvSpPr>
        <p:spPr>
          <a:xfrm>
            <a:off x="4333875" y="1743075"/>
            <a:ext cx="47625" cy="2124075"/>
          </a:xfrm>
          <a:prstGeom prst="rect">
            <a:avLst/>
          </a:prstGeom>
          <a:solidFill>
            <a:srgbClr val="078B8C"/>
          </a:solidFill>
          <a:ln w="0">
            <a:noFill/>
          </a:ln>
        </p:spPr>
        <p:txBody>
          <a:bodyPr/>
          <a:lstStyle/>
          <a:p>
            <a:endParaRPr lang="en-US"/>
          </a:p>
        </p:txBody>
      </p:sp>
      <p:sp>
        <p:nvSpPr>
          <p:cNvPr id="13" name="Rectangle 12">
            <a:extLst>
              <a:ext uri="{FF2B5EF4-FFF2-40B4-BE49-F238E27FC236}">
                <a16:creationId xmlns:a16="http://schemas.microsoft.com/office/drawing/2014/main" id="{BD8AD521-5F46-4352-A117-99DF89FE608C}"/>
              </a:ext>
            </a:extLst>
          </p:cNvPr>
          <p:cNvSpPr>
            <a:spLocks noGrp="1"/>
          </p:cNvSpPr>
          <p:nvPr/>
        </p:nvSpPr>
        <p:spPr>
          <a:xfrm>
            <a:off x="4524375" y="1885950"/>
            <a:ext cx="3143250"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B  Test lower-criticality scope</a:t>
            </a:r>
          </a:p>
        </p:txBody>
      </p:sp>
      <p:sp>
        <p:nvSpPr>
          <p:cNvPr id="14" name="Rectangle 13">
            <a:extLst>
              <a:ext uri="{FF2B5EF4-FFF2-40B4-BE49-F238E27FC236}">
                <a16:creationId xmlns:a16="http://schemas.microsoft.com/office/drawing/2014/main" id="{C689EF57-9373-49F5-A9D1-208176DA730F}"/>
              </a:ext>
            </a:extLst>
          </p:cNvPr>
          <p:cNvSpPr>
            <a:spLocks noGrp="1"/>
          </p:cNvSpPr>
          <p:nvPr/>
        </p:nvSpPr>
        <p:spPr>
          <a:xfrm>
            <a:off x="4524375" y="2428875"/>
            <a:ext cx="3143250" cy="1333500"/>
          </a:xfrm>
          <a:prstGeom prst="rect">
            <a:avLst/>
          </a:prstGeom>
          <a:noFill/>
          <a:ln w="0">
            <a:noFill/>
          </a:ln>
        </p:spPr>
        <p:txBody>
          <a:bodyPr>
            <a:noAutofit/>
          </a:bodyPr>
          <a:lstStyle/>
          <a:p>
            <a:pPr>
              <a:defRPr sz="1500" b="0">
                <a:solidFill>
                  <a:srgbClr val="233B4D"/>
                </a:solidFill>
                <a:latin typeface="Aptos"/>
                <a:ea typeface="Aptos"/>
                <a:cs typeface="Aptos"/>
              </a:defRPr>
            </a:pPr>
            <a:r>
              <a:rPr sz="1500" b="0">
                <a:solidFill>
                  <a:srgbClr val="233B4D"/>
                </a:solidFill>
                <a:latin typeface="Aptos"/>
                <a:ea typeface="Aptos"/>
                <a:cs typeface="Aptos"/>
              </a:rPr>
              <a:t>Investigate the C-03 scenario</a:t>
            </a:r>
          </a:p>
          <a:p>
            <a:pPr>
              <a:defRPr sz="1500" b="0">
                <a:solidFill>
                  <a:srgbClr val="233B4D"/>
                </a:solidFill>
                <a:latin typeface="Aptos"/>
                <a:ea typeface="Aptos"/>
                <a:cs typeface="Aptos"/>
              </a:defRPr>
            </a:pPr>
            <a:r>
              <a:rPr sz="1500" b="0">
                <a:solidFill>
                  <a:srgbClr val="233B4D"/>
                </a:solidFill>
                <a:latin typeface="Aptos"/>
                <a:ea typeface="Aptos"/>
                <a:cs typeface="Aptos"/>
              </a:rPr>
              <a:t>Validate the estimated $9M saving</a:t>
            </a:r>
          </a:p>
          <a:p>
            <a:pPr>
              <a:defRPr sz="1500" b="0">
                <a:solidFill>
                  <a:srgbClr val="233B4D"/>
                </a:solidFill>
                <a:latin typeface="Aptos"/>
                <a:ea typeface="Aptos"/>
                <a:cs typeface="Aptos"/>
              </a:defRPr>
            </a:pPr>
            <a:r>
              <a:rPr sz="1500" b="0">
                <a:solidFill>
                  <a:srgbClr val="233B4D"/>
                </a:solidFill>
                <a:latin typeface="Aptos"/>
                <a:ea typeface="Aptos"/>
                <a:cs typeface="Aptos"/>
              </a:rPr>
              <a:t>Confirm transition and retained cost</a:t>
            </a:r>
          </a:p>
        </p:txBody>
      </p:sp>
      <p:sp>
        <p:nvSpPr>
          <p:cNvPr id="15" name="Rectangle 14">
            <a:extLst>
              <a:ext uri="{FF2B5EF4-FFF2-40B4-BE49-F238E27FC236}">
                <a16:creationId xmlns:a16="http://schemas.microsoft.com/office/drawing/2014/main" id="{518C67E7-E5A3-430F-A451-EDF246CEAEB6}"/>
              </a:ext>
            </a:extLst>
          </p:cNvPr>
          <p:cNvSpPr>
            <a:spLocks noGrp="1"/>
          </p:cNvSpPr>
          <p:nvPr/>
        </p:nvSpPr>
        <p:spPr>
          <a:xfrm>
            <a:off x="8134350" y="1743075"/>
            <a:ext cx="3524250" cy="2124075"/>
          </a:xfrm>
          <a:prstGeom prst="rect">
            <a:avLst/>
          </a:prstGeom>
          <a:solidFill>
            <a:srgbClr val="FFFFFF"/>
          </a:solidFill>
          <a:ln w="12383">
            <a:solidFill>
              <a:srgbClr val="CBD7DF"/>
            </a:solidFill>
          </a:ln>
        </p:spPr>
        <p:txBody>
          <a:bodyPr/>
          <a:lstStyle/>
          <a:p>
            <a:endParaRPr lang="en-US"/>
          </a:p>
        </p:txBody>
      </p:sp>
      <p:sp>
        <p:nvSpPr>
          <p:cNvPr id="16" name="Rectangle 15">
            <a:extLst>
              <a:ext uri="{FF2B5EF4-FFF2-40B4-BE49-F238E27FC236}">
                <a16:creationId xmlns:a16="http://schemas.microsoft.com/office/drawing/2014/main" id="{C29AD80D-5177-4792-AD2D-CB1005E227D1}"/>
              </a:ext>
            </a:extLst>
          </p:cNvPr>
          <p:cNvSpPr>
            <a:spLocks noGrp="1"/>
          </p:cNvSpPr>
          <p:nvPr/>
        </p:nvSpPr>
        <p:spPr>
          <a:xfrm>
            <a:off x="8134350" y="1743075"/>
            <a:ext cx="47625" cy="2124075"/>
          </a:xfrm>
          <a:prstGeom prst="rect">
            <a:avLst/>
          </a:prstGeom>
          <a:solidFill>
            <a:srgbClr val="078B8C"/>
          </a:solidFill>
          <a:ln w="0">
            <a:noFill/>
          </a:ln>
        </p:spPr>
        <p:txBody>
          <a:bodyPr/>
          <a:lstStyle/>
          <a:p>
            <a:endParaRPr lang="en-US"/>
          </a:p>
        </p:txBody>
      </p:sp>
      <p:sp>
        <p:nvSpPr>
          <p:cNvPr id="17" name="Rectangle 16">
            <a:extLst>
              <a:ext uri="{FF2B5EF4-FFF2-40B4-BE49-F238E27FC236}">
                <a16:creationId xmlns:a16="http://schemas.microsoft.com/office/drawing/2014/main" id="{7EB6FDB9-4C4D-4366-B2C5-7CB62CE8C791}"/>
              </a:ext>
            </a:extLst>
          </p:cNvPr>
          <p:cNvSpPr>
            <a:spLocks noGrp="1"/>
          </p:cNvSpPr>
          <p:nvPr/>
        </p:nvSpPr>
        <p:spPr>
          <a:xfrm>
            <a:off x="8324850" y="1885950"/>
            <a:ext cx="3143250"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C  Validate diversification</a:t>
            </a:r>
          </a:p>
        </p:txBody>
      </p:sp>
      <p:sp>
        <p:nvSpPr>
          <p:cNvPr id="18" name="Rectangle 17">
            <a:extLst>
              <a:ext uri="{FF2B5EF4-FFF2-40B4-BE49-F238E27FC236}">
                <a16:creationId xmlns:a16="http://schemas.microsoft.com/office/drawing/2014/main" id="{F23CCD07-006C-4DEE-9EC1-F0E22D985C88}"/>
              </a:ext>
            </a:extLst>
          </p:cNvPr>
          <p:cNvSpPr>
            <a:spLocks noGrp="1"/>
          </p:cNvSpPr>
          <p:nvPr/>
        </p:nvSpPr>
        <p:spPr>
          <a:xfrm>
            <a:off x="8324850" y="2428875"/>
            <a:ext cx="3143250" cy="1333500"/>
          </a:xfrm>
          <a:prstGeom prst="rect">
            <a:avLst/>
          </a:prstGeom>
          <a:noFill/>
          <a:ln w="0">
            <a:noFill/>
          </a:ln>
        </p:spPr>
        <p:txBody>
          <a:bodyPr>
            <a:noAutofit/>
          </a:bodyPr>
          <a:lstStyle/>
          <a:p>
            <a:pPr>
              <a:defRPr sz="1500" b="0">
                <a:solidFill>
                  <a:srgbClr val="233B4D"/>
                </a:solidFill>
                <a:latin typeface="Aptos"/>
                <a:ea typeface="Aptos"/>
                <a:cs typeface="Aptos"/>
              </a:defRPr>
            </a:pPr>
            <a:r>
              <a:rPr sz="1500" b="0">
                <a:solidFill>
                  <a:srgbClr val="233B4D"/>
                </a:solidFill>
                <a:latin typeface="Aptos"/>
                <a:ea typeface="Aptos"/>
                <a:cs typeface="Aptos"/>
              </a:rPr>
              <a:t>Assess Beta’s capacity</a:t>
            </a:r>
          </a:p>
          <a:p>
            <a:pPr>
              <a:defRPr sz="1500" b="0">
                <a:solidFill>
                  <a:srgbClr val="233B4D"/>
                </a:solidFill>
                <a:latin typeface="Aptos"/>
                <a:ea typeface="Aptos"/>
                <a:cs typeface="Aptos"/>
              </a:defRPr>
            </a:pPr>
            <a:r>
              <a:rPr sz="1500" b="0">
                <a:solidFill>
                  <a:srgbClr val="233B4D"/>
                </a:solidFill>
                <a:latin typeface="Aptos"/>
                <a:ea typeface="Aptos"/>
                <a:cs typeface="Aptos"/>
              </a:rPr>
              <a:t>Test transition readiness</a:t>
            </a:r>
          </a:p>
          <a:p>
            <a:pPr>
              <a:defRPr sz="1500" b="0">
                <a:solidFill>
                  <a:srgbClr val="233B4D"/>
                </a:solidFill>
                <a:latin typeface="Aptos"/>
                <a:ea typeface="Aptos"/>
                <a:cs typeface="Aptos"/>
              </a:defRPr>
            </a:pPr>
            <a:r>
              <a:rPr sz="1500" b="0">
                <a:solidFill>
                  <a:srgbClr val="233B4D"/>
                </a:solidFill>
                <a:latin typeface="Aptos"/>
                <a:ea typeface="Aptos"/>
                <a:cs typeface="Aptos"/>
              </a:rPr>
              <a:t>Confirm risk and contract constraints</a:t>
            </a:r>
          </a:p>
        </p:txBody>
      </p:sp>
      <p:sp>
        <p:nvSpPr>
          <p:cNvPr id="19" name="Rectangle 18">
            <a:extLst>
              <a:ext uri="{FF2B5EF4-FFF2-40B4-BE49-F238E27FC236}">
                <a16:creationId xmlns:a16="http://schemas.microsoft.com/office/drawing/2014/main" id="{C26A23E9-B7BB-4389-BE4A-9E15B1ECA901}"/>
              </a:ext>
            </a:extLst>
          </p:cNvPr>
          <p:cNvSpPr>
            <a:spLocks noGrp="1"/>
          </p:cNvSpPr>
          <p:nvPr/>
        </p:nvSpPr>
        <p:spPr>
          <a:xfrm>
            <a:off x="533400" y="4181475"/>
            <a:ext cx="11125200" cy="552450"/>
          </a:xfrm>
          <a:prstGeom prst="rect">
            <a:avLst/>
          </a:prstGeom>
          <a:solidFill>
            <a:srgbClr val="EFF5F8"/>
          </a:solidFill>
          <a:ln w="12383">
            <a:solidFill>
              <a:srgbClr val="CBD7DF"/>
            </a:solidFill>
          </a:ln>
        </p:spPr>
        <p:txBody>
          <a:bodyPr/>
          <a:lstStyle/>
          <a:p>
            <a:endParaRPr lang="en-US"/>
          </a:p>
        </p:txBody>
      </p:sp>
      <p:sp>
        <p:nvSpPr>
          <p:cNvPr id="20" name="Rectangle 19">
            <a:extLst>
              <a:ext uri="{FF2B5EF4-FFF2-40B4-BE49-F238E27FC236}">
                <a16:creationId xmlns:a16="http://schemas.microsoft.com/office/drawing/2014/main" id="{380F14CE-D5A8-4520-B19B-29597B21DC30}"/>
              </a:ext>
            </a:extLst>
          </p:cNvPr>
          <p:cNvSpPr>
            <a:spLocks noGrp="1"/>
          </p:cNvSpPr>
          <p:nvPr/>
        </p:nvSpPr>
        <p:spPr>
          <a:xfrm>
            <a:off x="676275" y="4295775"/>
            <a:ext cx="10839450" cy="361950"/>
          </a:xfrm>
          <a:prstGeom prst="rect">
            <a:avLst/>
          </a:prstGeom>
          <a:noFill/>
          <a:ln w="0">
            <a:noFill/>
          </a:ln>
        </p:spPr>
        <p:txBody>
          <a:bodyPr>
            <a:noAutofit/>
          </a:bodyPr>
          <a:lstStyle/>
          <a:p>
            <a:pPr>
              <a:defRPr sz="1650" b="1">
                <a:solidFill>
                  <a:srgbClr val="233B4D"/>
                </a:solidFill>
                <a:latin typeface="Aptos"/>
                <a:ea typeface="Aptos"/>
                <a:cs typeface="Aptos"/>
              </a:defRPr>
            </a:pPr>
            <a:r>
              <a:rPr sz="1650" b="1">
                <a:solidFill>
                  <a:srgbClr val="233B4D"/>
                </a:solidFill>
                <a:latin typeface="Aptos"/>
                <a:ea typeface="Aptos"/>
                <a:cs typeface="Aptos"/>
              </a:rPr>
              <a:t>Decision brief: options / impacts / evidence / assumptions / confidence / unresolved issues</a:t>
            </a:r>
          </a:p>
        </p:txBody>
      </p:sp>
      <p:sp>
        <p:nvSpPr>
          <p:cNvPr id="21" name="Rectangle 20">
            <a:extLst>
              <a:ext uri="{FF2B5EF4-FFF2-40B4-BE49-F238E27FC236}">
                <a16:creationId xmlns:a16="http://schemas.microsoft.com/office/drawing/2014/main" id="{959B2861-A2E3-436E-B4EE-FA87A1415A37}"/>
              </a:ext>
            </a:extLst>
          </p:cNvPr>
          <p:cNvSpPr>
            <a:spLocks noGrp="1"/>
          </p:cNvSpPr>
          <p:nvPr/>
        </p:nvSpPr>
        <p:spPr>
          <a:xfrm>
            <a:off x="533400" y="4991100"/>
            <a:ext cx="11010900" cy="57150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Vendor Management + Technology + Risk + Procurement + Finance review the evidence.</a:t>
            </a:r>
          </a:p>
        </p:txBody>
      </p:sp>
      <p:sp>
        <p:nvSpPr>
          <p:cNvPr id="22" name="Rectangle 21">
            <a:extLst>
              <a:ext uri="{FF2B5EF4-FFF2-40B4-BE49-F238E27FC236}">
                <a16:creationId xmlns:a16="http://schemas.microsoft.com/office/drawing/2014/main" id="{816D7D16-ADB4-4001-A09E-627697F2E1A1}"/>
              </a:ext>
            </a:extLst>
          </p:cNvPr>
          <p:cNvSpPr>
            <a:spLocks noGrp="1"/>
          </p:cNvSpPr>
          <p:nvPr/>
        </p:nvSpPr>
        <p:spPr>
          <a:xfrm>
            <a:off x="533400" y="5753100"/>
            <a:ext cx="11125200" cy="428625"/>
          </a:xfrm>
          <a:prstGeom prst="rect">
            <a:avLst/>
          </a:prstGeom>
          <a:solidFill>
            <a:srgbClr val="EFF5F8"/>
          </a:solidFill>
          <a:ln w="12383">
            <a:solidFill>
              <a:srgbClr val="EFF5F8"/>
            </a:solidFill>
          </a:ln>
        </p:spPr>
        <p:txBody>
          <a:bodyPr/>
          <a:lstStyle/>
          <a:p>
            <a:endParaRPr lang="en-US"/>
          </a:p>
        </p:txBody>
      </p:sp>
      <p:sp>
        <p:nvSpPr>
          <p:cNvPr id="23" name="Rectangle 22">
            <a:extLst>
              <a:ext uri="{FF2B5EF4-FFF2-40B4-BE49-F238E27FC236}">
                <a16:creationId xmlns:a16="http://schemas.microsoft.com/office/drawing/2014/main" id="{9A0FD52F-085F-4EA8-95CE-AEC22779AE04}"/>
              </a:ext>
            </a:extLst>
          </p:cNvPr>
          <p:cNvSpPr>
            <a:spLocks noGrp="1"/>
          </p:cNvSpPr>
          <p:nvPr/>
        </p:nvSpPr>
        <p:spPr>
          <a:xfrm>
            <a:off x="676275" y="5867400"/>
            <a:ext cx="10839450" cy="238125"/>
          </a:xfrm>
          <a:prstGeom prst="rect">
            <a:avLst/>
          </a:prstGeom>
          <a:noFill/>
          <a:ln w="0">
            <a:noFill/>
          </a:ln>
        </p:spPr>
        <p:txBody>
          <a:bodyPr>
            <a:noAutofit/>
          </a:bodyPr>
          <a:lstStyle/>
          <a:p>
            <a:pPr>
              <a:defRPr sz="1350" b="0">
                <a:solidFill>
                  <a:srgbClr val="102B46"/>
                </a:solidFill>
                <a:latin typeface="Aptos"/>
                <a:ea typeface="Aptos"/>
                <a:cs typeface="Aptos"/>
              </a:defRPr>
            </a:pPr>
            <a:r>
              <a:rPr sz="1350" b="0">
                <a:solidFill>
                  <a:srgbClr val="102B46"/>
                </a:solidFill>
                <a:latin typeface="Aptos"/>
                <a:ea typeface="Aptos"/>
                <a:cs typeface="Aptos"/>
              </a:rPr>
              <a:t>Human disposition: accept for review / reject / defer / request more evidence. The demo executes no commercial decision.</a:t>
            </a:r>
          </a:p>
        </p:txBody>
      </p:sp>
    </p:spTree>
    <p:extLst>
      <p:ext uri="{BB962C8B-B14F-4D97-AF65-F5344CB8AC3E}">
        <p14:creationId xmlns:p14="http://schemas.microsoft.com/office/powerpoint/2010/main" val="2230727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04BD6C6-396B-1EAF-76D5-8B6D2E7C8029}"/>
              </a:ext>
            </a:extLst>
          </p:cNvPr>
          <p:cNvSpPr/>
          <p:nvPr/>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b="1" dirty="0"/>
              <a:t>SOLUTION</a:t>
            </a:r>
            <a:r>
              <a:rPr lang="en-US" b="1" dirty="0"/>
              <a:t> </a:t>
            </a:r>
          </a:p>
        </p:txBody>
      </p:sp>
    </p:spTree>
    <p:extLst>
      <p:ext uri="{BB962C8B-B14F-4D97-AF65-F5344CB8AC3E}">
        <p14:creationId xmlns:p14="http://schemas.microsoft.com/office/powerpoint/2010/main" val="34861775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Rectangle 79">
            <a:extLst>
              <a:ext uri="{FF2B5EF4-FFF2-40B4-BE49-F238E27FC236}">
                <a16:creationId xmlns:a16="http://schemas.microsoft.com/office/drawing/2014/main" id="{1F764899-578C-4E67-A882-CD8A50047A45}"/>
              </a:ext>
            </a:extLst>
          </p:cNvPr>
          <p:cNvSpPr>
            <a:spLocks noGrp="1"/>
          </p:cNvSpPr>
          <p:nvPr/>
        </p:nvSpPr>
        <p:spPr>
          <a:xfrm>
            <a:off x="0" y="0"/>
            <a:ext cx="12192000" cy="95250"/>
          </a:xfrm>
          <a:prstGeom prst="rect">
            <a:avLst/>
          </a:prstGeom>
          <a:solidFill>
            <a:srgbClr val="0B1F3A"/>
          </a:solidFill>
          <a:ln w="11906">
            <a:solidFill>
              <a:srgbClr val="0B1F3A"/>
            </a:solidFill>
          </a:ln>
        </p:spPr>
        <p:txBody>
          <a:bodyPr/>
          <a:lstStyle/>
          <a:p>
            <a:endParaRPr lang="en-US"/>
          </a:p>
        </p:txBody>
      </p:sp>
      <p:sp>
        <p:nvSpPr>
          <p:cNvPr id="2" name="Rectangle 1">
            <a:extLst>
              <a:ext uri="{FF2B5EF4-FFF2-40B4-BE49-F238E27FC236}">
                <a16:creationId xmlns:a16="http://schemas.microsoft.com/office/drawing/2014/main" id="{B8F4688C-0411-4CAC-B88A-5ED35E9C843D}"/>
              </a:ext>
            </a:extLst>
          </p:cNvPr>
          <p:cNvSpPr>
            <a:spLocks noGrp="1"/>
          </p:cNvSpPr>
          <p:nvPr/>
        </p:nvSpPr>
        <p:spPr>
          <a:xfrm>
            <a:off x="457200" y="352425"/>
            <a:ext cx="11239500" cy="504825"/>
          </a:xfrm>
          <a:prstGeom prst="rect">
            <a:avLst/>
          </a:prstGeom>
          <a:noFill/>
          <a:ln w="0">
            <a:noFill/>
          </a:ln>
        </p:spPr>
        <p:txBody>
          <a:bodyPr>
            <a:noAutofit/>
          </a:bodyPr>
          <a:lstStyle/>
          <a:p>
            <a:pPr>
              <a:defRPr sz="2550" b="1">
                <a:solidFill>
                  <a:srgbClr val="0B1F3A"/>
                </a:solidFill>
                <a:latin typeface="Segoe UI"/>
                <a:ea typeface="Segoe UI"/>
                <a:cs typeface="Segoe UI"/>
              </a:defRPr>
            </a:pPr>
            <a:r>
              <a:rPr sz="2550" b="1">
                <a:solidFill>
                  <a:srgbClr val="0B1F3A"/>
                </a:solidFill>
                <a:latin typeface="Segoe UI"/>
                <a:ea typeface="Segoe UI"/>
                <a:cs typeface="Segoe UI"/>
              </a:rPr>
              <a:t>Solution architecture: experience to governed evidence</a:t>
            </a:r>
          </a:p>
        </p:txBody>
      </p:sp>
      <p:sp>
        <p:nvSpPr>
          <p:cNvPr id="3" name="Rectangle 2">
            <a:extLst>
              <a:ext uri="{FF2B5EF4-FFF2-40B4-BE49-F238E27FC236}">
                <a16:creationId xmlns:a16="http://schemas.microsoft.com/office/drawing/2014/main" id="{18F16846-D892-4B20-8630-BF826E0AA8B2}"/>
              </a:ext>
            </a:extLst>
          </p:cNvPr>
          <p:cNvSpPr>
            <a:spLocks noGrp="1"/>
          </p:cNvSpPr>
          <p:nvPr/>
        </p:nvSpPr>
        <p:spPr>
          <a:xfrm>
            <a:off x="466725" y="885825"/>
            <a:ext cx="11239500" cy="409575"/>
          </a:xfrm>
          <a:prstGeom prst="rect">
            <a:avLst/>
          </a:prstGeom>
          <a:noFill/>
          <a:ln w="0">
            <a:noFill/>
          </a:ln>
        </p:spPr>
        <p:txBody>
          <a:bodyPr>
            <a:noAutofit/>
          </a:bodyPr>
          <a:lstStyle/>
          <a:p>
            <a:pPr>
              <a:defRPr sz="1350" b="0">
                <a:solidFill>
                  <a:srgbClr val="46586C"/>
                </a:solidFill>
                <a:latin typeface="Segoe UI"/>
                <a:ea typeface="Segoe UI"/>
                <a:cs typeface="Segoe UI"/>
              </a:defRPr>
            </a:pPr>
            <a:r>
              <a:rPr sz="1350" b="0">
                <a:solidFill>
                  <a:srgbClr val="46586C"/>
                </a:solidFill>
                <a:latin typeface="Segoe UI"/>
                <a:ea typeface="Segoe UI"/>
                <a:cs typeface="Segoe UI"/>
              </a:rPr>
              <a:t>Shared services support dashboards and a bounded multi-agent investigation. Arrows show the request path.</a:t>
            </a:r>
          </a:p>
        </p:txBody>
      </p:sp>
      <p:sp>
        <p:nvSpPr>
          <p:cNvPr id="4" name="Rectangle 3">
            <a:extLst>
              <a:ext uri="{FF2B5EF4-FFF2-40B4-BE49-F238E27FC236}">
                <a16:creationId xmlns:a16="http://schemas.microsoft.com/office/drawing/2014/main" id="{AFAD8D06-C378-436B-885D-9E50F2AEBEF4}"/>
              </a:ext>
            </a:extLst>
          </p:cNvPr>
          <p:cNvSpPr>
            <a:spLocks noGrp="1"/>
          </p:cNvSpPr>
          <p:nvPr/>
        </p:nvSpPr>
        <p:spPr>
          <a:xfrm>
            <a:off x="457200" y="6562725"/>
            <a:ext cx="9906000" cy="200025"/>
          </a:xfrm>
          <a:prstGeom prst="rect">
            <a:avLst/>
          </a:prstGeom>
          <a:noFill/>
          <a:ln w="0">
            <a:noFill/>
          </a:ln>
        </p:spPr>
        <p:txBody>
          <a:bodyPr>
            <a:noAutofit/>
          </a:bodyPr>
          <a:lstStyle/>
          <a:p>
            <a:pPr>
              <a:defRPr sz="900" b="0">
                <a:solidFill>
                  <a:srgbClr val="46586C"/>
                </a:solidFill>
                <a:latin typeface="Segoe UI"/>
                <a:ea typeface="Segoe UI"/>
                <a:cs typeface="Segoe UI"/>
              </a:defRPr>
            </a:pPr>
            <a:r>
              <a:rPr sz="900" b="0">
                <a:solidFill>
                  <a:srgbClr val="46586C"/>
                </a:solidFill>
                <a:latin typeface="Segoe UI"/>
                <a:ea typeface="Segoe UI"/>
                <a:cs typeface="Segoe UI"/>
              </a:rPr>
              <a:t>CITI VENDOR DECISION INTELLIGENCE  /  PROPOSED SOLUTION</a:t>
            </a:r>
          </a:p>
        </p:txBody>
      </p:sp>
      <p:sp>
        <p:nvSpPr>
          <p:cNvPr id="5" name="Rectangle 4">
            <a:extLst>
              <a:ext uri="{FF2B5EF4-FFF2-40B4-BE49-F238E27FC236}">
                <a16:creationId xmlns:a16="http://schemas.microsoft.com/office/drawing/2014/main" id="{FB1766ED-3DAF-47C5-B859-91F6B5DD6B39}"/>
              </a:ext>
            </a:extLst>
          </p:cNvPr>
          <p:cNvSpPr>
            <a:spLocks noGrp="1"/>
          </p:cNvSpPr>
          <p:nvPr/>
        </p:nvSpPr>
        <p:spPr>
          <a:xfrm>
            <a:off x="11391900" y="6562725"/>
            <a:ext cx="323850" cy="190500"/>
          </a:xfrm>
          <a:prstGeom prst="rect">
            <a:avLst/>
          </a:prstGeom>
          <a:noFill/>
          <a:ln w="0">
            <a:noFill/>
          </a:ln>
        </p:spPr>
        <p:txBody>
          <a:bodyPr>
            <a:noAutofit/>
          </a:bodyPr>
          <a:lstStyle/>
          <a:p>
            <a:pPr>
              <a:defRPr sz="900" b="1">
                <a:solidFill>
                  <a:srgbClr val="0B1F3A"/>
                </a:solidFill>
                <a:latin typeface="Segoe UI"/>
                <a:ea typeface="Segoe UI"/>
                <a:cs typeface="Segoe UI"/>
              </a:defRPr>
            </a:pPr>
            <a:r>
              <a:rPr sz="900" b="1">
                <a:solidFill>
                  <a:srgbClr val="0B1F3A"/>
                </a:solidFill>
                <a:latin typeface="Segoe UI"/>
                <a:ea typeface="Segoe UI"/>
                <a:cs typeface="Segoe UI"/>
              </a:rPr>
              <a:t>01</a:t>
            </a:r>
          </a:p>
        </p:txBody>
      </p:sp>
      <p:sp>
        <p:nvSpPr>
          <p:cNvPr id="6" name="Rectangle: Rounded Corners 5">
            <a:extLst>
              <a:ext uri="{FF2B5EF4-FFF2-40B4-BE49-F238E27FC236}">
                <a16:creationId xmlns:a16="http://schemas.microsoft.com/office/drawing/2014/main" id="{6A0EAD34-9D6A-4122-A86D-BEF51AEE85F0}"/>
              </a:ext>
            </a:extLst>
          </p:cNvPr>
          <p:cNvSpPr>
            <a:spLocks noGrp="1"/>
          </p:cNvSpPr>
          <p:nvPr/>
        </p:nvSpPr>
        <p:spPr>
          <a:xfrm>
            <a:off x="457200" y="1419225"/>
            <a:ext cx="3619500" cy="495300"/>
          </a:xfrm>
          <a:prstGeom prst="roundRect">
            <a:avLst>
              <a:gd name="adj" fmla="val 11538"/>
            </a:avLst>
          </a:prstGeom>
          <a:solidFill>
            <a:srgbClr val="E4F6F7"/>
          </a:solidFill>
          <a:ln w="11906">
            <a:solidFill>
              <a:srgbClr val="00A6B2"/>
            </a:solidFill>
          </a:ln>
        </p:spPr>
        <p:txBody>
          <a:bodyPr/>
          <a:lstStyle/>
          <a:p>
            <a:endParaRPr lang="en-US"/>
          </a:p>
        </p:txBody>
      </p:sp>
      <p:sp>
        <p:nvSpPr>
          <p:cNvPr id="7" name="Rectangle 6">
            <a:extLst>
              <a:ext uri="{FF2B5EF4-FFF2-40B4-BE49-F238E27FC236}">
                <a16:creationId xmlns:a16="http://schemas.microsoft.com/office/drawing/2014/main" id="{5ED6DADA-865B-4A70-B3A2-94F73380DB5D}"/>
              </a:ext>
            </a:extLst>
          </p:cNvPr>
          <p:cNvSpPr>
            <a:spLocks noGrp="1"/>
          </p:cNvSpPr>
          <p:nvPr/>
        </p:nvSpPr>
        <p:spPr>
          <a:xfrm>
            <a:off x="581025" y="1514475"/>
            <a:ext cx="3371850" cy="352425"/>
          </a:xfrm>
          <a:prstGeom prst="rect">
            <a:avLst/>
          </a:prstGeom>
          <a:noFill/>
          <a:ln w="0">
            <a:noFill/>
          </a:ln>
        </p:spPr>
        <p:txBody>
          <a:bodyPr>
            <a:noAutofit/>
          </a:bodyPr>
          <a:lstStyle/>
          <a:p>
            <a:pPr>
              <a:defRPr sz="1575" b="1">
                <a:solidFill>
                  <a:srgbClr val="0B1F3A"/>
                </a:solidFill>
                <a:latin typeface="Segoe UI"/>
                <a:ea typeface="Segoe UI"/>
                <a:cs typeface="Segoe UI"/>
              </a:defRPr>
            </a:pPr>
            <a:r>
              <a:rPr sz="1575" b="1">
                <a:solidFill>
                  <a:srgbClr val="0B1F3A"/>
                </a:solidFill>
                <a:latin typeface="Segoe UI"/>
                <a:ea typeface="Segoe UI"/>
                <a:cs typeface="Segoe UI"/>
              </a:rPr>
              <a:t>Cockpit / Vendor 360</a:t>
            </a:r>
          </a:p>
        </p:txBody>
      </p:sp>
      <p:sp>
        <p:nvSpPr>
          <p:cNvPr id="8" name="Rectangle: Rounded Corners 7">
            <a:extLst>
              <a:ext uri="{FF2B5EF4-FFF2-40B4-BE49-F238E27FC236}">
                <a16:creationId xmlns:a16="http://schemas.microsoft.com/office/drawing/2014/main" id="{AFD0E961-C45C-4BC4-AC20-317811A21C2D}"/>
              </a:ext>
            </a:extLst>
          </p:cNvPr>
          <p:cNvSpPr>
            <a:spLocks noGrp="1"/>
          </p:cNvSpPr>
          <p:nvPr/>
        </p:nvSpPr>
        <p:spPr>
          <a:xfrm>
            <a:off x="4286250" y="1419225"/>
            <a:ext cx="3619500" cy="495300"/>
          </a:xfrm>
          <a:prstGeom prst="roundRect">
            <a:avLst>
              <a:gd name="adj" fmla="val 11538"/>
            </a:avLst>
          </a:prstGeom>
          <a:solidFill>
            <a:srgbClr val="E4F6F7"/>
          </a:solidFill>
          <a:ln w="11906">
            <a:solidFill>
              <a:srgbClr val="00A6B2"/>
            </a:solidFill>
          </a:ln>
        </p:spPr>
        <p:txBody>
          <a:bodyPr/>
          <a:lstStyle/>
          <a:p>
            <a:endParaRPr lang="en-US"/>
          </a:p>
        </p:txBody>
      </p:sp>
      <p:sp>
        <p:nvSpPr>
          <p:cNvPr id="9" name="Rectangle 8">
            <a:extLst>
              <a:ext uri="{FF2B5EF4-FFF2-40B4-BE49-F238E27FC236}">
                <a16:creationId xmlns:a16="http://schemas.microsoft.com/office/drawing/2014/main" id="{43C8382B-B8CE-4158-BCAC-FDDD04ADB930}"/>
              </a:ext>
            </a:extLst>
          </p:cNvPr>
          <p:cNvSpPr>
            <a:spLocks noGrp="1"/>
          </p:cNvSpPr>
          <p:nvPr/>
        </p:nvSpPr>
        <p:spPr>
          <a:xfrm>
            <a:off x="4410075" y="1514475"/>
            <a:ext cx="3371850" cy="352425"/>
          </a:xfrm>
          <a:prstGeom prst="rect">
            <a:avLst/>
          </a:prstGeom>
          <a:noFill/>
          <a:ln w="0">
            <a:noFill/>
          </a:ln>
        </p:spPr>
        <p:txBody>
          <a:bodyPr>
            <a:noAutofit/>
          </a:bodyPr>
          <a:lstStyle/>
          <a:p>
            <a:pPr>
              <a:defRPr sz="1575" b="1">
                <a:solidFill>
                  <a:srgbClr val="0B1F3A"/>
                </a:solidFill>
                <a:latin typeface="Segoe UI"/>
                <a:ea typeface="Segoe UI"/>
                <a:cs typeface="Segoe UI"/>
              </a:defRPr>
            </a:pPr>
            <a:r>
              <a:rPr sz="1575" b="1">
                <a:solidFill>
                  <a:srgbClr val="0B1F3A"/>
                </a:solidFill>
                <a:latin typeface="Segoe UI"/>
                <a:ea typeface="Segoe UI"/>
                <a:cs typeface="Segoe UI"/>
              </a:rPr>
              <a:t>Renewal / risk / spend</a:t>
            </a:r>
          </a:p>
        </p:txBody>
      </p:sp>
      <p:sp>
        <p:nvSpPr>
          <p:cNvPr id="10" name="Rectangle: Rounded Corners 9">
            <a:extLst>
              <a:ext uri="{FF2B5EF4-FFF2-40B4-BE49-F238E27FC236}">
                <a16:creationId xmlns:a16="http://schemas.microsoft.com/office/drawing/2014/main" id="{B4A928EF-7B2E-4217-947C-2AF8F7A768B7}"/>
              </a:ext>
            </a:extLst>
          </p:cNvPr>
          <p:cNvSpPr>
            <a:spLocks noGrp="1"/>
          </p:cNvSpPr>
          <p:nvPr/>
        </p:nvSpPr>
        <p:spPr>
          <a:xfrm>
            <a:off x="8115300" y="1419225"/>
            <a:ext cx="3619500" cy="495300"/>
          </a:xfrm>
          <a:prstGeom prst="roundRect">
            <a:avLst>
              <a:gd name="adj" fmla="val 11538"/>
            </a:avLst>
          </a:prstGeom>
          <a:solidFill>
            <a:srgbClr val="E4F6F7"/>
          </a:solidFill>
          <a:ln w="11906">
            <a:solidFill>
              <a:srgbClr val="00A6B2"/>
            </a:solidFill>
          </a:ln>
        </p:spPr>
        <p:txBody>
          <a:bodyPr/>
          <a:lstStyle/>
          <a:p>
            <a:endParaRPr lang="en-US"/>
          </a:p>
        </p:txBody>
      </p:sp>
      <p:sp>
        <p:nvSpPr>
          <p:cNvPr id="11" name="Rectangle 10">
            <a:extLst>
              <a:ext uri="{FF2B5EF4-FFF2-40B4-BE49-F238E27FC236}">
                <a16:creationId xmlns:a16="http://schemas.microsoft.com/office/drawing/2014/main" id="{8D712014-E1D7-42A6-91A5-56E60665D187}"/>
              </a:ext>
            </a:extLst>
          </p:cNvPr>
          <p:cNvSpPr>
            <a:spLocks noGrp="1"/>
          </p:cNvSpPr>
          <p:nvPr/>
        </p:nvSpPr>
        <p:spPr>
          <a:xfrm>
            <a:off x="8239125" y="1514475"/>
            <a:ext cx="3371850" cy="352425"/>
          </a:xfrm>
          <a:prstGeom prst="rect">
            <a:avLst/>
          </a:prstGeom>
          <a:noFill/>
          <a:ln w="0">
            <a:noFill/>
          </a:ln>
        </p:spPr>
        <p:txBody>
          <a:bodyPr>
            <a:noAutofit/>
          </a:bodyPr>
          <a:lstStyle/>
          <a:p>
            <a:pPr>
              <a:defRPr sz="1575" b="1">
                <a:solidFill>
                  <a:srgbClr val="0B1F3A"/>
                </a:solidFill>
                <a:latin typeface="Segoe UI"/>
                <a:ea typeface="Segoe UI"/>
                <a:cs typeface="Segoe UI"/>
              </a:defRPr>
            </a:pPr>
            <a:r>
              <a:rPr sz="1575" b="1">
                <a:solidFill>
                  <a:srgbClr val="0B1F3A"/>
                </a:solidFill>
                <a:latin typeface="Segoe UI"/>
                <a:ea typeface="Segoe UI"/>
                <a:cs typeface="Segoe UI"/>
              </a:rPr>
              <a:t>Ask / scenario / review</a:t>
            </a:r>
          </a:p>
        </p:txBody>
      </p:sp>
      <p:sp>
        <p:nvSpPr>
          <p:cNvPr id="12" name="Arrow: Down 11">
            <a:extLst>
              <a:ext uri="{FF2B5EF4-FFF2-40B4-BE49-F238E27FC236}">
                <a16:creationId xmlns:a16="http://schemas.microsoft.com/office/drawing/2014/main" id="{74706F70-6FD6-4932-B16F-8A884E9705DB}"/>
              </a:ext>
            </a:extLst>
          </p:cNvPr>
          <p:cNvSpPr>
            <a:spLocks noGrp="1"/>
          </p:cNvSpPr>
          <p:nvPr/>
        </p:nvSpPr>
        <p:spPr>
          <a:xfrm>
            <a:off x="5943600" y="1971675"/>
            <a:ext cx="190500" cy="219075"/>
          </a:xfrm>
          <a:prstGeom prst="downArrow">
            <a:avLst/>
          </a:prstGeom>
          <a:solidFill>
            <a:srgbClr val="00A6B2"/>
          </a:solidFill>
          <a:ln w="0">
            <a:noFill/>
          </a:ln>
        </p:spPr>
        <p:txBody>
          <a:bodyPr/>
          <a:lstStyle/>
          <a:p>
            <a:endParaRPr lang="en-US"/>
          </a:p>
        </p:txBody>
      </p:sp>
      <p:sp>
        <p:nvSpPr>
          <p:cNvPr id="13" name="Rectangle: Rounded Corners 12">
            <a:extLst>
              <a:ext uri="{FF2B5EF4-FFF2-40B4-BE49-F238E27FC236}">
                <a16:creationId xmlns:a16="http://schemas.microsoft.com/office/drawing/2014/main" id="{16DE38A2-924C-4FBE-ADF1-92A3942B720C}"/>
              </a:ext>
            </a:extLst>
          </p:cNvPr>
          <p:cNvSpPr>
            <a:spLocks noGrp="1"/>
          </p:cNvSpPr>
          <p:nvPr/>
        </p:nvSpPr>
        <p:spPr>
          <a:xfrm>
            <a:off x="457200" y="2247900"/>
            <a:ext cx="11277600" cy="485775"/>
          </a:xfrm>
          <a:prstGeom prst="roundRect">
            <a:avLst>
              <a:gd name="adj" fmla="val 11765"/>
            </a:avLst>
          </a:prstGeom>
          <a:solidFill>
            <a:srgbClr val="0B1F3A"/>
          </a:solidFill>
          <a:ln w="11906">
            <a:solidFill>
              <a:srgbClr val="0B1F3A"/>
            </a:solidFill>
          </a:ln>
        </p:spPr>
        <p:txBody>
          <a:bodyPr/>
          <a:lstStyle/>
          <a:p>
            <a:endParaRPr lang="en-US"/>
          </a:p>
        </p:txBody>
      </p:sp>
      <p:sp>
        <p:nvSpPr>
          <p:cNvPr id="14" name="Rectangle 13">
            <a:extLst>
              <a:ext uri="{FF2B5EF4-FFF2-40B4-BE49-F238E27FC236}">
                <a16:creationId xmlns:a16="http://schemas.microsoft.com/office/drawing/2014/main" id="{BCE18BE0-772C-4B7D-8110-FE8651382DB3}"/>
              </a:ext>
            </a:extLst>
          </p:cNvPr>
          <p:cNvSpPr>
            <a:spLocks noGrp="1"/>
          </p:cNvSpPr>
          <p:nvPr/>
        </p:nvSpPr>
        <p:spPr>
          <a:xfrm>
            <a:off x="581025" y="2343150"/>
            <a:ext cx="11029950" cy="342900"/>
          </a:xfrm>
          <a:prstGeom prst="rect">
            <a:avLst/>
          </a:prstGeom>
          <a:noFill/>
          <a:ln w="0">
            <a:noFill/>
          </a:ln>
        </p:spPr>
        <p:txBody>
          <a:bodyPr>
            <a:noAutofit/>
          </a:bodyPr>
          <a:lstStyle/>
          <a:p>
            <a:pPr>
              <a:defRPr sz="1650" b="1">
                <a:solidFill>
                  <a:srgbClr val="FFFFFF"/>
                </a:solidFill>
                <a:latin typeface="Segoe UI"/>
                <a:ea typeface="Segoe UI"/>
                <a:cs typeface="Segoe UI"/>
              </a:defRPr>
            </a:pPr>
            <a:r>
              <a:rPr sz="1650" b="1">
                <a:solidFill>
                  <a:srgbClr val="FFFFFF"/>
                </a:solidFill>
                <a:latin typeface="Segoe UI"/>
                <a:ea typeface="Segoe UI"/>
                <a:cs typeface="Segoe UI"/>
              </a:rPr>
              <a:t>API + enterprise identity + server-side entitlement enforcement</a:t>
            </a:r>
          </a:p>
        </p:txBody>
      </p:sp>
      <p:sp>
        <p:nvSpPr>
          <p:cNvPr id="15" name="Arrow: Down 14">
            <a:extLst>
              <a:ext uri="{FF2B5EF4-FFF2-40B4-BE49-F238E27FC236}">
                <a16:creationId xmlns:a16="http://schemas.microsoft.com/office/drawing/2014/main" id="{29963B1A-AF19-4ED8-95CA-01DC5F1F9DE1}"/>
              </a:ext>
            </a:extLst>
          </p:cNvPr>
          <p:cNvSpPr>
            <a:spLocks noGrp="1"/>
          </p:cNvSpPr>
          <p:nvPr/>
        </p:nvSpPr>
        <p:spPr>
          <a:xfrm>
            <a:off x="3143250" y="2800350"/>
            <a:ext cx="190500" cy="190500"/>
          </a:xfrm>
          <a:prstGeom prst="downArrow">
            <a:avLst/>
          </a:prstGeom>
          <a:solidFill>
            <a:srgbClr val="00A6B2"/>
          </a:solidFill>
          <a:ln w="0">
            <a:noFill/>
          </a:ln>
        </p:spPr>
        <p:txBody>
          <a:bodyPr/>
          <a:lstStyle/>
          <a:p>
            <a:endParaRPr lang="en-US"/>
          </a:p>
        </p:txBody>
      </p:sp>
      <p:sp>
        <p:nvSpPr>
          <p:cNvPr id="16" name="Arrow: Down 15">
            <a:extLst>
              <a:ext uri="{FF2B5EF4-FFF2-40B4-BE49-F238E27FC236}">
                <a16:creationId xmlns:a16="http://schemas.microsoft.com/office/drawing/2014/main" id="{041E3980-F6F3-462E-A21E-8A663173C9FD}"/>
              </a:ext>
            </a:extLst>
          </p:cNvPr>
          <p:cNvSpPr>
            <a:spLocks noGrp="1"/>
          </p:cNvSpPr>
          <p:nvPr/>
        </p:nvSpPr>
        <p:spPr>
          <a:xfrm>
            <a:off x="8810625" y="2800350"/>
            <a:ext cx="190500" cy="190500"/>
          </a:xfrm>
          <a:prstGeom prst="downArrow">
            <a:avLst/>
          </a:prstGeom>
          <a:solidFill>
            <a:srgbClr val="00A6B2"/>
          </a:solidFill>
          <a:ln w="0">
            <a:noFill/>
          </a:ln>
        </p:spPr>
        <p:txBody>
          <a:bodyPr/>
          <a:lstStyle/>
          <a:p>
            <a:endParaRPr lang="en-US"/>
          </a:p>
        </p:txBody>
      </p:sp>
      <p:sp>
        <p:nvSpPr>
          <p:cNvPr id="17" name="Rectangle: Rounded Corners 16">
            <a:extLst>
              <a:ext uri="{FF2B5EF4-FFF2-40B4-BE49-F238E27FC236}">
                <a16:creationId xmlns:a16="http://schemas.microsoft.com/office/drawing/2014/main" id="{87B89A81-8C38-4274-BFCA-A938DE0169C3}"/>
              </a:ext>
            </a:extLst>
          </p:cNvPr>
          <p:cNvSpPr>
            <a:spLocks noGrp="1"/>
          </p:cNvSpPr>
          <p:nvPr/>
        </p:nvSpPr>
        <p:spPr>
          <a:xfrm>
            <a:off x="457200" y="3048000"/>
            <a:ext cx="5448300" cy="523875"/>
          </a:xfrm>
          <a:prstGeom prst="roundRect">
            <a:avLst>
              <a:gd name="adj" fmla="val 10909"/>
            </a:avLst>
          </a:prstGeom>
          <a:solidFill>
            <a:srgbClr val="FFFFFF"/>
          </a:solidFill>
          <a:ln w="11906">
            <a:solidFill>
              <a:srgbClr val="B8C7D9"/>
            </a:solidFill>
          </a:ln>
        </p:spPr>
        <p:txBody>
          <a:bodyPr/>
          <a:lstStyle/>
          <a:p>
            <a:endParaRPr lang="en-US"/>
          </a:p>
        </p:txBody>
      </p:sp>
      <p:sp>
        <p:nvSpPr>
          <p:cNvPr id="18" name="Rectangle 17">
            <a:extLst>
              <a:ext uri="{FF2B5EF4-FFF2-40B4-BE49-F238E27FC236}">
                <a16:creationId xmlns:a16="http://schemas.microsoft.com/office/drawing/2014/main" id="{80BF89A3-2947-49B4-AF6E-131A70BDB197}"/>
              </a:ext>
            </a:extLst>
          </p:cNvPr>
          <p:cNvSpPr>
            <a:spLocks noGrp="1"/>
          </p:cNvSpPr>
          <p:nvPr/>
        </p:nvSpPr>
        <p:spPr>
          <a:xfrm>
            <a:off x="581025" y="3143250"/>
            <a:ext cx="5200650" cy="381000"/>
          </a:xfrm>
          <a:prstGeom prst="rect">
            <a:avLst/>
          </a:prstGeom>
          <a:noFill/>
          <a:ln w="0">
            <a:noFill/>
          </a:ln>
        </p:spPr>
        <p:txBody>
          <a:bodyPr>
            <a:noAutofit/>
          </a:bodyPr>
          <a:lstStyle/>
          <a:p>
            <a:pPr>
              <a:defRPr sz="1500" b="1">
                <a:solidFill>
                  <a:srgbClr val="0B1F3A"/>
                </a:solidFill>
                <a:latin typeface="Segoe UI"/>
                <a:ea typeface="Segoe UI"/>
                <a:cs typeface="Segoe UI"/>
              </a:defRPr>
            </a:pPr>
            <a:r>
              <a:rPr sz="1500" b="1">
                <a:solidFill>
                  <a:srgbClr val="0B1F3A"/>
                </a:solidFill>
                <a:latin typeface="Segoe UI"/>
                <a:ea typeface="Segoe UI"/>
                <a:cs typeface="Segoe UI"/>
              </a:rPr>
              <a:t>Direct services: profiles, filters, metrics and alerts</a:t>
            </a:r>
          </a:p>
        </p:txBody>
      </p:sp>
      <p:sp>
        <p:nvSpPr>
          <p:cNvPr id="19" name="Rectangle: Rounded Corners 18">
            <a:extLst>
              <a:ext uri="{FF2B5EF4-FFF2-40B4-BE49-F238E27FC236}">
                <a16:creationId xmlns:a16="http://schemas.microsoft.com/office/drawing/2014/main" id="{25AF45D4-1190-4667-9E03-1EBE02A8FB3F}"/>
              </a:ext>
            </a:extLst>
          </p:cNvPr>
          <p:cNvSpPr>
            <a:spLocks noGrp="1"/>
          </p:cNvSpPr>
          <p:nvPr/>
        </p:nvSpPr>
        <p:spPr>
          <a:xfrm>
            <a:off x="6286500" y="3048000"/>
            <a:ext cx="5448300" cy="523875"/>
          </a:xfrm>
          <a:prstGeom prst="roundRect">
            <a:avLst>
              <a:gd name="adj" fmla="val 10909"/>
            </a:avLst>
          </a:prstGeom>
          <a:solidFill>
            <a:srgbClr val="E4F6F7"/>
          </a:solidFill>
          <a:ln w="11906">
            <a:solidFill>
              <a:srgbClr val="00A6B2"/>
            </a:solidFill>
          </a:ln>
        </p:spPr>
        <p:txBody>
          <a:bodyPr/>
          <a:lstStyle/>
          <a:p>
            <a:endParaRPr lang="en-US"/>
          </a:p>
        </p:txBody>
      </p:sp>
      <p:sp>
        <p:nvSpPr>
          <p:cNvPr id="20" name="Rectangle 19">
            <a:extLst>
              <a:ext uri="{FF2B5EF4-FFF2-40B4-BE49-F238E27FC236}">
                <a16:creationId xmlns:a16="http://schemas.microsoft.com/office/drawing/2014/main" id="{398BACBD-71FA-490F-99B5-AEFA923ED02E}"/>
              </a:ext>
            </a:extLst>
          </p:cNvPr>
          <p:cNvSpPr>
            <a:spLocks noGrp="1"/>
          </p:cNvSpPr>
          <p:nvPr/>
        </p:nvSpPr>
        <p:spPr>
          <a:xfrm>
            <a:off x="6410325" y="3143250"/>
            <a:ext cx="5200650" cy="381000"/>
          </a:xfrm>
          <a:prstGeom prst="rect">
            <a:avLst/>
          </a:prstGeom>
          <a:noFill/>
          <a:ln w="0">
            <a:noFill/>
          </a:ln>
        </p:spPr>
        <p:txBody>
          <a:bodyPr>
            <a:noAutofit/>
          </a:bodyPr>
          <a:lstStyle/>
          <a:p>
            <a:pPr>
              <a:defRPr sz="1500" b="1">
                <a:solidFill>
                  <a:srgbClr val="0B1F3A"/>
                </a:solidFill>
                <a:latin typeface="Segoe UI"/>
                <a:ea typeface="Segoe UI"/>
                <a:cs typeface="Segoe UI"/>
              </a:defRPr>
            </a:pPr>
            <a:r>
              <a:rPr sz="1500" b="1">
                <a:solidFill>
                  <a:srgbClr val="0B1F3A"/>
                </a:solidFill>
                <a:latin typeface="Segoe UI"/>
                <a:ea typeface="Segoe UI"/>
                <a:cs typeface="Segoe UI"/>
              </a:rPr>
              <a:t>Supervisor + 4 specialists: adaptive investigations</a:t>
            </a:r>
          </a:p>
        </p:txBody>
      </p:sp>
      <p:sp>
        <p:nvSpPr>
          <p:cNvPr id="21" name="Arrow: Down 20">
            <a:extLst>
              <a:ext uri="{FF2B5EF4-FFF2-40B4-BE49-F238E27FC236}">
                <a16:creationId xmlns:a16="http://schemas.microsoft.com/office/drawing/2014/main" id="{BD5E8F4A-7EF5-488C-8FCD-3DE5A6E4D393}"/>
              </a:ext>
            </a:extLst>
          </p:cNvPr>
          <p:cNvSpPr>
            <a:spLocks noGrp="1"/>
          </p:cNvSpPr>
          <p:nvPr/>
        </p:nvSpPr>
        <p:spPr>
          <a:xfrm>
            <a:off x="3143250" y="3609975"/>
            <a:ext cx="190500" cy="180975"/>
          </a:xfrm>
          <a:prstGeom prst="downArrow">
            <a:avLst/>
          </a:prstGeom>
          <a:solidFill>
            <a:srgbClr val="00A6B2"/>
          </a:solidFill>
          <a:ln w="0">
            <a:noFill/>
          </a:ln>
        </p:spPr>
        <p:txBody>
          <a:bodyPr/>
          <a:lstStyle/>
          <a:p>
            <a:endParaRPr lang="en-US"/>
          </a:p>
        </p:txBody>
      </p:sp>
      <p:sp>
        <p:nvSpPr>
          <p:cNvPr id="22" name="Arrow: Down 21">
            <a:extLst>
              <a:ext uri="{FF2B5EF4-FFF2-40B4-BE49-F238E27FC236}">
                <a16:creationId xmlns:a16="http://schemas.microsoft.com/office/drawing/2014/main" id="{6B393B50-9FF3-42B5-A9B2-A5B51C3E4C84}"/>
              </a:ext>
            </a:extLst>
          </p:cNvPr>
          <p:cNvSpPr>
            <a:spLocks noGrp="1"/>
          </p:cNvSpPr>
          <p:nvPr/>
        </p:nvSpPr>
        <p:spPr>
          <a:xfrm>
            <a:off x="8810625" y="3609975"/>
            <a:ext cx="190500" cy="180975"/>
          </a:xfrm>
          <a:prstGeom prst="downArrow">
            <a:avLst/>
          </a:prstGeom>
          <a:solidFill>
            <a:srgbClr val="00A6B2"/>
          </a:solidFill>
          <a:ln w="0">
            <a:noFill/>
          </a:ln>
        </p:spPr>
        <p:txBody>
          <a:bodyPr/>
          <a:lstStyle/>
          <a:p>
            <a:endParaRPr lang="en-US"/>
          </a:p>
        </p:txBody>
      </p:sp>
      <p:sp>
        <p:nvSpPr>
          <p:cNvPr id="23" name="Rectangle: Rounded Corners 22">
            <a:extLst>
              <a:ext uri="{FF2B5EF4-FFF2-40B4-BE49-F238E27FC236}">
                <a16:creationId xmlns:a16="http://schemas.microsoft.com/office/drawing/2014/main" id="{1DADCD3D-EE77-4610-B0BE-D75943D29FD8}"/>
              </a:ext>
            </a:extLst>
          </p:cNvPr>
          <p:cNvSpPr>
            <a:spLocks noGrp="1"/>
          </p:cNvSpPr>
          <p:nvPr/>
        </p:nvSpPr>
        <p:spPr>
          <a:xfrm>
            <a:off x="457200" y="3838575"/>
            <a:ext cx="11277600" cy="485775"/>
          </a:xfrm>
          <a:prstGeom prst="roundRect">
            <a:avLst>
              <a:gd name="adj" fmla="val 11765"/>
            </a:avLst>
          </a:prstGeom>
          <a:solidFill>
            <a:srgbClr val="FFFFFF"/>
          </a:solidFill>
          <a:ln w="11906">
            <a:solidFill>
              <a:srgbClr val="B8C7D9"/>
            </a:solidFill>
          </a:ln>
        </p:spPr>
        <p:txBody>
          <a:bodyPr/>
          <a:lstStyle/>
          <a:p>
            <a:endParaRPr lang="en-US"/>
          </a:p>
        </p:txBody>
      </p:sp>
      <p:sp>
        <p:nvSpPr>
          <p:cNvPr id="24" name="Rectangle 23">
            <a:extLst>
              <a:ext uri="{FF2B5EF4-FFF2-40B4-BE49-F238E27FC236}">
                <a16:creationId xmlns:a16="http://schemas.microsoft.com/office/drawing/2014/main" id="{809D906E-8F39-4083-AC4C-F677D1E91DA3}"/>
              </a:ext>
            </a:extLst>
          </p:cNvPr>
          <p:cNvSpPr>
            <a:spLocks noGrp="1"/>
          </p:cNvSpPr>
          <p:nvPr/>
        </p:nvSpPr>
        <p:spPr>
          <a:xfrm>
            <a:off x="581025" y="3933825"/>
            <a:ext cx="11029950" cy="342900"/>
          </a:xfrm>
          <a:prstGeom prst="rect">
            <a:avLst/>
          </a:prstGeom>
          <a:noFill/>
          <a:ln w="0">
            <a:noFill/>
          </a:ln>
        </p:spPr>
        <p:txBody>
          <a:bodyPr>
            <a:noAutofit/>
          </a:bodyPr>
          <a:lstStyle/>
          <a:p>
            <a:pPr>
              <a:defRPr sz="1575" b="1">
                <a:solidFill>
                  <a:srgbClr val="0B1F3A"/>
                </a:solidFill>
                <a:latin typeface="Segoe UI"/>
                <a:ea typeface="Segoe UI"/>
                <a:cs typeface="Segoe UI"/>
              </a:defRPr>
            </a:pPr>
            <a:r>
              <a:rPr sz="1575" b="1">
                <a:solidFill>
                  <a:srgbClr val="0B1F3A"/>
                </a:solidFill>
                <a:latin typeface="Segoe UI"/>
                <a:ea typeface="Segoe UI"/>
                <a:cs typeface="Segoe UI"/>
              </a:rPr>
              <a:t>Approved tool gateway + semantic layer: definitions, query templates, access scope, versions</a:t>
            </a:r>
          </a:p>
        </p:txBody>
      </p:sp>
      <p:sp>
        <p:nvSpPr>
          <p:cNvPr id="25" name="Arrow: Down 24">
            <a:extLst>
              <a:ext uri="{FF2B5EF4-FFF2-40B4-BE49-F238E27FC236}">
                <a16:creationId xmlns:a16="http://schemas.microsoft.com/office/drawing/2014/main" id="{F53FA8B0-3D56-4821-9979-3530A7419143}"/>
              </a:ext>
            </a:extLst>
          </p:cNvPr>
          <p:cNvSpPr>
            <a:spLocks noGrp="1"/>
          </p:cNvSpPr>
          <p:nvPr/>
        </p:nvSpPr>
        <p:spPr>
          <a:xfrm>
            <a:off x="1752600" y="4381500"/>
            <a:ext cx="180975" cy="190500"/>
          </a:xfrm>
          <a:prstGeom prst="downArrow">
            <a:avLst/>
          </a:prstGeom>
          <a:solidFill>
            <a:srgbClr val="00A6B2"/>
          </a:solidFill>
          <a:ln w="0">
            <a:noFill/>
          </a:ln>
        </p:spPr>
        <p:txBody>
          <a:bodyPr/>
          <a:lstStyle/>
          <a:p>
            <a:endParaRPr lang="en-US"/>
          </a:p>
        </p:txBody>
      </p:sp>
      <p:sp>
        <p:nvSpPr>
          <p:cNvPr id="26" name="Rectangle: Rounded Corners 25">
            <a:extLst>
              <a:ext uri="{FF2B5EF4-FFF2-40B4-BE49-F238E27FC236}">
                <a16:creationId xmlns:a16="http://schemas.microsoft.com/office/drawing/2014/main" id="{DEA0D053-E08B-4DC6-B8D1-91566F2B6C60}"/>
              </a:ext>
            </a:extLst>
          </p:cNvPr>
          <p:cNvSpPr>
            <a:spLocks noGrp="1"/>
          </p:cNvSpPr>
          <p:nvPr/>
        </p:nvSpPr>
        <p:spPr>
          <a:xfrm>
            <a:off x="457200" y="4629150"/>
            <a:ext cx="2647950" cy="542925"/>
          </a:xfrm>
          <a:prstGeom prst="roundRect">
            <a:avLst>
              <a:gd name="adj" fmla="val 10526"/>
            </a:avLst>
          </a:prstGeom>
          <a:solidFill>
            <a:srgbClr val="E4F6F7"/>
          </a:solidFill>
          <a:ln w="11906">
            <a:solidFill>
              <a:srgbClr val="B8C7D9"/>
            </a:solidFill>
          </a:ln>
        </p:spPr>
        <p:txBody>
          <a:bodyPr/>
          <a:lstStyle/>
          <a:p>
            <a:endParaRPr lang="en-US"/>
          </a:p>
        </p:txBody>
      </p:sp>
      <p:sp>
        <p:nvSpPr>
          <p:cNvPr id="27" name="Oval 26">
            <a:extLst>
              <a:ext uri="{FF2B5EF4-FFF2-40B4-BE49-F238E27FC236}">
                <a16:creationId xmlns:a16="http://schemas.microsoft.com/office/drawing/2014/main" id="{42DBE40B-784E-4F04-BC60-6E5C372962B6}"/>
              </a:ext>
            </a:extLst>
          </p:cNvPr>
          <p:cNvSpPr>
            <a:spLocks noGrp="1"/>
          </p:cNvSpPr>
          <p:nvPr/>
        </p:nvSpPr>
        <p:spPr>
          <a:xfrm>
            <a:off x="2657475" y="4962525"/>
            <a:ext cx="304800" cy="95250"/>
          </a:xfrm>
          <a:prstGeom prst="ellipse">
            <a:avLst/>
          </a:prstGeom>
          <a:solidFill>
            <a:srgbClr val="FFFFFF"/>
          </a:solidFill>
          <a:ln w="15240">
            <a:solidFill>
              <a:srgbClr val="007C83"/>
            </a:solidFill>
          </a:ln>
        </p:spPr>
        <p:txBody>
          <a:bodyPr/>
          <a:lstStyle/>
          <a:p>
            <a:endParaRPr lang="en-US"/>
          </a:p>
        </p:txBody>
      </p:sp>
      <p:sp>
        <p:nvSpPr>
          <p:cNvPr id="28" name="Rectangle 27">
            <a:extLst>
              <a:ext uri="{FF2B5EF4-FFF2-40B4-BE49-F238E27FC236}">
                <a16:creationId xmlns:a16="http://schemas.microsoft.com/office/drawing/2014/main" id="{1161D5B5-9CC8-4D15-9A77-0E0B5BD17B64}"/>
              </a:ext>
            </a:extLst>
          </p:cNvPr>
          <p:cNvSpPr>
            <a:spLocks noGrp="1"/>
          </p:cNvSpPr>
          <p:nvPr/>
        </p:nvSpPr>
        <p:spPr>
          <a:xfrm>
            <a:off x="2657475" y="4791075"/>
            <a:ext cx="304800" cy="219075"/>
          </a:xfrm>
          <a:prstGeom prst="rect">
            <a:avLst/>
          </a:prstGeom>
          <a:solidFill>
            <a:srgbClr val="FFFFFF"/>
          </a:solidFill>
          <a:ln w="15240">
            <a:solidFill>
              <a:srgbClr val="007C83"/>
            </a:solidFill>
          </a:ln>
        </p:spPr>
        <p:txBody>
          <a:bodyPr/>
          <a:lstStyle/>
          <a:p>
            <a:endParaRPr lang="en-US"/>
          </a:p>
        </p:txBody>
      </p:sp>
      <p:sp>
        <p:nvSpPr>
          <p:cNvPr id="29" name="Oval 28">
            <a:extLst>
              <a:ext uri="{FF2B5EF4-FFF2-40B4-BE49-F238E27FC236}">
                <a16:creationId xmlns:a16="http://schemas.microsoft.com/office/drawing/2014/main" id="{D2CB300C-37F6-4A06-975C-AD0FC63CA35D}"/>
              </a:ext>
            </a:extLst>
          </p:cNvPr>
          <p:cNvSpPr>
            <a:spLocks noGrp="1"/>
          </p:cNvSpPr>
          <p:nvPr/>
        </p:nvSpPr>
        <p:spPr>
          <a:xfrm>
            <a:off x="2657475" y="4743450"/>
            <a:ext cx="304800" cy="95250"/>
          </a:xfrm>
          <a:prstGeom prst="ellipse">
            <a:avLst/>
          </a:prstGeom>
          <a:solidFill>
            <a:srgbClr val="FFFFFF"/>
          </a:solidFill>
          <a:ln w="15240">
            <a:solidFill>
              <a:srgbClr val="007C83"/>
            </a:solidFill>
          </a:ln>
        </p:spPr>
        <p:txBody>
          <a:bodyPr/>
          <a:lstStyle/>
          <a:p>
            <a:endParaRPr lang="en-US"/>
          </a:p>
        </p:txBody>
      </p:sp>
      <p:sp>
        <p:nvSpPr>
          <p:cNvPr id="30" name="Rectangle 29">
            <a:extLst>
              <a:ext uri="{FF2B5EF4-FFF2-40B4-BE49-F238E27FC236}">
                <a16:creationId xmlns:a16="http://schemas.microsoft.com/office/drawing/2014/main" id="{C4AE6AE0-ED44-4C8D-9D79-353A486937F8}"/>
              </a:ext>
            </a:extLst>
          </p:cNvPr>
          <p:cNvSpPr>
            <a:spLocks noGrp="1"/>
          </p:cNvSpPr>
          <p:nvPr/>
        </p:nvSpPr>
        <p:spPr>
          <a:xfrm>
            <a:off x="581025" y="4724400"/>
            <a:ext cx="1990725" cy="400050"/>
          </a:xfrm>
          <a:prstGeom prst="rect">
            <a:avLst/>
          </a:prstGeom>
          <a:noFill/>
          <a:ln w="0">
            <a:noFill/>
          </a:ln>
        </p:spPr>
        <p:txBody>
          <a:bodyPr>
            <a:noAutofit/>
          </a:bodyPr>
          <a:lstStyle/>
          <a:p>
            <a:pPr>
              <a:defRPr sz="1425" b="1">
                <a:solidFill>
                  <a:srgbClr val="0B1F3A"/>
                </a:solidFill>
                <a:latin typeface="Segoe UI"/>
                <a:ea typeface="Segoe UI"/>
                <a:cs typeface="Segoe UI"/>
              </a:defRPr>
            </a:pPr>
            <a:r>
              <a:rPr sz="1425" b="1">
                <a:solidFill>
                  <a:srgbClr val="0B1F3A"/>
                </a:solidFill>
                <a:latin typeface="Segoe UI"/>
                <a:ea typeface="Segoe UI"/>
                <a:cs typeface="Segoe UI"/>
              </a:rPr>
              <a:t>SQL / metrics</a:t>
            </a:r>
          </a:p>
        </p:txBody>
      </p:sp>
      <p:sp>
        <p:nvSpPr>
          <p:cNvPr id="31" name="Arrow: Down 30">
            <a:extLst>
              <a:ext uri="{FF2B5EF4-FFF2-40B4-BE49-F238E27FC236}">
                <a16:creationId xmlns:a16="http://schemas.microsoft.com/office/drawing/2014/main" id="{729BB2E0-270E-409A-A699-1F788AF47960}"/>
              </a:ext>
            </a:extLst>
          </p:cNvPr>
          <p:cNvSpPr>
            <a:spLocks noGrp="1"/>
          </p:cNvSpPr>
          <p:nvPr/>
        </p:nvSpPr>
        <p:spPr>
          <a:xfrm>
            <a:off x="4629150" y="4381500"/>
            <a:ext cx="180975" cy="190500"/>
          </a:xfrm>
          <a:prstGeom prst="downArrow">
            <a:avLst/>
          </a:prstGeom>
          <a:solidFill>
            <a:srgbClr val="00A6B2"/>
          </a:solidFill>
          <a:ln w="0">
            <a:noFill/>
          </a:ln>
        </p:spPr>
        <p:txBody>
          <a:bodyPr/>
          <a:lstStyle/>
          <a:p>
            <a:endParaRPr lang="en-US"/>
          </a:p>
        </p:txBody>
      </p:sp>
      <p:sp>
        <p:nvSpPr>
          <p:cNvPr id="32" name="Rectangle: Rounded Corners 31">
            <a:extLst>
              <a:ext uri="{FF2B5EF4-FFF2-40B4-BE49-F238E27FC236}">
                <a16:creationId xmlns:a16="http://schemas.microsoft.com/office/drawing/2014/main" id="{C5FD2C9C-738F-47FB-8AA5-646BA8B16363}"/>
              </a:ext>
            </a:extLst>
          </p:cNvPr>
          <p:cNvSpPr>
            <a:spLocks noGrp="1"/>
          </p:cNvSpPr>
          <p:nvPr/>
        </p:nvSpPr>
        <p:spPr>
          <a:xfrm>
            <a:off x="3333750" y="4629150"/>
            <a:ext cx="2647950" cy="542925"/>
          </a:xfrm>
          <a:prstGeom prst="roundRect">
            <a:avLst>
              <a:gd name="adj" fmla="val 10526"/>
            </a:avLst>
          </a:prstGeom>
          <a:solidFill>
            <a:srgbClr val="E4F6F7"/>
          </a:solidFill>
          <a:ln w="11906">
            <a:solidFill>
              <a:srgbClr val="B8C7D9"/>
            </a:solidFill>
          </a:ln>
        </p:spPr>
        <p:txBody>
          <a:bodyPr/>
          <a:lstStyle/>
          <a:p>
            <a:endParaRPr lang="en-US"/>
          </a:p>
        </p:txBody>
      </p:sp>
      <p:sp>
        <p:nvSpPr>
          <p:cNvPr id="33" name="Rectangle 32">
            <a:extLst>
              <a:ext uri="{FF2B5EF4-FFF2-40B4-BE49-F238E27FC236}">
                <a16:creationId xmlns:a16="http://schemas.microsoft.com/office/drawing/2014/main" id="{B231EE56-8CA9-4DB8-A4D3-7040379D6DC8}"/>
              </a:ext>
            </a:extLst>
          </p:cNvPr>
          <p:cNvSpPr>
            <a:spLocks noGrp="1"/>
          </p:cNvSpPr>
          <p:nvPr/>
        </p:nvSpPr>
        <p:spPr>
          <a:xfrm>
            <a:off x="5581650" y="4791075"/>
            <a:ext cx="228600" cy="19050"/>
          </a:xfrm>
          <a:prstGeom prst="rect">
            <a:avLst/>
          </a:prstGeom>
          <a:solidFill>
            <a:srgbClr val="007C83"/>
          </a:solidFill>
          <a:ln w="11906">
            <a:solidFill>
              <a:srgbClr val="007C83"/>
            </a:solidFill>
          </a:ln>
        </p:spPr>
        <p:txBody>
          <a:bodyPr/>
          <a:lstStyle/>
          <a:p>
            <a:endParaRPr lang="en-US"/>
          </a:p>
        </p:txBody>
      </p:sp>
      <p:sp>
        <p:nvSpPr>
          <p:cNvPr id="34" name="Rectangle 33">
            <a:extLst>
              <a:ext uri="{FF2B5EF4-FFF2-40B4-BE49-F238E27FC236}">
                <a16:creationId xmlns:a16="http://schemas.microsoft.com/office/drawing/2014/main" id="{352717EB-E384-4E14-B27A-05D637ED8370}"/>
              </a:ext>
            </a:extLst>
          </p:cNvPr>
          <p:cNvSpPr>
            <a:spLocks noGrp="1"/>
          </p:cNvSpPr>
          <p:nvPr/>
        </p:nvSpPr>
        <p:spPr>
          <a:xfrm>
            <a:off x="5581650" y="4791075"/>
            <a:ext cx="19050" cy="228600"/>
          </a:xfrm>
          <a:prstGeom prst="rect">
            <a:avLst/>
          </a:prstGeom>
          <a:solidFill>
            <a:srgbClr val="007C83"/>
          </a:solidFill>
          <a:ln w="11906">
            <a:solidFill>
              <a:srgbClr val="007C83"/>
            </a:solidFill>
          </a:ln>
        </p:spPr>
        <p:txBody>
          <a:bodyPr/>
          <a:lstStyle/>
          <a:p>
            <a:endParaRPr lang="en-US"/>
          </a:p>
        </p:txBody>
      </p:sp>
      <p:sp>
        <p:nvSpPr>
          <p:cNvPr id="35" name="Rectangle 34">
            <a:extLst>
              <a:ext uri="{FF2B5EF4-FFF2-40B4-BE49-F238E27FC236}">
                <a16:creationId xmlns:a16="http://schemas.microsoft.com/office/drawing/2014/main" id="{AD254CE3-0D44-4E96-A1E9-D001D8459F72}"/>
              </a:ext>
            </a:extLst>
          </p:cNvPr>
          <p:cNvSpPr>
            <a:spLocks noGrp="1"/>
          </p:cNvSpPr>
          <p:nvPr/>
        </p:nvSpPr>
        <p:spPr>
          <a:xfrm>
            <a:off x="5581650" y="5010150"/>
            <a:ext cx="228600" cy="19050"/>
          </a:xfrm>
          <a:prstGeom prst="rect">
            <a:avLst/>
          </a:prstGeom>
          <a:solidFill>
            <a:srgbClr val="007C83"/>
          </a:solidFill>
          <a:ln w="11906">
            <a:solidFill>
              <a:srgbClr val="007C83"/>
            </a:solidFill>
          </a:ln>
        </p:spPr>
        <p:txBody>
          <a:bodyPr/>
          <a:lstStyle/>
          <a:p>
            <a:endParaRPr lang="en-US"/>
          </a:p>
        </p:txBody>
      </p:sp>
      <p:sp>
        <p:nvSpPr>
          <p:cNvPr id="36" name="Rectangle 35">
            <a:extLst>
              <a:ext uri="{FF2B5EF4-FFF2-40B4-BE49-F238E27FC236}">
                <a16:creationId xmlns:a16="http://schemas.microsoft.com/office/drawing/2014/main" id="{73F08FC2-8C65-47FB-AC45-AC2E8DB5B372}"/>
              </a:ext>
            </a:extLst>
          </p:cNvPr>
          <p:cNvSpPr>
            <a:spLocks noGrp="1"/>
          </p:cNvSpPr>
          <p:nvPr/>
        </p:nvSpPr>
        <p:spPr>
          <a:xfrm>
            <a:off x="5800725" y="4791075"/>
            <a:ext cx="19050" cy="228600"/>
          </a:xfrm>
          <a:prstGeom prst="rect">
            <a:avLst/>
          </a:prstGeom>
          <a:solidFill>
            <a:srgbClr val="007C83"/>
          </a:solidFill>
          <a:ln w="11906">
            <a:solidFill>
              <a:srgbClr val="007C83"/>
            </a:solidFill>
          </a:ln>
        </p:spPr>
        <p:txBody>
          <a:bodyPr/>
          <a:lstStyle/>
          <a:p>
            <a:endParaRPr lang="en-US"/>
          </a:p>
        </p:txBody>
      </p:sp>
      <p:sp>
        <p:nvSpPr>
          <p:cNvPr id="37" name="Oval 36">
            <a:extLst>
              <a:ext uri="{FF2B5EF4-FFF2-40B4-BE49-F238E27FC236}">
                <a16:creationId xmlns:a16="http://schemas.microsoft.com/office/drawing/2014/main" id="{72FB0E8A-C9D9-4075-BD18-7950B67C4E81}"/>
              </a:ext>
            </a:extLst>
          </p:cNvPr>
          <p:cNvSpPr>
            <a:spLocks noGrp="1"/>
          </p:cNvSpPr>
          <p:nvPr/>
        </p:nvSpPr>
        <p:spPr>
          <a:xfrm>
            <a:off x="5534025" y="4743450"/>
            <a:ext cx="95250" cy="95250"/>
          </a:xfrm>
          <a:prstGeom prst="ellipse">
            <a:avLst/>
          </a:prstGeom>
          <a:solidFill>
            <a:srgbClr val="E4F6F7"/>
          </a:solidFill>
          <a:ln w="15240">
            <a:solidFill>
              <a:srgbClr val="007C83"/>
            </a:solidFill>
          </a:ln>
        </p:spPr>
        <p:txBody>
          <a:bodyPr/>
          <a:lstStyle/>
          <a:p>
            <a:endParaRPr lang="en-US"/>
          </a:p>
        </p:txBody>
      </p:sp>
      <p:sp>
        <p:nvSpPr>
          <p:cNvPr id="38" name="Oval 37">
            <a:extLst>
              <a:ext uri="{FF2B5EF4-FFF2-40B4-BE49-F238E27FC236}">
                <a16:creationId xmlns:a16="http://schemas.microsoft.com/office/drawing/2014/main" id="{DA9AB160-C706-4ADA-8396-3583A5AC267D}"/>
              </a:ext>
            </a:extLst>
          </p:cNvPr>
          <p:cNvSpPr>
            <a:spLocks noGrp="1"/>
          </p:cNvSpPr>
          <p:nvPr/>
        </p:nvSpPr>
        <p:spPr>
          <a:xfrm>
            <a:off x="5753100" y="4743450"/>
            <a:ext cx="95250" cy="95250"/>
          </a:xfrm>
          <a:prstGeom prst="ellipse">
            <a:avLst/>
          </a:prstGeom>
          <a:solidFill>
            <a:srgbClr val="E4F6F7"/>
          </a:solidFill>
          <a:ln w="15240">
            <a:solidFill>
              <a:srgbClr val="007C83"/>
            </a:solidFill>
          </a:ln>
        </p:spPr>
        <p:txBody>
          <a:bodyPr/>
          <a:lstStyle/>
          <a:p>
            <a:endParaRPr lang="en-US"/>
          </a:p>
        </p:txBody>
      </p:sp>
      <p:sp>
        <p:nvSpPr>
          <p:cNvPr id="39" name="Oval 38">
            <a:extLst>
              <a:ext uri="{FF2B5EF4-FFF2-40B4-BE49-F238E27FC236}">
                <a16:creationId xmlns:a16="http://schemas.microsoft.com/office/drawing/2014/main" id="{1581DE94-C12C-41D0-9BEB-8AFF62D24E15}"/>
              </a:ext>
            </a:extLst>
          </p:cNvPr>
          <p:cNvSpPr>
            <a:spLocks noGrp="1"/>
          </p:cNvSpPr>
          <p:nvPr/>
        </p:nvSpPr>
        <p:spPr>
          <a:xfrm>
            <a:off x="5534025" y="4962525"/>
            <a:ext cx="95250" cy="95250"/>
          </a:xfrm>
          <a:prstGeom prst="ellipse">
            <a:avLst/>
          </a:prstGeom>
          <a:solidFill>
            <a:srgbClr val="E4F6F7"/>
          </a:solidFill>
          <a:ln w="15240">
            <a:solidFill>
              <a:srgbClr val="007C83"/>
            </a:solidFill>
          </a:ln>
        </p:spPr>
        <p:txBody>
          <a:bodyPr/>
          <a:lstStyle/>
          <a:p>
            <a:endParaRPr lang="en-US"/>
          </a:p>
        </p:txBody>
      </p:sp>
      <p:sp>
        <p:nvSpPr>
          <p:cNvPr id="40" name="Oval 39">
            <a:extLst>
              <a:ext uri="{FF2B5EF4-FFF2-40B4-BE49-F238E27FC236}">
                <a16:creationId xmlns:a16="http://schemas.microsoft.com/office/drawing/2014/main" id="{7F8E5B25-657D-4751-9AB2-12E00065F039}"/>
              </a:ext>
            </a:extLst>
          </p:cNvPr>
          <p:cNvSpPr>
            <a:spLocks noGrp="1"/>
          </p:cNvSpPr>
          <p:nvPr/>
        </p:nvSpPr>
        <p:spPr>
          <a:xfrm>
            <a:off x="5753100" y="4962525"/>
            <a:ext cx="95250" cy="95250"/>
          </a:xfrm>
          <a:prstGeom prst="ellipse">
            <a:avLst/>
          </a:prstGeom>
          <a:solidFill>
            <a:srgbClr val="E4F6F7"/>
          </a:solidFill>
          <a:ln w="15240">
            <a:solidFill>
              <a:srgbClr val="007C83"/>
            </a:solidFill>
          </a:ln>
        </p:spPr>
        <p:txBody>
          <a:bodyPr/>
          <a:lstStyle/>
          <a:p>
            <a:endParaRPr lang="en-US"/>
          </a:p>
        </p:txBody>
      </p:sp>
      <p:sp>
        <p:nvSpPr>
          <p:cNvPr id="41" name="Rectangle 40">
            <a:extLst>
              <a:ext uri="{FF2B5EF4-FFF2-40B4-BE49-F238E27FC236}">
                <a16:creationId xmlns:a16="http://schemas.microsoft.com/office/drawing/2014/main" id="{B4D43F47-54BF-4554-BF93-EDC1DF0EB27F}"/>
              </a:ext>
            </a:extLst>
          </p:cNvPr>
          <p:cNvSpPr>
            <a:spLocks noGrp="1"/>
          </p:cNvSpPr>
          <p:nvPr/>
        </p:nvSpPr>
        <p:spPr>
          <a:xfrm>
            <a:off x="3457575" y="4724400"/>
            <a:ext cx="1990725" cy="400050"/>
          </a:xfrm>
          <a:prstGeom prst="rect">
            <a:avLst/>
          </a:prstGeom>
          <a:noFill/>
          <a:ln w="0">
            <a:noFill/>
          </a:ln>
        </p:spPr>
        <p:txBody>
          <a:bodyPr>
            <a:noAutofit/>
          </a:bodyPr>
          <a:lstStyle/>
          <a:p>
            <a:pPr>
              <a:defRPr sz="1425" b="1">
                <a:solidFill>
                  <a:srgbClr val="0B1F3A"/>
                </a:solidFill>
                <a:latin typeface="Segoe UI"/>
                <a:ea typeface="Segoe UI"/>
                <a:cs typeface="Segoe UI"/>
              </a:defRPr>
            </a:pPr>
            <a:r>
              <a:rPr sz="1425" b="1">
                <a:solidFill>
                  <a:srgbClr val="0B1F3A"/>
                </a:solidFill>
                <a:latin typeface="Segoe UI"/>
                <a:ea typeface="Segoe UI"/>
                <a:cs typeface="Segoe UI"/>
              </a:rPr>
              <a:t>Graph / dependencies</a:t>
            </a:r>
          </a:p>
        </p:txBody>
      </p:sp>
      <p:sp>
        <p:nvSpPr>
          <p:cNvPr id="42" name="Arrow: Down 41">
            <a:extLst>
              <a:ext uri="{FF2B5EF4-FFF2-40B4-BE49-F238E27FC236}">
                <a16:creationId xmlns:a16="http://schemas.microsoft.com/office/drawing/2014/main" id="{FF96A8DC-43F5-4001-AD25-ECD189E58B55}"/>
              </a:ext>
            </a:extLst>
          </p:cNvPr>
          <p:cNvSpPr>
            <a:spLocks noGrp="1"/>
          </p:cNvSpPr>
          <p:nvPr/>
        </p:nvSpPr>
        <p:spPr>
          <a:xfrm>
            <a:off x="7505700" y="4381500"/>
            <a:ext cx="180975" cy="190500"/>
          </a:xfrm>
          <a:prstGeom prst="downArrow">
            <a:avLst/>
          </a:prstGeom>
          <a:solidFill>
            <a:srgbClr val="00A6B2"/>
          </a:solidFill>
          <a:ln w="0">
            <a:noFill/>
          </a:ln>
        </p:spPr>
        <p:txBody>
          <a:bodyPr/>
          <a:lstStyle/>
          <a:p>
            <a:endParaRPr lang="en-US"/>
          </a:p>
        </p:txBody>
      </p:sp>
      <p:sp>
        <p:nvSpPr>
          <p:cNvPr id="43" name="Rectangle: Rounded Corners 42">
            <a:extLst>
              <a:ext uri="{FF2B5EF4-FFF2-40B4-BE49-F238E27FC236}">
                <a16:creationId xmlns:a16="http://schemas.microsoft.com/office/drawing/2014/main" id="{D3390361-264C-4601-BE0C-AAF620C47881}"/>
              </a:ext>
            </a:extLst>
          </p:cNvPr>
          <p:cNvSpPr>
            <a:spLocks noGrp="1"/>
          </p:cNvSpPr>
          <p:nvPr/>
        </p:nvSpPr>
        <p:spPr>
          <a:xfrm>
            <a:off x="6210300" y="4629150"/>
            <a:ext cx="2647950" cy="542925"/>
          </a:xfrm>
          <a:prstGeom prst="roundRect">
            <a:avLst>
              <a:gd name="adj" fmla="val 10526"/>
            </a:avLst>
          </a:prstGeom>
          <a:solidFill>
            <a:srgbClr val="E4F6F7"/>
          </a:solidFill>
          <a:ln w="11906">
            <a:solidFill>
              <a:srgbClr val="B8C7D9"/>
            </a:solidFill>
          </a:ln>
        </p:spPr>
        <p:txBody>
          <a:bodyPr/>
          <a:lstStyle/>
          <a:p>
            <a:endParaRPr lang="en-US"/>
          </a:p>
        </p:txBody>
      </p:sp>
      <p:sp>
        <p:nvSpPr>
          <p:cNvPr id="44" name="Rectangle 43">
            <a:extLst>
              <a:ext uri="{FF2B5EF4-FFF2-40B4-BE49-F238E27FC236}">
                <a16:creationId xmlns:a16="http://schemas.microsoft.com/office/drawing/2014/main" id="{D32C86FA-A4C3-40F2-87A0-21EA56C8A203}"/>
              </a:ext>
            </a:extLst>
          </p:cNvPr>
          <p:cNvSpPr>
            <a:spLocks noGrp="1"/>
          </p:cNvSpPr>
          <p:nvPr/>
        </p:nvSpPr>
        <p:spPr>
          <a:xfrm>
            <a:off x="8439150" y="4743450"/>
            <a:ext cx="257175" cy="314325"/>
          </a:xfrm>
          <a:prstGeom prst="rect">
            <a:avLst/>
          </a:prstGeom>
          <a:solidFill>
            <a:srgbClr val="FFFFFF"/>
          </a:solidFill>
          <a:ln w="15240">
            <a:solidFill>
              <a:srgbClr val="007C83"/>
            </a:solidFill>
          </a:ln>
        </p:spPr>
        <p:txBody>
          <a:bodyPr/>
          <a:lstStyle/>
          <a:p>
            <a:endParaRPr lang="en-US"/>
          </a:p>
        </p:txBody>
      </p:sp>
      <p:sp>
        <p:nvSpPr>
          <p:cNvPr id="45" name="Rectangle 44">
            <a:extLst>
              <a:ext uri="{FF2B5EF4-FFF2-40B4-BE49-F238E27FC236}">
                <a16:creationId xmlns:a16="http://schemas.microsoft.com/office/drawing/2014/main" id="{2C4B03A5-244D-4ABF-827E-7B7F4B77B32C}"/>
              </a:ext>
            </a:extLst>
          </p:cNvPr>
          <p:cNvSpPr>
            <a:spLocks noGrp="1"/>
          </p:cNvSpPr>
          <p:nvPr/>
        </p:nvSpPr>
        <p:spPr>
          <a:xfrm>
            <a:off x="8486775" y="4819650"/>
            <a:ext cx="161925" cy="19050"/>
          </a:xfrm>
          <a:prstGeom prst="rect">
            <a:avLst/>
          </a:prstGeom>
          <a:solidFill>
            <a:srgbClr val="007C83"/>
          </a:solidFill>
          <a:ln w="11906">
            <a:solidFill>
              <a:srgbClr val="007C83"/>
            </a:solidFill>
          </a:ln>
        </p:spPr>
        <p:txBody>
          <a:bodyPr/>
          <a:lstStyle/>
          <a:p>
            <a:endParaRPr lang="en-US"/>
          </a:p>
        </p:txBody>
      </p:sp>
      <p:sp>
        <p:nvSpPr>
          <p:cNvPr id="46" name="Rectangle 45">
            <a:extLst>
              <a:ext uri="{FF2B5EF4-FFF2-40B4-BE49-F238E27FC236}">
                <a16:creationId xmlns:a16="http://schemas.microsoft.com/office/drawing/2014/main" id="{55D3B788-DEE1-4E02-9626-28085DD19A41}"/>
              </a:ext>
            </a:extLst>
          </p:cNvPr>
          <p:cNvSpPr>
            <a:spLocks noGrp="1"/>
          </p:cNvSpPr>
          <p:nvPr/>
        </p:nvSpPr>
        <p:spPr>
          <a:xfrm>
            <a:off x="8486775" y="4886325"/>
            <a:ext cx="161925" cy="19050"/>
          </a:xfrm>
          <a:prstGeom prst="rect">
            <a:avLst/>
          </a:prstGeom>
          <a:solidFill>
            <a:srgbClr val="007C83"/>
          </a:solidFill>
          <a:ln w="11906">
            <a:solidFill>
              <a:srgbClr val="007C83"/>
            </a:solidFill>
          </a:ln>
        </p:spPr>
        <p:txBody>
          <a:bodyPr/>
          <a:lstStyle/>
          <a:p>
            <a:endParaRPr lang="en-US"/>
          </a:p>
        </p:txBody>
      </p:sp>
      <p:sp>
        <p:nvSpPr>
          <p:cNvPr id="47" name="Rectangle 46">
            <a:extLst>
              <a:ext uri="{FF2B5EF4-FFF2-40B4-BE49-F238E27FC236}">
                <a16:creationId xmlns:a16="http://schemas.microsoft.com/office/drawing/2014/main" id="{B6B2FF0A-A75F-4AB1-A1D9-67C76A27CE2D}"/>
              </a:ext>
            </a:extLst>
          </p:cNvPr>
          <p:cNvSpPr>
            <a:spLocks noGrp="1"/>
          </p:cNvSpPr>
          <p:nvPr/>
        </p:nvSpPr>
        <p:spPr>
          <a:xfrm>
            <a:off x="8486775" y="4953000"/>
            <a:ext cx="161925" cy="19050"/>
          </a:xfrm>
          <a:prstGeom prst="rect">
            <a:avLst/>
          </a:prstGeom>
          <a:solidFill>
            <a:srgbClr val="007C83"/>
          </a:solidFill>
          <a:ln w="11906">
            <a:solidFill>
              <a:srgbClr val="007C83"/>
            </a:solidFill>
          </a:ln>
        </p:spPr>
        <p:txBody>
          <a:bodyPr/>
          <a:lstStyle/>
          <a:p>
            <a:endParaRPr lang="en-US"/>
          </a:p>
        </p:txBody>
      </p:sp>
      <p:sp>
        <p:nvSpPr>
          <p:cNvPr id="48" name="Rectangle 47">
            <a:extLst>
              <a:ext uri="{FF2B5EF4-FFF2-40B4-BE49-F238E27FC236}">
                <a16:creationId xmlns:a16="http://schemas.microsoft.com/office/drawing/2014/main" id="{47B95E8C-8953-4D3D-BBD1-3ABBB4654EFD}"/>
              </a:ext>
            </a:extLst>
          </p:cNvPr>
          <p:cNvSpPr>
            <a:spLocks noGrp="1"/>
          </p:cNvSpPr>
          <p:nvPr/>
        </p:nvSpPr>
        <p:spPr>
          <a:xfrm>
            <a:off x="6334125" y="4724400"/>
            <a:ext cx="1990725" cy="400050"/>
          </a:xfrm>
          <a:prstGeom prst="rect">
            <a:avLst/>
          </a:prstGeom>
          <a:noFill/>
          <a:ln w="0">
            <a:noFill/>
          </a:ln>
        </p:spPr>
        <p:txBody>
          <a:bodyPr>
            <a:noAutofit/>
          </a:bodyPr>
          <a:lstStyle/>
          <a:p>
            <a:pPr>
              <a:defRPr sz="1425" b="1">
                <a:solidFill>
                  <a:srgbClr val="0B1F3A"/>
                </a:solidFill>
                <a:latin typeface="Segoe UI"/>
                <a:ea typeface="Segoe UI"/>
                <a:cs typeface="Segoe UI"/>
              </a:defRPr>
            </a:pPr>
            <a:r>
              <a:rPr sz="1425" b="1">
                <a:solidFill>
                  <a:srgbClr val="0B1F3A"/>
                </a:solidFill>
                <a:latin typeface="Segoe UI"/>
                <a:ea typeface="Segoe UI"/>
                <a:cs typeface="Segoe UI"/>
              </a:rPr>
              <a:t>Document retrieval</a:t>
            </a:r>
          </a:p>
        </p:txBody>
      </p:sp>
      <p:sp>
        <p:nvSpPr>
          <p:cNvPr id="49" name="Arrow: Down 48">
            <a:extLst>
              <a:ext uri="{FF2B5EF4-FFF2-40B4-BE49-F238E27FC236}">
                <a16:creationId xmlns:a16="http://schemas.microsoft.com/office/drawing/2014/main" id="{A628A3C5-BBD5-4FC8-B147-7B9C890F251E}"/>
              </a:ext>
            </a:extLst>
          </p:cNvPr>
          <p:cNvSpPr>
            <a:spLocks noGrp="1"/>
          </p:cNvSpPr>
          <p:nvPr/>
        </p:nvSpPr>
        <p:spPr>
          <a:xfrm>
            <a:off x="10382250" y="4381500"/>
            <a:ext cx="180975" cy="190500"/>
          </a:xfrm>
          <a:prstGeom prst="downArrow">
            <a:avLst/>
          </a:prstGeom>
          <a:solidFill>
            <a:srgbClr val="00A6B2"/>
          </a:solidFill>
          <a:ln w="0">
            <a:noFill/>
          </a:ln>
        </p:spPr>
        <p:txBody>
          <a:bodyPr/>
          <a:lstStyle/>
          <a:p>
            <a:endParaRPr lang="en-US"/>
          </a:p>
        </p:txBody>
      </p:sp>
      <p:sp>
        <p:nvSpPr>
          <p:cNvPr id="50" name="Rectangle: Rounded Corners 49">
            <a:extLst>
              <a:ext uri="{FF2B5EF4-FFF2-40B4-BE49-F238E27FC236}">
                <a16:creationId xmlns:a16="http://schemas.microsoft.com/office/drawing/2014/main" id="{F4D91E73-C613-4B63-82B9-6E52099B3886}"/>
              </a:ext>
            </a:extLst>
          </p:cNvPr>
          <p:cNvSpPr>
            <a:spLocks noGrp="1"/>
          </p:cNvSpPr>
          <p:nvPr/>
        </p:nvSpPr>
        <p:spPr>
          <a:xfrm>
            <a:off x="9086850" y="4629150"/>
            <a:ext cx="2647950" cy="542925"/>
          </a:xfrm>
          <a:prstGeom prst="roundRect">
            <a:avLst>
              <a:gd name="adj" fmla="val 10526"/>
            </a:avLst>
          </a:prstGeom>
          <a:solidFill>
            <a:srgbClr val="E4F6F7"/>
          </a:solidFill>
          <a:ln w="11906">
            <a:solidFill>
              <a:srgbClr val="B8C7D9"/>
            </a:solidFill>
          </a:ln>
        </p:spPr>
        <p:txBody>
          <a:bodyPr/>
          <a:lstStyle/>
          <a:p>
            <a:endParaRPr lang="en-US"/>
          </a:p>
        </p:txBody>
      </p:sp>
      <p:sp>
        <p:nvSpPr>
          <p:cNvPr id="51" name="Rectangle 50">
            <a:extLst>
              <a:ext uri="{FF2B5EF4-FFF2-40B4-BE49-F238E27FC236}">
                <a16:creationId xmlns:a16="http://schemas.microsoft.com/office/drawing/2014/main" id="{948C88C7-1B22-4EDD-A25C-EC2DB487BF9E}"/>
              </a:ext>
            </a:extLst>
          </p:cNvPr>
          <p:cNvSpPr>
            <a:spLocks noGrp="1"/>
          </p:cNvSpPr>
          <p:nvPr/>
        </p:nvSpPr>
        <p:spPr>
          <a:xfrm>
            <a:off x="9210675" y="4724400"/>
            <a:ext cx="2400300" cy="400050"/>
          </a:xfrm>
          <a:prstGeom prst="rect">
            <a:avLst/>
          </a:prstGeom>
          <a:noFill/>
          <a:ln w="0">
            <a:noFill/>
          </a:ln>
        </p:spPr>
        <p:txBody>
          <a:bodyPr>
            <a:noAutofit/>
          </a:bodyPr>
          <a:lstStyle/>
          <a:p>
            <a:pPr>
              <a:defRPr sz="1425" b="1">
                <a:solidFill>
                  <a:srgbClr val="0B1F3A"/>
                </a:solidFill>
                <a:latin typeface="Segoe UI"/>
                <a:ea typeface="Segoe UI"/>
                <a:cs typeface="Segoe UI"/>
              </a:defRPr>
            </a:pPr>
            <a:r>
              <a:rPr sz="1425" b="1">
                <a:solidFill>
                  <a:srgbClr val="0B1F3A"/>
                </a:solidFill>
                <a:latin typeface="Segoe UI"/>
                <a:ea typeface="Segoe UI"/>
                <a:cs typeface="Segoe UI"/>
              </a:rPr>
              <a:t>Scenario engine</a:t>
            </a:r>
          </a:p>
        </p:txBody>
      </p:sp>
      <p:sp>
        <p:nvSpPr>
          <p:cNvPr id="52" name="Rectangle: Rounded Corners 51">
            <a:extLst>
              <a:ext uri="{FF2B5EF4-FFF2-40B4-BE49-F238E27FC236}">
                <a16:creationId xmlns:a16="http://schemas.microsoft.com/office/drawing/2014/main" id="{E35B755E-E896-4213-813B-9CC3B67FF15E}"/>
              </a:ext>
            </a:extLst>
          </p:cNvPr>
          <p:cNvSpPr>
            <a:spLocks noGrp="1"/>
          </p:cNvSpPr>
          <p:nvPr/>
        </p:nvSpPr>
        <p:spPr>
          <a:xfrm>
            <a:off x="457200" y="5314950"/>
            <a:ext cx="2647950" cy="514350"/>
          </a:xfrm>
          <a:prstGeom prst="roundRect">
            <a:avLst>
              <a:gd name="adj" fmla="val 11111"/>
            </a:avLst>
          </a:prstGeom>
          <a:solidFill>
            <a:srgbClr val="FFFFFF"/>
          </a:solidFill>
          <a:ln w="11906">
            <a:solidFill>
              <a:srgbClr val="B8C7D9"/>
            </a:solidFill>
          </a:ln>
        </p:spPr>
        <p:txBody>
          <a:bodyPr/>
          <a:lstStyle/>
          <a:p>
            <a:endParaRPr lang="en-US"/>
          </a:p>
        </p:txBody>
      </p:sp>
      <p:sp>
        <p:nvSpPr>
          <p:cNvPr id="53" name="Oval 52">
            <a:extLst>
              <a:ext uri="{FF2B5EF4-FFF2-40B4-BE49-F238E27FC236}">
                <a16:creationId xmlns:a16="http://schemas.microsoft.com/office/drawing/2014/main" id="{E42A37A7-1821-4417-B4AE-D93EE4AF1D2C}"/>
              </a:ext>
            </a:extLst>
          </p:cNvPr>
          <p:cNvSpPr>
            <a:spLocks noGrp="1"/>
          </p:cNvSpPr>
          <p:nvPr/>
        </p:nvSpPr>
        <p:spPr>
          <a:xfrm>
            <a:off x="2657475" y="5648325"/>
            <a:ext cx="304800" cy="95250"/>
          </a:xfrm>
          <a:prstGeom prst="ellipse">
            <a:avLst/>
          </a:prstGeom>
          <a:solidFill>
            <a:srgbClr val="FFFFFF"/>
          </a:solidFill>
          <a:ln w="15240">
            <a:solidFill>
              <a:srgbClr val="007C83"/>
            </a:solidFill>
          </a:ln>
        </p:spPr>
        <p:txBody>
          <a:bodyPr/>
          <a:lstStyle/>
          <a:p>
            <a:endParaRPr lang="en-US"/>
          </a:p>
        </p:txBody>
      </p:sp>
      <p:sp>
        <p:nvSpPr>
          <p:cNvPr id="54" name="Rectangle 53">
            <a:extLst>
              <a:ext uri="{FF2B5EF4-FFF2-40B4-BE49-F238E27FC236}">
                <a16:creationId xmlns:a16="http://schemas.microsoft.com/office/drawing/2014/main" id="{21CCA672-0CB2-4647-80DD-C94A39F49BF3}"/>
              </a:ext>
            </a:extLst>
          </p:cNvPr>
          <p:cNvSpPr>
            <a:spLocks noGrp="1"/>
          </p:cNvSpPr>
          <p:nvPr/>
        </p:nvSpPr>
        <p:spPr>
          <a:xfrm>
            <a:off x="2657475" y="5476875"/>
            <a:ext cx="304800" cy="219075"/>
          </a:xfrm>
          <a:prstGeom prst="rect">
            <a:avLst/>
          </a:prstGeom>
          <a:solidFill>
            <a:srgbClr val="FFFFFF"/>
          </a:solidFill>
          <a:ln w="15240">
            <a:solidFill>
              <a:srgbClr val="007C83"/>
            </a:solidFill>
          </a:ln>
        </p:spPr>
        <p:txBody>
          <a:bodyPr/>
          <a:lstStyle/>
          <a:p>
            <a:endParaRPr lang="en-US"/>
          </a:p>
        </p:txBody>
      </p:sp>
      <p:sp>
        <p:nvSpPr>
          <p:cNvPr id="55" name="Oval 54">
            <a:extLst>
              <a:ext uri="{FF2B5EF4-FFF2-40B4-BE49-F238E27FC236}">
                <a16:creationId xmlns:a16="http://schemas.microsoft.com/office/drawing/2014/main" id="{3480A235-4D25-4690-BF4C-2D63E0172247}"/>
              </a:ext>
            </a:extLst>
          </p:cNvPr>
          <p:cNvSpPr>
            <a:spLocks noGrp="1"/>
          </p:cNvSpPr>
          <p:nvPr/>
        </p:nvSpPr>
        <p:spPr>
          <a:xfrm>
            <a:off x="2657475" y="5429250"/>
            <a:ext cx="304800" cy="95250"/>
          </a:xfrm>
          <a:prstGeom prst="ellipse">
            <a:avLst/>
          </a:prstGeom>
          <a:solidFill>
            <a:srgbClr val="FFFFFF"/>
          </a:solidFill>
          <a:ln w="15240">
            <a:solidFill>
              <a:srgbClr val="007C83"/>
            </a:solidFill>
          </a:ln>
        </p:spPr>
        <p:txBody>
          <a:bodyPr/>
          <a:lstStyle/>
          <a:p>
            <a:endParaRPr lang="en-US"/>
          </a:p>
        </p:txBody>
      </p:sp>
      <p:sp>
        <p:nvSpPr>
          <p:cNvPr id="56" name="Rectangle 55">
            <a:extLst>
              <a:ext uri="{FF2B5EF4-FFF2-40B4-BE49-F238E27FC236}">
                <a16:creationId xmlns:a16="http://schemas.microsoft.com/office/drawing/2014/main" id="{1CD7D8A0-DFC0-4083-8CD6-E84F1BB68DD7}"/>
              </a:ext>
            </a:extLst>
          </p:cNvPr>
          <p:cNvSpPr>
            <a:spLocks noGrp="1"/>
          </p:cNvSpPr>
          <p:nvPr/>
        </p:nvSpPr>
        <p:spPr>
          <a:xfrm>
            <a:off x="581025" y="5410200"/>
            <a:ext cx="1990725" cy="371475"/>
          </a:xfrm>
          <a:prstGeom prst="rect">
            <a:avLst/>
          </a:prstGeom>
          <a:noFill/>
          <a:ln w="0">
            <a:noFill/>
          </a:ln>
        </p:spPr>
        <p:txBody>
          <a:bodyPr>
            <a:noAutofit/>
          </a:bodyPr>
          <a:lstStyle/>
          <a:p>
            <a:pPr>
              <a:defRPr sz="1200" b="1">
                <a:solidFill>
                  <a:srgbClr val="0B1F3A"/>
                </a:solidFill>
                <a:latin typeface="Segoe UI"/>
                <a:ea typeface="Segoe UI"/>
                <a:cs typeface="Segoe UI"/>
              </a:defRPr>
            </a:pPr>
            <a:r>
              <a:rPr sz="1200" b="1">
                <a:solidFill>
                  <a:srgbClr val="0B1F3A"/>
                </a:solidFill>
                <a:latin typeface="Segoe UI"/>
                <a:ea typeface="Segoe UI"/>
                <a:cs typeface="Segoe UI"/>
              </a:rPr>
              <a:t>Relational facts</a:t>
            </a:r>
          </a:p>
        </p:txBody>
      </p:sp>
      <p:sp>
        <p:nvSpPr>
          <p:cNvPr id="57" name="Rectangle: Rounded Corners 56">
            <a:extLst>
              <a:ext uri="{FF2B5EF4-FFF2-40B4-BE49-F238E27FC236}">
                <a16:creationId xmlns:a16="http://schemas.microsoft.com/office/drawing/2014/main" id="{0F890B4E-CE78-4CA3-A8A6-3D8F20D1D94D}"/>
              </a:ext>
            </a:extLst>
          </p:cNvPr>
          <p:cNvSpPr>
            <a:spLocks noGrp="1"/>
          </p:cNvSpPr>
          <p:nvPr/>
        </p:nvSpPr>
        <p:spPr>
          <a:xfrm>
            <a:off x="3333750" y="5314950"/>
            <a:ext cx="2647950" cy="514350"/>
          </a:xfrm>
          <a:prstGeom prst="roundRect">
            <a:avLst>
              <a:gd name="adj" fmla="val 11111"/>
            </a:avLst>
          </a:prstGeom>
          <a:solidFill>
            <a:srgbClr val="FFFFFF"/>
          </a:solidFill>
          <a:ln w="11906">
            <a:solidFill>
              <a:srgbClr val="B8C7D9"/>
            </a:solidFill>
          </a:ln>
        </p:spPr>
        <p:txBody>
          <a:bodyPr/>
          <a:lstStyle/>
          <a:p>
            <a:endParaRPr lang="en-US"/>
          </a:p>
        </p:txBody>
      </p:sp>
      <p:sp>
        <p:nvSpPr>
          <p:cNvPr id="58" name="Rectangle 57">
            <a:extLst>
              <a:ext uri="{FF2B5EF4-FFF2-40B4-BE49-F238E27FC236}">
                <a16:creationId xmlns:a16="http://schemas.microsoft.com/office/drawing/2014/main" id="{C25BE8D5-BD36-4EB1-B98E-AD23EF37CBD0}"/>
              </a:ext>
            </a:extLst>
          </p:cNvPr>
          <p:cNvSpPr>
            <a:spLocks noGrp="1"/>
          </p:cNvSpPr>
          <p:nvPr/>
        </p:nvSpPr>
        <p:spPr>
          <a:xfrm>
            <a:off x="5581650" y="5476875"/>
            <a:ext cx="228600" cy="19050"/>
          </a:xfrm>
          <a:prstGeom prst="rect">
            <a:avLst/>
          </a:prstGeom>
          <a:solidFill>
            <a:srgbClr val="007C83"/>
          </a:solidFill>
          <a:ln w="11906">
            <a:solidFill>
              <a:srgbClr val="007C83"/>
            </a:solidFill>
          </a:ln>
        </p:spPr>
        <p:txBody>
          <a:bodyPr/>
          <a:lstStyle/>
          <a:p>
            <a:endParaRPr lang="en-US"/>
          </a:p>
        </p:txBody>
      </p:sp>
      <p:sp>
        <p:nvSpPr>
          <p:cNvPr id="59" name="Rectangle 58">
            <a:extLst>
              <a:ext uri="{FF2B5EF4-FFF2-40B4-BE49-F238E27FC236}">
                <a16:creationId xmlns:a16="http://schemas.microsoft.com/office/drawing/2014/main" id="{494CB916-87D2-4AAB-BE99-CCC500616E89}"/>
              </a:ext>
            </a:extLst>
          </p:cNvPr>
          <p:cNvSpPr>
            <a:spLocks noGrp="1"/>
          </p:cNvSpPr>
          <p:nvPr/>
        </p:nvSpPr>
        <p:spPr>
          <a:xfrm>
            <a:off x="5581650" y="5476875"/>
            <a:ext cx="19050" cy="228600"/>
          </a:xfrm>
          <a:prstGeom prst="rect">
            <a:avLst/>
          </a:prstGeom>
          <a:solidFill>
            <a:srgbClr val="007C83"/>
          </a:solidFill>
          <a:ln w="11906">
            <a:solidFill>
              <a:srgbClr val="007C83"/>
            </a:solidFill>
          </a:ln>
        </p:spPr>
        <p:txBody>
          <a:bodyPr/>
          <a:lstStyle/>
          <a:p>
            <a:endParaRPr lang="en-US"/>
          </a:p>
        </p:txBody>
      </p:sp>
      <p:sp>
        <p:nvSpPr>
          <p:cNvPr id="60" name="Rectangle 59">
            <a:extLst>
              <a:ext uri="{FF2B5EF4-FFF2-40B4-BE49-F238E27FC236}">
                <a16:creationId xmlns:a16="http://schemas.microsoft.com/office/drawing/2014/main" id="{E05B55DE-80F1-4608-9A8C-ED53B47C052F}"/>
              </a:ext>
            </a:extLst>
          </p:cNvPr>
          <p:cNvSpPr>
            <a:spLocks noGrp="1"/>
          </p:cNvSpPr>
          <p:nvPr/>
        </p:nvSpPr>
        <p:spPr>
          <a:xfrm>
            <a:off x="5581650" y="5695950"/>
            <a:ext cx="228600" cy="19050"/>
          </a:xfrm>
          <a:prstGeom prst="rect">
            <a:avLst/>
          </a:prstGeom>
          <a:solidFill>
            <a:srgbClr val="007C83"/>
          </a:solidFill>
          <a:ln w="11906">
            <a:solidFill>
              <a:srgbClr val="007C83"/>
            </a:solidFill>
          </a:ln>
        </p:spPr>
        <p:txBody>
          <a:bodyPr/>
          <a:lstStyle/>
          <a:p>
            <a:endParaRPr lang="en-US"/>
          </a:p>
        </p:txBody>
      </p:sp>
      <p:sp>
        <p:nvSpPr>
          <p:cNvPr id="61" name="Rectangle 60">
            <a:extLst>
              <a:ext uri="{FF2B5EF4-FFF2-40B4-BE49-F238E27FC236}">
                <a16:creationId xmlns:a16="http://schemas.microsoft.com/office/drawing/2014/main" id="{15ED26EB-2A94-419D-AEC2-F58F1A430BDE}"/>
              </a:ext>
            </a:extLst>
          </p:cNvPr>
          <p:cNvSpPr>
            <a:spLocks noGrp="1"/>
          </p:cNvSpPr>
          <p:nvPr/>
        </p:nvSpPr>
        <p:spPr>
          <a:xfrm>
            <a:off x="5800725" y="5476875"/>
            <a:ext cx="19050" cy="228600"/>
          </a:xfrm>
          <a:prstGeom prst="rect">
            <a:avLst/>
          </a:prstGeom>
          <a:solidFill>
            <a:srgbClr val="007C83"/>
          </a:solidFill>
          <a:ln w="11906">
            <a:solidFill>
              <a:srgbClr val="007C83"/>
            </a:solidFill>
          </a:ln>
        </p:spPr>
        <p:txBody>
          <a:bodyPr/>
          <a:lstStyle/>
          <a:p>
            <a:endParaRPr lang="en-US"/>
          </a:p>
        </p:txBody>
      </p:sp>
      <p:sp>
        <p:nvSpPr>
          <p:cNvPr id="62" name="Oval 61">
            <a:extLst>
              <a:ext uri="{FF2B5EF4-FFF2-40B4-BE49-F238E27FC236}">
                <a16:creationId xmlns:a16="http://schemas.microsoft.com/office/drawing/2014/main" id="{34495CC2-B162-418B-9DB7-E56AAC263A90}"/>
              </a:ext>
            </a:extLst>
          </p:cNvPr>
          <p:cNvSpPr>
            <a:spLocks noGrp="1"/>
          </p:cNvSpPr>
          <p:nvPr/>
        </p:nvSpPr>
        <p:spPr>
          <a:xfrm>
            <a:off x="5534025" y="5429250"/>
            <a:ext cx="95250" cy="95250"/>
          </a:xfrm>
          <a:prstGeom prst="ellipse">
            <a:avLst/>
          </a:prstGeom>
          <a:solidFill>
            <a:srgbClr val="E4F6F7"/>
          </a:solidFill>
          <a:ln w="15240">
            <a:solidFill>
              <a:srgbClr val="007C83"/>
            </a:solidFill>
          </a:ln>
        </p:spPr>
        <p:txBody>
          <a:bodyPr/>
          <a:lstStyle/>
          <a:p>
            <a:endParaRPr lang="en-US"/>
          </a:p>
        </p:txBody>
      </p:sp>
      <p:sp>
        <p:nvSpPr>
          <p:cNvPr id="63" name="Oval 62">
            <a:extLst>
              <a:ext uri="{FF2B5EF4-FFF2-40B4-BE49-F238E27FC236}">
                <a16:creationId xmlns:a16="http://schemas.microsoft.com/office/drawing/2014/main" id="{B48CE9AD-B5E2-4277-9843-67C6711C9246}"/>
              </a:ext>
            </a:extLst>
          </p:cNvPr>
          <p:cNvSpPr>
            <a:spLocks noGrp="1"/>
          </p:cNvSpPr>
          <p:nvPr/>
        </p:nvSpPr>
        <p:spPr>
          <a:xfrm>
            <a:off x="5753100" y="5429250"/>
            <a:ext cx="95250" cy="95250"/>
          </a:xfrm>
          <a:prstGeom prst="ellipse">
            <a:avLst/>
          </a:prstGeom>
          <a:solidFill>
            <a:srgbClr val="E4F6F7"/>
          </a:solidFill>
          <a:ln w="15240">
            <a:solidFill>
              <a:srgbClr val="007C83"/>
            </a:solidFill>
          </a:ln>
        </p:spPr>
        <p:txBody>
          <a:bodyPr/>
          <a:lstStyle/>
          <a:p>
            <a:endParaRPr lang="en-US"/>
          </a:p>
        </p:txBody>
      </p:sp>
      <p:sp>
        <p:nvSpPr>
          <p:cNvPr id="64" name="Oval 63">
            <a:extLst>
              <a:ext uri="{FF2B5EF4-FFF2-40B4-BE49-F238E27FC236}">
                <a16:creationId xmlns:a16="http://schemas.microsoft.com/office/drawing/2014/main" id="{4937E312-4DC1-4010-9948-A2A09E987FE2}"/>
              </a:ext>
            </a:extLst>
          </p:cNvPr>
          <p:cNvSpPr>
            <a:spLocks noGrp="1"/>
          </p:cNvSpPr>
          <p:nvPr/>
        </p:nvSpPr>
        <p:spPr>
          <a:xfrm>
            <a:off x="5534025" y="5648325"/>
            <a:ext cx="95250" cy="95250"/>
          </a:xfrm>
          <a:prstGeom prst="ellipse">
            <a:avLst/>
          </a:prstGeom>
          <a:solidFill>
            <a:srgbClr val="E4F6F7"/>
          </a:solidFill>
          <a:ln w="15240">
            <a:solidFill>
              <a:srgbClr val="007C83"/>
            </a:solidFill>
          </a:ln>
        </p:spPr>
        <p:txBody>
          <a:bodyPr/>
          <a:lstStyle/>
          <a:p>
            <a:endParaRPr lang="en-US"/>
          </a:p>
        </p:txBody>
      </p:sp>
      <p:sp>
        <p:nvSpPr>
          <p:cNvPr id="65" name="Oval 64">
            <a:extLst>
              <a:ext uri="{FF2B5EF4-FFF2-40B4-BE49-F238E27FC236}">
                <a16:creationId xmlns:a16="http://schemas.microsoft.com/office/drawing/2014/main" id="{F7DE7914-6778-495F-B58C-EC83C5D87135}"/>
              </a:ext>
            </a:extLst>
          </p:cNvPr>
          <p:cNvSpPr>
            <a:spLocks noGrp="1"/>
          </p:cNvSpPr>
          <p:nvPr/>
        </p:nvSpPr>
        <p:spPr>
          <a:xfrm>
            <a:off x="5753100" y="5648325"/>
            <a:ext cx="95250" cy="95250"/>
          </a:xfrm>
          <a:prstGeom prst="ellipse">
            <a:avLst/>
          </a:prstGeom>
          <a:solidFill>
            <a:srgbClr val="E4F6F7"/>
          </a:solidFill>
          <a:ln w="15240">
            <a:solidFill>
              <a:srgbClr val="007C83"/>
            </a:solidFill>
          </a:ln>
        </p:spPr>
        <p:txBody>
          <a:bodyPr/>
          <a:lstStyle/>
          <a:p>
            <a:endParaRPr lang="en-US"/>
          </a:p>
        </p:txBody>
      </p:sp>
      <p:sp>
        <p:nvSpPr>
          <p:cNvPr id="66" name="Rectangle 65">
            <a:extLst>
              <a:ext uri="{FF2B5EF4-FFF2-40B4-BE49-F238E27FC236}">
                <a16:creationId xmlns:a16="http://schemas.microsoft.com/office/drawing/2014/main" id="{0DD5AA77-12DE-417B-9E12-CA9835955D78}"/>
              </a:ext>
            </a:extLst>
          </p:cNvPr>
          <p:cNvSpPr>
            <a:spLocks noGrp="1"/>
          </p:cNvSpPr>
          <p:nvPr/>
        </p:nvSpPr>
        <p:spPr>
          <a:xfrm>
            <a:off x="3457575" y="5410200"/>
            <a:ext cx="1990725" cy="371475"/>
          </a:xfrm>
          <a:prstGeom prst="rect">
            <a:avLst/>
          </a:prstGeom>
          <a:noFill/>
          <a:ln w="0">
            <a:noFill/>
          </a:ln>
        </p:spPr>
        <p:txBody>
          <a:bodyPr>
            <a:noAutofit/>
          </a:bodyPr>
          <a:lstStyle/>
          <a:p>
            <a:pPr>
              <a:defRPr sz="1200" b="1">
                <a:solidFill>
                  <a:srgbClr val="0B1F3A"/>
                </a:solidFill>
                <a:latin typeface="Segoe UI"/>
                <a:ea typeface="Segoe UI"/>
                <a:cs typeface="Segoe UI"/>
              </a:defRPr>
            </a:pPr>
            <a:r>
              <a:rPr sz="1200" b="1">
                <a:solidFill>
                  <a:srgbClr val="0B1F3A"/>
                </a:solidFill>
                <a:latin typeface="Segoe UI"/>
                <a:ea typeface="Segoe UI"/>
                <a:cs typeface="Segoe UI"/>
              </a:rPr>
              <a:t>Graph projection store</a:t>
            </a:r>
          </a:p>
        </p:txBody>
      </p:sp>
      <p:sp>
        <p:nvSpPr>
          <p:cNvPr id="67" name="Rectangle: Rounded Corners 66">
            <a:extLst>
              <a:ext uri="{FF2B5EF4-FFF2-40B4-BE49-F238E27FC236}">
                <a16:creationId xmlns:a16="http://schemas.microsoft.com/office/drawing/2014/main" id="{A702A3F6-3C86-498A-819C-BACA65FC3126}"/>
              </a:ext>
            </a:extLst>
          </p:cNvPr>
          <p:cNvSpPr>
            <a:spLocks noGrp="1"/>
          </p:cNvSpPr>
          <p:nvPr/>
        </p:nvSpPr>
        <p:spPr>
          <a:xfrm>
            <a:off x="6210300" y="5314950"/>
            <a:ext cx="2647950" cy="514350"/>
          </a:xfrm>
          <a:prstGeom prst="roundRect">
            <a:avLst>
              <a:gd name="adj" fmla="val 11111"/>
            </a:avLst>
          </a:prstGeom>
          <a:solidFill>
            <a:srgbClr val="FFFFFF"/>
          </a:solidFill>
          <a:ln w="11906">
            <a:solidFill>
              <a:srgbClr val="B8C7D9"/>
            </a:solidFill>
          </a:ln>
        </p:spPr>
        <p:txBody>
          <a:bodyPr/>
          <a:lstStyle/>
          <a:p>
            <a:endParaRPr lang="en-US"/>
          </a:p>
        </p:txBody>
      </p:sp>
      <p:sp>
        <p:nvSpPr>
          <p:cNvPr id="68" name="Rectangle 67">
            <a:extLst>
              <a:ext uri="{FF2B5EF4-FFF2-40B4-BE49-F238E27FC236}">
                <a16:creationId xmlns:a16="http://schemas.microsoft.com/office/drawing/2014/main" id="{44FD235F-AE66-4353-A4B3-6C56BF536A58}"/>
              </a:ext>
            </a:extLst>
          </p:cNvPr>
          <p:cNvSpPr>
            <a:spLocks noGrp="1"/>
          </p:cNvSpPr>
          <p:nvPr/>
        </p:nvSpPr>
        <p:spPr>
          <a:xfrm>
            <a:off x="8439150" y="5429250"/>
            <a:ext cx="257175" cy="314325"/>
          </a:xfrm>
          <a:prstGeom prst="rect">
            <a:avLst/>
          </a:prstGeom>
          <a:solidFill>
            <a:srgbClr val="FFFFFF"/>
          </a:solidFill>
          <a:ln w="15240">
            <a:solidFill>
              <a:srgbClr val="007C83"/>
            </a:solidFill>
          </a:ln>
        </p:spPr>
        <p:txBody>
          <a:bodyPr/>
          <a:lstStyle/>
          <a:p>
            <a:endParaRPr lang="en-US"/>
          </a:p>
        </p:txBody>
      </p:sp>
      <p:sp>
        <p:nvSpPr>
          <p:cNvPr id="69" name="Rectangle 68">
            <a:extLst>
              <a:ext uri="{FF2B5EF4-FFF2-40B4-BE49-F238E27FC236}">
                <a16:creationId xmlns:a16="http://schemas.microsoft.com/office/drawing/2014/main" id="{82A0F50F-C177-468D-BE52-4DE609C190BF}"/>
              </a:ext>
            </a:extLst>
          </p:cNvPr>
          <p:cNvSpPr>
            <a:spLocks noGrp="1"/>
          </p:cNvSpPr>
          <p:nvPr/>
        </p:nvSpPr>
        <p:spPr>
          <a:xfrm>
            <a:off x="8486775" y="5505450"/>
            <a:ext cx="161925" cy="19050"/>
          </a:xfrm>
          <a:prstGeom prst="rect">
            <a:avLst/>
          </a:prstGeom>
          <a:solidFill>
            <a:srgbClr val="007C83"/>
          </a:solidFill>
          <a:ln w="11906">
            <a:solidFill>
              <a:srgbClr val="007C83"/>
            </a:solidFill>
          </a:ln>
        </p:spPr>
        <p:txBody>
          <a:bodyPr/>
          <a:lstStyle/>
          <a:p>
            <a:endParaRPr lang="en-US"/>
          </a:p>
        </p:txBody>
      </p:sp>
      <p:sp>
        <p:nvSpPr>
          <p:cNvPr id="70" name="Rectangle 69">
            <a:extLst>
              <a:ext uri="{FF2B5EF4-FFF2-40B4-BE49-F238E27FC236}">
                <a16:creationId xmlns:a16="http://schemas.microsoft.com/office/drawing/2014/main" id="{4F99F8DE-B1B9-4208-BD31-B759BA0B1AC7}"/>
              </a:ext>
            </a:extLst>
          </p:cNvPr>
          <p:cNvSpPr>
            <a:spLocks noGrp="1"/>
          </p:cNvSpPr>
          <p:nvPr/>
        </p:nvSpPr>
        <p:spPr>
          <a:xfrm>
            <a:off x="8486775" y="5572125"/>
            <a:ext cx="161925" cy="19050"/>
          </a:xfrm>
          <a:prstGeom prst="rect">
            <a:avLst/>
          </a:prstGeom>
          <a:solidFill>
            <a:srgbClr val="007C83"/>
          </a:solidFill>
          <a:ln w="11906">
            <a:solidFill>
              <a:srgbClr val="007C83"/>
            </a:solidFill>
          </a:ln>
        </p:spPr>
        <p:txBody>
          <a:bodyPr/>
          <a:lstStyle/>
          <a:p>
            <a:endParaRPr lang="en-US"/>
          </a:p>
        </p:txBody>
      </p:sp>
      <p:sp>
        <p:nvSpPr>
          <p:cNvPr id="71" name="Rectangle 70">
            <a:extLst>
              <a:ext uri="{FF2B5EF4-FFF2-40B4-BE49-F238E27FC236}">
                <a16:creationId xmlns:a16="http://schemas.microsoft.com/office/drawing/2014/main" id="{362086CF-88C3-48F5-BDA1-63A36777EB33}"/>
              </a:ext>
            </a:extLst>
          </p:cNvPr>
          <p:cNvSpPr>
            <a:spLocks noGrp="1"/>
          </p:cNvSpPr>
          <p:nvPr/>
        </p:nvSpPr>
        <p:spPr>
          <a:xfrm>
            <a:off x="8486775" y="5638800"/>
            <a:ext cx="161925" cy="19050"/>
          </a:xfrm>
          <a:prstGeom prst="rect">
            <a:avLst/>
          </a:prstGeom>
          <a:solidFill>
            <a:srgbClr val="007C83"/>
          </a:solidFill>
          <a:ln w="11906">
            <a:solidFill>
              <a:srgbClr val="007C83"/>
            </a:solidFill>
          </a:ln>
        </p:spPr>
        <p:txBody>
          <a:bodyPr/>
          <a:lstStyle/>
          <a:p>
            <a:endParaRPr lang="en-US"/>
          </a:p>
        </p:txBody>
      </p:sp>
      <p:sp>
        <p:nvSpPr>
          <p:cNvPr id="72" name="Rectangle 71">
            <a:extLst>
              <a:ext uri="{FF2B5EF4-FFF2-40B4-BE49-F238E27FC236}">
                <a16:creationId xmlns:a16="http://schemas.microsoft.com/office/drawing/2014/main" id="{625A66FD-C24E-4810-98CB-4601CC93EEE8}"/>
              </a:ext>
            </a:extLst>
          </p:cNvPr>
          <p:cNvSpPr>
            <a:spLocks noGrp="1"/>
          </p:cNvSpPr>
          <p:nvPr/>
        </p:nvSpPr>
        <p:spPr>
          <a:xfrm>
            <a:off x="6334125" y="5410200"/>
            <a:ext cx="1990725" cy="371475"/>
          </a:xfrm>
          <a:prstGeom prst="rect">
            <a:avLst/>
          </a:prstGeom>
          <a:noFill/>
          <a:ln w="0">
            <a:noFill/>
          </a:ln>
        </p:spPr>
        <p:txBody>
          <a:bodyPr>
            <a:noAutofit/>
          </a:bodyPr>
          <a:lstStyle/>
          <a:p>
            <a:pPr>
              <a:defRPr sz="1200" b="1">
                <a:solidFill>
                  <a:srgbClr val="0B1F3A"/>
                </a:solidFill>
                <a:latin typeface="Segoe UI"/>
                <a:ea typeface="Segoe UI"/>
                <a:cs typeface="Segoe UI"/>
              </a:defRPr>
            </a:pPr>
            <a:r>
              <a:rPr sz="1200" b="1">
                <a:solidFill>
                  <a:srgbClr val="0B1F3A"/>
                </a:solidFill>
                <a:latin typeface="Segoe UI"/>
                <a:ea typeface="Segoe UI"/>
                <a:cs typeface="Segoe UI"/>
              </a:rPr>
              <a:t>Document / vector store</a:t>
            </a:r>
          </a:p>
        </p:txBody>
      </p:sp>
      <p:sp>
        <p:nvSpPr>
          <p:cNvPr id="73" name="Rectangle: Rounded Corners 72">
            <a:extLst>
              <a:ext uri="{FF2B5EF4-FFF2-40B4-BE49-F238E27FC236}">
                <a16:creationId xmlns:a16="http://schemas.microsoft.com/office/drawing/2014/main" id="{D5DC2B60-B59A-4FA5-9BA9-185A74962555}"/>
              </a:ext>
            </a:extLst>
          </p:cNvPr>
          <p:cNvSpPr>
            <a:spLocks noGrp="1"/>
          </p:cNvSpPr>
          <p:nvPr/>
        </p:nvSpPr>
        <p:spPr>
          <a:xfrm>
            <a:off x="9086850" y="5314950"/>
            <a:ext cx="2647950" cy="514350"/>
          </a:xfrm>
          <a:prstGeom prst="roundRect">
            <a:avLst>
              <a:gd name="adj" fmla="val 11111"/>
            </a:avLst>
          </a:prstGeom>
          <a:solidFill>
            <a:srgbClr val="FFFFFF"/>
          </a:solidFill>
          <a:ln w="11906">
            <a:solidFill>
              <a:srgbClr val="B8C7D9"/>
            </a:solidFill>
          </a:ln>
        </p:spPr>
        <p:txBody>
          <a:bodyPr/>
          <a:lstStyle/>
          <a:p>
            <a:endParaRPr lang="en-US"/>
          </a:p>
        </p:txBody>
      </p:sp>
      <p:sp>
        <p:nvSpPr>
          <p:cNvPr id="74" name="Oval 73">
            <a:extLst>
              <a:ext uri="{FF2B5EF4-FFF2-40B4-BE49-F238E27FC236}">
                <a16:creationId xmlns:a16="http://schemas.microsoft.com/office/drawing/2014/main" id="{755A8E11-DB7F-491C-88CB-74D2631A8E55}"/>
              </a:ext>
            </a:extLst>
          </p:cNvPr>
          <p:cNvSpPr>
            <a:spLocks noGrp="1"/>
          </p:cNvSpPr>
          <p:nvPr/>
        </p:nvSpPr>
        <p:spPr>
          <a:xfrm>
            <a:off x="11287125" y="5648325"/>
            <a:ext cx="304800" cy="95250"/>
          </a:xfrm>
          <a:prstGeom prst="ellipse">
            <a:avLst/>
          </a:prstGeom>
          <a:solidFill>
            <a:srgbClr val="FFFFFF"/>
          </a:solidFill>
          <a:ln w="15240">
            <a:solidFill>
              <a:srgbClr val="007C83"/>
            </a:solidFill>
          </a:ln>
        </p:spPr>
        <p:txBody>
          <a:bodyPr/>
          <a:lstStyle/>
          <a:p>
            <a:endParaRPr lang="en-US"/>
          </a:p>
        </p:txBody>
      </p:sp>
      <p:sp>
        <p:nvSpPr>
          <p:cNvPr id="75" name="Rectangle 74">
            <a:extLst>
              <a:ext uri="{FF2B5EF4-FFF2-40B4-BE49-F238E27FC236}">
                <a16:creationId xmlns:a16="http://schemas.microsoft.com/office/drawing/2014/main" id="{3E803162-C1BE-46DD-BAD5-6D809E185DF3}"/>
              </a:ext>
            </a:extLst>
          </p:cNvPr>
          <p:cNvSpPr>
            <a:spLocks noGrp="1"/>
          </p:cNvSpPr>
          <p:nvPr/>
        </p:nvSpPr>
        <p:spPr>
          <a:xfrm>
            <a:off x="11287125" y="5476875"/>
            <a:ext cx="304800" cy="219075"/>
          </a:xfrm>
          <a:prstGeom prst="rect">
            <a:avLst/>
          </a:prstGeom>
          <a:solidFill>
            <a:srgbClr val="FFFFFF"/>
          </a:solidFill>
          <a:ln w="15240">
            <a:solidFill>
              <a:srgbClr val="007C83"/>
            </a:solidFill>
          </a:ln>
        </p:spPr>
        <p:txBody>
          <a:bodyPr/>
          <a:lstStyle/>
          <a:p>
            <a:endParaRPr lang="en-US"/>
          </a:p>
        </p:txBody>
      </p:sp>
      <p:sp>
        <p:nvSpPr>
          <p:cNvPr id="76" name="Oval 75">
            <a:extLst>
              <a:ext uri="{FF2B5EF4-FFF2-40B4-BE49-F238E27FC236}">
                <a16:creationId xmlns:a16="http://schemas.microsoft.com/office/drawing/2014/main" id="{2F4B48D9-C356-40E9-BAB7-A388B34BA6CC}"/>
              </a:ext>
            </a:extLst>
          </p:cNvPr>
          <p:cNvSpPr>
            <a:spLocks noGrp="1"/>
          </p:cNvSpPr>
          <p:nvPr/>
        </p:nvSpPr>
        <p:spPr>
          <a:xfrm>
            <a:off x="11287125" y="5429250"/>
            <a:ext cx="304800" cy="95250"/>
          </a:xfrm>
          <a:prstGeom prst="ellipse">
            <a:avLst/>
          </a:prstGeom>
          <a:solidFill>
            <a:srgbClr val="FFFFFF"/>
          </a:solidFill>
          <a:ln w="15240">
            <a:solidFill>
              <a:srgbClr val="007C83"/>
            </a:solidFill>
          </a:ln>
        </p:spPr>
        <p:txBody>
          <a:bodyPr/>
          <a:lstStyle/>
          <a:p>
            <a:endParaRPr lang="en-US"/>
          </a:p>
        </p:txBody>
      </p:sp>
      <p:sp>
        <p:nvSpPr>
          <p:cNvPr id="77" name="Rectangle 76">
            <a:extLst>
              <a:ext uri="{FF2B5EF4-FFF2-40B4-BE49-F238E27FC236}">
                <a16:creationId xmlns:a16="http://schemas.microsoft.com/office/drawing/2014/main" id="{D72867D6-CBA2-4017-8649-854BB638EB2A}"/>
              </a:ext>
            </a:extLst>
          </p:cNvPr>
          <p:cNvSpPr>
            <a:spLocks noGrp="1"/>
          </p:cNvSpPr>
          <p:nvPr/>
        </p:nvSpPr>
        <p:spPr>
          <a:xfrm>
            <a:off x="9210675" y="5410200"/>
            <a:ext cx="1990725" cy="371475"/>
          </a:xfrm>
          <a:prstGeom prst="rect">
            <a:avLst/>
          </a:prstGeom>
          <a:noFill/>
          <a:ln w="0">
            <a:noFill/>
          </a:ln>
        </p:spPr>
        <p:txBody>
          <a:bodyPr>
            <a:noAutofit/>
          </a:bodyPr>
          <a:lstStyle/>
          <a:p>
            <a:pPr>
              <a:defRPr sz="1200" b="1">
                <a:solidFill>
                  <a:srgbClr val="0B1F3A"/>
                </a:solidFill>
                <a:latin typeface="Segoe UI"/>
                <a:ea typeface="Segoe UI"/>
                <a:cs typeface="Segoe UI"/>
              </a:defRPr>
            </a:pPr>
            <a:r>
              <a:rPr sz="1200" b="1">
                <a:solidFill>
                  <a:srgbClr val="0B1F3A"/>
                </a:solidFill>
                <a:latin typeface="Segoe UI"/>
                <a:ea typeface="Segoe UI"/>
                <a:cs typeface="Segoe UI"/>
              </a:rPr>
              <a:t>Evidence / workflow state</a:t>
            </a:r>
          </a:p>
        </p:txBody>
      </p:sp>
      <p:sp>
        <p:nvSpPr>
          <p:cNvPr id="78" name="Rectangle: Rounded Corners 77">
            <a:extLst>
              <a:ext uri="{FF2B5EF4-FFF2-40B4-BE49-F238E27FC236}">
                <a16:creationId xmlns:a16="http://schemas.microsoft.com/office/drawing/2014/main" id="{1869CFC3-76D0-4260-BF02-218C10289FAD}"/>
              </a:ext>
            </a:extLst>
          </p:cNvPr>
          <p:cNvSpPr>
            <a:spLocks noGrp="1"/>
          </p:cNvSpPr>
          <p:nvPr/>
        </p:nvSpPr>
        <p:spPr>
          <a:xfrm>
            <a:off x="457200" y="5962650"/>
            <a:ext cx="11277600" cy="409575"/>
          </a:xfrm>
          <a:prstGeom prst="roundRect">
            <a:avLst>
              <a:gd name="adj" fmla="val 13953"/>
            </a:avLst>
          </a:prstGeom>
          <a:solidFill>
            <a:srgbClr val="0B1F3A"/>
          </a:solidFill>
          <a:ln w="11906">
            <a:solidFill>
              <a:srgbClr val="0B1F3A"/>
            </a:solidFill>
          </a:ln>
        </p:spPr>
        <p:txBody>
          <a:bodyPr/>
          <a:lstStyle/>
          <a:p>
            <a:endParaRPr lang="en-US"/>
          </a:p>
        </p:txBody>
      </p:sp>
      <p:sp>
        <p:nvSpPr>
          <p:cNvPr id="79" name="Rectangle 78">
            <a:extLst>
              <a:ext uri="{FF2B5EF4-FFF2-40B4-BE49-F238E27FC236}">
                <a16:creationId xmlns:a16="http://schemas.microsoft.com/office/drawing/2014/main" id="{1B60EDB4-1F59-44B0-A245-F9484126417B}"/>
              </a:ext>
            </a:extLst>
          </p:cNvPr>
          <p:cNvSpPr>
            <a:spLocks noGrp="1"/>
          </p:cNvSpPr>
          <p:nvPr/>
        </p:nvSpPr>
        <p:spPr>
          <a:xfrm>
            <a:off x="581025" y="6057900"/>
            <a:ext cx="11029950" cy="266700"/>
          </a:xfrm>
          <a:prstGeom prst="rect">
            <a:avLst/>
          </a:prstGeom>
          <a:noFill/>
          <a:ln w="0">
            <a:noFill/>
          </a:ln>
        </p:spPr>
        <p:txBody>
          <a:bodyPr>
            <a:noAutofit/>
          </a:bodyPr>
          <a:lstStyle/>
          <a:p>
            <a:pPr>
              <a:defRPr sz="1200" b="1">
                <a:solidFill>
                  <a:srgbClr val="FFFFFF"/>
                </a:solidFill>
                <a:latin typeface="Segoe UI"/>
                <a:ea typeface="Segoe UI"/>
                <a:cs typeface="Segoe UI"/>
              </a:defRPr>
            </a:pPr>
            <a:r>
              <a:rPr sz="1200" b="1">
                <a:solidFill>
                  <a:srgbClr val="FFFFFF"/>
                </a:solidFill>
                <a:latin typeface="Segoe UI"/>
                <a:ea typeface="Segoe UI"/>
                <a:cs typeface="Segoe UI"/>
              </a:rPr>
              <a:t>Return path: results → validation → cited answer / decision brief → human disposition. No writes to systems of record.</a:t>
            </a:r>
          </a:p>
        </p:txBody>
      </p:sp>
    </p:spTree>
    <p:extLst>
      <p:ext uri="{BB962C8B-B14F-4D97-AF65-F5344CB8AC3E}">
        <p14:creationId xmlns:p14="http://schemas.microsoft.com/office/powerpoint/2010/main" val="10165880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ectangle 60">
            <a:extLst>
              <a:ext uri="{FF2B5EF4-FFF2-40B4-BE49-F238E27FC236}">
                <a16:creationId xmlns:a16="http://schemas.microsoft.com/office/drawing/2014/main" id="{103FBDE7-772D-44BE-B331-AEFAC6C322FC}"/>
              </a:ext>
            </a:extLst>
          </p:cNvPr>
          <p:cNvSpPr>
            <a:spLocks noGrp="1"/>
          </p:cNvSpPr>
          <p:nvPr/>
        </p:nvSpPr>
        <p:spPr>
          <a:xfrm>
            <a:off x="0" y="0"/>
            <a:ext cx="12192000" cy="95250"/>
          </a:xfrm>
          <a:prstGeom prst="rect">
            <a:avLst/>
          </a:prstGeom>
          <a:solidFill>
            <a:srgbClr val="0B1F3A"/>
          </a:solidFill>
          <a:ln w="11906">
            <a:solidFill>
              <a:srgbClr val="0B1F3A"/>
            </a:solidFill>
          </a:ln>
        </p:spPr>
        <p:txBody>
          <a:bodyPr/>
          <a:lstStyle/>
          <a:p>
            <a:endParaRPr lang="en-US"/>
          </a:p>
        </p:txBody>
      </p:sp>
      <p:sp>
        <p:nvSpPr>
          <p:cNvPr id="2" name="Rectangle 1">
            <a:extLst>
              <a:ext uri="{FF2B5EF4-FFF2-40B4-BE49-F238E27FC236}">
                <a16:creationId xmlns:a16="http://schemas.microsoft.com/office/drawing/2014/main" id="{94BD49E4-5B73-4896-9C31-4DF40F59323F}"/>
              </a:ext>
            </a:extLst>
          </p:cNvPr>
          <p:cNvSpPr>
            <a:spLocks noGrp="1"/>
          </p:cNvSpPr>
          <p:nvPr/>
        </p:nvSpPr>
        <p:spPr>
          <a:xfrm>
            <a:off x="457200" y="352425"/>
            <a:ext cx="11239500" cy="504825"/>
          </a:xfrm>
          <a:prstGeom prst="rect">
            <a:avLst/>
          </a:prstGeom>
          <a:noFill/>
          <a:ln w="0">
            <a:noFill/>
          </a:ln>
        </p:spPr>
        <p:txBody>
          <a:bodyPr>
            <a:noAutofit/>
          </a:bodyPr>
          <a:lstStyle/>
          <a:p>
            <a:pPr>
              <a:defRPr sz="2550" b="1">
                <a:solidFill>
                  <a:srgbClr val="0B1F3A"/>
                </a:solidFill>
                <a:latin typeface="Segoe UI"/>
                <a:ea typeface="Segoe UI"/>
                <a:cs typeface="Segoe UI"/>
              </a:defRPr>
            </a:pPr>
            <a:r>
              <a:rPr sz="2550" b="1">
                <a:solidFill>
                  <a:srgbClr val="0B1F3A"/>
                </a:solidFill>
                <a:latin typeface="Segoe UI"/>
                <a:ea typeface="Segoe UI"/>
                <a:cs typeface="Segoe UI"/>
              </a:rPr>
              <a:t>Data foundation: ingest once, publish consistent read models</a:t>
            </a:r>
          </a:p>
        </p:txBody>
      </p:sp>
      <p:sp>
        <p:nvSpPr>
          <p:cNvPr id="3" name="Rectangle 2">
            <a:extLst>
              <a:ext uri="{FF2B5EF4-FFF2-40B4-BE49-F238E27FC236}">
                <a16:creationId xmlns:a16="http://schemas.microsoft.com/office/drawing/2014/main" id="{63F3A9D8-D0AC-4B45-9AC4-772743B60BC8}"/>
              </a:ext>
            </a:extLst>
          </p:cNvPr>
          <p:cNvSpPr>
            <a:spLocks noGrp="1"/>
          </p:cNvSpPr>
          <p:nvPr/>
        </p:nvSpPr>
        <p:spPr>
          <a:xfrm>
            <a:off x="466725" y="885825"/>
            <a:ext cx="11239500" cy="409575"/>
          </a:xfrm>
          <a:prstGeom prst="rect">
            <a:avLst/>
          </a:prstGeom>
          <a:noFill/>
          <a:ln w="0">
            <a:noFill/>
          </a:ln>
        </p:spPr>
        <p:txBody>
          <a:bodyPr>
            <a:noAutofit/>
          </a:bodyPr>
          <a:lstStyle/>
          <a:p>
            <a:pPr>
              <a:defRPr sz="1350" b="0">
                <a:solidFill>
                  <a:srgbClr val="46586C"/>
                </a:solidFill>
                <a:latin typeface="Segoe UI"/>
                <a:ea typeface="Segoe UI"/>
                <a:cs typeface="Segoe UI"/>
              </a:defRPr>
            </a:pPr>
            <a:r>
              <a:rPr sz="1350" b="0">
                <a:solidFill>
                  <a:srgbClr val="46586C"/>
                </a:solidFill>
                <a:latin typeface="Segoe UI"/>
                <a:ea typeface="Segoe UI"/>
                <a:cs typeface="Segoe UI"/>
              </a:rPr>
              <a:t>Canonical identities and source versions connect structured facts, relationships and document evidence.</a:t>
            </a:r>
          </a:p>
        </p:txBody>
      </p:sp>
      <p:sp>
        <p:nvSpPr>
          <p:cNvPr id="4" name="Rectangle 3">
            <a:extLst>
              <a:ext uri="{FF2B5EF4-FFF2-40B4-BE49-F238E27FC236}">
                <a16:creationId xmlns:a16="http://schemas.microsoft.com/office/drawing/2014/main" id="{565F55BE-C4B2-4D8C-AF0F-D089C9D8301A}"/>
              </a:ext>
            </a:extLst>
          </p:cNvPr>
          <p:cNvSpPr>
            <a:spLocks noGrp="1"/>
          </p:cNvSpPr>
          <p:nvPr/>
        </p:nvSpPr>
        <p:spPr>
          <a:xfrm>
            <a:off x="457200" y="6562725"/>
            <a:ext cx="9906000" cy="200025"/>
          </a:xfrm>
          <a:prstGeom prst="rect">
            <a:avLst/>
          </a:prstGeom>
          <a:noFill/>
          <a:ln w="0">
            <a:noFill/>
          </a:ln>
        </p:spPr>
        <p:txBody>
          <a:bodyPr>
            <a:noAutofit/>
          </a:bodyPr>
          <a:lstStyle/>
          <a:p>
            <a:pPr>
              <a:defRPr sz="900" b="0">
                <a:solidFill>
                  <a:srgbClr val="46586C"/>
                </a:solidFill>
                <a:latin typeface="Segoe UI"/>
                <a:ea typeface="Segoe UI"/>
                <a:cs typeface="Segoe UI"/>
              </a:defRPr>
            </a:pPr>
            <a:r>
              <a:rPr sz="900" b="0">
                <a:solidFill>
                  <a:srgbClr val="46586C"/>
                </a:solidFill>
                <a:latin typeface="Segoe UI"/>
                <a:ea typeface="Segoe UI"/>
                <a:cs typeface="Segoe UI"/>
              </a:rPr>
              <a:t>CITI VENDOR DECISION INTELLIGENCE  /  PROPOSED SOLUTION</a:t>
            </a:r>
          </a:p>
        </p:txBody>
      </p:sp>
      <p:sp>
        <p:nvSpPr>
          <p:cNvPr id="5" name="Rectangle 4">
            <a:extLst>
              <a:ext uri="{FF2B5EF4-FFF2-40B4-BE49-F238E27FC236}">
                <a16:creationId xmlns:a16="http://schemas.microsoft.com/office/drawing/2014/main" id="{DCE0097A-2F2F-4D4A-886A-AE998A9B45CF}"/>
              </a:ext>
            </a:extLst>
          </p:cNvPr>
          <p:cNvSpPr>
            <a:spLocks noGrp="1"/>
          </p:cNvSpPr>
          <p:nvPr/>
        </p:nvSpPr>
        <p:spPr>
          <a:xfrm>
            <a:off x="11391900" y="6562725"/>
            <a:ext cx="323850" cy="190500"/>
          </a:xfrm>
          <a:prstGeom prst="rect">
            <a:avLst/>
          </a:prstGeom>
          <a:noFill/>
          <a:ln w="0">
            <a:noFill/>
          </a:ln>
        </p:spPr>
        <p:txBody>
          <a:bodyPr>
            <a:noAutofit/>
          </a:bodyPr>
          <a:lstStyle/>
          <a:p>
            <a:pPr>
              <a:defRPr sz="900" b="1">
                <a:solidFill>
                  <a:srgbClr val="0B1F3A"/>
                </a:solidFill>
                <a:latin typeface="Segoe UI"/>
                <a:ea typeface="Segoe UI"/>
                <a:cs typeface="Segoe UI"/>
              </a:defRPr>
            </a:pPr>
            <a:r>
              <a:rPr sz="900" b="1">
                <a:solidFill>
                  <a:srgbClr val="0B1F3A"/>
                </a:solidFill>
                <a:latin typeface="Segoe UI"/>
                <a:ea typeface="Segoe UI"/>
                <a:cs typeface="Segoe UI"/>
              </a:rPr>
              <a:t>02</a:t>
            </a:r>
          </a:p>
        </p:txBody>
      </p:sp>
      <p:sp>
        <p:nvSpPr>
          <p:cNvPr id="6" name="Rectangle: Rounded Corners 5">
            <a:extLst>
              <a:ext uri="{FF2B5EF4-FFF2-40B4-BE49-F238E27FC236}">
                <a16:creationId xmlns:a16="http://schemas.microsoft.com/office/drawing/2014/main" id="{F339A41B-4E7D-40F7-927C-20F81CC800F6}"/>
              </a:ext>
            </a:extLst>
          </p:cNvPr>
          <p:cNvSpPr>
            <a:spLocks noGrp="1"/>
          </p:cNvSpPr>
          <p:nvPr/>
        </p:nvSpPr>
        <p:spPr>
          <a:xfrm>
            <a:off x="457200" y="1438275"/>
            <a:ext cx="2647950" cy="533400"/>
          </a:xfrm>
          <a:prstGeom prst="roundRect">
            <a:avLst>
              <a:gd name="adj" fmla="val 10714"/>
            </a:avLst>
          </a:prstGeom>
          <a:solidFill>
            <a:srgbClr val="E4F6F7"/>
          </a:solidFill>
          <a:ln w="11906">
            <a:solidFill>
              <a:srgbClr val="B8C7D9"/>
            </a:solidFill>
          </a:ln>
        </p:spPr>
        <p:txBody>
          <a:bodyPr/>
          <a:lstStyle/>
          <a:p>
            <a:endParaRPr lang="en-US"/>
          </a:p>
        </p:txBody>
      </p:sp>
      <p:sp>
        <p:nvSpPr>
          <p:cNvPr id="7" name="Rectangle 6">
            <a:extLst>
              <a:ext uri="{FF2B5EF4-FFF2-40B4-BE49-F238E27FC236}">
                <a16:creationId xmlns:a16="http://schemas.microsoft.com/office/drawing/2014/main" id="{ED050651-2F4C-4B44-A477-0163B0FC14DC}"/>
              </a:ext>
            </a:extLst>
          </p:cNvPr>
          <p:cNvSpPr>
            <a:spLocks noGrp="1"/>
          </p:cNvSpPr>
          <p:nvPr/>
        </p:nvSpPr>
        <p:spPr>
          <a:xfrm>
            <a:off x="581025" y="1533525"/>
            <a:ext cx="2400300" cy="390525"/>
          </a:xfrm>
          <a:prstGeom prst="rect">
            <a:avLst/>
          </a:prstGeom>
          <a:noFill/>
          <a:ln w="0">
            <a:noFill/>
          </a:ln>
        </p:spPr>
        <p:txBody>
          <a:bodyPr>
            <a:noAutofit/>
          </a:bodyPr>
          <a:lstStyle/>
          <a:p>
            <a:pPr>
              <a:defRPr sz="1425" b="1">
                <a:solidFill>
                  <a:srgbClr val="0B1F3A"/>
                </a:solidFill>
                <a:latin typeface="Segoe UI"/>
                <a:ea typeface="Segoe UI"/>
                <a:cs typeface="Segoe UI"/>
              </a:defRPr>
            </a:pPr>
            <a:r>
              <a:rPr sz="1425" b="1">
                <a:solidFill>
                  <a:srgbClr val="0B1F3A"/>
                </a:solidFill>
                <a:latin typeface="Segoe UI"/>
                <a:ea typeface="Segoe UI"/>
                <a:cs typeface="Segoe UI"/>
              </a:rPr>
              <a:t>Vendor / organization</a:t>
            </a:r>
          </a:p>
        </p:txBody>
      </p:sp>
      <p:sp>
        <p:nvSpPr>
          <p:cNvPr id="8" name="Rectangle: Rounded Corners 7">
            <a:extLst>
              <a:ext uri="{FF2B5EF4-FFF2-40B4-BE49-F238E27FC236}">
                <a16:creationId xmlns:a16="http://schemas.microsoft.com/office/drawing/2014/main" id="{83038656-1C69-4FB2-AAB2-14D6D59792DF}"/>
              </a:ext>
            </a:extLst>
          </p:cNvPr>
          <p:cNvSpPr>
            <a:spLocks noGrp="1"/>
          </p:cNvSpPr>
          <p:nvPr/>
        </p:nvSpPr>
        <p:spPr>
          <a:xfrm>
            <a:off x="3333750" y="1438275"/>
            <a:ext cx="2647950" cy="533400"/>
          </a:xfrm>
          <a:prstGeom prst="roundRect">
            <a:avLst>
              <a:gd name="adj" fmla="val 10714"/>
            </a:avLst>
          </a:prstGeom>
          <a:solidFill>
            <a:srgbClr val="E4F6F7"/>
          </a:solidFill>
          <a:ln w="11906">
            <a:solidFill>
              <a:srgbClr val="B8C7D9"/>
            </a:solidFill>
          </a:ln>
        </p:spPr>
        <p:txBody>
          <a:bodyPr/>
          <a:lstStyle/>
          <a:p>
            <a:endParaRPr lang="en-US"/>
          </a:p>
        </p:txBody>
      </p:sp>
      <p:sp>
        <p:nvSpPr>
          <p:cNvPr id="9" name="Rectangle 8">
            <a:extLst>
              <a:ext uri="{FF2B5EF4-FFF2-40B4-BE49-F238E27FC236}">
                <a16:creationId xmlns:a16="http://schemas.microsoft.com/office/drawing/2014/main" id="{6C931158-7F9E-4A9C-BF07-2B470A76EA04}"/>
              </a:ext>
            </a:extLst>
          </p:cNvPr>
          <p:cNvSpPr>
            <a:spLocks noGrp="1"/>
          </p:cNvSpPr>
          <p:nvPr/>
        </p:nvSpPr>
        <p:spPr>
          <a:xfrm>
            <a:off x="3457575" y="1533525"/>
            <a:ext cx="2400300" cy="390525"/>
          </a:xfrm>
          <a:prstGeom prst="rect">
            <a:avLst/>
          </a:prstGeom>
          <a:noFill/>
          <a:ln w="0">
            <a:noFill/>
          </a:ln>
        </p:spPr>
        <p:txBody>
          <a:bodyPr>
            <a:noAutofit/>
          </a:bodyPr>
          <a:lstStyle/>
          <a:p>
            <a:pPr>
              <a:defRPr sz="1425" b="1">
                <a:solidFill>
                  <a:srgbClr val="0B1F3A"/>
                </a:solidFill>
                <a:latin typeface="Segoe UI"/>
                <a:ea typeface="Segoe UI"/>
                <a:cs typeface="Segoe UI"/>
              </a:defRPr>
            </a:pPr>
            <a:r>
              <a:rPr sz="1425" b="1">
                <a:solidFill>
                  <a:srgbClr val="0B1F3A"/>
                </a:solidFill>
                <a:latin typeface="Segoe UI"/>
                <a:ea typeface="Segoe UI"/>
                <a:cs typeface="Segoe UI"/>
              </a:rPr>
              <a:t>Contracts / finance</a:t>
            </a:r>
          </a:p>
        </p:txBody>
      </p:sp>
      <p:sp>
        <p:nvSpPr>
          <p:cNvPr id="10" name="Rectangle: Rounded Corners 9">
            <a:extLst>
              <a:ext uri="{FF2B5EF4-FFF2-40B4-BE49-F238E27FC236}">
                <a16:creationId xmlns:a16="http://schemas.microsoft.com/office/drawing/2014/main" id="{CD9DCBE9-FB2E-40DC-91EC-4576584014F7}"/>
              </a:ext>
            </a:extLst>
          </p:cNvPr>
          <p:cNvSpPr>
            <a:spLocks noGrp="1"/>
          </p:cNvSpPr>
          <p:nvPr/>
        </p:nvSpPr>
        <p:spPr>
          <a:xfrm>
            <a:off x="6210300" y="1438275"/>
            <a:ext cx="2647950" cy="533400"/>
          </a:xfrm>
          <a:prstGeom prst="roundRect">
            <a:avLst>
              <a:gd name="adj" fmla="val 10714"/>
            </a:avLst>
          </a:prstGeom>
          <a:solidFill>
            <a:srgbClr val="E4F6F7"/>
          </a:solidFill>
          <a:ln w="11906">
            <a:solidFill>
              <a:srgbClr val="B8C7D9"/>
            </a:solidFill>
          </a:ln>
        </p:spPr>
        <p:txBody>
          <a:bodyPr/>
          <a:lstStyle/>
          <a:p>
            <a:endParaRPr lang="en-US"/>
          </a:p>
        </p:txBody>
      </p:sp>
      <p:sp>
        <p:nvSpPr>
          <p:cNvPr id="11" name="Rectangle 10">
            <a:extLst>
              <a:ext uri="{FF2B5EF4-FFF2-40B4-BE49-F238E27FC236}">
                <a16:creationId xmlns:a16="http://schemas.microsoft.com/office/drawing/2014/main" id="{BBD3A500-37F3-45F7-A6BF-02B05F791212}"/>
              </a:ext>
            </a:extLst>
          </p:cNvPr>
          <p:cNvSpPr>
            <a:spLocks noGrp="1"/>
          </p:cNvSpPr>
          <p:nvPr/>
        </p:nvSpPr>
        <p:spPr>
          <a:xfrm>
            <a:off x="6334125" y="1533525"/>
            <a:ext cx="2400300" cy="390525"/>
          </a:xfrm>
          <a:prstGeom prst="rect">
            <a:avLst/>
          </a:prstGeom>
          <a:noFill/>
          <a:ln w="0">
            <a:noFill/>
          </a:ln>
        </p:spPr>
        <p:txBody>
          <a:bodyPr>
            <a:noAutofit/>
          </a:bodyPr>
          <a:lstStyle/>
          <a:p>
            <a:pPr>
              <a:defRPr sz="1425" b="1">
                <a:solidFill>
                  <a:srgbClr val="0B1F3A"/>
                </a:solidFill>
                <a:latin typeface="Segoe UI"/>
                <a:ea typeface="Segoe UI"/>
                <a:cs typeface="Segoe UI"/>
              </a:defRPr>
            </a:pPr>
            <a:r>
              <a:rPr sz="1425" b="1">
                <a:solidFill>
                  <a:srgbClr val="0B1F3A"/>
                </a:solidFill>
                <a:latin typeface="Segoe UI"/>
                <a:ea typeface="Segoe UI"/>
                <a:cs typeface="Segoe UI"/>
              </a:rPr>
              <a:t>Workforce / technology</a:t>
            </a:r>
          </a:p>
        </p:txBody>
      </p:sp>
      <p:sp>
        <p:nvSpPr>
          <p:cNvPr id="12" name="Rectangle: Rounded Corners 11">
            <a:extLst>
              <a:ext uri="{FF2B5EF4-FFF2-40B4-BE49-F238E27FC236}">
                <a16:creationId xmlns:a16="http://schemas.microsoft.com/office/drawing/2014/main" id="{F330C383-2236-40A1-B630-1BA23DC6A27A}"/>
              </a:ext>
            </a:extLst>
          </p:cNvPr>
          <p:cNvSpPr>
            <a:spLocks noGrp="1"/>
          </p:cNvSpPr>
          <p:nvPr/>
        </p:nvSpPr>
        <p:spPr>
          <a:xfrm>
            <a:off x="9086850" y="1438275"/>
            <a:ext cx="2647950" cy="533400"/>
          </a:xfrm>
          <a:prstGeom prst="roundRect">
            <a:avLst>
              <a:gd name="adj" fmla="val 10714"/>
            </a:avLst>
          </a:prstGeom>
          <a:solidFill>
            <a:srgbClr val="E4F6F7"/>
          </a:solidFill>
          <a:ln w="11906">
            <a:solidFill>
              <a:srgbClr val="B8C7D9"/>
            </a:solidFill>
          </a:ln>
        </p:spPr>
        <p:txBody>
          <a:bodyPr/>
          <a:lstStyle/>
          <a:p>
            <a:endParaRPr lang="en-US"/>
          </a:p>
        </p:txBody>
      </p:sp>
      <p:sp>
        <p:nvSpPr>
          <p:cNvPr id="13" name="Rectangle 12">
            <a:extLst>
              <a:ext uri="{FF2B5EF4-FFF2-40B4-BE49-F238E27FC236}">
                <a16:creationId xmlns:a16="http://schemas.microsoft.com/office/drawing/2014/main" id="{A3D88CB3-C018-4CB2-A0D2-0E8C9F1C0962}"/>
              </a:ext>
            </a:extLst>
          </p:cNvPr>
          <p:cNvSpPr>
            <a:spLocks noGrp="1"/>
          </p:cNvSpPr>
          <p:nvPr/>
        </p:nvSpPr>
        <p:spPr>
          <a:xfrm>
            <a:off x="9210675" y="1533525"/>
            <a:ext cx="2400300" cy="390525"/>
          </a:xfrm>
          <a:prstGeom prst="rect">
            <a:avLst/>
          </a:prstGeom>
          <a:noFill/>
          <a:ln w="0">
            <a:noFill/>
          </a:ln>
        </p:spPr>
        <p:txBody>
          <a:bodyPr>
            <a:noAutofit/>
          </a:bodyPr>
          <a:lstStyle/>
          <a:p>
            <a:pPr>
              <a:defRPr sz="1425" b="1">
                <a:solidFill>
                  <a:srgbClr val="0B1F3A"/>
                </a:solidFill>
                <a:latin typeface="Segoe UI"/>
                <a:ea typeface="Segoe UI"/>
                <a:cs typeface="Segoe UI"/>
              </a:defRPr>
            </a:pPr>
            <a:r>
              <a:rPr sz="1425" b="1">
                <a:solidFill>
                  <a:srgbClr val="0B1F3A"/>
                </a:solidFill>
                <a:latin typeface="Segoe UI"/>
                <a:ea typeface="Segoe UI"/>
                <a:cs typeface="Segoe UI"/>
              </a:rPr>
              <a:t>Risk / performance / files</a:t>
            </a:r>
          </a:p>
        </p:txBody>
      </p:sp>
      <p:sp>
        <p:nvSpPr>
          <p:cNvPr id="14" name="Arrow: Down 13">
            <a:extLst>
              <a:ext uri="{FF2B5EF4-FFF2-40B4-BE49-F238E27FC236}">
                <a16:creationId xmlns:a16="http://schemas.microsoft.com/office/drawing/2014/main" id="{2D6FBC8A-AF24-4F78-B483-B67DF4088EB7}"/>
              </a:ext>
            </a:extLst>
          </p:cNvPr>
          <p:cNvSpPr>
            <a:spLocks noGrp="1"/>
          </p:cNvSpPr>
          <p:nvPr/>
        </p:nvSpPr>
        <p:spPr>
          <a:xfrm>
            <a:off x="5943600" y="2028825"/>
            <a:ext cx="190500" cy="238125"/>
          </a:xfrm>
          <a:prstGeom prst="downArrow">
            <a:avLst/>
          </a:prstGeom>
          <a:solidFill>
            <a:srgbClr val="00A6B2"/>
          </a:solidFill>
          <a:ln w="0">
            <a:noFill/>
          </a:ln>
        </p:spPr>
        <p:txBody>
          <a:bodyPr/>
          <a:lstStyle/>
          <a:p>
            <a:endParaRPr lang="en-US"/>
          </a:p>
        </p:txBody>
      </p:sp>
      <p:sp>
        <p:nvSpPr>
          <p:cNvPr id="15" name="Rectangle: Rounded Corners 14">
            <a:extLst>
              <a:ext uri="{FF2B5EF4-FFF2-40B4-BE49-F238E27FC236}">
                <a16:creationId xmlns:a16="http://schemas.microsoft.com/office/drawing/2014/main" id="{3CAE8221-0DC8-4770-8943-752C1A42911A}"/>
              </a:ext>
            </a:extLst>
          </p:cNvPr>
          <p:cNvSpPr>
            <a:spLocks noGrp="1"/>
          </p:cNvSpPr>
          <p:nvPr/>
        </p:nvSpPr>
        <p:spPr>
          <a:xfrm>
            <a:off x="457200" y="2314575"/>
            <a:ext cx="11277600" cy="514350"/>
          </a:xfrm>
          <a:prstGeom prst="roundRect">
            <a:avLst>
              <a:gd name="adj" fmla="val 11111"/>
            </a:avLst>
          </a:prstGeom>
          <a:solidFill>
            <a:srgbClr val="FFFFFF"/>
          </a:solidFill>
          <a:ln w="11906">
            <a:solidFill>
              <a:srgbClr val="B8C7D9"/>
            </a:solidFill>
          </a:ln>
        </p:spPr>
        <p:txBody>
          <a:bodyPr/>
          <a:lstStyle/>
          <a:p>
            <a:endParaRPr lang="en-US"/>
          </a:p>
        </p:txBody>
      </p:sp>
      <p:sp>
        <p:nvSpPr>
          <p:cNvPr id="16" name="Rectangle 15">
            <a:extLst>
              <a:ext uri="{FF2B5EF4-FFF2-40B4-BE49-F238E27FC236}">
                <a16:creationId xmlns:a16="http://schemas.microsoft.com/office/drawing/2014/main" id="{85AC62FF-1238-4FE1-A0D4-A0971A735119}"/>
              </a:ext>
            </a:extLst>
          </p:cNvPr>
          <p:cNvSpPr>
            <a:spLocks noGrp="1"/>
          </p:cNvSpPr>
          <p:nvPr/>
        </p:nvSpPr>
        <p:spPr>
          <a:xfrm>
            <a:off x="581025" y="2409825"/>
            <a:ext cx="11029950" cy="371475"/>
          </a:xfrm>
          <a:prstGeom prst="rect">
            <a:avLst/>
          </a:prstGeom>
          <a:noFill/>
          <a:ln w="0">
            <a:noFill/>
          </a:ln>
        </p:spPr>
        <p:txBody>
          <a:bodyPr>
            <a:noAutofit/>
          </a:bodyPr>
          <a:lstStyle/>
          <a:p>
            <a:pPr>
              <a:defRPr sz="1425" b="1">
                <a:solidFill>
                  <a:srgbClr val="0B1F3A"/>
                </a:solidFill>
                <a:latin typeface="Segoe UI"/>
                <a:ea typeface="Segoe UI"/>
                <a:cs typeface="Segoe UI"/>
              </a:defRPr>
            </a:pPr>
            <a:r>
              <a:rPr sz="1425" b="1">
                <a:solidFill>
                  <a:srgbClr val="0B1F3A"/>
                </a:solidFill>
                <a:latin typeface="Segoe UI"/>
                <a:ea typeface="Segoe UI"/>
                <a:cs typeface="Segoe UI"/>
              </a:rPr>
              <a:t>Ingest: approved API / CDC / batch  •  original payloads  •  ACLs  •  source ID  •  checksum / watermark</a:t>
            </a:r>
          </a:p>
        </p:txBody>
      </p:sp>
      <p:sp>
        <p:nvSpPr>
          <p:cNvPr id="17" name="Arrow: Down 16">
            <a:extLst>
              <a:ext uri="{FF2B5EF4-FFF2-40B4-BE49-F238E27FC236}">
                <a16:creationId xmlns:a16="http://schemas.microsoft.com/office/drawing/2014/main" id="{D1C2CDAE-DDFE-42C5-911A-8ADBEF3F928C}"/>
              </a:ext>
            </a:extLst>
          </p:cNvPr>
          <p:cNvSpPr>
            <a:spLocks noGrp="1"/>
          </p:cNvSpPr>
          <p:nvPr/>
        </p:nvSpPr>
        <p:spPr>
          <a:xfrm>
            <a:off x="2162175" y="2886075"/>
            <a:ext cx="190500" cy="209550"/>
          </a:xfrm>
          <a:prstGeom prst="downArrow">
            <a:avLst/>
          </a:prstGeom>
          <a:solidFill>
            <a:srgbClr val="00A6B2"/>
          </a:solidFill>
          <a:ln w="0">
            <a:noFill/>
          </a:ln>
        </p:spPr>
        <p:txBody>
          <a:bodyPr/>
          <a:lstStyle/>
          <a:p>
            <a:endParaRPr lang="en-US"/>
          </a:p>
        </p:txBody>
      </p:sp>
      <p:sp>
        <p:nvSpPr>
          <p:cNvPr id="18" name="Rectangle: Rounded Corners 17">
            <a:extLst>
              <a:ext uri="{FF2B5EF4-FFF2-40B4-BE49-F238E27FC236}">
                <a16:creationId xmlns:a16="http://schemas.microsoft.com/office/drawing/2014/main" id="{83AB4B9B-F966-445D-A91C-F9182B180720}"/>
              </a:ext>
            </a:extLst>
          </p:cNvPr>
          <p:cNvSpPr>
            <a:spLocks noGrp="1"/>
          </p:cNvSpPr>
          <p:nvPr/>
        </p:nvSpPr>
        <p:spPr>
          <a:xfrm>
            <a:off x="457200" y="3152775"/>
            <a:ext cx="3619500" cy="895350"/>
          </a:xfrm>
          <a:prstGeom prst="roundRect">
            <a:avLst>
              <a:gd name="adj" fmla="val 6383"/>
            </a:avLst>
          </a:prstGeom>
          <a:solidFill>
            <a:srgbClr val="FFFFFF"/>
          </a:solidFill>
          <a:ln w="11906">
            <a:solidFill>
              <a:srgbClr val="B8C7D9"/>
            </a:solidFill>
          </a:ln>
        </p:spPr>
        <p:txBody>
          <a:bodyPr/>
          <a:lstStyle/>
          <a:p>
            <a:endParaRPr lang="en-US"/>
          </a:p>
        </p:txBody>
      </p:sp>
      <p:sp>
        <p:nvSpPr>
          <p:cNvPr id="19" name="Rectangle 18">
            <a:extLst>
              <a:ext uri="{FF2B5EF4-FFF2-40B4-BE49-F238E27FC236}">
                <a16:creationId xmlns:a16="http://schemas.microsoft.com/office/drawing/2014/main" id="{68651152-F3C0-40A7-97DA-72534F43C803}"/>
              </a:ext>
            </a:extLst>
          </p:cNvPr>
          <p:cNvSpPr>
            <a:spLocks noGrp="1"/>
          </p:cNvSpPr>
          <p:nvPr/>
        </p:nvSpPr>
        <p:spPr>
          <a:xfrm>
            <a:off x="581025" y="3248025"/>
            <a:ext cx="3371850" cy="285750"/>
          </a:xfrm>
          <a:prstGeom prst="rect">
            <a:avLst/>
          </a:prstGeom>
          <a:noFill/>
          <a:ln w="0">
            <a:noFill/>
          </a:ln>
        </p:spPr>
        <p:txBody>
          <a:bodyPr>
            <a:noAutofit/>
          </a:bodyPr>
          <a:lstStyle/>
          <a:p>
            <a:pPr>
              <a:defRPr sz="1575" b="1">
                <a:solidFill>
                  <a:srgbClr val="0B1F3A"/>
                </a:solidFill>
                <a:latin typeface="Segoe UI"/>
                <a:ea typeface="Segoe UI"/>
                <a:cs typeface="Segoe UI"/>
              </a:defRPr>
            </a:pPr>
            <a:r>
              <a:rPr sz="1575" b="1">
                <a:solidFill>
                  <a:srgbClr val="0B1F3A"/>
                </a:solidFill>
                <a:latin typeface="Segoe UI"/>
                <a:ea typeface="Segoe UI"/>
                <a:cs typeface="Segoe UI"/>
              </a:rPr>
              <a:t>Identity and mapping</a:t>
            </a:r>
          </a:p>
        </p:txBody>
      </p:sp>
      <p:sp>
        <p:nvSpPr>
          <p:cNvPr id="20" name="Rectangle 19">
            <a:extLst>
              <a:ext uri="{FF2B5EF4-FFF2-40B4-BE49-F238E27FC236}">
                <a16:creationId xmlns:a16="http://schemas.microsoft.com/office/drawing/2014/main" id="{6FEB1833-7487-488E-9B54-46E9D1F5709C}"/>
              </a:ext>
            </a:extLst>
          </p:cNvPr>
          <p:cNvSpPr>
            <a:spLocks noGrp="1"/>
          </p:cNvSpPr>
          <p:nvPr/>
        </p:nvSpPr>
        <p:spPr>
          <a:xfrm>
            <a:off x="581025" y="3562350"/>
            <a:ext cx="3371850" cy="400050"/>
          </a:xfrm>
          <a:prstGeom prst="rect">
            <a:avLst/>
          </a:prstGeom>
          <a:noFill/>
          <a:ln w="0">
            <a:noFill/>
          </a:ln>
        </p:spPr>
        <p:txBody>
          <a:bodyPr>
            <a:noAutofit/>
          </a:bodyPr>
          <a:lstStyle/>
          <a:p>
            <a:pPr>
              <a:defRPr sz="1275" b="0">
                <a:solidFill>
                  <a:srgbClr val="253E55"/>
                </a:solidFill>
                <a:latin typeface="Segoe UI"/>
                <a:ea typeface="Segoe UI"/>
                <a:cs typeface="Segoe UI"/>
              </a:defRPr>
            </a:pPr>
            <a:r>
              <a:rPr sz="1275" b="0">
                <a:solidFill>
                  <a:srgbClr val="253E55"/>
                </a:solidFill>
                <a:latin typeface="Segoe UI"/>
                <a:ea typeface="Segoe UI"/>
                <a:cs typeface="Segoe UI"/>
              </a:rPr>
              <a:t>Canonical vendor ID / aliases</a:t>
            </a:r>
          </a:p>
          <a:p>
            <a:pPr>
              <a:defRPr sz="1275" b="0">
                <a:solidFill>
                  <a:srgbClr val="253E55"/>
                </a:solidFill>
                <a:latin typeface="Segoe UI"/>
                <a:ea typeface="Segoe UI"/>
                <a:cs typeface="Segoe UI"/>
              </a:defRPr>
            </a:pPr>
            <a:r>
              <a:rPr sz="1275" b="0">
                <a:solidFill>
                  <a:srgbClr val="253E55"/>
                </a:solidFill>
                <a:latin typeface="Segoe UI"/>
                <a:ea typeface="Segoe UI"/>
                <a:cs typeface="Segoe UI"/>
              </a:rPr>
              <a:t>Legal entity vs parent hierarchy</a:t>
            </a:r>
          </a:p>
        </p:txBody>
      </p:sp>
      <p:sp>
        <p:nvSpPr>
          <p:cNvPr id="21" name="Arrow: Down 20">
            <a:extLst>
              <a:ext uri="{FF2B5EF4-FFF2-40B4-BE49-F238E27FC236}">
                <a16:creationId xmlns:a16="http://schemas.microsoft.com/office/drawing/2014/main" id="{610095F5-1658-42FB-A641-29C29AAF6918}"/>
              </a:ext>
            </a:extLst>
          </p:cNvPr>
          <p:cNvSpPr>
            <a:spLocks noGrp="1"/>
          </p:cNvSpPr>
          <p:nvPr/>
        </p:nvSpPr>
        <p:spPr>
          <a:xfrm>
            <a:off x="5991225" y="2886075"/>
            <a:ext cx="190500" cy="209550"/>
          </a:xfrm>
          <a:prstGeom prst="downArrow">
            <a:avLst/>
          </a:prstGeom>
          <a:solidFill>
            <a:srgbClr val="00A6B2"/>
          </a:solidFill>
          <a:ln w="0">
            <a:noFill/>
          </a:ln>
        </p:spPr>
        <p:txBody>
          <a:bodyPr/>
          <a:lstStyle/>
          <a:p>
            <a:endParaRPr lang="en-US"/>
          </a:p>
        </p:txBody>
      </p:sp>
      <p:sp>
        <p:nvSpPr>
          <p:cNvPr id="22" name="Rectangle: Rounded Corners 21">
            <a:extLst>
              <a:ext uri="{FF2B5EF4-FFF2-40B4-BE49-F238E27FC236}">
                <a16:creationId xmlns:a16="http://schemas.microsoft.com/office/drawing/2014/main" id="{11AE547F-644C-4E00-BC83-CC24D70B5A32}"/>
              </a:ext>
            </a:extLst>
          </p:cNvPr>
          <p:cNvSpPr>
            <a:spLocks noGrp="1"/>
          </p:cNvSpPr>
          <p:nvPr/>
        </p:nvSpPr>
        <p:spPr>
          <a:xfrm>
            <a:off x="4286250" y="3152775"/>
            <a:ext cx="3619500" cy="895350"/>
          </a:xfrm>
          <a:prstGeom prst="roundRect">
            <a:avLst>
              <a:gd name="adj" fmla="val 6383"/>
            </a:avLst>
          </a:prstGeom>
          <a:solidFill>
            <a:srgbClr val="FFFFFF"/>
          </a:solidFill>
          <a:ln w="11906">
            <a:solidFill>
              <a:srgbClr val="B8C7D9"/>
            </a:solidFill>
          </a:ln>
        </p:spPr>
        <p:txBody>
          <a:bodyPr/>
          <a:lstStyle/>
          <a:p>
            <a:endParaRPr lang="en-US"/>
          </a:p>
        </p:txBody>
      </p:sp>
      <p:sp>
        <p:nvSpPr>
          <p:cNvPr id="23" name="Rectangle 22">
            <a:extLst>
              <a:ext uri="{FF2B5EF4-FFF2-40B4-BE49-F238E27FC236}">
                <a16:creationId xmlns:a16="http://schemas.microsoft.com/office/drawing/2014/main" id="{D1BA8640-A4D4-45C0-9D06-A9D18532220E}"/>
              </a:ext>
            </a:extLst>
          </p:cNvPr>
          <p:cNvSpPr>
            <a:spLocks noGrp="1"/>
          </p:cNvSpPr>
          <p:nvPr/>
        </p:nvSpPr>
        <p:spPr>
          <a:xfrm>
            <a:off x="4410075" y="3248025"/>
            <a:ext cx="3371850" cy="285750"/>
          </a:xfrm>
          <a:prstGeom prst="rect">
            <a:avLst/>
          </a:prstGeom>
          <a:noFill/>
          <a:ln w="0">
            <a:noFill/>
          </a:ln>
        </p:spPr>
        <p:txBody>
          <a:bodyPr>
            <a:noAutofit/>
          </a:bodyPr>
          <a:lstStyle/>
          <a:p>
            <a:pPr>
              <a:defRPr sz="1575" b="1">
                <a:solidFill>
                  <a:srgbClr val="0B1F3A"/>
                </a:solidFill>
                <a:latin typeface="Segoe UI"/>
                <a:ea typeface="Segoe UI"/>
                <a:cs typeface="Segoe UI"/>
              </a:defRPr>
            </a:pPr>
            <a:r>
              <a:rPr sz="1575" b="1">
                <a:solidFill>
                  <a:srgbClr val="0B1F3A"/>
                </a:solidFill>
                <a:latin typeface="Segoe UI"/>
                <a:ea typeface="Segoe UI"/>
                <a:cs typeface="Segoe UI"/>
              </a:rPr>
              <a:t>Quality and reconciliation</a:t>
            </a:r>
          </a:p>
        </p:txBody>
      </p:sp>
      <p:sp>
        <p:nvSpPr>
          <p:cNvPr id="24" name="Rectangle 23">
            <a:extLst>
              <a:ext uri="{FF2B5EF4-FFF2-40B4-BE49-F238E27FC236}">
                <a16:creationId xmlns:a16="http://schemas.microsoft.com/office/drawing/2014/main" id="{182D926A-46A8-4491-B4CF-11F6716B30BB}"/>
              </a:ext>
            </a:extLst>
          </p:cNvPr>
          <p:cNvSpPr>
            <a:spLocks noGrp="1"/>
          </p:cNvSpPr>
          <p:nvPr/>
        </p:nvSpPr>
        <p:spPr>
          <a:xfrm>
            <a:off x="4410075" y="3562350"/>
            <a:ext cx="3371850" cy="400050"/>
          </a:xfrm>
          <a:prstGeom prst="rect">
            <a:avLst/>
          </a:prstGeom>
          <a:noFill/>
          <a:ln w="0">
            <a:noFill/>
          </a:ln>
        </p:spPr>
        <p:txBody>
          <a:bodyPr>
            <a:noAutofit/>
          </a:bodyPr>
          <a:lstStyle/>
          <a:p>
            <a:pPr>
              <a:defRPr sz="1275" b="0">
                <a:solidFill>
                  <a:srgbClr val="253E55"/>
                </a:solidFill>
                <a:latin typeface="Segoe UI"/>
                <a:ea typeface="Segoe UI"/>
                <a:cs typeface="Segoe UI"/>
              </a:defRPr>
            </a:pPr>
            <a:r>
              <a:rPr sz="1275" b="0">
                <a:solidFill>
                  <a:srgbClr val="253E55"/>
                </a:solidFill>
                <a:latin typeface="Segoe UI"/>
                <a:ea typeface="Segoe UI"/>
                <a:cs typeface="Segoe UI"/>
              </a:rPr>
              <a:t>Counts / financial totals / references</a:t>
            </a:r>
          </a:p>
          <a:p>
            <a:pPr>
              <a:defRPr sz="1275" b="0">
                <a:solidFill>
                  <a:srgbClr val="253E55"/>
                </a:solidFill>
                <a:latin typeface="Segoe UI"/>
                <a:ea typeface="Segoe UI"/>
                <a:cs typeface="Segoe UI"/>
              </a:defRPr>
            </a:pPr>
            <a:r>
              <a:rPr sz="1275" b="0">
                <a:solidFill>
                  <a:srgbClr val="253E55"/>
                </a:solidFill>
                <a:latin typeface="Segoe UI"/>
                <a:ea typeface="Segoe UI"/>
                <a:cs typeface="Segoe UI"/>
              </a:rPr>
              <a:t>Quarantine and stewardship queue</a:t>
            </a:r>
          </a:p>
        </p:txBody>
      </p:sp>
      <p:sp>
        <p:nvSpPr>
          <p:cNvPr id="25" name="Arrow: Down 24">
            <a:extLst>
              <a:ext uri="{FF2B5EF4-FFF2-40B4-BE49-F238E27FC236}">
                <a16:creationId xmlns:a16="http://schemas.microsoft.com/office/drawing/2014/main" id="{49EB1C56-717E-4410-B062-BDAA07AF90AE}"/>
              </a:ext>
            </a:extLst>
          </p:cNvPr>
          <p:cNvSpPr>
            <a:spLocks noGrp="1"/>
          </p:cNvSpPr>
          <p:nvPr/>
        </p:nvSpPr>
        <p:spPr>
          <a:xfrm>
            <a:off x="9820275" y="2886075"/>
            <a:ext cx="190500" cy="209550"/>
          </a:xfrm>
          <a:prstGeom prst="downArrow">
            <a:avLst/>
          </a:prstGeom>
          <a:solidFill>
            <a:srgbClr val="00A6B2"/>
          </a:solidFill>
          <a:ln w="0">
            <a:noFill/>
          </a:ln>
        </p:spPr>
        <p:txBody>
          <a:bodyPr/>
          <a:lstStyle/>
          <a:p>
            <a:endParaRPr lang="en-US"/>
          </a:p>
        </p:txBody>
      </p:sp>
      <p:sp>
        <p:nvSpPr>
          <p:cNvPr id="26" name="Rectangle: Rounded Corners 25">
            <a:extLst>
              <a:ext uri="{FF2B5EF4-FFF2-40B4-BE49-F238E27FC236}">
                <a16:creationId xmlns:a16="http://schemas.microsoft.com/office/drawing/2014/main" id="{BDD67739-094F-41FD-89A7-4DA6C5A33A6C}"/>
              </a:ext>
            </a:extLst>
          </p:cNvPr>
          <p:cNvSpPr>
            <a:spLocks noGrp="1"/>
          </p:cNvSpPr>
          <p:nvPr/>
        </p:nvSpPr>
        <p:spPr>
          <a:xfrm>
            <a:off x="8115300" y="3152775"/>
            <a:ext cx="3619500" cy="895350"/>
          </a:xfrm>
          <a:prstGeom prst="roundRect">
            <a:avLst>
              <a:gd name="adj" fmla="val 6383"/>
            </a:avLst>
          </a:prstGeom>
          <a:solidFill>
            <a:srgbClr val="FFFFFF"/>
          </a:solidFill>
          <a:ln w="11906">
            <a:solidFill>
              <a:srgbClr val="B8C7D9"/>
            </a:solidFill>
          </a:ln>
        </p:spPr>
        <p:txBody>
          <a:bodyPr/>
          <a:lstStyle/>
          <a:p>
            <a:endParaRPr lang="en-US"/>
          </a:p>
        </p:txBody>
      </p:sp>
      <p:sp>
        <p:nvSpPr>
          <p:cNvPr id="27" name="Rectangle 26">
            <a:extLst>
              <a:ext uri="{FF2B5EF4-FFF2-40B4-BE49-F238E27FC236}">
                <a16:creationId xmlns:a16="http://schemas.microsoft.com/office/drawing/2014/main" id="{CFA61124-98FC-4DA5-BFD8-4D109F71833D}"/>
              </a:ext>
            </a:extLst>
          </p:cNvPr>
          <p:cNvSpPr>
            <a:spLocks noGrp="1"/>
          </p:cNvSpPr>
          <p:nvPr/>
        </p:nvSpPr>
        <p:spPr>
          <a:xfrm>
            <a:off x="8239125" y="3248025"/>
            <a:ext cx="3371850" cy="285750"/>
          </a:xfrm>
          <a:prstGeom prst="rect">
            <a:avLst/>
          </a:prstGeom>
          <a:noFill/>
          <a:ln w="0">
            <a:noFill/>
          </a:ln>
        </p:spPr>
        <p:txBody>
          <a:bodyPr>
            <a:noAutofit/>
          </a:bodyPr>
          <a:lstStyle/>
          <a:p>
            <a:pPr>
              <a:defRPr sz="1575" b="1">
                <a:solidFill>
                  <a:srgbClr val="0B1F3A"/>
                </a:solidFill>
                <a:latin typeface="Segoe UI"/>
                <a:ea typeface="Segoe UI"/>
                <a:cs typeface="Segoe UI"/>
              </a:defRPr>
            </a:pPr>
            <a:r>
              <a:rPr sz="1575" b="1">
                <a:solidFill>
                  <a:srgbClr val="0B1F3A"/>
                </a:solidFill>
                <a:latin typeface="Segoe UI"/>
                <a:ea typeface="Segoe UI"/>
                <a:cs typeface="Segoe UI"/>
              </a:rPr>
              <a:t>Document processing</a:t>
            </a:r>
          </a:p>
        </p:txBody>
      </p:sp>
      <p:sp>
        <p:nvSpPr>
          <p:cNvPr id="28" name="Rectangle 27">
            <a:extLst>
              <a:ext uri="{FF2B5EF4-FFF2-40B4-BE49-F238E27FC236}">
                <a16:creationId xmlns:a16="http://schemas.microsoft.com/office/drawing/2014/main" id="{2870BDA7-BB6F-4010-B5A9-1DE3F8D88644}"/>
              </a:ext>
            </a:extLst>
          </p:cNvPr>
          <p:cNvSpPr>
            <a:spLocks noGrp="1"/>
          </p:cNvSpPr>
          <p:nvPr/>
        </p:nvSpPr>
        <p:spPr>
          <a:xfrm>
            <a:off x="8239125" y="3562350"/>
            <a:ext cx="3371850" cy="400050"/>
          </a:xfrm>
          <a:prstGeom prst="rect">
            <a:avLst/>
          </a:prstGeom>
          <a:noFill/>
          <a:ln w="0">
            <a:noFill/>
          </a:ln>
        </p:spPr>
        <p:txBody>
          <a:bodyPr>
            <a:noAutofit/>
          </a:bodyPr>
          <a:lstStyle/>
          <a:p>
            <a:pPr>
              <a:defRPr sz="1275" b="0">
                <a:solidFill>
                  <a:srgbClr val="253E55"/>
                </a:solidFill>
                <a:latin typeface="Segoe UI"/>
                <a:ea typeface="Segoe UI"/>
                <a:cs typeface="Segoe UI"/>
              </a:defRPr>
            </a:pPr>
            <a:r>
              <a:rPr sz="1275" b="0">
                <a:solidFill>
                  <a:srgbClr val="253E55"/>
                </a:solidFill>
                <a:latin typeface="Segoe UI"/>
                <a:ea typeface="Segoe UI"/>
                <a:cs typeface="Segoe UI"/>
              </a:rPr>
              <a:t>OCR / pages / clauses / metadata</a:t>
            </a:r>
          </a:p>
          <a:p>
            <a:pPr>
              <a:defRPr sz="1275" b="0">
                <a:solidFill>
                  <a:srgbClr val="253E55"/>
                </a:solidFill>
                <a:latin typeface="Segoe UI"/>
                <a:ea typeface="Segoe UI"/>
                <a:cs typeface="Segoe UI"/>
              </a:defRPr>
            </a:pPr>
            <a:r>
              <a:rPr sz="1275" b="0">
                <a:solidFill>
                  <a:srgbClr val="253E55"/>
                </a:solidFill>
                <a:latin typeface="Segoe UI"/>
                <a:ea typeface="Segoe UI"/>
                <a:cs typeface="Segoe UI"/>
              </a:rPr>
              <a:t>Authorized keyword and vector index</a:t>
            </a:r>
          </a:p>
        </p:txBody>
      </p:sp>
      <p:sp>
        <p:nvSpPr>
          <p:cNvPr id="29" name="Arrow: Down 28">
            <a:extLst>
              <a:ext uri="{FF2B5EF4-FFF2-40B4-BE49-F238E27FC236}">
                <a16:creationId xmlns:a16="http://schemas.microsoft.com/office/drawing/2014/main" id="{5370C227-BCE3-4F98-A50C-D623A52B7DF4}"/>
              </a:ext>
            </a:extLst>
          </p:cNvPr>
          <p:cNvSpPr>
            <a:spLocks noGrp="1"/>
          </p:cNvSpPr>
          <p:nvPr/>
        </p:nvSpPr>
        <p:spPr>
          <a:xfrm>
            <a:off x="5943600" y="4114800"/>
            <a:ext cx="190500" cy="219075"/>
          </a:xfrm>
          <a:prstGeom prst="downArrow">
            <a:avLst/>
          </a:prstGeom>
          <a:solidFill>
            <a:srgbClr val="00A6B2"/>
          </a:solidFill>
          <a:ln w="0">
            <a:noFill/>
          </a:ln>
        </p:spPr>
        <p:txBody>
          <a:bodyPr/>
          <a:lstStyle/>
          <a:p>
            <a:endParaRPr lang="en-US"/>
          </a:p>
        </p:txBody>
      </p:sp>
      <p:sp>
        <p:nvSpPr>
          <p:cNvPr id="30" name="Rectangle: Rounded Corners 29">
            <a:extLst>
              <a:ext uri="{FF2B5EF4-FFF2-40B4-BE49-F238E27FC236}">
                <a16:creationId xmlns:a16="http://schemas.microsoft.com/office/drawing/2014/main" id="{0DCA4C7A-F6D1-4B77-B183-4EED33FCC91D}"/>
              </a:ext>
            </a:extLst>
          </p:cNvPr>
          <p:cNvSpPr>
            <a:spLocks noGrp="1"/>
          </p:cNvSpPr>
          <p:nvPr/>
        </p:nvSpPr>
        <p:spPr>
          <a:xfrm>
            <a:off x="457200" y="4391025"/>
            <a:ext cx="11277600" cy="485775"/>
          </a:xfrm>
          <a:prstGeom prst="roundRect">
            <a:avLst>
              <a:gd name="adj" fmla="val 11765"/>
            </a:avLst>
          </a:prstGeom>
          <a:solidFill>
            <a:srgbClr val="0B1F3A"/>
          </a:solidFill>
          <a:ln w="11906">
            <a:solidFill>
              <a:srgbClr val="0B1F3A"/>
            </a:solidFill>
          </a:ln>
        </p:spPr>
        <p:txBody>
          <a:bodyPr/>
          <a:lstStyle/>
          <a:p>
            <a:endParaRPr lang="en-US"/>
          </a:p>
        </p:txBody>
      </p:sp>
      <p:sp>
        <p:nvSpPr>
          <p:cNvPr id="31" name="Rectangle 30">
            <a:extLst>
              <a:ext uri="{FF2B5EF4-FFF2-40B4-BE49-F238E27FC236}">
                <a16:creationId xmlns:a16="http://schemas.microsoft.com/office/drawing/2014/main" id="{9FAE698B-751B-453A-8D01-519C2BE273AB}"/>
              </a:ext>
            </a:extLst>
          </p:cNvPr>
          <p:cNvSpPr>
            <a:spLocks noGrp="1"/>
          </p:cNvSpPr>
          <p:nvPr/>
        </p:nvSpPr>
        <p:spPr>
          <a:xfrm>
            <a:off x="581025" y="4486275"/>
            <a:ext cx="11029950" cy="342900"/>
          </a:xfrm>
          <a:prstGeom prst="rect">
            <a:avLst/>
          </a:prstGeom>
          <a:noFill/>
          <a:ln w="0">
            <a:noFill/>
          </a:ln>
        </p:spPr>
        <p:txBody>
          <a:bodyPr>
            <a:noAutofit/>
          </a:bodyPr>
          <a:lstStyle/>
          <a:p>
            <a:pPr>
              <a:defRPr sz="1350" b="1">
                <a:solidFill>
                  <a:srgbClr val="FFFFFF"/>
                </a:solidFill>
                <a:latin typeface="Segoe UI"/>
                <a:ea typeface="Segoe UI"/>
                <a:cs typeface="Segoe UI"/>
              </a:defRPr>
            </a:pPr>
            <a:r>
              <a:rPr sz="1350" b="1">
                <a:solidFill>
                  <a:srgbClr val="FFFFFF"/>
                </a:solidFill>
                <a:latin typeface="Segoe UI"/>
                <a:ea typeface="Segoe UI"/>
                <a:cs typeface="Segoe UI"/>
              </a:rPr>
              <a:t>Canonical model: vendor, contract, SOW, spend, forecast, assignment, service, app, product, risk, evidence</a:t>
            </a:r>
          </a:p>
        </p:txBody>
      </p:sp>
      <p:sp>
        <p:nvSpPr>
          <p:cNvPr id="32" name="Arrow: Down 31">
            <a:extLst>
              <a:ext uri="{FF2B5EF4-FFF2-40B4-BE49-F238E27FC236}">
                <a16:creationId xmlns:a16="http://schemas.microsoft.com/office/drawing/2014/main" id="{A10DFB16-9A33-4A3C-8D3B-31B7E5354D10}"/>
              </a:ext>
            </a:extLst>
          </p:cNvPr>
          <p:cNvSpPr>
            <a:spLocks noGrp="1"/>
          </p:cNvSpPr>
          <p:nvPr/>
        </p:nvSpPr>
        <p:spPr>
          <a:xfrm>
            <a:off x="2162175" y="4924425"/>
            <a:ext cx="190500" cy="171450"/>
          </a:xfrm>
          <a:prstGeom prst="downArrow">
            <a:avLst/>
          </a:prstGeom>
          <a:solidFill>
            <a:srgbClr val="00A6B2"/>
          </a:solidFill>
          <a:ln w="0">
            <a:noFill/>
          </a:ln>
        </p:spPr>
        <p:txBody>
          <a:bodyPr/>
          <a:lstStyle/>
          <a:p>
            <a:endParaRPr lang="en-US"/>
          </a:p>
        </p:txBody>
      </p:sp>
      <p:sp>
        <p:nvSpPr>
          <p:cNvPr id="33" name="Rectangle: Rounded Corners 32">
            <a:extLst>
              <a:ext uri="{FF2B5EF4-FFF2-40B4-BE49-F238E27FC236}">
                <a16:creationId xmlns:a16="http://schemas.microsoft.com/office/drawing/2014/main" id="{23BFBA17-CC11-4B08-8854-3179AC89A45C}"/>
              </a:ext>
            </a:extLst>
          </p:cNvPr>
          <p:cNvSpPr>
            <a:spLocks noGrp="1"/>
          </p:cNvSpPr>
          <p:nvPr/>
        </p:nvSpPr>
        <p:spPr>
          <a:xfrm>
            <a:off x="457200" y="5153025"/>
            <a:ext cx="3619500" cy="638175"/>
          </a:xfrm>
          <a:prstGeom prst="roundRect">
            <a:avLst>
              <a:gd name="adj" fmla="val 8955"/>
            </a:avLst>
          </a:prstGeom>
          <a:solidFill>
            <a:srgbClr val="FFFFFF"/>
          </a:solidFill>
          <a:ln w="11906">
            <a:solidFill>
              <a:srgbClr val="B8C7D9"/>
            </a:solidFill>
          </a:ln>
        </p:spPr>
        <p:txBody>
          <a:bodyPr/>
          <a:lstStyle/>
          <a:p>
            <a:endParaRPr lang="en-US"/>
          </a:p>
        </p:txBody>
      </p:sp>
      <p:sp>
        <p:nvSpPr>
          <p:cNvPr id="34" name="Oval 33">
            <a:extLst>
              <a:ext uri="{FF2B5EF4-FFF2-40B4-BE49-F238E27FC236}">
                <a16:creationId xmlns:a16="http://schemas.microsoft.com/office/drawing/2014/main" id="{A48A9CCF-7D70-489E-ABD0-03B5390BFE27}"/>
              </a:ext>
            </a:extLst>
          </p:cNvPr>
          <p:cNvSpPr>
            <a:spLocks noGrp="1"/>
          </p:cNvSpPr>
          <p:nvPr/>
        </p:nvSpPr>
        <p:spPr>
          <a:xfrm>
            <a:off x="3629025" y="5486400"/>
            <a:ext cx="304800" cy="95250"/>
          </a:xfrm>
          <a:prstGeom prst="ellipse">
            <a:avLst/>
          </a:prstGeom>
          <a:solidFill>
            <a:srgbClr val="FFFFFF"/>
          </a:solidFill>
          <a:ln w="15240">
            <a:solidFill>
              <a:srgbClr val="007C83"/>
            </a:solidFill>
          </a:ln>
        </p:spPr>
        <p:txBody>
          <a:bodyPr/>
          <a:lstStyle/>
          <a:p>
            <a:endParaRPr lang="en-US"/>
          </a:p>
        </p:txBody>
      </p:sp>
      <p:sp>
        <p:nvSpPr>
          <p:cNvPr id="35" name="Rectangle 34">
            <a:extLst>
              <a:ext uri="{FF2B5EF4-FFF2-40B4-BE49-F238E27FC236}">
                <a16:creationId xmlns:a16="http://schemas.microsoft.com/office/drawing/2014/main" id="{47E2D79C-A962-4FE7-BCC5-BD2624BC324E}"/>
              </a:ext>
            </a:extLst>
          </p:cNvPr>
          <p:cNvSpPr>
            <a:spLocks noGrp="1"/>
          </p:cNvSpPr>
          <p:nvPr/>
        </p:nvSpPr>
        <p:spPr>
          <a:xfrm>
            <a:off x="3629025" y="5314950"/>
            <a:ext cx="304800" cy="219075"/>
          </a:xfrm>
          <a:prstGeom prst="rect">
            <a:avLst/>
          </a:prstGeom>
          <a:solidFill>
            <a:srgbClr val="FFFFFF"/>
          </a:solidFill>
          <a:ln w="15240">
            <a:solidFill>
              <a:srgbClr val="007C83"/>
            </a:solidFill>
          </a:ln>
        </p:spPr>
        <p:txBody>
          <a:bodyPr/>
          <a:lstStyle/>
          <a:p>
            <a:endParaRPr lang="en-US"/>
          </a:p>
        </p:txBody>
      </p:sp>
      <p:sp>
        <p:nvSpPr>
          <p:cNvPr id="36" name="Oval 35">
            <a:extLst>
              <a:ext uri="{FF2B5EF4-FFF2-40B4-BE49-F238E27FC236}">
                <a16:creationId xmlns:a16="http://schemas.microsoft.com/office/drawing/2014/main" id="{B1A6BE54-E6B9-40A9-BABB-3230A3C880E7}"/>
              </a:ext>
            </a:extLst>
          </p:cNvPr>
          <p:cNvSpPr>
            <a:spLocks noGrp="1"/>
          </p:cNvSpPr>
          <p:nvPr/>
        </p:nvSpPr>
        <p:spPr>
          <a:xfrm>
            <a:off x="3629025" y="5267325"/>
            <a:ext cx="304800" cy="95250"/>
          </a:xfrm>
          <a:prstGeom prst="ellipse">
            <a:avLst/>
          </a:prstGeom>
          <a:solidFill>
            <a:srgbClr val="FFFFFF"/>
          </a:solidFill>
          <a:ln w="15240">
            <a:solidFill>
              <a:srgbClr val="007C83"/>
            </a:solidFill>
          </a:ln>
        </p:spPr>
        <p:txBody>
          <a:bodyPr/>
          <a:lstStyle/>
          <a:p>
            <a:endParaRPr lang="en-US"/>
          </a:p>
        </p:txBody>
      </p:sp>
      <p:sp>
        <p:nvSpPr>
          <p:cNvPr id="37" name="Rectangle 36">
            <a:extLst>
              <a:ext uri="{FF2B5EF4-FFF2-40B4-BE49-F238E27FC236}">
                <a16:creationId xmlns:a16="http://schemas.microsoft.com/office/drawing/2014/main" id="{4C133495-1DF4-4526-86E4-E05C53CDD56C}"/>
              </a:ext>
            </a:extLst>
          </p:cNvPr>
          <p:cNvSpPr>
            <a:spLocks noGrp="1"/>
          </p:cNvSpPr>
          <p:nvPr/>
        </p:nvSpPr>
        <p:spPr>
          <a:xfrm>
            <a:off x="581025" y="5248275"/>
            <a:ext cx="2962275" cy="219075"/>
          </a:xfrm>
          <a:prstGeom prst="rect">
            <a:avLst/>
          </a:prstGeom>
          <a:noFill/>
          <a:ln w="0">
            <a:noFill/>
          </a:ln>
        </p:spPr>
        <p:txBody>
          <a:bodyPr>
            <a:noAutofit/>
          </a:bodyPr>
          <a:lstStyle/>
          <a:p>
            <a:pPr>
              <a:defRPr sz="1500" b="1">
                <a:solidFill>
                  <a:srgbClr val="0B1F3A"/>
                </a:solidFill>
                <a:latin typeface="Segoe UI"/>
                <a:ea typeface="Segoe UI"/>
                <a:cs typeface="Segoe UI"/>
              </a:defRPr>
            </a:pPr>
            <a:r>
              <a:rPr sz="1500" b="1">
                <a:solidFill>
                  <a:srgbClr val="0B1F3A"/>
                </a:solidFill>
                <a:latin typeface="Segoe UI"/>
                <a:ea typeface="Segoe UI"/>
                <a:cs typeface="Segoe UI"/>
              </a:rPr>
              <a:t>Curated relational facts</a:t>
            </a:r>
          </a:p>
        </p:txBody>
      </p:sp>
      <p:sp>
        <p:nvSpPr>
          <p:cNvPr id="38" name="Rectangle 37">
            <a:extLst>
              <a:ext uri="{FF2B5EF4-FFF2-40B4-BE49-F238E27FC236}">
                <a16:creationId xmlns:a16="http://schemas.microsoft.com/office/drawing/2014/main" id="{8C9A4FEE-F569-4CB4-90FD-2C6C82A04F71}"/>
              </a:ext>
            </a:extLst>
          </p:cNvPr>
          <p:cNvSpPr>
            <a:spLocks noGrp="1"/>
          </p:cNvSpPr>
          <p:nvPr/>
        </p:nvSpPr>
        <p:spPr>
          <a:xfrm>
            <a:off x="581025" y="5486400"/>
            <a:ext cx="3371850" cy="219075"/>
          </a:xfrm>
          <a:prstGeom prst="rect">
            <a:avLst/>
          </a:prstGeom>
          <a:noFill/>
          <a:ln w="0">
            <a:noFill/>
          </a:ln>
        </p:spPr>
        <p:txBody>
          <a:bodyPr>
            <a:noAutofit/>
          </a:bodyPr>
          <a:lstStyle/>
          <a:p>
            <a:pPr>
              <a:defRPr sz="1200" b="0">
                <a:solidFill>
                  <a:srgbClr val="253E55"/>
                </a:solidFill>
                <a:latin typeface="Segoe UI"/>
                <a:ea typeface="Segoe UI"/>
                <a:cs typeface="Segoe UI"/>
              </a:defRPr>
            </a:pPr>
            <a:r>
              <a:rPr sz="1200" b="0">
                <a:solidFill>
                  <a:srgbClr val="253E55"/>
                </a:solidFill>
                <a:latin typeface="Segoe UI"/>
                <a:ea typeface="Segoe UI"/>
                <a:cs typeface="Segoe UI"/>
              </a:rPr>
              <a:t>Amounts, dates, owners and snapshots</a:t>
            </a:r>
          </a:p>
        </p:txBody>
      </p:sp>
      <p:sp>
        <p:nvSpPr>
          <p:cNvPr id="39" name="Arrow: Down 38">
            <a:extLst>
              <a:ext uri="{FF2B5EF4-FFF2-40B4-BE49-F238E27FC236}">
                <a16:creationId xmlns:a16="http://schemas.microsoft.com/office/drawing/2014/main" id="{4BFA9BD5-53C5-46D0-AE03-F7DA08D02CA8}"/>
              </a:ext>
            </a:extLst>
          </p:cNvPr>
          <p:cNvSpPr>
            <a:spLocks noGrp="1"/>
          </p:cNvSpPr>
          <p:nvPr/>
        </p:nvSpPr>
        <p:spPr>
          <a:xfrm>
            <a:off x="5991225" y="4924425"/>
            <a:ext cx="190500" cy="171450"/>
          </a:xfrm>
          <a:prstGeom prst="downArrow">
            <a:avLst/>
          </a:prstGeom>
          <a:solidFill>
            <a:srgbClr val="00A6B2"/>
          </a:solidFill>
          <a:ln w="0">
            <a:noFill/>
          </a:ln>
        </p:spPr>
        <p:txBody>
          <a:bodyPr/>
          <a:lstStyle/>
          <a:p>
            <a:endParaRPr lang="en-US"/>
          </a:p>
        </p:txBody>
      </p:sp>
      <p:sp>
        <p:nvSpPr>
          <p:cNvPr id="40" name="Rectangle: Rounded Corners 39">
            <a:extLst>
              <a:ext uri="{FF2B5EF4-FFF2-40B4-BE49-F238E27FC236}">
                <a16:creationId xmlns:a16="http://schemas.microsoft.com/office/drawing/2014/main" id="{C95F074F-3036-401D-AC0B-EC3CDF2C89F2}"/>
              </a:ext>
            </a:extLst>
          </p:cNvPr>
          <p:cNvSpPr>
            <a:spLocks noGrp="1"/>
          </p:cNvSpPr>
          <p:nvPr/>
        </p:nvSpPr>
        <p:spPr>
          <a:xfrm>
            <a:off x="4286250" y="5153025"/>
            <a:ext cx="3619500" cy="638175"/>
          </a:xfrm>
          <a:prstGeom prst="roundRect">
            <a:avLst>
              <a:gd name="adj" fmla="val 8955"/>
            </a:avLst>
          </a:prstGeom>
          <a:solidFill>
            <a:srgbClr val="FFFFFF"/>
          </a:solidFill>
          <a:ln w="11906">
            <a:solidFill>
              <a:srgbClr val="B8C7D9"/>
            </a:solidFill>
          </a:ln>
        </p:spPr>
        <p:txBody>
          <a:bodyPr/>
          <a:lstStyle/>
          <a:p>
            <a:endParaRPr lang="en-US"/>
          </a:p>
        </p:txBody>
      </p:sp>
      <p:sp>
        <p:nvSpPr>
          <p:cNvPr id="41" name="Rectangle 40">
            <a:extLst>
              <a:ext uri="{FF2B5EF4-FFF2-40B4-BE49-F238E27FC236}">
                <a16:creationId xmlns:a16="http://schemas.microsoft.com/office/drawing/2014/main" id="{A82ED436-AAF1-41F0-BEC8-126772F85CC6}"/>
              </a:ext>
            </a:extLst>
          </p:cNvPr>
          <p:cNvSpPr>
            <a:spLocks noGrp="1"/>
          </p:cNvSpPr>
          <p:nvPr/>
        </p:nvSpPr>
        <p:spPr>
          <a:xfrm>
            <a:off x="7505700" y="5314950"/>
            <a:ext cx="228600" cy="19050"/>
          </a:xfrm>
          <a:prstGeom prst="rect">
            <a:avLst/>
          </a:prstGeom>
          <a:solidFill>
            <a:srgbClr val="007C83"/>
          </a:solidFill>
          <a:ln w="11906">
            <a:solidFill>
              <a:srgbClr val="007C83"/>
            </a:solidFill>
          </a:ln>
        </p:spPr>
        <p:txBody>
          <a:bodyPr/>
          <a:lstStyle/>
          <a:p>
            <a:endParaRPr lang="en-US"/>
          </a:p>
        </p:txBody>
      </p:sp>
      <p:sp>
        <p:nvSpPr>
          <p:cNvPr id="42" name="Rectangle 41">
            <a:extLst>
              <a:ext uri="{FF2B5EF4-FFF2-40B4-BE49-F238E27FC236}">
                <a16:creationId xmlns:a16="http://schemas.microsoft.com/office/drawing/2014/main" id="{77036E29-E368-4613-B9EC-491FA39AED6A}"/>
              </a:ext>
            </a:extLst>
          </p:cNvPr>
          <p:cNvSpPr>
            <a:spLocks noGrp="1"/>
          </p:cNvSpPr>
          <p:nvPr/>
        </p:nvSpPr>
        <p:spPr>
          <a:xfrm>
            <a:off x="7505700" y="5314950"/>
            <a:ext cx="19050" cy="228600"/>
          </a:xfrm>
          <a:prstGeom prst="rect">
            <a:avLst/>
          </a:prstGeom>
          <a:solidFill>
            <a:srgbClr val="007C83"/>
          </a:solidFill>
          <a:ln w="11906">
            <a:solidFill>
              <a:srgbClr val="007C83"/>
            </a:solidFill>
          </a:ln>
        </p:spPr>
        <p:txBody>
          <a:bodyPr/>
          <a:lstStyle/>
          <a:p>
            <a:endParaRPr lang="en-US"/>
          </a:p>
        </p:txBody>
      </p:sp>
      <p:sp>
        <p:nvSpPr>
          <p:cNvPr id="43" name="Rectangle 42">
            <a:extLst>
              <a:ext uri="{FF2B5EF4-FFF2-40B4-BE49-F238E27FC236}">
                <a16:creationId xmlns:a16="http://schemas.microsoft.com/office/drawing/2014/main" id="{43BE5D8B-D440-444D-9768-8B478DA1B588}"/>
              </a:ext>
            </a:extLst>
          </p:cNvPr>
          <p:cNvSpPr>
            <a:spLocks noGrp="1"/>
          </p:cNvSpPr>
          <p:nvPr/>
        </p:nvSpPr>
        <p:spPr>
          <a:xfrm>
            <a:off x="7505700" y="5534025"/>
            <a:ext cx="228600" cy="19050"/>
          </a:xfrm>
          <a:prstGeom prst="rect">
            <a:avLst/>
          </a:prstGeom>
          <a:solidFill>
            <a:srgbClr val="007C83"/>
          </a:solidFill>
          <a:ln w="11906">
            <a:solidFill>
              <a:srgbClr val="007C83"/>
            </a:solidFill>
          </a:ln>
        </p:spPr>
        <p:txBody>
          <a:bodyPr/>
          <a:lstStyle/>
          <a:p>
            <a:endParaRPr lang="en-US"/>
          </a:p>
        </p:txBody>
      </p:sp>
      <p:sp>
        <p:nvSpPr>
          <p:cNvPr id="44" name="Rectangle 43">
            <a:extLst>
              <a:ext uri="{FF2B5EF4-FFF2-40B4-BE49-F238E27FC236}">
                <a16:creationId xmlns:a16="http://schemas.microsoft.com/office/drawing/2014/main" id="{14901B1A-A57F-4684-9085-B119601915AB}"/>
              </a:ext>
            </a:extLst>
          </p:cNvPr>
          <p:cNvSpPr>
            <a:spLocks noGrp="1"/>
          </p:cNvSpPr>
          <p:nvPr/>
        </p:nvSpPr>
        <p:spPr>
          <a:xfrm>
            <a:off x="7724775" y="5314950"/>
            <a:ext cx="19050" cy="228600"/>
          </a:xfrm>
          <a:prstGeom prst="rect">
            <a:avLst/>
          </a:prstGeom>
          <a:solidFill>
            <a:srgbClr val="007C83"/>
          </a:solidFill>
          <a:ln w="11906">
            <a:solidFill>
              <a:srgbClr val="007C83"/>
            </a:solidFill>
          </a:ln>
        </p:spPr>
        <p:txBody>
          <a:bodyPr/>
          <a:lstStyle/>
          <a:p>
            <a:endParaRPr lang="en-US"/>
          </a:p>
        </p:txBody>
      </p:sp>
      <p:sp>
        <p:nvSpPr>
          <p:cNvPr id="45" name="Oval 44">
            <a:extLst>
              <a:ext uri="{FF2B5EF4-FFF2-40B4-BE49-F238E27FC236}">
                <a16:creationId xmlns:a16="http://schemas.microsoft.com/office/drawing/2014/main" id="{4E9FF1FE-421F-4CE4-9C9F-BDAC02CBD7C6}"/>
              </a:ext>
            </a:extLst>
          </p:cNvPr>
          <p:cNvSpPr>
            <a:spLocks noGrp="1"/>
          </p:cNvSpPr>
          <p:nvPr/>
        </p:nvSpPr>
        <p:spPr>
          <a:xfrm>
            <a:off x="7458075" y="5267325"/>
            <a:ext cx="95250" cy="95250"/>
          </a:xfrm>
          <a:prstGeom prst="ellipse">
            <a:avLst/>
          </a:prstGeom>
          <a:solidFill>
            <a:srgbClr val="E4F6F7"/>
          </a:solidFill>
          <a:ln w="15240">
            <a:solidFill>
              <a:srgbClr val="007C83"/>
            </a:solidFill>
          </a:ln>
        </p:spPr>
        <p:txBody>
          <a:bodyPr/>
          <a:lstStyle/>
          <a:p>
            <a:endParaRPr lang="en-US"/>
          </a:p>
        </p:txBody>
      </p:sp>
      <p:sp>
        <p:nvSpPr>
          <p:cNvPr id="46" name="Oval 45">
            <a:extLst>
              <a:ext uri="{FF2B5EF4-FFF2-40B4-BE49-F238E27FC236}">
                <a16:creationId xmlns:a16="http://schemas.microsoft.com/office/drawing/2014/main" id="{EBF44D55-20EE-47E3-B507-D6A9390EDE6F}"/>
              </a:ext>
            </a:extLst>
          </p:cNvPr>
          <p:cNvSpPr>
            <a:spLocks noGrp="1"/>
          </p:cNvSpPr>
          <p:nvPr/>
        </p:nvSpPr>
        <p:spPr>
          <a:xfrm>
            <a:off x="7677150" y="5267325"/>
            <a:ext cx="95250" cy="95250"/>
          </a:xfrm>
          <a:prstGeom prst="ellipse">
            <a:avLst/>
          </a:prstGeom>
          <a:solidFill>
            <a:srgbClr val="E4F6F7"/>
          </a:solidFill>
          <a:ln w="15240">
            <a:solidFill>
              <a:srgbClr val="007C83"/>
            </a:solidFill>
          </a:ln>
        </p:spPr>
        <p:txBody>
          <a:bodyPr/>
          <a:lstStyle/>
          <a:p>
            <a:endParaRPr lang="en-US"/>
          </a:p>
        </p:txBody>
      </p:sp>
      <p:sp>
        <p:nvSpPr>
          <p:cNvPr id="47" name="Oval 46">
            <a:extLst>
              <a:ext uri="{FF2B5EF4-FFF2-40B4-BE49-F238E27FC236}">
                <a16:creationId xmlns:a16="http://schemas.microsoft.com/office/drawing/2014/main" id="{F518EC5D-9246-40A4-BAFD-A2BA06B6E565}"/>
              </a:ext>
            </a:extLst>
          </p:cNvPr>
          <p:cNvSpPr>
            <a:spLocks noGrp="1"/>
          </p:cNvSpPr>
          <p:nvPr/>
        </p:nvSpPr>
        <p:spPr>
          <a:xfrm>
            <a:off x="7458075" y="5486400"/>
            <a:ext cx="95250" cy="95250"/>
          </a:xfrm>
          <a:prstGeom prst="ellipse">
            <a:avLst/>
          </a:prstGeom>
          <a:solidFill>
            <a:srgbClr val="E4F6F7"/>
          </a:solidFill>
          <a:ln w="15240">
            <a:solidFill>
              <a:srgbClr val="007C83"/>
            </a:solidFill>
          </a:ln>
        </p:spPr>
        <p:txBody>
          <a:bodyPr/>
          <a:lstStyle/>
          <a:p>
            <a:endParaRPr lang="en-US"/>
          </a:p>
        </p:txBody>
      </p:sp>
      <p:sp>
        <p:nvSpPr>
          <p:cNvPr id="48" name="Oval 47">
            <a:extLst>
              <a:ext uri="{FF2B5EF4-FFF2-40B4-BE49-F238E27FC236}">
                <a16:creationId xmlns:a16="http://schemas.microsoft.com/office/drawing/2014/main" id="{3FAEFE84-C92E-4702-80D4-BAE088759A82}"/>
              </a:ext>
            </a:extLst>
          </p:cNvPr>
          <p:cNvSpPr>
            <a:spLocks noGrp="1"/>
          </p:cNvSpPr>
          <p:nvPr/>
        </p:nvSpPr>
        <p:spPr>
          <a:xfrm>
            <a:off x="7677150" y="5486400"/>
            <a:ext cx="95250" cy="95250"/>
          </a:xfrm>
          <a:prstGeom prst="ellipse">
            <a:avLst/>
          </a:prstGeom>
          <a:solidFill>
            <a:srgbClr val="E4F6F7"/>
          </a:solidFill>
          <a:ln w="15240">
            <a:solidFill>
              <a:srgbClr val="007C83"/>
            </a:solidFill>
          </a:ln>
        </p:spPr>
        <p:txBody>
          <a:bodyPr/>
          <a:lstStyle/>
          <a:p>
            <a:endParaRPr lang="en-US"/>
          </a:p>
        </p:txBody>
      </p:sp>
      <p:sp>
        <p:nvSpPr>
          <p:cNvPr id="49" name="Rectangle 48">
            <a:extLst>
              <a:ext uri="{FF2B5EF4-FFF2-40B4-BE49-F238E27FC236}">
                <a16:creationId xmlns:a16="http://schemas.microsoft.com/office/drawing/2014/main" id="{A56AEF74-01D2-4152-B850-8CFD0E30B0AB}"/>
              </a:ext>
            </a:extLst>
          </p:cNvPr>
          <p:cNvSpPr>
            <a:spLocks noGrp="1"/>
          </p:cNvSpPr>
          <p:nvPr/>
        </p:nvSpPr>
        <p:spPr>
          <a:xfrm>
            <a:off x="4410075" y="5248275"/>
            <a:ext cx="2962275" cy="219075"/>
          </a:xfrm>
          <a:prstGeom prst="rect">
            <a:avLst/>
          </a:prstGeom>
          <a:noFill/>
          <a:ln w="0">
            <a:noFill/>
          </a:ln>
        </p:spPr>
        <p:txBody>
          <a:bodyPr>
            <a:noAutofit/>
          </a:bodyPr>
          <a:lstStyle/>
          <a:p>
            <a:pPr>
              <a:defRPr sz="1500" b="1">
                <a:solidFill>
                  <a:srgbClr val="0B1F3A"/>
                </a:solidFill>
                <a:latin typeface="Segoe UI"/>
                <a:ea typeface="Segoe UI"/>
                <a:cs typeface="Segoe UI"/>
              </a:defRPr>
            </a:pPr>
            <a:r>
              <a:rPr sz="1500" b="1">
                <a:solidFill>
                  <a:srgbClr val="0B1F3A"/>
                </a:solidFill>
                <a:latin typeface="Segoe UI"/>
                <a:ea typeface="Segoe UI"/>
                <a:cs typeface="Segoe UI"/>
              </a:rPr>
              <a:t>Graph projection</a:t>
            </a:r>
          </a:p>
        </p:txBody>
      </p:sp>
      <p:sp>
        <p:nvSpPr>
          <p:cNvPr id="50" name="Rectangle 49">
            <a:extLst>
              <a:ext uri="{FF2B5EF4-FFF2-40B4-BE49-F238E27FC236}">
                <a16:creationId xmlns:a16="http://schemas.microsoft.com/office/drawing/2014/main" id="{E8E04E82-FD55-4127-8545-F6CECEE32174}"/>
              </a:ext>
            </a:extLst>
          </p:cNvPr>
          <p:cNvSpPr>
            <a:spLocks noGrp="1"/>
          </p:cNvSpPr>
          <p:nvPr/>
        </p:nvSpPr>
        <p:spPr>
          <a:xfrm>
            <a:off x="4410075" y="5486400"/>
            <a:ext cx="3371850" cy="219075"/>
          </a:xfrm>
          <a:prstGeom prst="rect">
            <a:avLst/>
          </a:prstGeom>
          <a:noFill/>
          <a:ln w="0">
            <a:noFill/>
          </a:ln>
        </p:spPr>
        <p:txBody>
          <a:bodyPr>
            <a:noAutofit/>
          </a:bodyPr>
          <a:lstStyle/>
          <a:p>
            <a:pPr>
              <a:defRPr sz="1200" b="0">
                <a:solidFill>
                  <a:srgbClr val="253E55"/>
                </a:solidFill>
                <a:latin typeface="Segoe UI"/>
                <a:ea typeface="Segoe UI"/>
                <a:cs typeface="Segoe UI"/>
              </a:defRPr>
            </a:pPr>
            <a:r>
              <a:rPr sz="1200" b="0">
                <a:solidFill>
                  <a:srgbClr val="253E55"/>
                </a:solidFill>
                <a:latin typeface="Segoe UI"/>
                <a:ea typeface="Segoe UI"/>
                <a:cs typeface="Segoe UI"/>
              </a:rPr>
              <a:t>IDs, approved edges and evidence</a:t>
            </a:r>
          </a:p>
        </p:txBody>
      </p:sp>
      <p:sp>
        <p:nvSpPr>
          <p:cNvPr id="51" name="Arrow: Down 50">
            <a:extLst>
              <a:ext uri="{FF2B5EF4-FFF2-40B4-BE49-F238E27FC236}">
                <a16:creationId xmlns:a16="http://schemas.microsoft.com/office/drawing/2014/main" id="{A8FE8C69-1D00-4386-A4D5-1D898AF91457}"/>
              </a:ext>
            </a:extLst>
          </p:cNvPr>
          <p:cNvSpPr>
            <a:spLocks noGrp="1"/>
          </p:cNvSpPr>
          <p:nvPr/>
        </p:nvSpPr>
        <p:spPr>
          <a:xfrm>
            <a:off x="9820275" y="4924425"/>
            <a:ext cx="190500" cy="171450"/>
          </a:xfrm>
          <a:prstGeom prst="downArrow">
            <a:avLst/>
          </a:prstGeom>
          <a:solidFill>
            <a:srgbClr val="00A6B2"/>
          </a:solidFill>
          <a:ln w="0">
            <a:noFill/>
          </a:ln>
        </p:spPr>
        <p:txBody>
          <a:bodyPr/>
          <a:lstStyle/>
          <a:p>
            <a:endParaRPr lang="en-US"/>
          </a:p>
        </p:txBody>
      </p:sp>
      <p:sp>
        <p:nvSpPr>
          <p:cNvPr id="52" name="Rectangle: Rounded Corners 51">
            <a:extLst>
              <a:ext uri="{FF2B5EF4-FFF2-40B4-BE49-F238E27FC236}">
                <a16:creationId xmlns:a16="http://schemas.microsoft.com/office/drawing/2014/main" id="{F01829F8-49FD-45CF-92AA-16FB88E4A7F9}"/>
              </a:ext>
            </a:extLst>
          </p:cNvPr>
          <p:cNvSpPr>
            <a:spLocks noGrp="1"/>
          </p:cNvSpPr>
          <p:nvPr/>
        </p:nvSpPr>
        <p:spPr>
          <a:xfrm>
            <a:off x="8115300" y="5153025"/>
            <a:ext cx="3619500" cy="638175"/>
          </a:xfrm>
          <a:prstGeom prst="roundRect">
            <a:avLst>
              <a:gd name="adj" fmla="val 8955"/>
            </a:avLst>
          </a:prstGeom>
          <a:solidFill>
            <a:srgbClr val="FFFFFF"/>
          </a:solidFill>
          <a:ln w="11906">
            <a:solidFill>
              <a:srgbClr val="B8C7D9"/>
            </a:solidFill>
          </a:ln>
        </p:spPr>
        <p:txBody>
          <a:bodyPr/>
          <a:lstStyle/>
          <a:p>
            <a:endParaRPr lang="en-US"/>
          </a:p>
        </p:txBody>
      </p:sp>
      <p:sp>
        <p:nvSpPr>
          <p:cNvPr id="53" name="Rectangle 52">
            <a:extLst>
              <a:ext uri="{FF2B5EF4-FFF2-40B4-BE49-F238E27FC236}">
                <a16:creationId xmlns:a16="http://schemas.microsoft.com/office/drawing/2014/main" id="{5F20D113-A4DE-4FC8-8E5F-1EB4C28E680C}"/>
              </a:ext>
            </a:extLst>
          </p:cNvPr>
          <p:cNvSpPr>
            <a:spLocks noGrp="1"/>
          </p:cNvSpPr>
          <p:nvPr/>
        </p:nvSpPr>
        <p:spPr>
          <a:xfrm>
            <a:off x="11315700" y="5267325"/>
            <a:ext cx="257175" cy="314325"/>
          </a:xfrm>
          <a:prstGeom prst="rect">
            <a:avLst/>
          </a:prstGeom>
          <a:solidFill>
            <a:srgbClr val="FFFFFF"/>
          </a:solidFill>
          <a:ln w="15240">
            <a:solidFill>
              <a:srgbClr val="007C83"/>
            </a:solidFill>
          </a:ln>
        </p:spPr>
        <p:txBody>
          <a:bodyPr/>
          <a:lstStyle/>
          <a:p>
            <a:endParaRPr lang="en-US"/>
          </a:p>
        </p:txBody>
      </p:sp>
      <p:sp>
        <p:nvSpPr>
          <p:cNvPr id="54" name="Rectangle 53">
            <a:extLst>
              <a:ext uri="{FF2B5EF4-FFF2-40B4-BE49-F238E27FC236}">
                <a16:creationId xmlns:a16="http://schemas.microsoft.com/office/drawing/2014/main" id="{8C8C01F1-0509-4499-8FBD-25D5F37BAF9F}"/>
              </a:ext>
            </a:extLst>
          </p:cNvPr>
          <p:cNvSpPr>
            <a:spLocks noGrp="1"/>
          </p:cNvSpPr>
          <p:nvPr/>
        </p:nvSpPr>
        <p:spPr>
          <a:xfrm>
            <a:off x="11363325" y="5343525"/>
            <a:ext cx="161925" cy="19050"/>
          </a:xfrm>
          <a:prstGeom prst="rect">
            <a:avLst/>
          </a:prstGeom>
          <a:solidFill>
            <a:srgbClr val="007C83"/>
          </a:solidFill>
          <a:ln w="11906">
            <a:solidFill>
              <a:srgbClr val="007C83"/>
            </a:solidFill>
          </a:ln>
        </p:spPr>
        <p:txBody>
          <a:bodyPr/>
          <a:lstStyle/>
          <a:p>
            <a:endParaRPr lang="en-US"/>
          </a:p>
        </p:txBody>
      </p:sp>
      <p:sp>
        <p:nvSpPr>
          <p:cNvPr id="55" name="Rectangle 54">
            <a:extLst>
              <a:ext uri="{FF2B5EF4-FFF2-40B4-BE49-F238E27FC236}">
                <a16:creationId xmlns:a16="http://schemas.microsoft.com/office/drawing/2014/main" id="{3F259030-B2F0-491B-A7C4-759BA91DACC6}"/>
              </a:ext>
            </a:extLst>
          </p:cNvPr>
          <p:cNvSpPr>
            <a:spLocks noGrp="1"/>
          </p:cNvSpPr>
          <p:nvPr/>
        </p:nvSpPr>
        <p:spPr>
          <a:xfrm>
            <a:off x="11363325" y="5410200"/>
            <a:ext cx="161925" cy="19050"/>
          </a:xfrm>
          <a:prstGeom prst="rect">
            <a:avLst/>
          </a:prstGeom>
          <a:solidFill>
            <a:srgbClr val="007C83"/>
          </a:solidFill>
          <a:ln w="11906">
            <a:solidFill>
              <a:srgbClr val="007C83"/>
            </a:solidFill>
          </a:ln>
        </p:spPr>
        <p:txBody>
          <a:bodyPr/>
          <a:lstStyle/>
          <a:p>
            <a:endParaRPr lang="en-US"/>
          </a:p>
        </p:txBody>
      </p:sp>
      <p:sp>
        <p:nvSpPr>
          <p:cNvPr id="56" name="Rectangle 55">
            <a:extLst>
              <a:ext uri="{FF2B5EF4-FFF2-40B4-BE49-F238E27FC236}">
                <a16:creationId xmlns:a16="http://schemas.microsoft.com/office/drawing/2014/main" id="{626C9C92-272B-43C4-80D0-4A560890288C}"/>
              </a:ext>
            </a:extLst>
          </p:cNvPr>
          <p:cNvSpPr>
            <a:spLocks noGrp="1"/>
          </p:cNvSpPr>
          <p:nvPr/>
        </p:nvSpPr>
        <p:spPr>
          <a:xfrm>
            <a:off x="11363325" y="5476875"/>
            <a:ext cx="161925" cy="19050"/>
          </a:xfrm>
          <a:prstGeom prst="rect">
            <a:avLst/>
          </a:prstGeom>
          <a:solidFill>
            <a:srgbClr val="007C83"/>
          </a:solidFill>
          <a:ln w="11906">
            <a:solidFill>
              <a:srgbClr val="007C83"/>
            </a:solidFill>
          </a:ln>
        </p:spPr>
        <p:txBody>
          <a:bodyPr/>
          <a:lstStyle/>
          <a:p>
            <a:endParaRPr lang="en-US"/>
          </a:p>
        </p:txBody>
      </p:sp>
      <p:sp>
        <p:nvSpPr>
          <p:cNvPr id="57" name="Rectangle 56">
            <a:extLst>
              <a:ext uri="{FF2B5EF4-FFF2-40B4-BE49-F238E27FC236}">
                <a16:creationId xmlns:a16="http://schemas.microsoft.com/office/drawing/2014/main" id="{E82C818B-24A7-457F-9357-AF6A0282576D}"/>
              </a:ext>
            </a:extLst>
          </p:cNvPr>
          <p:cNvSpPr>
            <a:spLocks noGrp="1"/>
          </p:cNvSpPr>
          <p:nvPr/>
        </p:nvSpPr>
        <p:spPr>
          <a:xfrm>
            <a:off x="8239125" y="5248275"/>
            <a:ext cx="2962275" cy="219075"/>
          </a:xfrm>
          <a:prstGeom prst="rect">
            <a:avLst/>
          </a:prstGeom>
          <a:noFill/>
          <a:ln w="0">
            <a:noFill/>
          </a:ln>
        </p:spPr>
        <p:txBody>
          <a:bodyPr>
            <a:noAutofit/>
          </a:bodyPr>
          <a:lstStyle/>
          <a:p>
            <a:pPr>
              <a:defRPr sz="1500" b="1">
                <a:solidFill>
                  <a:srgbClr val="0B1F3A"/>
                </a:solidFill>
                <a:latin typeface="Segoe UI"/>
                <a:ea typeface="Segoe UI"/>
                <a:cs typeface="Segoe UI"/>
              </a:defRPr>
            </a:pPr>
            <a:r>
              <a:rPr sz="1500" b="1">
                <a:solidFill>
                  <a:srgbClr val="0B1F3A"/>
                </a:solidFill>
                <a:latin typeface="Segoe UI"/>
                <a:ea typeface="Segoe UI"/>
                <a:cs typeface="Segoe UI"/>
              </a:rPr>
              <a:t>Document / vector index</a:t>
            </a:r>
          </a:p>
        </p:txBody>
      </p:sp>
      <p:sp>
        <p:nvSpPr>
          <p:cNvPr id="58" name="Rectangle 57">
            <a:extLst>
              <a:ext uri="{FF2B5EF4-FFF2-40B4-BE49-F238E27FC236}">
                <a16:creationId xmlns:a16="http://schemas.microsoft.com/office/drawing/2014/main" id="{1A00BB55-2A30-4CB4-B456-8570544AA5DC}"/>
              </a:ext>
            </a:extLst>
          </p:cNvPr>
          <p:cNvSpPr>
            <a:spLocks noGrp="1"/>
          </p:cNvSpPr>
          <p:nvPr/>
        </p:nvSpPr>
        <p:spPr>
          <a:xfrm>
            <a:off x="8239125" y="5486400"/>
            <a:ext cx="3371850" cy="219075"/>
          </a:xfrm>
          <a:prstGeom prst="rect">
            <a:avLst/>
          </a:prstGeom>
          <a:noFill/>
          <a:ln w="0">
            <a:noFill/>
          </a:ln>
        </p:spPr>
        <p:txBody>
          <a:bodyPr>
            <a:noAutofit/>
          </a:bodyPr>
          <a:lstStyle/>
          <a:p>
            <a:pPr>
              <a:defRPr sz="1200" b="0">
                <a:solidFill>
                  <a:srgbClr val="253E55"/>
                </a:solidFill>
                <a:latin typeface="Segoe UI"/>
                <a:ea typeface="Segoe UI"/>
                <a:cs typeface="Segoe UI"/>
              </a:defRPr>
            </a:pPr>
            <a:r>
              <a:rPr sz="1200" b="0">
                <a:solidFill>
                  <a:srgbClr val="253E55"/>
                </a:solidFill>
                <a:latin typeface="Segoe UI"/>
                <a:ea typeface="Segoe UI"/>
                <a:cs typeface="Segoe UI"/>
              </a:rPr>
              <a:t>Originals, passages, embeddings and ACLs</a:t>
            </a:r>
          </a:p>
        </p:txBody>
      </p:sp>
      <p:sp>
        <p:nvSpPr>
          <p:cNvPr id="59" name="Rectangle: Rounded Corners 58">
            <a:extLst>
              <a:ext uri="{FF2B5EF4-FFF2-40B4-BE49-F238E27FC236}">
                <a16:creationId xmlns:a16="http://schemas.microsoft.com/office/drawing/2014/main" id="{20E2983C-E791-450D-B227-6B7D865ACC9C}"/>
              </a:ext>
            </a:extLst>
          </p:cNvPr>
          <p:cNvSpPr>
            <a:spLocks noGrp="1"/>
          </p:cNvSpPr>
          <p:nvPr/>
        </p:nvSpPr>
        <p:spPr>
          <a:xfrm>
            <a:off x="457200" y="5962650"/>
            <a:ext cx="11277600" cy="409575"/>
          </a:xfrm>
          <a:prstGeom prst="roundRect">
            <a:avLst>
              <a:gd name="adj" fmla="val 13953"/>
            </a:avLst>
          </a:prstGeom>
          <a:solidFill>
            <a:srgbClr val="0B1F3A"/>
          </a:solidFill>
          <a:ln w="11906">
            <a:solidFill>
              <a:srgbClr val="0B1F3A"/>
            </a:solidFill>
          </a:ln>
        </p:spPr>
        <p:txBody>
          <a:bodyPr/>
          <a:lstStyle/>
          <a:p>
            <a:endParaRPr lang="en-US"/>
          </a:p>
        </p:txBody>
      </p:sp>
      <p:sp>
        <p:nvSpPr>
          <p:cNvPr id="60" name="Rectangle 59">
            <a:extLst>
              <a:ext uri="{FF2B5EF4-FFF2-40B4-BE49-F238E27FC236}">
                <a16:creationId xmlns:a16="http://schemas.microsoft.com/office/drawing/2014/main" id="{9DD40640-13DB-4976-A063-1BAE8387C752}"/>
              </a:ext>
            </a:extLst>
          </p:cNvPr>
          <p:cNvSpPr>
            <a:spLocks noGrp="1"/>
          </p:cNvSpPr>
          <p:nvPr/>
        </p:nvSpPr>
        <p:spPr>
          <a:xfrm>
            <a:off x="581025" y="6057900"/>
            <a:ext cx="11029950" cy="266700"/>
          </a:xfrm>
          <a:prstGeom prst="rect">
            <a:avLst/>
          </a:prstGeom>
          <a:noFill/>
          <a:ln w="0">
            <a:noFill/>
          </a:ln>
        </p:spPr>
        <p:txBody>
          <a:bodyPr>
            <a:noAutofit/>
          </a:bodyPr>
          <a:lstStyle/>
          <a:p>
            <a:pPr>
              <a:defRPr sz="1200" b="1">
                <a:solidFill>
                  <a:srgbClr val="FFFFFF"/>
                </a:solidFill>
                <a:latin typeface="Segoe UI"/>
                <a:ea typeface="Segoe UI"/>
                <a:cs typeface="Segoe UI"/>
              </a:defRPr>
            </a:pPr>
            <a:r>
              <a:rPr sz="1200" b="1">
                <a:solidFill>
                  <a:srgbClr val="FFFFFF"/>
                </a:solidFill>
                <a:latin typeface="Segoe UI"/>
                <a:ea typeface="Segoe UI"/>
                <a:cs typeface="Segoe UI"/>
              </a:rPr>
              <a:t>Publication gate: compatible SQL, graph and index versions + coverage + freshness. Pin the manifest to each analysis.</a:t>
            </a:r>
          </a:p>
        </p:txBody>
      </p:sp>
    </p:spTree>
    <p:extLst>
      <p:ext uri="{BB962C8B-B14F-4D97-AF65-F5344CB8AC3E}">
        <p14:creationId xmlns:p14="http://schemas.microsoft.com/office/powerpoint/2010/main" val="15634324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3B9B3E35-9909-44F0-A540-5E676E391827}"/>
              </a:ext>
            </a:extLst>
          </p:cNvPr>
          <p:cNvSpPr>
            <a:spLocks noGrp="1"/>
          </p:cNvSpPr>
          <p:nvPr/>
        </p:nvSpPr>
        <p:spPr>
          <a:xfrm>
            <a:off x="0" y="0"/>
            <a:ext cx="12192000" cy="95250"/>
          </a:xfrm>
          <a:prstGeom prst="rect">
            <a:avLst/>
          </a:prstGeom>
          <a:solidFill>
            <a:srgbClr val="0B1F3A"/>
          </a:solidFill>
          <a:ln w="11906">
            <a:solidFill>
              <a:srgbClr val="0B1F3A"/>
            </a:solidFill>
          </a:ln>
        </p:spPr>
        <p:txBody>
          <a:bodyPr/>
          <a:lstStyle/>
          <a:p>
            <a:endParaRPr lang="en-US"/>
          </a:p>
        </p:txBody>
      </p:sp>
      <p:sp>
        <p:nvSpPr>
          <p:cNvPr id="2" name="Rectangle 1">
            <a:extLst>
              <a:ext uri="{FF2B5EF4-FFF2-40B4-BE49-F238E27FC236}">
                <a16:creationId xmlns:a16="http://schemas.microsoft.com/office/drawing/2014/main" id="{3C6F6C39-E53C-4065-9569-4907820C2683}"/>
              </a:ext>
            </a:extLst>
          </p:cNvPr>
          <p:cNvSpPr>
            <a:spLocks noGrp="1"/>
          </p:cNvSpPr>
          <p:nvPr/>
        </p:nvSpPr>
        <p:spPr>
          <a:xfrm>
            <a:off x="457200" y="352425"/>
            <a:ext cx="11239500" cy="504825"/>
          </a:xfrm>
          <a:prstGeom prst="rect">
            <a:avLst/>
          </a:prstGeom>
          <a:noFill/>
          <a:ln w="0">
            <a:noFill/>
          </a:ln>
        </p:spPr>
        <p:txBody>
          <a:bodyPr>
            <a:noAutofit/>
          </a:bodyPr>
          <a:lstStyle/>
          <a:p>
            <a:pPr>
              <a:defRPr sz="2550" b="1">
                <a:solidFill>
                  <a:srgbClr val="0B1F3A"/>
                </a:solidFill>
                <a:latin typeface="Segoe UI"/>
                <a:ea typeface="Segoe UI"/>
                <a:cs typeface="Segoe UI"/>
              </a:defRPr>
            </a:pPr>
            <a:r>
              <a:rPr sz="2550" b="1">
                <a:solidFill>
                  <a:srgbClr val="0B1F3A"/>
                </a:solidFill>
                <a:latin typeface="Segoe UI"/>
                <a:ea typeface="Segoe UI"/>
                <a:cs typeface="Segoe UI"/>
              </a:rPr>
              <a:t>Semantic layer: one definition across every experience</a:t>
            </a:r>
          </a:p>
        </p:txBody>
      </p:sp>
      <p:sp>
        <p:nvSpPr>
          <p:cNvPr id="3" name="Rectangle 2">
            <a:extLst>
              <a:ext uri="{FF2B5EF4-FFF2-40B4-BE49-F238E27FC236}">
                <a16:creationId xmlns:a16="http://schemas.microsoft.com/office/drawing/2014/main" id="{56CE5BD6-006E-4634-A44C-DE703A008AA1}"/>
              </a:ext>
            </a:extLst>
          </p:cNvPr>
          <p:cNvSpPr>
            <a:spLocks noGrp="1"/>
          </p:cNvSpPr>
          <p:nvPr/>
        </p:nvSpPr>
        <p:spPr>
          <a:xfrm>
            <a:off x="466725" y="885825"/>
            <a:ext cx="11239500" cy="409575"/>
          </a:xfrm>
          <a:prstGeom prst="rect">
            <a:avLst/>
          </a:prstGeom>
          <a:noFill/>
          <a:ln w="0">
            <a:noFill/>
          </a:ln>
        </p:spPr>
        <p:txBody>
          <a:bodyPr>
            <a:noAutofit/>
          </a:bodyPr>
          <a:lstStyle/>
          <a:p>
            <a:pPr>
              <a:defRPr sz="1350" b="0">
                <a:solidFill>
                  <a:srgbClr val="46586C"/>
                </a:solidFill>
                <a:latin typeface="Segoe UI"/>
                <a:ea typeface="Segoe UI"/>
                <a:cs typeface="Segoe UI"/>
              </a:defRPr>
            </a:pPr>
            <a:r>
              <a:rPr sz="1350" b="0">
                <a:solidFill>
                  <a:srgbClr val="46586C"/>
                </a:solidFill>
                <a:latin typeface="Segoe UI"/>
                <a:ea typeface="Segoe UI"/>
                <a:cs typeface="Segoe UI"/>
              </a:rPr>
              <a:t>Agents request approved measures and relationships. The semantic service resolves meaning and valid execution plans.</a:t>
            </a:r>
          </a:p>
        </p:txBody>
      </p:sp>
      <p:sp>
        <p:nvSpPr>
          <p:cNvPr id="4" name="Rectangle 3">
            <a:extLst>
              <a:ext uri="{FF2B5EF4-FFF2-40B4-BE49-F238E27FC236}">
                <a16:creationId xmlns:a16="http://schemas.microsoft.com/office/drawing/2014/main" id="{DB0B7899-A9B6-423F-B014-FEC79C019E14}"/>
              </a:ext>
            </a:extLst>
          </p:cNvPr>
          <p:cNvSpPr>
            <a:spLocks noGrp="1"/>
          </p:cNvSpPr>
          <p:nvPr/>
        </p:nvSpPr>
        <p:spPr>
          <a:xfrm>
            <a:off x="457200" y="6562725"/>
            <a:ext cx="9906000" cy="200025"/>
          </a:xfrm>
          <a:prstGeom prst="rect">
            <a:avLst/>
          </a:prstGeom>
          <a:noFill/>
          <a:ln w="0">
            <a:noFill/>
          </a:ln>
        </p:spPr>
        <p:txBody>
          <a:bodyPr>
            <a:noAutofit/>
          </a:bodyPr>
          <a:lstStyle/>
          <a:p>
            <a:pPr>
              <a:defRPr sz="900" b="0">
                <a:solidFill>
                  <a:srgbClr val="46586C"/>
                </a:solidFill>
                <a:latin typeface="Segoe UI"/>
                <a:ea typeface="Segoe UI"/>
                <a:cs typeface="Segoe UI"/>
              </a:defRPr>
            </a:pPr>
            <a:r>
              <a:rPr sz="900" b="0">
                <a:solidFill>
                  <a:srgbClr val="46586C"/>
                </a:solidFill>
                <a:latin typeface="Segoe UI"/>
                <a:ea typeface="Segoe UI"/>
                <a:cs typeface="Segoe UI"/>
              </a:rPr>
              <a:t>CITI VENDOR DECISION INTELLIGENCE  /  PROPOSED SOLUTION</a:t>
            </a:r>
          </a:p>
        </p:txBody>
      </p:sp>
      <p:sp>
        <p:nvSpPr>
          <p:cNvPr id="5" name="Rectangle 4">
            <a:extLst>
              <a:ext uri="{FF2B5EF4-FFF2-40B4-BE49-F238E27FC236}">
                <a16:creationId xmlns:a16="http://schemas.microsoft.com/office/drawing/2014/main" id="{2D127E03-018D-4D0D-B9BA-9478443097C7}"/>
              </a:ext>
            </a:extLst>
          </p:cNvPr>
          <p:cNvSpPr>
            <a:spLocks noGrp="1"/>
          </p:cNvSpPr>
          <p:nvPr/>
        </p:nvSpPr>
        <p:spPr>
          <a:xfrm>
            <a:off x="11391900" y="6562725"/>
            <a:ext cx="323850" cy="190500"/>
          </a:xfrm>
          <a:prstGeom prst="rect">
            <a:avLst/>
          </a:prstGeom>
          <a:noFill/>
          <a:ln w="0">
            <a:noFill/>
          </a:ln>
        </p:spPr>
        <p:txBody>
          <a:bodyPr>
            <a:noAutofit/>
          </a:bodyPr>
          <a:lstStyle/>
          <a:p>
            <a:pPr>
              <a:defRPr sz="900" b="1">
                <a:solidFill>
                  <a:srgbClr val="0B1F3A"/>
                </a:solidFill>
                <a:latin typeface="Segoe UI"/>
                <a:ea typeface="Segoe UI"/>
                <a:cs typeface="Segoe UI"/>
              </a:defRPr>
            </a:pPr>
            <a:r>
              <a:rPr sz="900" b="1">
                <a:solidFill>
                  <a:srgbClr val="0B1F3A"/>
                </a:solidFill>
                <a:latin typeface="Segoe UI"/>
                <a:ea typeface="Segoe UI"/>
                <a:cs typeface="Segoe UI"/>
              </a:rPr>
              <a:t>03</a:t>
            </a:r>
          </a:p>
        </p:txBody>
      </p:sp>
      <p:sp>
        <p:nvSpPr>
          <p:cNvPr id="6" name="Rectangle: Rounded Corners 5">
            <a:extLst>
              <a:ext uri="{FF2B5EF4-FFF2-40B4-BE49-F238E27FC236}">
                <a16:creationId xmlns:a16="http://schemas.microsoft.com/office/drawing/2014/main" id="{4C7AA51C-D539-467B-8564-564FBAD0A3A3}"/>
              </a:ext>
            </a:extLst>
          </p:cNvPr>
          <p:cNvSpPr>
            <a:spLocks noGrp="1"/>
          </p:cNvSpPr>
          <p:nvPr/>
        </p:nvSpPr>
        <p:spPr>
          <a:xfrm>
            <a:off x="457200" y="1419225"/>
            <a:ext cx="3619500" cy="1085850"/>
          </a:xfrm>
          <a:prstGeom prst="roundRect">
            <a:avLst>
              <a:gd name="adj" fmla="val 5263"/>
            </a:avLst>
          </a:prstGeom>
          <a:solidFill>
            <a:srgbClr val="E4F6F7"/>
          </a:solidFill>
          <a:ln w="11906">
            <a:solidFill>
              <a:srgbClr val="B8C7D9"/>
            </a:solidFill>
          </a:ln>
        </p:spPr>
        <p:txBody>
          <a:bodyPr/>
          <a:lstStyle/>
          <a:p>
            <a:endParaRPr lang="en-US"/>
          </a:p>
        </p:txBody>
      </p:sp>
      <p:sp>
        <p:nvSpPr>
          <p:cNvPr id="7" name="Rectangle 6">
            <a:extLst>
              <a:ext uri="{FF2B5EF4-FFF2-40B4-BE49-F238E27FC236}">
                <a16:creationId xmlns:a16="http://schemas.microsoft.com/office/drawing/2014/main" id="{2227366F-7265-4A44-8D29-99BF4321D73B}"/>
              </a:ext>
            </a:extLst>
          </p:cNvPr>
          <p:cNvSpPr>
            <a:spLocks noGrp="1"/>
          </p:cNvSpPr>
          <p:nvPr/>
        </p:nvSpPr>
        <p:spPr>
          <a:xfrm>
            <a:off x="581025" y="1514475"/>
            <a:ext cx="3371850" cy="285750"/>
          </a:xfrm>
          <a:prstGeom prst="rect">
            <a:avLst/>
          </a:prstGeom>
          <a:noFill/>
          <a:ln w="0">
            <a:noFill/>
          </a:ln>
        </p:spPr>
        <p:txBody>
          <a:bodyPr>
            <a:noAutofit/>
          </a:bodyPr>
          <a:lstStyle/>
          <a:p>
            <a:pPr>
              <a:defRPr sz="1575" b="1">
                <a:solidFill>
                  <a:srgbClr val="0B1F3A"/>
                </a:solidFill>
                <a:latin typeface="Segoe UI"/>
                <a:ea typeface="Segoe UI"/>
                <a:cs typeface="Segoe UI"/>
              </a:defRPr>
            </a:pPr>
            <a:r>
              <a:rPr sz="1575" b="1">
                <a:solidFill>
                  <a:srgbClr val="0B1F3A"/>
                </a:solidFill>
                <a:latin typeface="Segoe UI"/>
                <a:ea typeface="Segoe UI"/>
                <a:cs typeface="Segoe UI"/>
              </a:rPr>
              <a:t>Entity definitions</a:t>
            </a:r>
          </a:p>
        </p:txBody>
      </p:sp>
      <p:sp>
        <p:nvSpPr>
          <p:cNvPr id="8" name="Rectangle 7">
            <a:extLst>
              <a:ext uri="{FF2B5EF4-FFF2-40B4-BE49-F238E27FC236}">
                <a16:creationId xmlns:a16="http://schemas.microsoft.com/office/drawing/2014/main" id="{85A75BD3-D745-45D3-B7D3-630B1DBF9148}"/>
              </a:ext>
            </a:extLst>
          </p:cNvPr>
          <p:cNvSpPr>
            <a:spLocks noGrp="1"/>
          </p:cNvSpPr>
          <p:nvPr/>
        </p:nvSpPr>
        <p:spPr>
          <a:xfrm>
            <a:off x="581025" y="1876425"/>
            <a:ext cx="3371850" cy="542925"/>
          </a:xfrm>
          <a:prstGeom prst="rect">
            <a:avLst/>
          </a:prstGeom>
          <a:noFill/>
          <a:ln w="0">
            <a:noFill/>
          </a:ln>
        </p:spPr>
        <p:txBody>
          <a:bodyPr>
            <a:noAutofit/>
          </a:bodyPr>
          <a:lstStyle/>
          <a:p>
            <a:pPr>
              <a:defRPr sz="1350" b="0">
                <a:solidFill>
                  <a:srgbClr val="253E55"/>
                </a:solidFill>
                <a:latin typeface="Segoe UI"/>
                <a:ea typeface="Segoe UI"/>
                <a:cs typeface="Segoe UI"/>
              </a:defRPr>
            </a:pPr>
            <a:r>
              <a:rPr sz="1350" b="0">
                <a:solidFill>
                  <a:srgbClr val="253E55"/>
                </a:solidFill>
                <a:latin typeface="Segoe UI"/>
                <a:ea typeface="Segoe UI"/>
                <a:cs typeface="Segoe UI"/>
              </a:rPr>
              <a:t>Vendor / parent / service / app</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Keys, grain and relationship cardinality</a:t>
            </a:r>
          </a:p>
        </p:txBody>
      </p:sp>
      <p:sp>
        <p:nvSpPr>
          <p:cNvPr id="9" name="Rectangle: Rounded Corners 8">
            <a:extLst>
              <a:ext uri="{FF2B5EF4-FFF2-40B4-BE49-F238E27FC236}">
                <a16:creationId xmlns:a16="http://schemas.microsoft.com/office/drawing/2014/main" id="{CAC78DE3-1970-401F-BCF6-08804A9E7B39}"/>
              </a:ext>
            </a:extLst>
          </p:cNvPr>
          <p:cNvSpPr>
            <a:spLocks noGrp="1"/>
          </p:cNvSpPr>
          <p:nvPr/>
        </p:nvSpPr>
        <p:spPr>
          <a:xfrm>
            <a:off x="4286250" y="1419225"/>
            <a:ext cx="3619500" cy="1085850"/>
          </a:xfrm>
          <a:prstGeom prst="roundRect">
            <a:avLst>
              <a:gd name="adj" fmla="val 5263"/>
            </a:avLst>
          </a:prstGeom>
          <a:solidFill>
            <a:srgbClr val="E4F6F7"/>
          </a:solidFill>
          <a:ln w="11906">
            <a:solidFill>
              <a:srgbClr val="B8C7D9"/>
            </a:solidFill>
          </a:ln>
        </p:spPr>
        <p:txBody>
          <a:bodyPr/>
          <a:lstStyle/>
          <a:p>
            <a:endParaRPr lang="en-US"/>
          </a:p>
        </p:txBody>
      </p:sp>
      <p:sp>
        <p:nvSpPr>
          <p:cNvPr id="10" name="Rectangle 9">
            <a:extLst>
              <a:ext uri="{FF2B5EF4-FFF2-40B4-BE49-F238E27FC236}">
                <a16:creationId xmlns:a16="http://schemas.microsoft.com/office/drawing/2014/main" id="{53CFF8D9-DA54-4617-810B-A15B00197E1A}"/>
              </a:ext>
            </a:extLst>
          </p:cNvPr>
          <p:cNvSpPr>
            <a:spLocks noGrp="1"/>
          </p:cNvSpPr>
          <p:nvPr/>
        </p:nvSpPr>
        <p:spPr>
          <a:xfrm>
            <a:off x="4410075" y="1514475"/>
            <a:ext cx="3371850" cy="285750"/>
          </a:xfrm>
          <a:prstGeom prst="rect">
            <a:avLst/>
          </a:prstGeom>
          <a:noFill/>
          <a:ln w="0">
            <a:noFill/>
          </a:ln>
        </p:spPr>
        <p:txBody>
          <a:bodyPr>
            <a:noAutofit/>
          </a:bodyPr>
          <a:lstStyle/>
          <a:p>
            <a:pPr>
              <a:defRPr sz="1575" b="1">
                <a:solidFill>
                  <a:srgbClr val="0B1F3A"/>
                </a:solidFill>
                <a:latin typeface="Segoe UI"/>
                <a:ea typeface="Segoe UI"/>
                <a:cs typeface="Segoe UI"/>
              </a:defRPr>
            </a:pPr>
            <a:r>
              <a:rPr sz="1575" b="1">
                <a:solidFill>
                  <a:srgbClr val="0B1F3A"/>
                </a:solidFill>
                <a:latin typeface="Segoe UI"/>
                <a:ea typeface="Segoe UI"/>
                <a:cs typeface="Segoe UI"/>
              </a:rPr>
              <a:t>Metric definitions</a:t>
            </a:r>
          </a:p>
        </p:txBody>
      </p:sp>
      <p:sp>
        <p:nvSpPr>
          <p:cNvPr id="11" name="Rectangle 10">
            <a:extLst>
              <a:ext uri="{FF2B5EF4-FFF2-40B4-BE49-F238E27FC236}">
                <a16:creationId xmlns:a16="http://schemas.microsoft.com/office/drawing/2014/main" id="{C6621A5F-B797-4476-82BA-66A39187479F}"/>
              </a:ext>
            </a:extLst>
          </p:cNvPr>
          <p:cNvSpPr>
            <a:spLocks noGrp="1"/>
          </p:cNvSpPr>
          <p:nvPr/>
        </p:nvSpPr>
        <p:spPr>
          <a:xfrm>
            <a:off x="4410075" y="1876425"/>
            <a:ext cx="3371850" cy="542925"/>
          </a:xfrm>
          <a:prstGeom prst="rect">
            <a:avLst/>
          </a:prstGeom>
          <a:noFill/>
          <a:ln w="0">
            <a:noFill/>
          </a:ln>
        </p:spPr>
        <p:txBody>
          <a:bodyPr>
            <a:noAutofit/>
          </a:bodyPr>
          <a:lstStyle/>
          <a:p>
            <a:pPr>
              <a:defRPr sz="1350" b="0">
                <a:solidFill>
                  <a:srgbClr val="253E55"/>
                </a:solidFill>
                <a:latin typeface="Segoe UI"/>
                <a:ea typeface="Segoe UI"/>
                <a:cs typeface="Segoe UI"/>
              </a:defRPr>
            </a:pPr>
            <a:r>
              <a:rPr sz="1350" b="0">
                <a:solidFill>
                  <a:srgbClr val="253E55"/>
                </a:solidFill>
                <a:latin typeface="Segoe UI"/>
                <a:ea typeface="Segoe UI"/>
                <a:cs typeface="Segoe UI"/>
              </a:rPr>
              <a:t>Spend / workforce / variance / exposure</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Formula, dimensions, owner and version</a:t>
            </a:r>
          </a:p>
        </p:txBody>
      </p:sp>
      <p:sp>
        <p:nvSpPr>
          <p:cNvPr id="12" name="Rectangle: Rounded Corners 11">
            <a:extLst>
              <a:ext uri="{FF2B5EF4-FFF2-40B4-BE49-F238E27FC236}">
                <a16:creationId xmlns:a16="http://schemas.microsoft.com/office/drawing/2014/main" id="{65997EDB-650B-40BA-BCE8-ED7EBFCD0250}"/>
              </a:ext>
            </a:extLst>
          </p:cNvPr>
          <p:cNvSpPr>
            <a:spLocks noGrp="1"/>
          </p:cNvSpPr>
          <p:nvPr/>
        </p:nvSpPr>
        <p:spPr>
          <a:xfrm>
            <a:off x="8115300" y="1419225"/>
            <a:ext cx="3619500" cy="1085850"/>
          </a:xfrm>
          <a:prstGeom prst="roundRect">
            <a:avLst>
              <a:gd name="adj" fmla="val 5263"/>
            </a:avLst>
          </a:prstGeom>
          <a:solidFill>
            <a:srgbClr val="E4F6F7"/>
          </a:solidFill>
          <a:ln w="11906">
            <a:solidFill>
              <a:srgbClr val="B8C7D9"/>
            </a:solidFill>
          </a:ln>
        </p:spPr>
        <p:txBody>
          <a:bodyPr/>
          <a:lstStyle/>
          <a:p>
            <a:endParaRPr lang="en-US"/>
          </a:p>
        </p:txBody>
      </p:sp>
      <p:sp>
        <p:nvSpPr>
          <p:cNvPr id="13" name="Rectangle 12">
            <a:extLst>
              <a:ext uri="{FF2B5EF4-FFF2-40B4-BE49-F238E27FC236}">
                <a16:creationId xmlns:a16="http://schemas.microsoft.com/office/drawing/2014/main" id="{7C3A286A-07B2-4A76-8C46-7A2EF85EFFB8}"/>
              </a:ext>
            </a:extLst>
          </p:cNvPr>
          <p:cNvSpPr>
            <a:spLocks noGrp="1"/>
          </p:cNvSpPr>
          <p:nvPr/>
        </p:nvSpPr>
        <p:spPr>
          <a:xfrm>
            <a:off x="8239125" y="1514475"/>
            <a:ext cx="3371850" cy="285750"/>
          </a:xfrm>
          <a:prstGeom prst="rect">
            <a:avLst/>
          </a:prstGeom>
          <a:noFill/>
          <a:ln w="0">
            <a:noFill/>
          </a:ln>
        </p:spPr>
        <p:txBody>
          <a:bodyPr>
            <a:noAutofit/>
          </a:bodyPr>
          <a:lstStyle/>
          <a:p>
            <a:pPr>
              <a:defRPr sz="1575" b="1">
                <a:solidFill>
                  <a:srgbClr val="0B1F3A"/>
                </a:solidFill>
                <a:latin typeface="Segoe UI"/>
                <a:ea typeface="Segoe UI"/>
                <a:cs typeface="Segoe UI"/>
              </a:defRPr>
            </a:pPr>
            <a:r>
              <a:rPr sz="1575" b="1">
                <a:solidFill>
                  <a:srgbClr val="0B1F3A"/>
                </a:solidFill>
                <a:latin typeface="Segoe UI"/>
                <a:ea typeface="Segoe UI"/>
                <a:cs typeface="Segoe UI"/>
              </a:rPr>
              <a:t>Decision definitions</a:t>
            </a:r>
          </a:p>
        </p:txBody>
      </p:sp>
      <p:sp>
        <p:nvSpPr>
          <p:cNvPr id="14" name="Rectangle 13">
            <a:extLst>
              <a:ext uri="{FF2B5EF4-FFF2-40B4-BE49-F238E27FC236}">
                <a16:creationId xmlns:a16="http://schemas.microsoft.com/office/drawing/2014/main" id="{AEAD6288-E6E3-4493-9C56-D259D7294BB8}"/>
              </a:ext>
            </a:extLst>
          </p:cNvPr>
          <p:cNvSpPr>
            <a:spLocks noGrp="1"/>
          </p:cNvSpPr>
          <p:nvPr/>
        </p:nvSpPr>
        <p:spPr>
          <a:xfrm>
            <a:off x="8239125" y="1876425"/>
            <a:ext cx="3371850" cy="542925"/>
          </a:xfrm>
          <a:prstGeom prst="rect">
            <a:avLst/>
          </a:prstGeom>
          <a:noFill/>
          <a:ln w="0">
            <a:noFill/>
          </a:ln>
        </p:spPr>
        <p:txBody>
          <a:bodyPr>
            <a:noAutofit/>
          </a:bodyPr>
          <a:lstStyle/>
          <a:p>
            <a:pPr>
              <a:defRPr sz="1350" b="0">
                <a:solidFill>
                  <a:srgbClr val="253E55"/>
                </a:solidFill>
                <a:latin typeface="Segoe UI"/>
                <a:ea typeface="Segoe UI"/>
                <a:cs typeface="Segoe UI"/>
              </a:defRPr>
            </a:pPr>
            <a:r>
              <a:rPr sz="1350" b="0">
                <a:solidFill>
                  <a:srgbClr val="253E55"/>
                </a:solidFill>
                <a:latin typeface="Segoe UI"/>
                <a:ea typeface="Segoe UI"/>
                <a:cs typeface="Segoe UI"/>
              </a:rPr>
              <a:t>Renewal factors / threshold bands</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Scenario bounds / confidence policy</a:t>
            </a:r>
          </a:p>
        </p:txBody>
      </p:sp>
      <p:sp>
        <p:nvSpPr>
          <p:cNvPr id="15" name="Arrow: Down 14">
            <a:extLst>
              <a:ext uri="{FF2B5EF4-FFF2-40B4-BE49-F238E27FC236}">
                <a16:creationId xmlns:a16="http://schemas.microsoft.com/office/drawing/2014/main" id="{35456629-5452-4DED-92E9-18E98C6828C5}"/>
              </a:ext>
            </a:extLst>
          </p:cNvPr>
          <p:cNvSpPr>
            <a:spLocks noGrp="1"/>
          </p:cNvSpPr>
          <p:nvPr/>
        </p:nvSpPr>
        <p:spPr>
          <a:xfrm>
            <a:off x="5943600" y="2590800"/>
            <a:ext cx="190500" cy="266700"/>
          </a:xfrm>
          <a:prstGeom prst="downArrow">
            <a:avLst/>
          </a:prstGeom>
          <a:solidFill>
            <a:srgbClr val="00A6B2"/>
          </a:solidFill>
          <a:ln w="0">
            <a:noFill/>
          </a:ln>
        </p:spPr>
        <p:txBody>
          <a:bodyPr/>
          <a:lstStyle/>
          <a:p>
            <a:endParaRPr lang="en-US"/>
          </a:p>
        </p:txBody>
      </p:sp>
      <p:sp>
        <p:nvSpPr>
          <p:cNvPr id="16" name="Rectangle: Rounded Corners 15">
            <a:extLst>
              <a:ext uri="{FF2B5EF4-FFF2-40B4-BE49-F238E27FC236}">
                <a16:creationId xmlns:a16="http://schemas.microsoft.com/office/drawing/2014/main" id="{9E4CD9B5-D70E-4698-8812-B0EFE1DC722D}"/>
              </a:ext>
            </a:extLst>
          </p:cNvPr>
          <p:cNvSpPr>
            <a:spLocks noGrp="1"/>
          </p:cNvSpPr>
          <p:nvPr/>
        </p:nvSpPr>
        <p:spPr>
          <a:xfrm>
            <a:off x="457200" y="2914650"/>
            <a:ext cx="11277600" cy="609600"/>
          </a:xfrm>
          <a:prstGeom prst="roundRect">
            <a:avLst>
              <a:gd name="adj" fmla="val 9375"/>
            </a:avLst>
          </a:prstGeom>
          <a:solidFill>
            <a:srgbClr val="0B1F3A"/>
          </a:solidFill>
          <a:ln w="11906">
            <a:solidFill>
              <a:srgbClr val="0B1F3A"/>
            </a:solidFill>
          </a:ln>
        </p:spPr>
        <p:txBody>
          <a:bodyPr/>
          <a:lstStyle/>
          <a:p>
            <a:endParaRPr lang="en-US"/>
          </a:p>
        </p:txBody>
      </p:sp>
      <p:sp>
        <p:nvSpPr>
          <p:cNvPr id="17" name="Rectangle 16">
            <a:extLst>
              <a:ext uri="{FF2B5EF4-FFF2-40B4-BE49-F238E27FC236}">
                <a16:creationId xmlns:a16="http://schemas.microsoft.com/office/drawing/2014/main" id="{6A08D260-CCED-4C1B-8630-FE71FF2EA57C}"/>
              </a:ext>
            </a:extLst>
          </p:cNvPr>
          <p:cNvSpPr>
            <a:spLocks noGrp="1"/>
          </p:cNvSpPr>
          <p:nvPr/>
        </p:nvSpPr>
        <p:spPr>
          <a:xfrm>
            <a:off x="581025" y="3009900"/>
            <a:ext cx="11029950" cy="228600"/>
          </a:xfrm>
          <a:prstGeom prst="rect">
            <a:avLst/>
          </a:prstGeom>
          <a:noFill/>
          <a:ln w="0">
            <a:noFill/>
          </a:ln>
        </p:spPr>
        <p:txBody>
          <a:bodyPr>
            <a:noAutofit/>
          </a:bodyPr>
          <a:lstStyle/>
          <a:p>
            <a:pPr>
              <a:defRPr sz="1725" b="1">
                <a:solidFill>
                  <a:srgbClr val="FFFFFF"/>
                </a:solidFill>
                <a:latin typeface="Segoe UI"/>
                <a:ea typeface="Segoe UI"/>
                <a:cs typeface="Segoe UI"/>
              </a:defRPr>
            </a:pPr>
            <a:r>
              <a:rPr sz="1725" b="1">
                <a:solidFill>
                  <a:srgbClr val="FFFFFF"/>
                </a:solidFill>
                <a:latin typeface="Segoe UI"/>
                <a:ea typeface="Segoe UI"/>
                <a:cs typeface="Segoe UI"/>
              </a:rPr>
              <a:t>Semantic query compiler</a:t>
            </a:r>
          </a:p>
        </p:txBody>
      </p:sp>
      <p:sp>
        <p:nvSpPr>
          <p:cNvPr id="18" name="Rectangle 17">
            <a:extLst>
              <a:ext uri="{FF2B5EF4-FFF2-40B4-BE49-F238E27FC236}">
                <a16:creationId xmlns:a16="http://schemas.microsoft.com/office/drawing/2014/main" id="{D92BE542-6E96-4A59-BD25-A4F9E0FC8BED}"/>
              </a:ext>
            </a:extLst>
          </p:cNvPr>
          <p:cNvSpPr>
            <a:spLocks noGrp="1"/>
          </p:cNvSpPr>
          <p:nvPr/>
        </p:nvSpPr>
        <p:spPr>
          <a:xfrm>
            <a:off x="581025" y="3257550"/>
            <a:ext cx="11029950" cy="180975"/>
          </a:xfrm>
          <a:prstGeom prst="rect">
            <a:avLst/>
          </a:prstGeom>
          <a:noFill/>
          <a:ln w="0">
            <a:noFill/>
          </a:ln>
        </p:spPr>
        <p:txBody>
          <a:bodyPr>
            <a:noAutofit/>
          </a:bodyPr>
          <a:lstStyle/>
          <a:p>
            <a:pPr>
              <a:defRPr sz="1275" b="0">
                <a:solidFill>
                  <a:srgbClr val="FFFFFF"/>
                </a:solidFill>
                <a:latin typeface="Segoe UI"/>
                <a:ea typeface="Segoe UI"/>
                <a:cs typeface="Segoe UI"/>
              </a:defRPr>
            </a:pPr>
            <a:r>
              <a:rPr sz="1275" b="0">
                <a:solidFill>
                  <a:srgbClr val="FFFFFF"/>
                </a:solidFill>
                <a:latin typeface="Segoe UI"/>
                <a:ea typeface="Segoe UI"/>
                <a:cs typeface="Segoe UI"/>
              </a:rPr>
              <a:t>Resolve scope, period, currency, grain and joins; apply access policy and select an approved query template</a:t>
            </a:r>
          </a:p>
        </p:txBody>
      </p:sp>
      <p:sp>
        <p:nvSpPr>
          <p:cNvPr id="19" name="Arrow: Down 18">
            <a:extLst>
              <a:ext uri="{FF2B5EF4-FFF2-40B4-BE49-F238E27FC236}">
                <a16:creationId xmlns:a16="http://schemas.microsoft.com/office/drawing/2014/main" id="{9A207FA5-E024-42C4-BE97-4975304D67B9}"/>
              </a:ext>
            </a:extLst>
          </p:cNvPr>
          <p:cNvSpPr>
            <a:spLocks noGrp="1"/>
          </p:cNvSpPr>
          <p:nvPr/>
        </p:nvSpPr>
        <p:spPr>
          <a:xfrm>
            <a:off x="2162175" y="3600450"/>
            <a:ext cx="190500" cy="247650"/>
          </a:xfrm>
          <a:prstGeom prst="downArrow">
            <a:avLst/>
          </a:prstGeom>
          <a:solidFill>
            <a:srgbClr val="00A6B2"/>
          </a:solidFill>
          <a:ln w="0">
            <a:noFill/>
          </a:ln>
        </p:spPr>
        <p:txBody>
          <a:bodyPr/>
          <a:lstStyle/>
          <a:p>
            <a:endParaRPr lang="en-US"/>
          </a:p>
        </p:txBody>
      </p:sp>
      <p:sp>
        <p:nvSpPr>
          <p:cNvPr id="20" name="Rectangle: Rounded Corners 19">
            <a:extLst>
              <a:ext uri="{FF2B5EF4-FFF2-40B4-BE49-F238E27FC236}">
                <a16:creationId xmlns:a16="http://schemas.microsoft.com/office/drawing/2014/main" id="{0257C3DF-1BD8-4B61-9A50-2EF686D17732}"/>
              </a:ext>
            </a:extLst>
          </p:cNvPr>
          <p:cNvSpPr>
            <a:spLocks noGrp="1"/>
          </p:cNvSpPr>
          <p:nvPr/>
        </p:nvSpPr>
        <p:spPr>
          <a:xfrm>
            <a:off x="457200" y="3905250"/>
            <a:ext cx="3619500" cy="1047750"/>
          </a:xfrm>
          <a:prstGeom prst="roundRect">
            <a:avLst>
              <a:gd name="adj" fmla="val 5455"/>
            </a:avLst>
          </a:prstGeom>
          <a:solidFill>
            <a:srgbClr val="FFFFFF"/>
          </a:solidFill>
          <a:ln w="11906">
            <a:solidFill>
              <a:srgbClr val="B8C7D9"/>
            </a:solidFill>
          </a:ln>
        </p:spPr>
        <p:txBody>
          <a:bodyPr/>
          <a:lstStyle/>
          <a:p>
            <a:endParaRPr lang="en-US"/>
          </a:p>
        </p:txBody>
      </p:sp>
      <p:sp>
        <p:nvSpPr>
          <p:cNvPr id="21" name="Oval 20">
            <a:extLst>
              <a:ext uri="{FF2B5EF4-FFF2-40B4-BE49-F238E27FC236}">
                <a16:creationId xmlns:a16="http://schemas.microsoft.com/office/drawing/2014/main" id="{D83D3007-3DC8-4A7F-AEFD-C8E1B8F26E78}"/>
              </a:ext>
            </a:extLst>
          </p:cNvPr>
          <p:cNvSpPr>
            <a:spLocks noGrp="1"/>
          </p:cNvSpPr>
          <p:nvPr/>
        </p:nvSpPr>
        <p:spPr>
          <a:xfrm>
            <a:off x="3629025" y="4238625"/>
            <a:ext cx="304800" cy="95250"/>
          </a:xfrm>
          <a:prstGeom prst="ellipse">
            <a:avLst/>
          </a:prstGeom>
          <a:solidFill>
            <a:srgbClr val="FFFFFF"/>
          </a:solidFill>
          <a:ln w="15240">
            <a:solidFill>
              <a:srgbClr val="007C83"/>
            </a:solidFill>
          </a:ln>
        </p:spPr>
        <p:txBody>
          <a:bodyPr/>
          <a:lstStyle/>
          <a:p>
            <a:endParaRPr lang="en-US"/>
          </a:p>
        </p:txBody>
      </p:sp>
      <p:sp>
        <p:nvSpPr>
          <p:cNvPr id="22" name="Rectangle 21">
            <a:extLst>
              <a:ext uri="{FF2B5EF4-FFF2-40B4-BE49-F238E27FC236}">
                <a16:creationId xmlns:a16="http://schemas.microsoft.com/office/drawing/2014/main" id="{4400ECD3-DC57-4C06-84D0-BD8EE2A2485B}"/>
              </a:ext>
            </a:extLst>
          </p:cNvPr>
          <p:cNvSpPr>
            <a:spLocks noGrp="1"/>
          </p:cNvSpPr>
          <p:nvPr/>
        </p:nvSpPr>
        <p:spPr>
          <a:xfrm>
            <a:off x="3629025" y="4067175"/>
            <a:ext cx="304800" cy="219075"/>
          </a:xfrm>
          <a:prstGeom prst="rect">
            <a:avLst/>
          </a:prstGeom>
          <a:solidFill>
            <a:srgbClr val="FFFFFF"/>
          </a:solidFill>
          <a:ln w="15240">
            <a:solidFill>
              <a:srgbClr val="007C83"/>
            </a:solidFill>
          </a:ln>
        </p:spPr>
        <p:txBody>
          <a:bodyPr/>
          <a:lstStyle/>
          <a:p>
            <a:endParaRPr lang="en-US"/>
          </a:p>
        </p:txBody>
      </p:sp>
      <p:sp>
        <p:nvSpPr>
          <p:cNvPr id="23" name="Oval 22">
            <a:extLst>
              <a:ext uri="{FF2B5EF4-FFF2-40B4-BE49-F238E27FC236}">
                <a16:creationId xmlns:a16="http://schemas.microsoft.com/office/drawing/2014/main" id="{FEA5EDB7-8F41-4D25-8259-29F0F9040933}"/>
              </a:ext>
            </a:extLst>
          </p:cNvPr>
          <p:cNvSpPr>
            <a:spLocks noGrp="1"/>
          </p:cNvSpPr>
          <p:nvPr/>
        </p:nvSpPr>
        <p:spPr>
          <a:xfrm>
            <a:off x="3629025" y="4019550"/>
            <a:ext cx="304800" cy="95250"/>
          </a:xfrm>
          <a:prstGeom prst="ellipse">
            <a:avLst/>
          </a:prstGeom>
          <a:solidFill>
            <a:srgbClr val="FFFFFF"/>
          </a:solidFill>
          <a:ln w="15240">
            <a:solidFill>
              <a:srgbClr val="007C83"/>
            </a:solidFill>
          </a:ln>
        </p:spPr>
        <p:txBody>
          <a:bodyPr/>
          <a:lstStyle/>
          <a:p>
            <a:endParaRPr lang="en-US"/>
          </a:p>
        </p:txBody>
      </p:sp>
      <p:sp>
        <p:nvSpPr>
          <p:cNvPr id="24" name="Rectangle 23">
            <a:extLst>
              <a:ext uri="{FF2B5EF4-FFF2-40B4-BE49-F238E27FC236}">
                <a16:creationId xmlns:a16="http://schemas.microsoft.com/office/drawing/2014/main" id="{DD37F458-6A67-491F-A03A-5C3F4B298C39}"/>
              </a:ext>
            </a:extLst>
          </p:cNvPr>
          <p:cNvSpPr>
            <a:spLocks noGrp="1"/>
          </p:cNvSpPr>
          <p:nvPr/>
        </p:nvSpPr>
        <p:spPr>
          <a:xfrm>
            <a:off x="581025" y="4000500"/>
            <a:ext cx="2962275" cy="285750"/>
          </a:xfrm>
          <a:prstGeom prst="rect">
            <a:avLst/>
          </a:prstGeom>
          <a:noFill/>
          <a:ln w="0">
            <a:noFill/>
          </a:ln>
        </p:spPr>
        <p:txBody>
          <a:bodyPr>
            <a:noAutofit/>
          </a:bodyPr>
          <a:lstStyle/>
          <a:p>
            <a:pPr>
              <a:defRPr sz="1575" b="1">
                <a:solidFill>
                  <a:srgbClr val="0B1F3A"/>
                </a:solidFill>
                <a:latin typeface="Segoe UI"/>
                <a:ea typeface="Segoe UI"/>
                <a:cs typeface="Segoe UI"/>
              </a:defRPr>
            </a:pPr>
            <a:r>
              <a:rPr sz="1575" b="1">
                <a:solidFill>
                  <a:srgbClr val="0B1F3A"/>
                </a:solidFill>
                <a:latin typeface="Segoe UI"/>
                <a:ea typeface="Segoe UI"/>
                <a:cs typeface="Segoe UI"/>
              </a:rPr>
              <a:t>SQL plan</a:t>
            </a:r>
          </a:p>
        </p:txBody>
      </p:sp>
      <p:sp>
        <p:nvSpPr>
          <p:cNvPr id="25" name="Rectangle 24">
            <a:extLst>
              <a:ext uri="{FF2B5EF4-FFF2-40B4-BE49-F238E27FC236}">
                <a16:creationId xmlns:a16="http://schemas.microsoft.com/office/drawing/2014/main" id="{D63BDDB6-8F62-49C9-AAC3-1D6B8536D907}"/>
              </a:ext>
            </a:extLst>
          </p:cNvPr>
          <p:cNvSpPr>
            <a:spLocks noGrp="1"/>
          </p:cNvSpPr>
          <p:nvPr/>
        </p:nvSpPr>
        <p:spPr>
          <a:xfrm>
            <a:off x="581025" y="4362450"/>
            <a:ext cx="3371850" cy="504825"/>
          </a:xfrm>
          <a:prstGeom prst="rect">
            <a:avLst/>
          </a:prstGeom>
          <a:noFill/>
          <a:ln w="0">
            <a:noFill/>
          </a:ln>
        </p:spPr>
        <p:txBody>
          <a:bodyPr>
            <a:noAutofit/>
          </a:bodyPr>
          <a:lstStyle/>
          <a:p>
            <a:pPr>
              <a:defRPr sz="1350" b="0">
                <a:solidFill>
                  <a:srgbClr val="253E55"/>
                </a:solidFill>
                <a:latin typeface="Segoe UI"/>
                <a:ea typeface="Segoe UI"/>
                <a:cs typeface="Segoe UI"/>
              </a:defRPr>
            </a:pPr>
            <a:r>
              <a:rPr sz="1350" b="0">
                <a:solidFill>
                  <a:srgbClr val="253E55"/>
                </a:solidFill>
                <a:latin typeface="Segoe UI"/>
                <a:ea typeface="Segoe UI"/>
                <a:cs typeface="Segoe UI"/>
              </a:rPr>
              <a:t>Aggregate at approved fact grain</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Prevent duplicated spend</a:t>
            </a:r>
          </a:p>
        </p:txBody>
      </p:sp>
      <p:sp>
        <p:nvSpPr>
          <p:cNvPr id="26" name="Arrow: Down 25">
            <a:extLst>
              <a:ext uri="{FF2B5EF4-FFF2-40B4-BE49-F238E27FC236}">
                <a16:creationId xmlns:a16="http://schemas.microsoft.com/office/drawing/2014/main" id="{65384511-2CF4-4ECF-8714-A8EA56C045B1}"/>
              </a:ext>
            </a:extLst>
          </p:cNvPr>
          <p:cNvSpPr>
            <a:spLocks noGrp="1"/>
          </p:cNvSpPr>
          <p:nvPr/>
        </p:nvSpPr>
        <p:spPr>
          <a:xfrm>
            <a:off x="5991225" y="3600450"/>
            <a:ext cx="190500" cy="247650"/>
          </a:xfrm>
          <a:prstGeom prst="downArrow">
            <a:avLst/>
          </a:prstGeom>
          <a:solidFill>
            <a:srgbClr val="00A6B2"/>
          </a:solidFill>
          <a:ln w="0">
            <a:noFill/>
          </a:ln>
        </p:spPr>
        <p:txBody>
          <a:bodyPr/>
          <a:lstStyle/>
          <a:p>
            <a:endParaRPr lang="en-US"/>
          </a:p>
        </p:txBody>
      </p:sp>
      <p:sp>
        <p:nvSpPr>
          <p:cNvPr id="27" name="Rectangle: Rounded Corners 26">
            <a:extLst>
              <a:ext uri="{FF2B5EF4-FFF2-40B4-BE49-F238E27FC236}">
                <a16:creationId xmlns:a16="http://schemas.microsoft.com/office/drawing/2014/main" id="{54A53C9F-91C0-4B7D-82F3-450D7B0053CF}"/>
              </a:ext>
            </a:extLst>
          </p:cNvPr>
          <p:cNvSpPr>
            <a:spLocks noGrp="1"/>
          </p:cNvSpPr>
          <p:nvPr/>
        </p:nvSpPr>
        <p:spPr>
          <a:xfrm>
            <a:off x="4286250" y="3905250"/>
            <a:ext cx="3619500" cy="1047750"/>
          </a:xfrm>
          <a:prstGeom prst="roundRect">
            <a:avLst>
              <a:gd name="adj" fmla="val 5455"/>
            </a:avLst>
          </a:prstGeom>
          <a:solidFill>
            <a:srgbClr val="FFFFFF"/>
          </a:solidFill>
          <a:ln w="11906">
            <a:solidFill>
              <a:srgbClr val="B8C7D9"/>
            </a:solidFill>
          </a:ln>
        </p:spPr>
        <p:txBody>
          <a:bodyPr/>
          <a:lstStyle/>
          <a:p>
            <a:endParaRPr lang="en-US"/>
          </a:p>
        </p:txBody>
      </p:sp>
      <p:sp>
        <p:nvSpPr>
          <p:cNvPr id="28" name="Rectangle 27">
            <a:extLst>
              <a:ext uri="{FF2B5EF4-FFF2-40B4-BE49-F238E27FC236}">
                <a16:creationId xmlns:a16="http://schemas.microsoft.com/office/drawing/2014/main" id="{645C92F7-381D-46ED-A036-4FF430122F3E}"/>
              </a:ext>
            </a:extLst>
          </p:cNvPr>
          <p:cNvSpPr>
            <a:spLocks noGrp="1"/>
          </p:cNvSpPr>
          <p:nvPr/>
        </p:nvSpPr>
        <p:spPr>
          <a:xfrm>
            <a:off x="7505700" y="4067175"/>
            <a:ext cx="228600" cy="19050"/>
          </a:xfrm>
          <a:prstGeom prst="rect">
            <a:avLst/>
          </a:prstGeom>
          <a:solidFill>
            <a:srgbClr val="007C83"/>
          </a:solidFill>
          <a:ln w="11906">
            <a:solidFill>
              <a:srgbClr val="007C83"/>
            </a:solidFill>
          </a:ln>
        </p:spPr>
        <p:txBody>
          <a:bodyPr/>
          <a:lstStyle/>
          <a:p>
            <a:endParaRPr lang="en-US"/>
          </a:p>
        </p:txBody>
      </p:sp>
      <p:sp>
        <p:nvSpPr>
          <p:cNvPr id="29" name="Rectangle 28">
            <a:extLst>
              <a:ext uri="{FF2B5EF4-FFF2-40B4-BE49-F238E27FC236}">
                <a16:creationId xmlns:a16="http://schemas.microsoft.com/office/drawing/2014/main" id="{B04A0556-1AEB-4E81-8BA0-212DFCA83A27}"/>
              </a:ext>
            </a:extLst>
          </p:cNvPr>
          <p:cNvSpPr>
            <a:spLocks noGrp="1"/>
          </p:cNvSpPr>
          <p:nvPr/>
        </p:nvSpPr>
        <p:spPr>
          <a:xfrm>
            <a:off x="7505700" y="4067175"/>
            <a:ext cx="19050" cy="228600"/>
          </a:xfrm>
          <a:prstGeom prst="rect">
            <a:avLst/>
          </a:prstGeom>
          <a:solidFill>
            <a:srgbClr val="007C83"/>
          </a:solidFill>
          <a:ln w="11906">
            <a:solidFill>
              <a:srgbClr val="007C83"/>
            </a:solidFill>
          </a:ln>
        </p:spPr>
        <p:txBody>
          <a:bodyPr/>
          <a:lstStyle/>
          <a:p>
            <a:endParaRPr lang="en-US"/>
          </a:p>
        </p:txBody>
      </p:sp>
      <p:sp>
        <p:nvSpPr>
          <p:cNvPr id="30" name="Rectangle 29">
            <a:extLst>
              <a:ext uri="{FF2B5EF4-FFF2-40B4-BE49-F238E27FC236}">
                <a16:creationId xmlns:a16="http://schemas.microsoft.com/office/drawing/2014/main" id="{BC6A8A25-9A38-485B-9DC5-B27D61F3AE2D}"/>
              </a:ext>
            </a:extLst>
          </p:cNvPr>
          <p:cNvSpPr>
            <a:spLocks noGrp="1"/>
          </p:cNvSpPr>
          <p:nvPr/>
        </p:nvSpPr>
        <p:spPr>
          <a:xfrm>
            <a:off x="7505700" y="4286250"/>
            <a:ext cx="228600" cy="19050"/>
          </a:xfrm>
          <a:prstGeom prst="rect">
            <a:avLst/>
          </a:prstGeom>
          <a:solidFill>
            <a:srgbClr val="007C83"/>
          </a:solidFill>
          <a:ln w="11906">
            <a:solidFill>
              <a:srgbClr val="007C83"/>
            </a:solidFill>
          </a:ln>
        </p:spPr>
        <p:txBody>
          <a:bodyPr/>
          <a:lstStyle/>
          <a:p>
            <a:endParaRPr lang="en-US"/>
          </a:p>
        </p:txBody>
      </p:sp>
      <p:sp>
        <p:nvSpPr>
          <p:cNvPr id="31" name="Rectangle 30">
            <a:extLst>
              <a:ext uri="{FF2B5EF4-FFF2-40B4-BE49-F238E27FC236}">
                <a16:creationId xmlns:a16="http://schemas.microsoft.com/office/drawing/2014/main" id="{043A21CC-45F5-43F1-BEB6-990DD085C3D2}"/>
              </a:ext>
            </a:extLst>
          </p:cNvPr>
          <p:cNvSpPr>
            <a:spLocks noGrp="1"/>
          </p:cNvSpPr>
          <p:nvPr/>
        </p:nvSpPr>
        <p:spPr>
          <a:xfrm>
            <a:off x="7724775" y="4067175"/>
            <a:ext cx="19050" cy="228600"/>
          </a:xfrm>
          <a:prstGeom prst="rect">
            <a:avLst/>
          </a:prstGeom>
          <a:solidFill>
            <a:srgbClr val="007C83"/>
          </a:solidFill>
          <a:ln w="11906">
            <a:solidFill>
              <a:srgbClr val="007C83"/>
            </a:solidFill>
          </a:ln>
        </p:spPr>
        <p:txBody>
          <a:bodyPr/>
          <a:lstStyle/>
          <a:p>
            <a:endParaRPr lang="en-US"/>
          </a:p>
        </p:txBody>
      </p:sp>
      <p:sp>
        <p:nvSpPr>
          <p:cNvPr id="32" name="Oval 31">
            <a:extLst>
              <a:ext uri="{FF2B5EF4-FFF2-40B4-BE49-F238E27FC236}">
                <a16:creationId xmlns:a16="http://schemas.microsoft.com/office/drawing/2014/main" id="{4BCF7ED6-DE58-4D87-AB4E-BD69C723A207}"/>
              </a:ext>
            </a:extLst>
          </p:cNvPr>
          <p:cNvSpPr>
            <a:spLocks noGrp="1"/>
          </p:cNvSpPr>
          <p:nvPr/>
        </p:nvSpPr>
        <p:spPr>
          <a:xfrm>
            <a:off x="7458075" y="4019550"/>
            <a:ext cx="95250" cy="95250"/>
          </a:xfrm>
          <a:prstGeom prst="ellipse">
            <a:avLst/>
          </a:prstGeom>
          <a:solidFill>
            <a:srgbClr val="E4F6F7"/>
          </a:solidFill>
          <a:ln w="15240">
            <a:solidFill>
              <a:srgbClr val="007C83"/>
            </a:solidFill>
          </a:ln>
        </p:spPr>
        <p:txBody>
          <a:bodyPr/>
          <a:lstStyle/>
          <a:p>
            <a:endParaRPr lang="en-US"/>
          </a:p>
        </p:txBody>
      </p:sp>
      <p:sp>
        <p:nvSpPr>
          <p:cNvPr id="33" name="Oval 32">
            <a:extLst>
              <a:ext uri="{FF2B5EF4-FFF2-40B4-BE49-F238E27FC236}">
                <a16:creationId xmlns:a16="http://schemas.microsoft.com/office/drawing/2014/main" id="{DF1FF170-2C83-4210-9BD5-9DB694BFED28}"/>
              </a:ext>
            </a:extLst>
          </p:cNvPr>
          <p:cNvSpPr>
            <a:spLocks noGrp="1"/>
          </p:cNvSpPr>
          <p:nvPr/>
        </p:nvSpPr>
        <p:spPr>
          <a:xfrm>
            <a:off x="7677150" y="4019550"/>
            <a:ext cx="95250" cy="95250"/>
          </a:xfrm>
          <a:prstGeom prst="ellipse">
            <a:avLst/>
          </a:prstGeom>
          <a:solidFill>
            <a:srgbClr val="E4F6F7"/>
          </a:solidFill>
          <a:ln w="15240">
            <a:solidFill>
              <a:srgbClr val="007C83"/>
            </a:solidFill>
          </a:ln>
        </p:spPr>
        <p:txBody>
          <a:bodyPr/>
          <a:lstStyle/>
          <a:p>
            <a:endParaRPr lang="en-US"/>
          </a:p>
        </p:txBody>
      </p:sp>
      <p:sp>
        <p:nvSpPr>
          <p:cNvPr id="34" name="Oval 33">
            <a:extLst>
              <a:ext uri="{FF2B5EF4-FFF2-40B4-BE49-F238E27FC236}">
                <a16:creationId xmlns:a16="http://schemas.microsoft.com/office/drawing/2014/main" id="{2A9F698F-ACC4-4445-9D99-1CDC32B7013F}"/>
              </a:ext>
            </a:extLst>
          </p:cNvPr>
          <p:cNvSpPr>
            <a:spLocks noGrp="1"/>
          </p:cNvSpPr>
          <p:nvPr/>
        </p:nvSpPr>
        <p:spPr>
          <a:xfrm>
            <a:off x="7458075" y="4238625"/>
            <a:ext cx="95250" cy="95250"/>
          </a:xfrm>
          <a:prstGeom prst="ellipse">
            <a:avLst/>
          </a:prstGeom>
          <a:solidFill>
            <a:srgbClr val="E4F6F7"/>
          </a:solidFill>
          <a:ln w="15240">
            <a:solidFill>
              <a:srgbClr val="007C83"/>
            </a:solidFill>
          </a:ln>
        </p:spPr>
        <p:txBody>
          <a:bodyPr/>
          <a:lstStyle/>
          <a:p>
            <a:endParaRPr lang="en-US"/>
          </a:p>
        </p:txBody>
      </p:sp>
      <p:sp>
        <p:nvSpPr>
          <p:cNvPr id="35" name="Oval 34">
            <a:extLst>
              <a:ext uri="{FF2B5EF4-FFF2-40B4-BE49-F238E27FC236}">
                <a16:creationId xmlns:a16="http://schemas.microsoft.com/office/drawing/2014/main" id="{A28D201D-BF99-495C-BF4F-2629FA58A966}"/>
              </a:ext>
            </a:extLst>
          </p:cNvPr>
          <p:cNvSpPr>
            <a:spLocks noGrp="1"/>
          </p:cNvSpPr>
          <p:nvPr/>
        </p:nvSpPr>
        <p:spPr>
          <a:xfrm>
            <a:off x="7677150" y="4238625"/>
            <a:ext cx="95250" cy="95250"/>
          </a:xfrm>
          <a:prstGeom prst="ellipse">
            <a:avLst/>
          </a:prstGeom>
          <a:solidFill>
            <a:srgbClr val="E4F6F7"/>
          </a:solidFill>
          <a:ln w="15240">
            <a:solidFill>
              <a:srgbClr val="007C83"/>
            </a:solidFill>
          </a:ln>
        </p:spPr>
        <p:txBody>
          <a:bodyPr/>
          <a:lstStyle/>
          <a:p>
            <a:endParaRPr lang="en-US"/>
          </a:p>
        </p:txBody>
      </p:sp>
      <p:sp>
        <p:nvSpPr>
          <p:cNvPr id="36" name="Rectangle 35">
            <a:extLst>
              <a:ext uri="{FF2B5EF4-FFF2-40B4-BE49-F238E27FC236}">
                <a16:creationId xmlns:a16="http://schemas.microsoft.com/office/drawing/2014/main" id="{D637E00B-0DDC-455E-85BA-2C1466ECFA29}"/>
              </a:ext>
            </a:extLst>
          </p:cNvPr>
          <p:cNvSpPr>
            <a:spLocks noGrp="1"/>
          </p:cNvSpPr>
          <p:nvPr/>
        </p:nvSpPr>
        <p:spPr>
          <a:xfrm>
            <a:off x="4410075" y="4000500"/>
            <a:ext cx="2962275" cy="285750"/>
          </a:xfrm>
          <a:prstGeom prst="rect">
            <a:avLst/>
          </a:prstGeom>
          <a:noFill/>
          <a:ln w="0">
            <a:noFill/>
          </a:ln>
        </p:spPr>
        <p:txBody>
          <a:bodyPr>
            <a:noAutofit/>
          </a:bodyPr>
          <a:lstStyle/>
          <a:p>
            <a:pPr>
              <a:defRPr sz="1575" b="1">
                <a:solidFill>
                  <a:srgbClr val="0B1F3A"/>
                </a:solidFill>
                <a:latin typeface="Segoe UI"/>
                <a:ea typeface="Segoe UI"/>
                <a:cs typeface="Segoe UI"/>
              </a:defRPr>
            </a:pPr>
            <a:r>
              <a:rPr sz="1575" b="1">
                <a:solidFill>
                  <a:srgbClr val="0B1F3A"/>
                </a:solidFill>
                <a:latin typeface="Segoe UI"/>
                <a:ea typeface="Segoe UI"/>
                <a:cs typeface="Segoe UI"/>
              </a:rPr>
              <a:t>Graph plan</a:t>
            </a:r>
          </a:p>
        </p:txBody>
      </p:sp>
      <p:sp>
        <p:nvSpPr>
          <p:cNvPr id="37" name="Rectangle 36">
            <a:extLst>
              <a:ext uri="{FF2B5EF4-FFF2-40B4-BE49-F238E27FC236}">
                <a16:creationId xmlns:a16="http://schemas.microsoft.com/office/drawing/2014/main" id="{D7EF9936-684D-4210-9FCE-FB35539EFCEF}"/>
              </a:ext>
            </a:extLst>
          </p:cNvPr>
          <p:cNvSpPr>
            <a:spLocks noGrp="1"/>
          </p:cNvSpPr>
          <p:nvPr/>
        </p:nvSpPr>
        <p:spPr>
          <a:xfrm>
            <a:off x="4410075" y="4362450"/>
            <a:ext cx="3371850" cy="504825"/>
          </a:xfrm>
          <a:prstGeom prst="rect">
            <a:avLst/>
          </a:prstGeom>
          <a:noFill/>
          <a:ln w="0">
            <a:noFill/>
          </a:ln>
        </p:spPr>
        <p:txBody>
          <a:bodyPr>
            <a:noAutofit/>
          </a:bodyPr>
          <a:lstStyle/>
          <a:p>
            <a:pPr>
              <a:defRPr sz="1350" b="0">
                <a:solidFill>
                  <a:srgbClr val="253E55"/>
                </a:solidFill>
                <a:latin typeface="Segoe UI"/>
                <a:ea typeface="Segoe UI"/>
                <a:cs typeface="Segoe UI"/>
              </a:defRPr>
            </a:pPr>
            <a:r>
              <a:rPr sz="1350" b="0">
                <a:solidFill>
                  <a:srgbClr val="253E55"/>
                </a:solidFill>
                <a:latin typeface="Segoe UI"/>
                <a:ea typeface="Segoe UI"/>
                <a:cs typeface="Segoe UI"/>
              </a:rPr>
              <a:t>Approved paths and hop bounds</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Filter nodes AND relationships</a:t>
            </a:r>
          </a:p>
        </p:txBody>
      </p:sp>
      <p:sp>
        <p:nvSpPr>
          <p:cNvPr id="38" name="Arrow: Down 37">
            <a:extLst>
              <a:ext uri="{FF2B5EF4-FFF2-40B4-BE49-F238E27FC236}">
                <a16:creationId xmlns:a16="http://schemas.microsoft.com/office/drawing/2014/main" id="{381219CF-41F4-4E79-8AF2-AD99DDD8BEE5}"/>
              </a:ext>
            </a:extLst>
          </p:cNvPr>
          <p:cNvSpPr>
            <a:spLocks noGrp="1"/>
          </p:cNvSpPr>
          <p:nvPr/>
        </p:nvSpPr>
        <p:spPr>
          <a:xfrm>
            <a:off x="9820275" y="3600450"/>
            <a:ext cx="190500" cy="247650"/>
          </a:xfrm>
          <a:prstGeom prst="downArrow">
            <a:avLst/>
          </a:prstGeom>
          <a:solidFill>
            <a:srgbClr val="00A6B2"/>
          </a:solidFill>
          <a:ln w="0">
            <a:noFill/>
          </a:ln>
        </p:spPr>
        <p:txBody>
          <a:bodyPr/>
          <a:lstStyle/>
          <a:p>
            <a:endParaRPr lang="en-US"/>
          </a:p>
        </p:txBody>
      </p:sp>
      <p:sp>
        <p:nvSpPr>
          <p:cNvPr id="39" name="Rectangle: Rounded Corners 38">
            <a:extLst>
              <a:ext uri="{FF2B5EF4-FFF2-40B4-BE49-F238E27FC236}">
                <a16:creationId xmlns:a16="http://schemas.microsoft.com/office/drawing/2014/main" id="{80A34A0B-24BE-4E0A-898E-ED177F0527CB}"/>
              </a:ext>
            </a:extLst>
          </p:cNvPr>
          <p:cNvSpPr>
            <a:spLocks noGrp="1"/>
          </p:cNvSpPr>
          <p:nvPr/>
        </p:nvSpPr>
        <p:spPr>
          <a:xfrm>
            <a:off x="8115300" y="3905250"/>
            <a:ext cx="3619500" cy="1047750"/>
          </a:xfrm>
          <a:prstGeom prst="roundRect">
            <a:avLst>
              <a:gd name="adj" fmla="val 5455"/>
            </a:avLst>
          </a:prstGeom>
          <a:solidFill>
            <a:srgbClr val="FFFFFF"/>
          </a:solidFill>
          <a:ln w="11906">
            <a:solidFill>
              <a:srgbClr val="B8C7D9"/>
            </a:solidFill>
          </a:ln>
        </p:spPr>
        <p:txBody>
          <a:bodyPr/>
          <a:lstStyle/>
          <a:p>
            <a:endParaRPr lang="en-US"/>
          </a:p>
        </p:txBody>
      </p:sp>
      <p:sp>
        <p:nvSpPr>
          <p:cNvPr id="40" name="Rectangle 39">
            <a:extLst>
              <a:ext uri="{FF2B5EF4-FFF2-40B4-BE49-F238E27FC236}">
                <a16:creationId xmlns:a16="http://schemas.microsoft.com/office/drawing/2014/main" id="{2972DE80-283E-4548-82B4-80BD40243850}"/>
              </a:ext>
            </a:extLst>
          </p:cNvPr>
          <p:cNvSpPr>
            <a:spLocks noGrp="1"/>
          </p:cNvSpPr>
          <p:nvPr/>
        </p:nvSpPr>
        <p:spPr>
          <a:xfrm>
            <a:off x="11315700" y="4019550"/>
            <a:ext cx="257175" cy="314325"/>
          </a:xfrm>
          <a:prstGeom prst="rect">
            <a:avLst/>
          </a:prstGeom>
          <a:solidFill>
            <a:srgbClr val="FFFFFF"/>
          </a:solidFill>
          <a:ln w="15240">
            <a:solidFill>
              <a:srgbClr val="007C83"/>
            </a:solidFill>
          </a:ln>
        </p:spPr>
        <p:txBody>
          <a:bodyPr/>
          <a:lstStyle/>
          <a:p>
            <a:endParaRPr lang="en-US"/>
          </a:p>
        </p:txBody>
      </p:sp>
      <p:sp>
        <p:nvSpPr>
          <p:cNvPr id="41" name="Rectangle 40">
            <a:extLst>
              <a:ext uri="{FF2B5EF4-FFF2-40B4-BE49-F238E27FC236}">
                <a16:creationId xmlns:a16="http://schemas.microsoft.com/office/drawing/2014/main" id="{99EEED0C-CD59-4D6D-BDD1-86DEBEE5AE3B}"/>
              </a:ext>
            </a:extLst>
          </p:cNvPr>
          <p:cNvSpPr>
            <a:spLocks noGrp="1"/>
          </p:cNvSpPr>
          <p:nvPr/>
        </p:nvSpPr>
        <p:spPr>
          <a:xfrm>
            <a:off x="11363325" y="4095750"/>
            <a:ext cx="161925" cy="19050"/>
          </a:xfrm>
          <a:prstGeom prst="rect">
            <a:avLst/>
          </a:prstGeom>
          <a:solidFill>
            <a:srgbClr val="007C83"/>
          </a:solidFill>
          <a:ln w="11906">
            <a:solidFill>
              <a:srgbClr val="007C83"/>
            </a:solidFill>
          </a:ln>
        </p:spPr>
        <p:txBody>
          <a:bodyPr/>
          <a:lstStyle/>
          <a:p>
            <a:endParaRPr lang="en-US"/>
          </a:p>
        </p:txBody>
      </p:sp>
      <p:sp>
        <p:nvSpPr>
          <p:cNvPr id="42" name="Rectangle 41">
            <a:extLst>
              <a:ext uri="{FF2B5EF4-FFF2-40B4-BE49-F238E27FC236}">
                <a16:creationId xmlns:a16="http://schemas.microsoft.com/office/drawing/2014/main" id="{2913D7EC-790C-4B28-91FC-2AEE24963014}"/>
              </a:ext>
            </a:extLst>
          </p:cNvPr>
          <p:cNvSpPr>
            <a:spLocks noGrp="1"/>
          </p:cNvSpPr>
          <p:nvPr/>
        </p:nvSpPr>
        <p:spPr>
          <a:xfrm>
            <a:off x="11363325" y="4162425"/>
            <a:ext cx="161925" cy="19050"/>
          </a:xfrm>
          <a:prstGeom prst="rect">
            <a:avLst/>
          </a:prstGeom>
          <a:solidFill>
            <a:srgbClr val="007C83"/>
          </a:solidFill>
          <a:ln w="11906">
            <a:solidFill>
              <a:srgbClr val="007C83"/>
            </a:solidFill>
          </a:ln>
        </p:spPr>
        <p:txBody>
          <a:bodyPr/>
          <a:lstStyle/>
          <a:p>
            <a:endParaRPr lang="en-US"/>
          </a:p>
        </p:txBody>
      </p:sp>
      <p:sp>
        <p:nvSpPr>
          <p:cNvPr id="43" name="Rectangle 42">
            <a:extLst>
              <a:ext uri="{FF2B5EF4-FFF2-40B4-BE49-F238E27FC236}">
                <a16:creationId xmlns:a16="http://schemas.microsoft.com/office/drawing/2014/main" id="{C37DFB3D-67DD-4BCF-9361-DCC4ABC1AD95}"/>
              </a:ext>
            </a:extLst>
          </p:cNvPr>
          <p:cNvSpPr>
            <a:spLocks noGrp="1"/>
          </p:cNvSpPr>
          <p:nvPr/>
        </p:nvSpPr>
        <p:spPr>
          <a:xfrm>
            <a:off x="11363325" y="4229100"/>
            <a:ext cx="161925" cy="19050"/>
          </a:xfrm>
          <a:prstGeom prst="rect">
            <a:avLst/>
          </a:prstGeom>
          <a:solidFill>
            <a:srgbClr val="007C83"/>
          </a:solidFill>
          <a:ln w="11906">
            <a:solidFill>
              <a:srgbClr val="007C83"/>
            </a:solidFill>
          </a:ln>
        </p:spPr>
        <p:txBody>
          <a:bodyPr/>
          <a:lstStyle/>
          <a:p>
            <a:endParaRPr lang="en-US"/>
          </a:p>
        </p:txBody>
      </p:sp>
      <p:sp>
        <p:nvSpPr>
          <p:cNvPr id="44" name="Rectangle 43">
            <a:extLst>
              <a:ext uri="{FF2B5EF4-FFF2-40B4-BE49-F238E27FC236}">
                <a16:creationId xmlns:a16="http://schemas.microsoft.com/office/drawing/2014/main" id="{6AA32158-1BCB-41D2-A16B-928B17058BAE}"/>
              </a:ext>
            </a:extLst>
          </p:cNvPr>
          <p:cNvSpPr>
            <a:spLocks noGrp="1"/>
          </p:cNvSpPr>
          <p:nvPr/>
        </p:nvSpPr>
        <p:spPr>
          <a:xfrm>
            <a:off x="8239125" y="4000500"/>
            <a:ext cx="2962275" cy="285750"/>
          </a:xfrm>
          <a:prstGeom prst="rect">
            <a:avLst/>
          </a:prstGeom>
          <a:noFill/>
          <a:ln w="0">
            <a:noFill/>
          </a:ln>
        </p:spPr>
        <p:txBody>
          <a:bodyPr>
            <a:noAutofit/>
          </a:bodyPr>
          <a:lstStyle/>
          <a:p>
            <a:pPr>
              <a:defRPr sz="1575" b="1">
                <a:solidFill>
                  <a:srgbClr val="0B1F3A"/>
                </a:solidFill>
                <a:latin typeface="Segoe UI"/>
                <a:ea typeface="Segoe UI"/>
                <a:cs typeface="Segoe UI"/>
              </a:defRPr>
            </a:pPr>
            <a:r>
              <a:rPr sz="1575" b="1">
                <a:solidFill>
                  <a:srgbClr val="0B1F3A"/>
                </a:solidFill>
                <a:latin typeface="Segoe UI"/>
                <a:ea typeface="Segoe UI"/>
                <a:cs typeface="Segoe UI"/>
              </a:rPr>
              <a:t>Retrieval plan</a:t>
            </a:r>
          </a:p>
        </p:txBody>
      </p:sp>
      <p:sp>
        <p:nvSpPr>
          <p:cNvPr id="45" name="Rectangle 44">
            <a:extLst>
              <a:ext uri="{FF2B5EF4-FFF2-40B4-BE49-F238E27FC236}">
                <a16:creationId xmlns:a16="http://schemas.microsoft.com/office/drawing/2014/main" id="{33CD8416-1F51-41BC-9D25-AB89EB7EF641}"/>
              </a:ext>
            </a:extLst>
          </p:cNvPr>
          <p:cNvSpPr>
            <a:spLocks noGrp="1"/>
          </p:cNvSpPr>
          <p:nvPr/>
        </p:nvSpPr>
        <p:spPr>
          <a:xfrm>
            <a:off x="8239125" y="4362450"/>
            <a:ext cx="3371850" cy="504825"/>
          </a:xfrm>
          <a:prstGeom prst="rect">
            <a:avLst/>
          </a:prstGeom>
          <a:noFill/>
          <a:ln w="0">
            <a:noFill/>
          </a:ln>
        </p:spPr>
        <p:txBody>
          <a:bodyPr>
            <a:noAutofit/>
          </a:bodyPr>
          <a:lstStyle/>
          <a:p>
            <a:pPr>
              <a:defRPr sz="1350" b="0">
                <a:solidFill>
                  <a:srgbClr val="253E55"/>
                </a:solidFill>
                <a:latin typeface="Segoe UI"/>
                <a:ea typeface="Segoe UI"/>
                <a:cs typeface="Segoe UI"/>
              </a:defRPr>
            </a:pPr>
            <a:r>
              <a:rPr sz="1350" b="0">
                <a:solidFill>
                  <a:srgbClr val="253E55"/>
                </a:solidFill>
                <a:latin typeface="Segoe UI"/>
                <a:ea typeface="Segoe UI"/>
                <a:cs typeface="Segoe UI"/>
              </a:rPr>
              <a:t>Exact IDs + keyword + vectors</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Search only entitled passages</a:t>
            </a:r>
          </a:p>
        </p:txBody>
      </p:sp>
      <p:sp>
        <p:nvSpPr>
          <p:cNvPr id="46" name="Rectangle: Rounded Corners 45">
            <a:extLst>
              <a:ext uri="{FF2B5EF4-FFF2-40B4-BE49-F238E27FC236}">
                <a16:creationId xmlns:a16="http://schemas.microsoft.com/office/drawing/2014/main" id="{8F4A674E-9D39-4F90-95EF-42A0D58167C2}"/>
              </a:ext>
            </a:extLst>
          </p:cNvPr>
          <p:cNvSpPr>
            <a:spLocks noGrp="1"/>
          </p:cNvSpPr>
          <p:nvPr/>
        </p:nvSpPr>
        <p:spPr>
          <a:xfrm>
            <a:off x="457200" y="5219700"/>
            <a:ext cx="11277600" cy="571500"/>
          </a:xfrm>
          <a:prstGeom prst="roundRect">
            <a:avLst>
              <a:gd name="adj" fmla="val 10000"/>
            </a:avLst>
          </a:prstGeom>
          <a:solidFill>
            <a:srgbClr val="E4F6F7"/>
          </a:solidFill>
          <a:ln w="11906">
            <a:solidFill>
              <a:srgbClr val="B8C7D9"/>
            </a:solidFill>
          </a:ln>
        </p:spPr>
        <p:txBody>
          <a:bodyPr/>
          <a:lstStyle/>
          <a:p>
            <a:endParaRPr lang="en-US"/>
          </a:p>
        </p:txBody>
      </p:sp>
      <p:sp>
        <p:nvSpPr>
          <p:cNvPr id="47" name="Rectangle 46">
            <a:extLst>
              <a:ext uri="{FF2B5EF4-FFF2-40B4-BE49-F238E27FC236}">
                <a16:creationId xmlns:a16="http://schemas.microsoft.com/office/drawing/2014/main" id="{4977F723-F2E2-419F-A920-6801B8145AE8}"/>
              </a:ext>
            </a:extLst>
          </p:cNvPr>
          <p:cNvSpPr>
            <a:spLocks noGrp="1"/>
          </p:cNvSpPr>
          <p:nvPr/>
        </p:nvSpPr>
        <p:spPr>
          <a:xfrm>
            <a:off x="581025" y="5314950"/>
            <a:ext cx="11029950" cy="200025"/>
          </a:xfrm>
          <a:prstGeom prst="rect">
            <a:avLst/>
          </a:prstGeom>
          <a:noFill/>
          <a:ln w="0">
            <a:noFill/>
          </a:ln>
        </p:spPr>
        <p:txBody>
          <a:bodyPr>
            <a:noAutofit/>
          </a:bodyPr>
          <a:lstStyle/>
          <a:p>
            <a:pPr>
              <a:defRPr sz="1575" b="1">
                <a:solidFill>
                  <a:srgbClr val="0B1F3A"/>
                </a:solidFill>
                <a:latin typeface="Segoe UI"/>
                <a:ea typeface="Segoe UI"/>
                <a:cs typeface="Segoe UI"/>
              </a:defRPr>
            </a:pPr>
            <a:r>
              <a:rPr sz="1575" b="1">
                <a:solidFill>
                  <a:srgbClr val="0B1F3A"/>
                </a:solidFill>
                <a:latin typeface="Segoe UI"/>
                <a:ea typeface="Segoe UI"/>
                <a:cs typeface="Segoe UI"/>
              </a:rPr>
              <a:t>Result contract</a:t>
            </a:r>
          </a:p>
        </p:txBody>
      </p:sp>
      <p:sp>
        <p:nvSpPr>
          <p:cNvPr id="48" name="Rectangle 47">
            <a:extLst>
              <a:ext uri="{FF2B5EF4-FFF2-40B4-BE49-F238E27FC236}">
                <a16:creationId xmlns:a16="http://schemas.microsoft.com/office/drawing/2014/main" id="{4FD2EE7E-6847-4ED3-BA45-41AC46AAE18C}"/>
              </a:ext>
            </a:extLst>
          </p:cNvPr>
          <p:cNvSpPr>
            <a:spLocks noGrp="1"/>
          </p:cNvSpPr>
          <p:nvPr/>
        </p:nvSpPr>
        <p:spPr>
          <a:xfrm>
            <a:off x="581025" y="5534025"/>
            <a:ext cx="11029950" cy="171450"/>
          </a:xfrm>
          <a:prstGeom prst="rect">
            <a:avLst/>
          </a:prstGeom>
          <a:noFill/>
          <a:ln w="0">
            <a:noFill/>
          </a:ln>
        </p:spPr>
        <p:txBody>
          <a:bodyPr>
            <a:noAutofit/>
          </a:bodyPr>
          <a:lstStyle/>
          <a:p>
            <a:pPr>
              <a:defRPr sz="1275" b="0">
                <a:solidFill>
                  <a:srgbClr val="253E55"/>
                </a:solidFill>
                <a:latin typeface="Segoe UI"/>
                <a:ea typeface="Segoe UI"/>
                <a:cs typeface="Segoe UI"/>
              </a:defRPr>
            </a:pPr>
            <a:r>
              <a:rPr sz="1275" b="0">
                <a:solidFill>
                  <a:srgbClr val="253E55"/>
                </a:solidFill>
                <a:latin typeface="Segoe UI"/>
                <a:ea typeface="Segoe UI"/>
                <a:cs typeface="Segoe UI"/>
              </a:rPr>
              <a:t>value / unit / scope / formula version / source IDs / as-of time / coverage / assumptions / limitations</a:t>
            </a:r>
          </a:p>
        </p:txBody>
      </p:sp>
      <p:sp>
        <p:nvSpPr>
          <p:cNvPr id="49" name="Rectangle: Rounded Corners 48">
            <a:extLst>
              <a:ext uri="{FF2B5EF4-FFF2-40B4-BE49-F238E27FC236}">
                <a16:creationId xmlns:a16="http://schemas.microsoft.com/office/drawing/2014/main" id="{68206BE4-8CE8-4145-9BDB-E5C11CC1C8B0}"/>
              </a:ext>
            </a:extLst>
          </p:cNvPr>
          <p:cNvSpPr>
            <a:spLocks noGrp="1"/>
          </p:cNvSpPr>
          <p:nvPr/>
        </p:nvSpPr>
        <p:spPr>
          <a:xfrm>
            <a:off x="457200" y="5962650"/>
            <a:ext cx="11277600" cy="409575"/>
          </a:xfrm>
          <a:prstGeom prst="roundRect">
            <a:avLst>
              <a:gd name="adj" fmla="val 13953"/>
            </a:avLst>
          </a:prstGeom>
          <a:solidFill>
            <a:srgbClr val="0B1F3A"/>
          </a:solidFill>
          <a:ln w="11906">
            <a:solidFill>
              <a:srgbClr val="0B1F3A"/>
            </a:solidFill>
          </a:ln>
        </p:spPr>
        <p:txBody>
          <a:bodyPr/>
          <a:lstStyle/>
          <a:p>
            <a:endParaRPr lang="en-US"/>
          </a:p>
        </p:txBody>
      </p:sp>
      <p:sp>
        <p:nvSpPr>
          <p:cNvPr id="50" name="Rectangle 49">
            <a:extLst>
              <a:ext uri="{FF2B5EF4-FFF2-40B4-BE49-F238E27FC236}">
                <a16:creationId xmlns:a16="http://schemas.microsoft.com/office/drawing/2014/main" id="{9E946429-0DED-48B1-9B13-01C3E21F25C9}"/>
              </a:ext>
            </a:extLst>
          </p:cNvPr>
          <p:cNvSpPr>
            <a:spLocks noGrp="1"/>
          </p:cNvSpPr>
          <p:nvPr/>
        </p:nvSpPr>
        <p:spPr>
          <a:xfrm>
            <a:off x="581025" y="6057900"/>
            <a:ext cx="11029950" cy="266700"/>
          </a:xfrm>
          <a:prstGeom prst="rect">
            <a:avLst/>
          </a:prstGeom>
          <a:noFill/>
          <a:ln w="0">
            <a:noFill/>
          </a:ln>
        </p:spPr>
        <p:txBody>
          <a:bodyPr>
            <a:noAutofit/>
          </a:bodyPr>
          <a:lstStyle/>
          <a:p>
            <a:pPr>
              <a:defRPr sz="1200" b="1">
                <a:solidFill>
                  <a:srgbClr val="FFFFFF"/>
                </a:solidFill>
                <a:latin typeface="Segoe UI"/>
                <a:ea typeface="Segoe UI"/>
                <a:cs typeface="Segoe UI"/>
              </a:defRPr>
            </a:pPr>
            <a:r>
              <a:rPr sz="1200" b="1">
                <a:solidFill>
                  <a:srgbClr val="FFFFFF"/>
                </a:solidFill>
                <a:latin typeface="Segoe UI"/>
                <a:ea typeface="Segoe UI"/>
                <a:cs typeface="Segoe UI"/>
              </a:rPr>
              <a:t>Example: critical-app exposure = distinct supported critical apps ÷ distinct critical apps in the same defined portfolio.</a:t>
            </a:r>
          </a:p>
        </p:txBody>
      </p:sp>
    </p:spTree>
    <p:extLst>
      <p:ext uri="{BB962C8B-B14F-4D97-AF65-F5344CB8AC3E}">
        <p14:creationId xmlns:p14="http://schemas.microsoft.com/office/powerpoint/2010/main" val="5264747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FFE4C0E9-5503-4829-B6D6-11C8A88069EE}"/>
              </a:ext>
            </a:extLst>
          </p:cNvPr>
          <p:cNvSpPr>
            <a:spLocks noGrp="1"/>
          </p:cNvSpPr>
          <p:nvPr/>
        </p:nvSpPr>
        <p:spPr>
          <a:xfrm>
            <a:off x="0" y="0"/>
            <a:ext cx="12192000" cy="95250"/>
          </a:xfrm>
          <a:prstGeom prst="rect">
            <a:avLst/>
          </a:prstGeom>
          <a:solidFill>
            <a:srgbClr val="0B1F3A"/>
          </a:solidFill>
          <a:ln w="11906">
            <a:solidFill>
              <a:srgbClr val="0B1F3A"/>
            </a:solidFill>
          </a:ln>
        </p:spPr>
        <p:txBody>
          <a:bodyPr/>
          <a:lstStyle/>
          <a:p>
            <a:endParaRPr lang="en-US"/>
          </a:p>
        </p:txBody>
      </p:sp>
      <p:sp>
        <p:nvSpPr>
          <p:cNvPr id="2" name="Rectangle 1">
            <a:extLst>
              <a:ext uri="{FF2B5EF4-FFF2-40B4-BE49-F238E27FC236}">
                <a16:creationId xmlns:a16="http://schemas.microsoft.com/office/drawing/2014/main" id="{D993AD6E-452C-47F5-93B0-B40DCEA102BB}"/>
              </a:ext>
            </a:extLst>
          </p:cNvPr>
          <p:cNvSpPr>
            <a:spLocks noGrp="1"/>
          </p:cNvSpPr>
          <p:nvPr/>
        </p:nvSpPr>
        <p:spPr>
          <a:xfrm>
            <a:off x="457200" y="352425"/>
            <a:ext cx="11239500" cy="504825"/>
          </a:xfrm>
          <a:prstGeom prst="rect">
            <a:avLst/>
          </a:prstGeom>
          <a:noFill/>
          <a:ln w="0">
            <a:noFill/>
          </a:ln>
        </p:spPr>
        <p:txBody>
          <a:bodyPr>
            <a:noAutofit/>
          </a:bodyPr>
          <a:lstStyle/>
          <a:p>
            <a:pPr>
              <a:defRPr sz="2550" b="1">
                <a:solidFill>
                  <a:srgbClr val="0B1F3A"/>
                </a:solidFill>
                <a:latin typeface="Segoe UI"/>
                <a:ea typeface="Segoe UI"/>
                <a:cs typeface="Segoe UI"/>
              </a:defRPr>
            </a:pPr>
            <a:r>
              <a:rPr sz="2550" b="1">
                <a:solidFill>
                  <a:srgbClr val="0B1F3A"/>
                </a:solidFill>
                <a:latin typeface="Segoe UI"/>
                <a:ea typeface="Segoe UI"/>
                <a:cs typeface="Segoe UI"/>
              </a:rPr>
              <a:t>Graph and retrieval: trace dependencies, then locate clauses</a:t>
            </a:r>
          </a:p>
        </p:txBody>
      </p:sp>
      <p:sp>
        <p:nvSpPr>
          <p:cNvPr id="3" name="Rectangle 2">
            <a:extLst>
              <a:ext uri="{FF2B5EF4-FFF2-40B4-BE49-F238E27FC236}">
                <a16:creationId xmlns:a16="http://schemas.microsoft.com/office/drawing/2014/main" id="{706459DF-3137-428D-A318-796F303A1EA6}"/>
              </a:ext>
            </a:extLst>
          </p:cNvPr>
          <p:cNvSpPr>
            <a:spLocks noGrp="1"/>
          </p:cNvSpPr>
          <p:nvPr/>
        </p:nvSpPr>
        <p:spPr>
          <a:xfrm>
            <a:off x="466725" y="885825"/>
            <a:ext cx="11239500" cy="409575"/>
          </a:xfrm>
          <a:prstGeom prst="rect">
            <a:avLst/>
          </a:prstGeom>
          <a:noFill/>
          <a:ln w="0">
            <a:noFill/>
          </a:ln>
        </p:spPr>
        <p:txBody>
          <a:bodyPr>
            <a:noAutofit/>
          </a:bodyPr>
          <a:lstStyle/>
          <a:p>
            <a:pPr>
              <a:defRPr sz="1350" b="0">
                <a:solidFill>
                  <a:srgbClr val="46586C"/>
                </a:solidFill>
                <a:latin typeface="Segoe UI"/>
                <a:ea typeface="Segoe UI"/>
                <a:cs typeface="Segoe UI"/>
              </a:defRPr>
            </a:pPr>
            <a:r>
              <a:rPr sz="1350" b="0">
                <a:solidFill>
                  <a:srgbClr val="46586C"/>
                </a:solidFill>
                <a:latin typeface="Segoe UI"/>
                <a:ea typeface="Segoe UI"/>
                <a:cs typeface="Segoe UI"/>
              </a:rPr>
              <a:t>Relational records remain authoritative for financial facts. The graph stores governed relationships and evidence references.</a:t>
            </a:r>
          </a:p>
        </p:txBody>
      </p:sp>
      <p:sp>
        <p:nvSpPr>
          <p:cNvPr id="4" name="Rectangle 3">
            <a:extLst>
              <a:ext uri="{FF2B5EF4-FFF2-40B4-BE49-F238E27FC236}">
                <a16:creationId xmlns:a16="http://schemas.microsoft.com/office/drawing/2014/main" id="{8944D9F3-4403-4420-8458-A8CD80998EFA}"/>
              </a:ext>
            </a:extLst>
          </p:cNvPr>
          <p:cNvSpPr>
            <a:spLocks noGrp="1"/>
          </p:cNvSpPr>
          <p:nvPr/>
        </p:nvSpPr>
        <p:spPr>
          <a:xfrm>
            <a:off x="457200" y="6562725"/>
            <a:ext cx="9906000" cy="200025"/>
          </a:xfrm>
          <a:prstGeom prst="rect">
            <a:avLst/>
          </a:prstGeom>
          <a:noFill/>
          <a:ln w="0">
            <a:noFill/>
          </a:ln>
        </p:spPr>
        <p:txBody>
          <a:bodyPr>
            <a:noAutofit/>
          </a:bodyPr>
          <a:lstStyle/>
          <a:p>
            <a:pPr>
              <a:defRPr sz="900" b="0">
                <a:solidFill>
                  <a:srgbClr val="46586C"/>
                </a:solidFill>
                <a:latin typeface="Segoe UI"/>
                <a:ea typeface="Segoe UI"/>
                <a:cs typeface="Segoe UI"/>
              </a:defRPr>
            </a:pPr>
            <a:r>
              <a:rPr sz="900" b="0">
                <a:solidFill>
                  <a:srgbClr val="46586C"/>
                </a:solidFill>
                <a:latin typeface="Segoe UI"/>
                <a:ea typeface="Segoe UI"/>
                <a:cs typeface="Segoe UI"/>
              </a:rPr>
              <a:t>CITI VENDOR DECISION INTELLIGENCE  /  PROPOSED SOLUTION</a:t>
            </a:r>
          </a:p>
        </p:txBody>
      </p:sp>
      <p:sp>
        <p:nvSpPr>
          <p:cNvPr id="5" name="Rectangle 4">
            <a:extLst>
              <a:ext uri="{FF2B5EF4-FFF2-40B4-BE49-F238E27FC236}">
                <a16:creationId xmlns:a16="http://schemas.microsoft.com/office/drawing/2014/main" id="{AE701ECE-4913-4C5C-81BF-4E78833D3375}"/>
              </a:ext>
            </a:extLst>
          </p:cNvPr>
          <p:cNvSpPr>
            <a:spLocks noGrp="1"/>
          </p:cNvSpPr>
          <p:nvPr/>
        </p:nvSpPr>
        <p:spPr>
          <a:xfrm>
            <a:off x="11391900" y="6562725"/>
            <a:ext cx="323850" cy="190500"/>
          </a:xfrm>
          <a:prstGeom prst="rect">
            <a:avLst/>
          </a:prstGeom>
          <a:noFill/>
          <a:ln w="0">
            <a:noFill/>
          </a:ln>
        </p:spPr>
        <p:txBody>
          <a:bodyPr>
            <a:noAutofit/>
          </a:bodyPr>
          <a:lstStyle/>
          <a:p>
            <a:pPr>
              <a:defRPr sz="900" b="1">
                <a:solidFill>
                  <a:srgbClr val="0B1F3A"/>
                </a:solidFill>
                <a:latin typeface="Segoe UI"/>
                <a:ea typeface="Segoe UI"/>
                <a:cs typeface="Segoe UI"/>
              </a:defRPr>
            </a:pPr>
            <a:r>
              <a:rPr sz="900" b="1">
                <a:solidFill>
                  <a:srgbClr val="0B1F3A"/>
                </a:solidFill>
                <a:latin typeface="Segoe UI"/>
                <a:ea typeface="Segoe UI"/>
                <a:cs typeface="Segoe UI"/>
              </a:rPr>
              <a:t>04</a:t>
            </a:r>
          </a:p>
        </p:txBody>
      </p:sp>
      <p:sp>
        <p:nvSpPr>
          <p:cNvPr id="6" name="Rectangle: Rounded Corners 5">
            <a:extLst>
              <a:ext uri="{FF2B5EF4-FFF2-40B4-BE49-F238E27FC236}">
                <a16:creationId xmlns:a16="http://schemas.microsoft.com/office/drawing/2014/main" id="{07058DB6-BF2C-4042-90FE-9D6F9C9F356B}"/>
              </a:ext>
            </a:extLst>
          </p:cNvPr>
          <p:cNvSpPr>
            <a:spLocks noGrp="1"/>
          </p:cNvSpPr>
          <p:nvPr/>
        </p:nvSpPr>
        <p:spPr>
          <a:xfrm>
            <a:off x="457200" y="1457325"/>
            <a:ext cx="2647950" cy="571500"/>
          </a:xfrm>
          <a:prstGeom prst="roundRect">
            <a:avLst>
              <a:gd name="adj" fmla="val 10000"/>
            </a:avLst>
          </a:prstGeom>
          <a:solidFill>
            <a:srgbClr val="0B1F3A"/>
          </a:solidFill>
          <a:ln w="11906">
            <a:solidFill>
              <a:srgbClr val="B8C7D9"/>
            </a:solidFill>
          </a:ln>
        </p:spPr>
        <p:txBody>
          <a:bodyPr/>
          <a:lstStyle/>
          <a:p>
            <a:endParaRPr lang="en-US"/>
          </a:p>
        </p:txBody>
      </p:sp>
      <p:sp>
        <p:nvSpPr>
          <p:cNvPr id="7" name="Rectangle 6">
            <a:extLst>
              <a:ext uri="{FF2B5EF4-FFF2-40B4-BE49-F238E27FC236}">
                <a16:creationId xmlns:a16="http://schemas.microsoft.com/office/drawing/2014/main" id="{B981036B-5EAE-4B71-BC24-667715E7E575}"/>
              </a:ext>
            </a:extLst>
          </p:cNvPr>
          <p:cNvSpPr>
            <a:spLocks noGrp="1"/>
          </p:cNvSpPr>
          <p:nvPr/>
        </p:nvSpPr>
        <p:spPr>
          <a:xfrm>
            <a:off x="581025" y="1552575"/>
            <a:ext cx="2400300" cy="428625"/>
          </a:xfrm>
          <a:prstGeom prst="rect">
            <a:avLst/>
          </a:prstGeom>
          <a:noFill/>
          <a:ln w="0">
            <a:noFill/>
          </a:ln>
        </p:spPr>
        <p:txBody>
          <a:bodyPr>
            <a:noAutofit/>
          </a:bodyPr>
          <a:lstStyle/>
          <a:p>
            <a:pPr>
              <a:defRPr sz="1575" b="1">
                <a:solidFill>
                  <a:srgbClr val="FFFFFF"/>
                </a:solidFill>
                <a:latin typeface="Segoe UI"/>
                <a:ea typeface="Segoe UI"/>
                <a:cs typeface="Segoe UI"/>
              </a:defRPr>
            </a:pPr>
            <a:r>
              <a:rPr sz="1575" b="1">
                <a:solidFill>
                  <a:srgbClr val="FFFFFF"/>
                </a:solidFill>
                <a:latin typeface="Segoe UI"/>
                <a:ea typeface="Segoe UI"/>
                <a:cs typeface="Segoe UI"/>
              </a:rPr>
              <a:t>Vendor</a:t>
            </a:r>
          </a:p>
        </p:txBody>
      </p:sp>
      <p:sp>
        <p:nvSpPr>
          <p:cNvPr id="8" name="Arrow: Right 7">
            <a:extLst>
              <a:ext uri="{FF2B5EF4-FFF2-40B4-BE49-F238E27FC236}">
                <a16:creationId xmlns:a16="http://schemas.microsoft.com/office/drawing/2014/main" id="{C2031CB8-1B9E-4DAC-9560-304305FB33AC}"/>
              </a:ext>
            </a:extLst>
          </p:cNvPr>
          <p:cNvSpPr>
            <a:spLocks noGrp="1"/>
          </p:cNvSpPr>
          <p:nvPr/>
        </p:nvSpPr>
        <p:spPr>
          <a:xfrm>
            <a:off x="3124200" y="1657350"/>
            <a:ext cx="209550" cy="152400"/>
          </a:xfrm>
          <a:prstGeom prst="rightArrow">
            <a:avLst/>
          </a:prstGeom>
          <a:solidFill>
            <a:srgbClr val="00A6B2"/>
          </a:solidFill>
          <a:ln w="0">
            <a:noFill/>
          </a:ln>
        </p:spPr>
        <p:txBody>
          <a:bodyPr/>
          <a:lstStyle/>
          <a:p>
            <a:endParaRPr lang="en-US"/>
          </a:p>
        </p:txBody>
      </p:sp>
      <p:sp>
        <p:nvSpPr>
          <p:cNvPr id="9" name="Rectangle: Rounded Corners 8">
            <a:extLst>
              <a:ext uri="{FF2B5EF4-FFF2-40B4-BE49-F238E27FC236}">
                <a16:creationId xmlns:a16="http://schemas.microsoft.com/office/drawing/2014/main" id="{E71CD8EE-62D8-4317-82A7-64CA10524AFD}"/>
              </a:ext>
            </a:extLst>
          </p:cNvPr>
          <p:cNvSpPr>
            <a:spLocks noGrp="1"/>
          </p:cNvSpPr>
          <p:nvPr/>
        </p:nvSpPr>
        <p:spPr>
          <a:xfrm>
            <a:off x="3333750" y="1457325"/>
            <a:ext cx="2647950" cy="571500"/>
          </a:xfrm>
          <a:prstGeom prst="roundRect">
            <a:avLst>
              <a:gd name="adj" fmla="val 10000"/>
            </a:avLst>
          </a:prstGeom>
          <a:solidFill>
            <a:srgbClr val="FFFFFF"/>
          </a:solidFill>
          <a:ln w="11906">
            <a:solidFill>
              <a:srgbClr val="B8C7D9"/>
            </a:solidFill>
          </a:ln>
        </p:spPr>
        <p:txBody>
          <a:bodyPr/>
          <a:lstStyle/>
          <a:p>
            <a:endParaRPr lang="en-US"/>
          </a:p>
        </p:txBody>
      </p:sp>
      <p:sp>
        <p:nvSpPr>
          <p:cNvPr id="10" name="Rectangle 9">
            <a:extLst>
              <a:ext uri="{FF2B5EF4-FFF2-40B4-BE49-F238E27FC236}">
                <a16:creationId xmlns:a16="http://schemas.microsoft.com/office/drawing/2014/main" id="{420D6EB0-B622-4A1D-ABE9-6F6DE08F8B6A}"/>
              </a:ext>
            </a:extLst>
          </p:cNvPr>
          <p:cNvSpPr>
            <a:spLocks noGrp="1"/>
          </p:cNvSpPr>
          <p:nvPr/>
        </p:nvSpPr>
        <p:spPr>
          <a:xfrm>
            <a:off x="3457575" y="1552575"/>
            <a:ext cx="2400300" cy="428625"/>
          </a:xfrm>
          <a:prstGeom prst="rect">
            <a:avLst/>
          </a:prstGeom>
          <a:noFill/>
          <a:ln w="0">
            <a:noFill/>
          </a:ln>
        </p:spPr>
        <p:txBody>
          <a:bodyPr>
            <a:noAutofit/>
          </a:bodyPr>
          <a:lstStyle/>
          <a:p>
            <a:pPr>
              <a:defRPr sz="1575" b="1">
                <a:solidFill>
                  <a:srgbClr val="0B1F3A"/>
                </a:solidFill>
                <a:latin typeface="Segoe UI"/>
                <a:ea typeface="Segoe UI"/>
                <a:cs typeface="Segoe UI"/>
              </a:defRPr>
            </a:pPr>
            <a:r>
              <a:rPr sz="1575" b="1">
                <a:solidFill>
                  <a:srgbClr val="0B1F3A"/>
                </a:solidFill>
                <a:latin typeface="Segoe UI"/>
                <a:ea typeface="Segoe UI"/>
                <a:cs typeface="Segoe UI"/>
              </a:rPr>
              <a:t>Contract</a:t>
            </a:r>
          </a:p>
        </p:txBody>
      </p:sp>
      <p:sp>
        <p:nvSpPr>
          <p:cNvPr id="11" name="Arrow: Right 10">
            <a:extLst>
              <a:ext uri="{FF2B5EF4-FFF2-40B4-BE49-F238E27FC236}">
                <a16:creationId xmlns:a16="http://schemas.microsoft.com/office/drawing/2014/main" id="{8DD4D644-6793-498E-A4DE-37EC64BA9997}"/>
              </a:ext>
            </a:extLst>
          </p:cNvPr>
          <p:cNvSpPr>
            <a:spLocks noGrp="1"/>
          </p:cNvSpPr>
          <p:nvPr/>
        </p:nvSpPr>
        <p:spPr>
          <a:xfrm>
            <a:off x="6000750" y="1657350"/>
            <a:ext cx="209550" cy="152400"/>
          </a:xfrm>
          <a:prstGeom prst="rightArrow">
            <a:avLst/>
          </a:prstGeom>
          <a:solidFill>
            <a:srgbClr val="00A6B2"/>
          </a:solidFill>
          <a:ln w="0">
            <a:noFill/>
          </a:ln>
        </p:spPr>
        <p:txBody>
          <a:bodyPr/>
          <a:lstStyle/>
          <a:p>
            <a:endParaRPr lang="en-US"/>
          </a:p>
        </p:txBody>
      </p:sp>
      <p:sp>
        <p:nvSpPr>
          <p:cNvPr id="12" name="Rectangle: Rounded Corners 11">
            <a:extLst>
              <a:ext uri="{FF2B5EF4-FFF2-40B4-BE49-F238E27FC236}">
                <a16:creationId xmlns:a16="http://schemas.microsoft.com/office/drawing/2014/main" id="{BD5B598B-DF8E-49BF-9199-5664568618E3}"/>
              </a:ext>
            </a:extLst>
          </p:cNvPr>
          <p:cNvSpPr>
            <a:spLocks noGrp="1"/>
          </p:cNvSpPr>
          <p:nvPr/>
        </p:nvSpPr>
        <p:spPr>
          <a:xfrm>
            <a:off x="6210300" y="1457325"/>
            <a:ext cx="2647950" cy="571500"/>
          </a:xfrm>
          <a:prstGeom prst="roundRect">
            <a:avLst>
              <a:gd name="adj" fmla="val 10000"/>
            </a:avLst>
          </a:prstGeom>
          <a:solidFill>
            <a:srgbClr val="FFFFFF"/>
          </a:solidFill>
          <a:ln w="11906">
            <a:solidFill>
              <a:srgbClr val="B8C7D9"/>
            </a:solidFill>
          </a:ln>
        </p:spPr>
        <p:txBody>
          <a:bodyPr/>
          <a:lstStyle/>
          <a:p>
            <a:endParaRPr lang="en-US"/>
          </a:p>
        </p:txBody>
      </p:sp>
      <p:sp>
        <p:nvSpPr>
          <p:cNvPr id="13" name="Rectangle 12">
            <a:extLst>
              <a:ext uri="{FF2B5EF4-FFF2-40B4-BE49-F238E27FC236}">
                <a16:creationId xmlns:a16="http://schemas.microsoft.com/office/drawing/2014/main" id="{D78A5B76-7E95-4BF2-8D2D-6E33233BFD37}"/>
              </a:ext>
            </a:extLst>
          </p:cNvPr>
          <p:cNvSpPr>
            <a:spLocks noGrp="1"/>
          </p:cNvSpPr>
          <p:nvPr/>
        </p:nvSpPr>
        <p:spPr>
          <a:xfrm>
            <a:off x="6334125" y="1552575"/>
            <a:ext cx="2400300" cy="428625"/>
          </a:xfrm>
          <a:prstGeom prst="rect">
            <a:avLst/>
          </a:prstGeom>
          <a:noFill/>
          <a:ln w="0">
            <a:noFill/>
          </a:ln>
        </p:spPr>
        <p:txBody>
          <a:bodyPr>
            <a:noAutofit/>
          </a:bodyPr>
          <a:lstStyle/>
          <a:p>
            <a:pPr>
              <a:defRPr sz="1575" b="1">
                <a:solidFill>
                  <a:srgbClr val="0B1F3A"/>
                </a:solidFill>
                <a:latin typeface="Segoe UI"/>
                <a:ea typeface="Segoe UI"/>
                <a:cs typeface="Segoe UI"/>
              </a:defRPr>
            </a:pPr>
            <a:r>
              <a:rPr sz="1575" b="1">
                <a:solidFill>
                  <a:srgbClr val="0B1F3A"/>
                </a:solidFill>
                <a:latin typeface="Segoe UI"/>
                <a:ea typeface="Segoe UI"/>
                <a:cs typeface="Segoe UI"/>
              </a:rPr>
              <a:t>SOW</a:t>
            </a:r>
          </a:p>
        </p:txBody>
      </p:sp>
      <p:sp>
        <p:nvSpPr>
          <p:cNvPr id="14" name="Arrow: Right 13">
            <a:extLst>
              <a:ext uri="{FF2B5EF4-FFF2-40B4-BE49-F238E27FC236}">
                <a16:creationId xmlns:a16="http://schemas.microsoft.com/office/drawing/2014/main" id="{599665A2-1F4A-4627-A01A-A3D774162A3B}"/>
              </a:ext>
            </a:extLst>
          </p:cNvPr>
          <p:cNvSpPr>
            <a:spLocks noGrp="1"/>
          </p:cNvSpPr>
          <p:nvPr/>
        </p:nvSpPr>
        <p:spPr>
          <a:xfrm>
            <a:off x="8877300" y="1657350"/>
            <a:ext cx="209550" cy="152400"/>
          </a:xfrm>
          <a:prstGeom prst="rightArrow">
            <a:avLst/>
          </a:prstGeom>
          <a:solidFill>
            <a:srgbClr val="00A6B2"/>
          </a:solidFill>
          <a:ln w="0">
            <a:noFill/>
          </a:ln>
        </p:spPr>
        <p:txBody>
          <a:bodyPr/>
          <a:lstStyle/>
          <a:p>
            <a:endParaRPr lang="en-US"/>
          </a:p>
        </p:txBody>
      </p:sp>
      <p:sp>
        <p:nvSpPr>
          <p:cNvPr id="15" name="Rectangle: Rounded Corners 14">
            <a:extLst>
              <a:ext uri="{FF2B5EF4-FFF2-40B4-BE49-F238E27FC236}">
                <a16:creationId xmlns:a16="http://schemas.microsoft.com/office/drawing/2014/main" id="{C4309706-62FA-445B-AED7-155A432C077E}"/>
              </a:ext>
            </a:extLst>
          </p:cNvPr>
          <p:cNvSpPr>
            <a:spLocks noGrp="1"/>
          </p:cNvSpPr>
          <p:nvPr/>
        </p:nvSpPr>
        <p:spPr>
          <a:xfrm>
            <a:off x="9086850" y="1457325"/>
            <a:ext cx="2647950" cy="571500"/>
          </a:xfrm>
          <a:prstGeom prst="roundRect">
            <a:avLst>
              <a:gd name="adj" fmla="val 10000"/>
            </a:avLst>
          </a:prstGeom>
          <a:solidFill>
            <a:srgbClr val="FFFFFF"/>
          </a:solidFill>
          <a:ln w="11906">
            <a:solidFill>
              <a:srgbClr val="B8C7D9"/>
            </a:solidFill>
          </a:ln>
        </p:spPr>
        <p:txBody>
          <a:bodyPr/>
          <a:lstStyle/>
          <a:p>
            <a:endParaRPr lang="en-US"/>
          </a:p>
        </p:txBody>
      </p:sp>
      <p:sp>
        <p:nvSpPr>
          <p:cNvPr id="16" name="Rectangle 15">
            <a:extLst>
              <a:ext uri="{FF2B5EF4-FFF2-40B4-BE49-F238E27FC236}">
                <a16:creationId xmlns:a16="http://schemas.microsoft.com/office/drawing/2014/main" id="{7116E099-9D40-476F-957F-4FD42CA6A024}"/>
              </a:ext>
            </a:extLst>
          </p:cNvPr>
          <p:cNvSpPr>
            <a:spLocks noGrp="1"/>
          </p:cNvSpPr>
          <p:nvPr/>
        </p:nvSpPr>
        <p:spPr>
          <a:xfrm>
            <a:off x="9210675" y="1552575"/>
            <a:ext cx="2400300" cy="428625"/>
          </a:xfrm>
          <a:prstGeom prst="rect">
            <a:avLst/>
          </a:prstGeom>
          <a:noFill/>
          <a:ln w="0">
            <a:noFill/>
          </a:ln>
        </p:spPr>
        <p:txBody>
          <a:bodyPr>
            <a:noAutofit/>
          </a:bodyPr>
          <a:lstStyle/>
          <a:p>
            <a:pPr>
              <a:defRPr sz="1575" b="1">
                <a:solidFill>
                  <a:srgbClr val="0B1F3A"/>
                </a:solidFill>
                <a:latin typeface="Segoe UI"/>
                <a:ea typeface="Segoe UI"/>
                <a:cs typeface="Segoe UI"/>
              </a:defRPr>
            </a:pPr>
            <a:r>
              <a:rPr sz="1575" b="1">
                <a:solidFill>
                  <a:srgbClr val="0B1F3A"/>
                </a:solidFill>
                <a:latin typeface="Segoe UI"/>
                <a:ea typeface="Segoe UI"/>
                <a:cs typeface="Segoe UI"/>
              </a:rPr>
              <a:t>Workforce assignment</a:t>
            </a:r>
          </a:p>
        </p:txBody>
      </p:sp>
      <p:sp>
        <p:nvSpPr>
          <p:cNvPr id="17" name="Rectangle: Rounded Corners 16">
            <a:extLst>
              <a:ext uri="{FF2B5EF4-FFF2-40B4-BE49-F238E27FC236}">
                <a16:creationId xmlns:a16="http://schemas.microsoft.com/office/drawing/2014/main" id="{536EF007-CEA4-4D3D-8158-510D7BC540FC}"/>
              </a:ext>
            </a:extLst>
          </p:cNvPr>
          <p:cNvSpPr>
            <a:spLocks noGrp="1"/>
          </p:cNvSpPr>
          <p:nvPr/>
        </p:nvSpPr>
        <p:spPr>
          <a:xfrm>
            <a:off x="457200" y="2428875"/>
            <a:ext cx="2647950" cy="571500"/>
          </a:xfrm>
          <a:prstGeom prst="roundRect">
            <a:avLst>
              <a:gd name="adj" fmla="val 10000"/>
            </a:avLst>
          </a:prstGeom>
          <a:solidFill>
            <a:srgbClr val="0B1F3A"/>
          </a:solidFill>
          <a:ln w="11906">
            <a:solidFill>
              <a:srgbClr val="B8C7D9"/>
            </a:solidFill>
          </a:ln>
        </p:spPr>
        <p:txBody>
          <a:bodyPr/>
          <a:lstStyle/>
          <a:p>
            <a:endParaRPr lang="en-US"/>
          </a:p>
        </p:txBody>
      </p:sp>
      <p:sp>
        <p:nvSpPr>
          <p:cNvPr id="18" name="Rectangle 17">
            <a:extLst>
              <a:ext uri="{FF2B5EF4-FFF2-40B4-BE49-F238E27FC236}">
                <a16:creationId xmlns:a16="http://schemas.microsoft.com/office/drawing/2014/main" id="{046327C6-8BF3-4D9D-B948-82084784D229}"/>
              </a:ext>
            </a:extLst>
          </p:cNvPr>
          <p:cNvSpPr>
            <a:spLocks noGrp="1"/>
          </p:cNvSpPr>
          <p:nvPr/>
        </p:nvSpPr>
        <p:spPr>
          <a:xfrm>
            <a:off x="581025" y="2524125"/>
            <a:ext cx="2400300" cy="428625"/>
          </a:xfrm>
          <a:prstGeom prst="rect">
            <a:avLst/>
          </a:prstGeom>
          <a:noFill/>
          <a:ln w="0">
            <a:noFill/>
          </a:ln>
        </p:spPr>
        <p:txBody>
          <a:bodyPr>
            <a:noAutofit/>
          </a:bodyPr>
          <a:lstStyle/>
          <a:p>
            <a:pPr>
              <a:defRPr sz="1575" b="1">
                <a:solidFill>
                  <a:srgbClr val="FFFFFF"/>
                </a:solidFill>
                <a:latin typeface="Segoe UI"/>
                <a:ea typeface="Segoe UI"/>
                <a:cs typeface="Segoe UI"/>
              </a:defRPr>
            </a:pPr>
            <a:r>
              <a:rPr sz="1575" b="1">
                <a:solidFill>
                  <a:srgbClr val="FFFFFF"/>
                </a:solidFill>
                <a:latin typeface="Segoe UI"/>
                <a:ea typeface="Segoe UI"/>
                <a:cs typeface="Segoe UI"/>
              </a:rPr>
              <a:t>Vendor</a:t>
            </a:r>
          </a:p>
        </p:txBody>
      </p:sp>
      <p:sp>
        <p:nvSpPr>
          <p:cNvPr id="19" name="Arrow: Right 18">
            <a:extLst>
              <a:ext uri="{FF2B5EF4-FFF2-40B4-BE49-F238E27FC236}">
                <a16:creationId xmlns:a16="http://schemas.microsoft.com/office/drawing/2014/main" id="{0415B65E-2D2A-4C37-92AF-0AFD5E89F8E8}"/>
              </a:ext>
            </a:extLst>
          </p:cNvPr>
          <p:cNvSpPr>
            <a:spLocks noGrp="1"/>
          </p:cNvSpPr>
          <p:nvPr/>
        </p:nvSpPr>
        <p:spPr>
          <a:xfrm>
            <a:off x="3124200" y="2638425"/>
            <a:ext cx="209550" cy="152400"/>
          </a:xfrm>
          <a:prstGeom prst="rightArrow">
            <a:avLst/>
          </a:prstGeom>
          <a:solidFill>
            <a:srgbClr val="00A6B2"/>
          </a:solidFill>
          <a:ln w="0">
            <a:noFill/>
          </a:ln>
        </p:spPr>
        <p:txBody>
          <a:bodyPr/>
          <a:lstStyle/>
          <a:p>
            <a:endParaRPr lang="en-US"/>
          </a:p>
        </p:txBody>
      </p:sp>
      <p:sp>
        <p:nvSpPr>
          <p:cNvPr id="20" name="Rectangle: Rounded Corners 19">
            <a:extLst>
              <a:ext uri="{FF2B5EF4-FFF2-40B4-BE49-F238E27FC236}">
                <a16:creationId xmlns:a16="http://schemas.microsoft.com/office/drawing/2014/main" id="{2F1B01B6-09DB-42DA-865C-233F604A65CF}"/>
              </a:ext>
            </a:extLst>
          </p:cNvPr>
          <p:cNvSpPr>
            <a:spLocks noGrp="1"/>
          </p:cNvSpPr>
          <p:nvPr/>
        </p:nvSpPr>
        <p:spPr>
          <a:xfrm>
            <a:off x="3333750" y="2428875"/>
            <a:ext cx="2647950" cy="571500"/>
          </a:xfrm>
          <a:prstGeom prst="roundRect">
            <a:avLst>
              <a:gd name="adj" fmla="val 10000"/>
            </a:avLst>
          </a:prstGeom>
          <a:solidFill>
            <a:srgbClr val="E4F6F7"/>
          </a:solidFill>
          <a:ln w="11906">
            <a:solidFill>
              <a:srgbClr val="B8C7D9"/>
            </a:solidFill>
          </a:ln>
        </p:spPr>
        <p:txBody>
          <a:bodyPr/>
          <a:lstStyle/>
          <a:p>
            <a:endParaRPr lang="en-US"/>
          </a:p>
        </p:txBody>
      </p:sp>
      <p:sp>
        <p:nvSpPr>
          <p:cNvPr id="21" name="Rectangle 20">
            <a:extLst>
              <a:ext uri="{FF2B5EF4-FFF2-40B4-BE49-F238E27FC236}">
                <a16:creationId xmlns:a16="http://schemas.microsoft.com/office/drawing/2014/main" id="{394F2F8D-4BEF-41F7-93A2-5ED98BA08963}"/>
              </a:ext>
            </a:extLst>
          </p:cNvPr>
          <p:cNvSpPr>
            <a:spLocks noGrp="1"/>
          </p:cNvSpPr>
          <p:nvPr/>
        </p:nvSpPr>
        <p:spPr>
          <a:xfrm>
            <a:off x="3457575" y="2524125"/>
            <a:ext cx="2400300" cy="428625"/>
          </a:xfrm>
          <a:prstGeom prst="rect">
            <a:avLst/>
          </a:prstGeom>
          <a:noFill/>
          <a:ln w="0">
            <a:noFill/>
          </a:ln>
        </p:spPr>
        <p:txBody>
          <a:bodyPr>
            <a:noAutofit/>
          </a:bodyPr>
          <a:lstStyle/>
          <a:p>
            <a:pPr>
              <a:defRPr sz="1575" b="1">
                <a:solidFill>
                  <a:srgbClr val="0B1F3A"/>
                </a:solidFill>
                <a:latin typeface="Segoe UI"/>
                <a:ea typeface="Segoe UI"/>
                <a:cs typeface="Segoe UI"/>
              </a:defRPr>
            </a:pPr>
            <a:r>
              <a:rPr sz="1575" b="1">
                <a:solidFill>
                  <a:srgbClr val="0B1F3A"/>
                </a:solidFill>
                <a:latin typeface="Segoe UI"/>
                <a:ea typeface="Segoe UI"/>
                <a:cs typeface="Segoe UI"/>
              </a:rPr>
              <a:t>Service</a:t>
            </a:r>
          </a:p>
        </p:txBody>
      </p:sp>
      <p:sp>
        <p:nvSpPr>
          <p:cNvPr id="22" name="Arrow: Right 21">
            <a:extLst>
              <a:ext uri="{FF2B5EF4-FFF2-40B4-BE49-F238E27FC236}">
                <a16:creationId xmlns:a16="http://schemas.microsoft.com/office/drawing/2014/main" id="{F55E8292-14D8-4051-9318-C8C21BB43751}"/>
              </a:ext>
            </a:extLst>
          </p:cNvPr>
          <p:cNvSpPr>
            <a:spLocks noGrp="1"/>
          </p:cNvSpPr>
          <p:nvPr/>
        </p:nvSpPr>
        <p:spPr>
          <a:xfrm>
            <a:off x="6000750" y="2638425"/>
            <a:ext cx="209550" cy="152400"/>
          </a:xfrm>
          <a:prstGeom prst="rightArrow">
            <a:avLst/>
          </a:prstGeom>
          <a:solidFill>
            <a:srgbClr val="00A6B2"/>
          </a:solidFill>
          <a:ln w="0">
            <a:noFill/>
          </a:ln>
        </p:spPr>
        <p:txBody>
          <a:bodyPr/>
          <a:lstStyle/>
          <a:p>
            <a:endParaRPr lang="en-US"/>
          </a:p>
        </p:txBody>
      </p:sp>
      <p:sp>
        <p:nvSpPr>
          <p:cNvPr id="23" name="Rectangle: Rounded Corners 22">
            <a:extLst>
              <a:ext uri="{FF2B5EF4-FFF2-40B4-BE49-F238E27FC236}">
                <a16:creationId xmlns:a16="http://schemas.microsoft.com/office/drawing/2014/main" id="{D2DD964F-D6E3-42FD-A9E6-39D6616B2E32}"/>
              </a:ext>
            </a:extLst>
          </p:cNvPr>
          <p:cNvSpPr>
            <a:spLocks noGrp="1"/>
          </p:cNvSpPr>
          <p:nvPr/>
        </p:nvSpPr>
        <p:spPr>
          <a:xfrm>
            <a:off x="6210300" y="2428875"/>
            <a:ext cx="2647950" cy="571500"/>
          </a:xfrm>
          <a:prstGeom prst="roundRect">
            <a:avLst>
              <a:gd name="adj" fmla="val 10000"/>
            </a:avLst>
          </a:prstGeom>
          <a:solidFill>
            <a:srgbClr val="E4F6F7"/>
          </a:solidFill>
          <a:ln w="11906">
            <a:solidFill>
              <a:srgbClr val="B8C7D9"/>
            </a:solidFill>
          </a:ln>
        </p:spPr>
        <p:txBody>
          <a:bodyPr/>
          <a:lstStyle/>
          <a:p>
            <a:endParaRPr lang="en-US"/>
          </a:p>
        </p:txBody>
      </p:sp>
      <p:sp>
        <p:nvSpPr>
          <p:cNvPr id="24" name="Rectangle 23">
            <a:extLst>
              <a:ext uri="{FF2B5EF4-FFF2-40B4-BE49-F238E27FC236}">
                <a16:creationId xmlns:a16="http://schemas.microsoft.com/office/drawing/2014/main" id="{3086F3AB-4B8F-4B39-8B43-8C9CA97C03C2}"/>
              </a:ext>
            </a:extLst>
          </p:cNvPr>
          <p:cNvSpPr>
            <a:spLocks noGrp="1"/>
          </p:cNvSpPr>
          <p:nvPr/>
        </p:nvSpPr>
        <p:spPr>
          <a:xfrm>
            <a:off x="6334125" y="2524125"/>
            <a:ext cx="2400300" cy="428625"/>
          </a:xfrm>
          <a:prstGeom prst="rect">
            <a:avLst/>
          </a:prstGeom>
          <a:noFill/>
          <a:ln w="0">
            <a:noFill/>
          </a:ln>
        </p:spPr>
        <p:txBody>
          <a:bodyPr>
            <a:noAutofit/>
          </a:bodyPr>
          <a:lstStyle/>
          <a:p>
            <a:pPr>
              <a:defRPr sz="1575" b="1">
                <a:solidFill>
                  <a:srgbClr val="0B1F3A"/>
                </a:solidFill>
                <a:latin typeface="Segoe UI"/>
                <a:ea typeface="Segoe UI"/>
                <a:cs typeface="Segoe UI"/>
              </a:defRPr>
            </a:pPr>
            <a:r>
              <a:rPr sz="1575" b="1">
                <a:solidFill>
                  <a:srgbClr val="0B1F3A"/>
                </a:solidFill>
                <a:latin typeface="Segoe UI"/>
                <a:ea typeface="Segoe UI"/>
                <a:cs typeface="Segoe UI"/>
              </a:rPr>
              <a:t>Application</a:t>
            </a:r>
          </a:p>
        </p:txBody>
      </p:sp>
      <p:sp>
        <p:nvSpPr>
          <p:cNvPr id="25" name="Arrow: Right 24">
            <a:extLst>
              <a:ext uri="{FF2B5EF4-FFF2-40B4-BE49-F238E27FC236}">
                <a16:creationId xmlns:a16="http://schemas.microsoft.com/office/drawing/2014/main" id="{2E764A3E-B9E9-4829-AD77-35CBC691EFDD}"/>
              </a:ext>
            </a:extLst>
          </p:cNvPr>
          <p:cNvSpPr>
            <a:spLocks noGrp="1"/>
          </p:cNvSpPr>
          <p:nvPr/>
        </p:nvSpPr>
        <p:spPr>
          <a:xfrm>
            <a:off x="8877300" y="2638425"/>
            <a:ext cx="209550" cy="152400"/>
          </a:xfrm>
          <a:prstGeom prst="rightArrow">
            <a:avLst/>
          </a:prstGeom>
          <a:solidFill>
            <a:srgbClr val="00A6B2"/>
          </a:solidFill>
          <a:ln w="0">
            <a:noFill/>
          </a:ln>
        </p:spPr>
        <p:txBody>
          <a:bodyPr/>
          <a:lstStyle/>
          <a:p>
            <a:endParaRPr lang="en-US"/>
          </a:p>
        </p:txBody>
      </p:sp>
      <p:sp>
        <p:nvSpPr>
          <p:cNvPr id="26" name="Rectangle: Rounded Corners 25">
            <a:extLst>
              <a:ext uri="{FF2B5EF4-FFF2-40B4-BE49-F238E27FC236}">
                <a16:creationId xmlns:a16="http://schemas.microsoft.com/office/drawing/2014/main" id="{D260A26E-0A87-4192-967F-B48B66252539}"/>
              </a:ext>
            </a:extLst>
          </p:cNvPr>
          <p:cNvSpPr>
            <a:spLocks noGrp="1"/>
          </p:cNvSpPr>
          <p:nvPr/>
        </p:nvSpPr>
        <p:spPr>
          <a:xfrm>
            <a:off x="9086850" y="2428875"/>
            <a:ext cx="2647950" cy="571500"/>
          </a:xfrm>
          <a:prstGeom prst="roundRect">
            <a:avLst>
              <a:gd name="adj" fmla="val 10000"/>
            </a:avLst>
          </a:prstGeom>
          <a:solidFill>
            <a:srgbClr val="E4F6F7"/>
          </a:solidFill>
          <a:ln w="11906">
            <a:solidFill>
              <a:srgbClr val="B8C7D9"/>
            </a:solidFill>
          </a:ln>
        </p:spPr>
        <p:txBody>
          <a:bodyPr/>
          <a:lstStyle/>
          <a:p>
            <a:endParaRPr lang="en-US"/>
          </a:p>
        </p:txBody>
      </p:sp>
      <p:sp>
        <p:nvSpPr>
          <p:cNvPr id="27" name="Rectangle 26">
            <a:extLst>
              <a:ext uri="{FF2B5EF4-FFF2-40B4-BE49-F238E27FC236}">
                <a16:creationId xmlns:a16="http://schemas.microsoft.com/office/drawing/2014/main" id="{38B0F8B5-E017-4C0B-B91C-54E8531B3D7A}"/>
              </a:ext>
            </a:extLst>
          </p:cNvPr>
          <p:cNvSpPr>
            <a:spLocks noGrp="1"/>
          </p:cNvSpPr>
          <p:nvPr/>
        </p:nvSpPr>
        <p:spPr>
          <a:xfrm>
            <a:off x="9210675" y="2524125"/>
            <a:ext cx="2400300" cy="428625"/>
          </a:xfrm>
          <a:prstGeom prst="rect">
            <a:avLst/>
          </a:prstGeom>
          <a:noFill/>
          <a:ln w="0">
            <a:noFill/>
          </a:ln>
        </p:spPr>
        <p:txBody>
          <a:bodyPr>
            <a:noAutofit/>
          </a:bodyPr>
          <a:lstStyle/>
          <a:p>
            <a:pPr>
              <a:defRPr sz="1575" b="1">
                <a:solidFill>
                  <a:srgbClr val="0B1F3A"/>
                </a:solidFill>
                <a:latin typeface="Segoe UI"/>
                <a:ea typeface="Segoe UI"/>
                <a:cs typeface="Segoe UI"/>
              </a:defRPr>
            </a:pPr>
            <a:r>
              <a:rPr sz="1575" b="1">
                <a:solidFill>
                  <a:srgbClr val="0B1F3A"/>
                </a:solidFill>
                <a:latin typeface="Segoe UI"/>
                <a:ea typeface="Segoe UI"/>
                <a:cs typeface="Segoe UI"/>
              </a:rPr>
              <a:t>Product / organization</a:t>
            </a:r>
          </a:p>
        </p:txBody>
      </p:sp>
      <p:sp>
        <p:nvSpPr>
          <p:cNvPr id="28" name="Rectangle: Rounded Corners 27">
            <a:extLst>
              <a:ext uri="{FF2B5EF4-FFF2-40B4-BE49-F238E27FC236}">
                <a16:creationId xmlns:a16="http://schemas.microsoft.com/office/drawing/2014/main" id="{329B4995-B088-4001-BC65-F7D3CE78BC6D}"/>
              </a:ext>
            </a:extLst>
          </p:cNvPr>
          <p:cNvSpPr>
            <a:spLocks noGrp="1"/>
          </p:cNvSpPr>
          <p:nvPr/>
        </p:nvSpPr>
        <p:spPr>
          <a:xfrm>
            <a:off x="457200" y="3371850"/>
            <a:ext cx="11277600" cy="609600"/>
          </a:xfrm>
          <a:prstGeom prst="roundRect">
            <a:avLst>
              <a:gd name="adj" fmla="val 9375"/>
            </a:avLst>
          </a:prstGeom>
          <a:solidFill>
            <a:srgbClr val="E4F6F7"/>
          </a:solidFill>
          <a:ln w="11906">
            <a:solidFill>
              <a:srgbClr val="B8C7D9"/>
            </a:solidFill>
          </a:ln>
        </p:spPr>
        <p:txBody>
          <a:bodyPr/>
          <a:lstStyle/>
          <a:p>
            <a:endParaRPr lang="en-US"/>
          </a:p>
        </p:txBody>
      </p:sp>
      <p:sp>
        <p:nvSpPr>
          <p:cNvPr id="29" name="Rectangle 28">
            <a:extLst>
              <a:ext uri="{FF2B5EF4-FFF2-40B4-BE49-F238E27FC236}">
                <a16:creationId xmlns:a16="http://schemas.microsoft.com/office/drawing/2014/main" id="{520A539C-3E93-446E-9EAB-A46F09A0BDE3}"/>
              </a:ext>
            </a:extLst>
          </p:cNvPr>
          <p:cNvSpPr>
            <a:spLocks noGrp="1"/>
          </p:cNvSpPr>
          <p:nvPr/>
        </p:nvSpPr>
        <p:spPr>
          <a:xfrm>
            <a:off x="581025" y="3467100"/>
            <a:ext cx="11029950" cy="209550"/>
          </a:xfrm>
          <a:prstGeom prst="rect">
            <a:avLst/>
          </a:prstGeom>
          <a:noFill/>
          <a:ln w="0">
            <a:noFill/>
          </a:ln>
        </p:spPr>
        <p:txBody>
          <a:bodyPr>
            <a:noAutofit/>
          </a:bodyPr>
          <a:lstStyle/>
          <a:p>
            <a:pPr>
              <a:defRPr sz="1575" b="1">
                <a:solidFill>
                  <a:srgbClr val="0B1F3A"/>
                </a:solidFill>
                <a:latin typeface="Segoe UI"/>
                <a:ea typeface="Segoe UI"/>
                <a:cs typeface="Segoe UI"/>
              </a:defRPr>
            </a:pPr>
            <a:r>
              <a:rPr sz="1575" b="1">
                <a:solidFill>
                  <a:srgbClr val="0B1F3A"/>
                </a:solidFill>
                <a:latin typeface="Segoe UI"/>
                <a:ea typeface="Segoe UI"/>
                <a:cs typeface="Segoe UI"/>
              </a:rPr>
              <a:t>Edge evidence and time</a:t>
            </a:r>
          </a:p>
        </p:txBody>
      </p:sp>
      <p:sp>
        <p:nvSpPr>
          <p:cNvPr id="30" name="Rectangle 29">
            <a:extLst>
              <a:ext uri="{FF2B5EF4-FFF2-40B4-BE49-F238E27FC236}">
                <a16:creationId xmlns:a16="http://schemas.microsoft.com/office/drawing/2014/main" id="{63E9211E-3AFE-4225-8F4E-91F0255D1CAE}"/>
              </a:ext>
            </a:extLst>
          </p:cNvPr>
          <p:cNvSpPr>
            <a:spLocks noGrp="1"/>
          </p:cNvSpPr>
          <p:nvPr/>
        </p:nvSpPr>
        <p:spPr>
          <a:xfrm>
            <a:off x="581025" y="3695700"/>
            <a:ext cx="11029950" cy="200025"/>
          </a:xfrm>
          <a:prstGeom prst="rect">
            <a:avLst/>
          </a:prstGeom>
          <a:noFill/>
          <a:ln w="0">
            <a:noFill/>
          </a:ln>
        </p:spPr>
        <p:txBody>
          <a:bodyPr>
            <a:noAutofit/>
          </a:bodyPr>
          <a:lstStyle/>
          <a:p>
            <a:pPr>
              <a:defRPr sz="1275" b="0">
                <a:solidFill>
                  <a:srgbClr val="253E55"/>
                </a:solidFill>
                <a:latin typeface="Segoe UI"/>
                <a:ea typeface="Segoe UI"/>
                <a:cs typeface="Segoe UI"/>
              </a:defRPr>
            </a:pPr>
            <a:r>
              <a:rPr sz="1275" b="0">
                <a:solidFill>
                  <a:srgbClr val="253E55"/>
                </a:solidFill>
                <a:latin typeface="Segoe UI"/>
                <a:ea typeface="Segoe UI"/>
                <a:cs typeface="Segoe UI"/>
              </a:rPr>
              <a:t>source_id / evidence_id / valid_from–to / confidence / review status / policy labels / projection version</a:t>
            </a:r>
          </a:p>
        </p:txBody>
      </p:sp>
      <p:sp>
        <p:nvSpPr>
          <p:cNvPr id="31" name="Rectangle 30">
            <a:extLst>
              <a:ext uri="{FF2B5EF4-FFF2-40B4-BE49-F238E27FC236}">
                <a16:creationId xmlns:a16="http://schemas.microsoft.com/office/drawing/2014/main" id="{57E64607-4636-493C-BB70-166631B1FF29}"/>
              </a:ext>
            </a:extLst>
          </p:cNvPr>
          <p:cNvSpPr>
            <a:spLocks noGrp="1"/>
          </p:cNvSpPr>
          <p:nvPr/>
        </p:nvSpPr>
        <p:spPr>
          <a:xfrm>
            <a:off x="457200" y="4229100"/>
            <a:ext cx="10953750" cy="285750"/>
          </a:xfrm>
          <a:prstGeom prst="rect">
            <a:avLst/>
          </a:prstGeom>
          <a:noFill/>
          <a:ln w="0">
            <a:noFill/>
          </a:ln>
        </p:spPr>
        <p:txBody>
          <a:bodyPr>
            <a:noAutofit/>
          </a:bodyPr>
          <a:lstStyle/>
          <a:p>
            <a:pPr>
              <a:defRPr sz="1425" b="1">
                <a:solidFill>
                  <a:srgbClr val="007C83"/>
                </a:solidFill>
                <a:latin typeface="Segoe UI"/>
                <a:ea typeface="Segoe UI"/>
                <a:cs typeface="Segoe UI"/>
              </a:defRPr>
            </a:pPr>
            <a:r>
              <a:rPr sz="1425" b="1">
                <a:solidFill>
                  <a:srgbClr val="007C83"/>
                </a:solidFill>
                <a:latin typeface="Segoe UI"/>
                <a:ea typeface="Segoe UI"/>
                <a:cs typeface="Segoe UI"/>
              </a:rPr>
              <a:t>GRAPH-ASSISTED CLAUSE RETRIEVAL</a:t>
            </a:r>
          </a:p>
        </p:txBody>
      </p:sp>
      <p:sp>
        <p:nvSpPr>
          <p:cNvPr id="32" name="Rectangle: Rounded Corners 31">
            <a:extLst>
              <a:ext uri="{FF2B5EF4-FFF2-40B4-BE49-F238E27FC236}">
                <a16:creationId xmlns:a16="http://schemas.microsoft.com/office/drawing/2014/main" id="{C79E6DD4-27B7-4858-9E0C-91D53BDB8595}"/>
              </a:ext>
            </a:extLst>
          </p:cNvPr>
          <p:cNvSpPr>
            <a:spLocks noGrp="1"/>
          </p:cNvSpPr>
          <p:nvPr/>
        </p:nvSpPr>
        <p:spPr>
          <a:xfrm>
            <a:off x="457200" y="4657725"/>
            <a:ext cx="2647950" cy="1038225"/>
          </a:xfrm>
          <a:prstGeom prst="roundRect">
            <a:avLst>
              <a:gd name="adj" fmla="val 5505"/>
            </a:avLst>
          </a:prstGeom>
          <a:solidFill>
            <a:srgbClr val="FFFFFF"/>
          </a:solidFill>
          <a:ln w="11906">
            <a:solidFill>
              <a:srgbClr val="B8C7D9"/>
            </a:solidFill>
          </a:ln>
        </p:spPr>
        <p:txBody>
          <a:bodyPr/>
          <a:lstStyle/>
          <a:p>
            <a:endParaRPr lang="en-US"/>
          </a:p>
        </p:txBody>
      </p:sp>
      <p:sp>
        <p:nvSpPr>
          <p:cNvPr id="33" name="Rectangle 32">
            <a:extLst>
              <a:ext uri="{FF2B5EF4-FFF2-40B4-BE49-F238E27FC236}">
                <a16:creationId xmlns:a16="http://schemas.microsoft.com/office/drawing/2014/main" id="{45CA8B68-656D-4075-B7EC-E7920424BF2F}"/>
              </a:ext>
            </a:extLst>
          </p:cNvPr>
          <p:cNvSpPr>
            <a:spLocks noGrp="1"/>
          </p:cNvSpPr>
          <p:nvPr/>
        </p:nvSpPr>
        <p:spPr>
          <a:xfrm>
            <a:off x="581025" y="4752975"/>
            <a:ext cx="2400300" cy="285750"/>
          </a:xfrm>
          <a:prstGeom prst="rect">
            <a:avLst/>
          </a:prstGeom>
          <a:noFill/>
          <a:ln w="0">
            <a:noFill/>
          </a:ln>
        </p:spPr>
        <p:txBody>
          <a:bodyPr>
            <a:noAutofit/>
          </a:bodyPr>
          <a:lstStyle/>
          <a:p>
            <a:pPr>
              <a:defRPr sz="1425" b="1">
                <a:solidFill>
                  <a:srgbClr val="0B1F3A"/>
                </a:solidFill>
                <a:latin typeface="Segoe UI"/>
                <a:ea typeface="Segoe UI"/>
                <a:cs typeface="Segoe UI"/>
              </a:defRPr>
            </a:pPr>
            <a:r>
              <a:rPr sz="1425" b="1">
                <a:solidFill>
                  <a:srgbClr val="0B1F3A"/>
                </a:solidFill>
                <a:latin typeface="Segoe UI"/>
                <a:ea typeface="Segoe UI"/>
                <a:cs typeface="Segoe UI"/>
              </a:rPr>
              <a:t>Resolve affected IDs</a:t>
            </a:r>
          </a:p>
        </p:txBody>
      </p:sp>
      <p:sp>
        <p:nvSpPr>
          <p:cNvPr id="34" name="Rectangle 33">
            <a:extLst>
              <a:ext uri="{FF2B5EF4-FFF2-40B4-BE49-F238E27FC236}">
                <a16:creationId xmlns:a16="http://schemas.microsoft.com/office/drawing/2014/main" id="{4B0CA660-F846-427B-B8D7-5D0ADFF18D80}"/>
              </a:ext>
            </a:extLst>
          </p:cNvPr>
          <p:cNvSpPr>
            <a:spLocks noGrp="1"/>
          </p:cNvSpPr>
          <p:nvPr/>
        </p:nvSpPr>
        <p:spPr>
          <a:xfrm>
            <a:off x="581025" y="5114925"/>
            <a:ext cx="2400300" cy="495300"/>
          </a:xfrm>
          <a:prstGeom prst="rect">
            <a:avLst/>
          </a:prstGeom>
          <a:noFill/>
          <a:ln w="0">
            <a:noFill/>
          </a:ln>
        </p:spPr>
        <p:txBody>
          <a:bodyPr>
            <a:noAutofit/>
          </a:bodyPr>
          <a:lstStyle/>
          <a:p>
            <a:pPr>
              <a:defRPr sz="1275" b="0">
                <a:solidFill>
                  <a:srgbClr val="253E55"/>
                </a:solidFill>
                <a:latin typeface="Segoe UI"/>
                <a:ea typeface="Segoe UI"/>
                <a:cs typeface="Segoe UI"/>
              </a:defRPr>
            </a:pPr>
            <a:r>
              <a:rPr sz="1275" b="0">
                <a:solidFill>
                  <a:srgbClr val="253E55"/>
                </a:solidFill>
                <a:latin typeface="Segoe UI"/>
                <a:ea typeface="Segoe UI"/>
                <a:cs typeface="Segoe UI"/>
              </a:rPr>
              <a:t>Vendor → contracts / services</a:t>
            </a:r>
          </a:p>
        </p:txBody>
      </p:sp>
      <p:sp>
        <p:nvSpPr>
          <p:cNvPr id="35" name="Arrow: Right 34">
            <a:extLst>
              <a:ext uri="{FF2B5EF4-FFF2-40B4-BE49-F238E27FC236}">
                <a16:creationId xmlns:a16="http://schemas.microsoft.com/office/drawing/2014/main" id="{381F8A62-019A-4AA3-829F-27B473698B2B}"/>
              </a:ext>
            </a:extLst>
          </p:cNvPr>
          <p:cNvSpPr>
            <a:spLocks noGrp="1"/>
          </p:cNvSpPr>
          <p:nvPr/>
        </p:nvSpPr>
        <p:spPr>
          <a:xfrm>
            <a:off x="3133725" y="5086350"/>
            <a:ext cx="171450" cy="152400"/>
          </a:xfrm>
          <a:prstGeom prst="rightArrow">
            <a:avLst/>
          </a:prstGeom>
          <a:solidFill>
            <a:srgbClr val="00A6B2"/>
          </a:solidFill>
          <a:ln w="0">
            <a:noFill/>
          </a:ln>
        </p:spPr>
        <p:txBody>
          <a:bodyPr/>
          <a:lstStyle/>
          <a:p>
            <a:endParaRPr lang="en-US"/>
          </a:p>
        </p:txBody>
      </p:sp>
      <p:sp>
        <p:nvSpPr>
          <p:cNvPr id="36" name="Rectangle: Rounded Corners 35">
            <a:extLst>
              <a:ext uri="{FF2B5EF4-FFF2-40B4-BE49-F238E27FC236}">
                <a16:creationId xmlns:a16="http://schemas.microsoft.com/office/drawing/2014/main" id="{CEE56F5F-747F-448B-9A47-417B91969812}"/>
              </a:ext>
            </a:extLst>
          </p:cNvPr>
          <p:cNvSpPr>
            <a:spLocks noGrp="1"/>
          </p:cNvSpPr>
          <p:nvPr/>
        </p:nvSpPr>
        <p:spPr>
          <a:xfrm>
            <a:off x="3333750" y="4657725"/>
            <a:ext cx="2647950" cy="1038225"/>
          </a:xfrm>
          <a:prstGeom prst="roundRect">
            <a:avLst>
              <a:gd name="adj" fmla="val 5505"/>
            </a:avLst>
          </a:prstGeom>
          <a:solidFill>
            <a:srgbClr val="FFFFFF"/>
          </a:solidFill>
          <a:ln w="11906">
            <a:solidFill>
              <a:srgbClr val="B8C7D9"/>
            </a:solidFill>
          </a:ln>
        </p:spPr>
        <p:txBody>
          <a:bodyPr/>
          <a:lstStyle/>
          <a:p>
            <a:endParaRPr lang="en-US"/>
          </a:p>
        </p:txBody>
      </p:sp>
      <p:sp>
        <p:nvSpPr>
          <p:cNvPr id="37" name="Rectangle 36">
            <a:extLst>
              <a:ext uri="{FF2B5EF4-FFF2-40B4-BE49-F238E27FC236}">
                <a16:creationId xmlns:a16="http://schemas.microsoft.com/office/drawing/2014/main" id="{8BC87BF9-F3BB-43D8-B2B0-82FB91C531B3}"/>
              </a:ext>
            </a:extLst>
          </p:cNvPr>
          <p:cNvSpPr>
            <a:spLocks noGrp="1"/>
          </p:cNvSpPr>
          <p:nvPr/>
        </p:nvSpPr>
        <p:spPr>
          <a:xfrm>
            <a:off x="3457575" y="4752975"/>
            <a:ext cx="2400300" cy="285750"/>
          </a:xfrm>
          <a:prstGeom prst="rect">
            <a:avLst/>
          </a:prstGeom>
          <a:noFill/>
          <a:ln w="0">
            <a:noFill/>
          </a:ln>
        </p:spPr>
        <p:txBody>
          <a:bodyPr>
            <a:noAutofit/>
          </a:bodyPr>
          <a:lstStyle/>
          <a:p>
            <a:pPr>
              <a:defRPr sz="1425" b="1">
                <a:solidFill>
                  <a:srgbClr val="0B1F3A"/>
                </a:solidFill>
                <a:latin typeface="Segoe UI"/>
                <a:ea typeface="Segoe UI"/>
                <a:cs typeface="Segoe UI"/>
              </a:defRPr>
            </a:pPr>
            <a:r>
              <a:rPr sz="1425" b="1">
                <a:solidFill>
                  <a:srgbClr val="0B1F3A"/>
                </a:solidFill>
                <a:latin typeface="Segoe UI"/>
                <a:ea typeface="Segoe UI"/>
                <a:cs typeface="Segoe UI"/>
              </a:rPr>
              <a:t>Apply document access</a:t>
            </a:r>
          </a:p>
        </p:txBody>
      </p:sp>
      <p:sp>
        <p:nvSpPr>
          <p:cNvPr id="38" name="Rectangle 37">
            <a:extLst>
              <a:ext uri="{FF2B5EF4-FFF2-40B4-BE49-F238E27FC236}">
                <a16:creationId xmlns:a16="http://schemas.microsoft.com/office/drawing/2014/main" id="{4DE59E74-3363-45AC-8699-0AB193C86B29}"/>
              </a:ext>
            </a:extLst>
          </p:cNvPr>
          <p:cNvSpPr>
            <a:spLocks noGrp="1"/>
          </p:cNvSpPr>
          <p:nvPr/>
        </p:nvSpPr>
        <p:spPr>
          <a:xfrm>
            <a:off x="3457575" y="5114925"/>
            <a:ext cx="2400300" cy="495300"/>
          </a:xfrm>
          <a:prstGeom prst="rect">
            <a:avLst/>
          </a:prstGeom>
          <a:noFill/>
          <a:ln w="0">
            <a:noFill/>
          </a:ln>
        </p:spPr>
        <p:txBody>
          <a:bodyPr>
            <a:noAutofit/>
          </a:bodyPr>
          <a:lstStyle/>
          <a:p>
            <a:pPr>
              <a:defRPr sz="1275" b="0">
                <a:solidFill>
                  <a:srgbClr val="253E55"/>
                </a:solidFill>
                <a:latin typeface="Segoe UI"/>
                <a:ea typeface="Segoe UI"/>
                <a:cs typeface="Segoe UI"/>
              </a:defRPr>
            </a:pPr>
            <a:r>
              <a:rPr sz="1275" b="0">
                <a:solidFill>
                  <a:srgbClr val="253E55"/>
                </a:solidFill>
                <a:latin typeface="Segoe UI"/>
                <a:ea typeface="Segoe UI"/>
                <a:cs typeface="Segoe UI"/>
              </a:rPr>
              <a:t>Filter candidates before search</a:t>
            </a:r>
          </a:p>
        </p:txBody>
      </p:sp>
      <p:sp>
        <p:nvSpPr>
          <p:cNvPr id="39" name="Arrow: Right 38">
            <a:extLst>
              <a:ext uri="{FF2B5EF4-FFF2-40B4-BE49-F238E27FC236}">
                <a16:creationId xmlns:a16="http://schemas.microsoft.com/office/drawing/2014/main" id="{A048AA1B-8DE8-46D1-8A59-1517F890F243}"/>
              </a:ext>
            </a:extLst>
          </p:cNvPr>
          <p:cNvSpPr>
            <a:spLocks noGrp="1"/>
          </p:cNvSpPr>
          <p:nvPr/>
        </p:nvSpPr>
        <p:spPr>
          <a:xfrm>
            <a:off x="6010275" y="5086350"/>
            <a:ext cx="171450" cy="152400"/>
          </a:xfrm>
          <a:prstGeom prst="rightArrow">
            <a:avLst/>
          </a:prstGeom>
          <a:solidFill>
            <a:srgbClr val="00A6B2"/>
          </a:solidFill>
          <a:ln w="0">
            <a:noFill/>
          </a:ln>
        </p:spPr>
        <p:txBody>
          <a:bodyPr/>
          <a:lstStyle/>
          <a:p>
            <a:endParaRPr lang="en-US"/>
          </a:p>
        </p:txBody>
      </p:sp>
      <p:sp>
        <p:nvSpPr>
          <p:cNvPr id="40" name="Rectangle: Rounded Corners 39">
            <a:extLst>
              <a:ext uri="{FF2B5EF4-FFF2-40B4-BE49-F238E27FC236}">
                <a16:creationId xmlns:a16="http://schemas.microsoft.com/office/drawing/2014/main" id="{7B9FA6D0-41D1-424C-975A-C53E25892222}"/>
              </a:ext>
            </a:extLst>
          </p:cNvPr>
          <p:cNvSpPr>
            <a:spLocks noGrp="1"/>
          </p:cNvSpPr>
          <p:nvPr/>
        </p:nvSpPr>
        <p:spPr>
          <a:xfrm>
            <a:off x="6210300" y="4657725"/>
            <a:ext cx="2647950" cy="1038225"/>
          </a:xfrm>
          <a:prstGeom prst="roundRect">
            <a:avLst>
              <a:gd name="adj" fmla="val 5505"/>
            </a:avLst>
          </a:prstGeom>
          <a:solidFill>
            <a:srgbClr val="FFFFFF"/>
          </a:solidFill>
          <a:ln w="11906">
            <a:solidFill>
              <a:srgbClr val="B8C7D9"/>
            </a:solidFill>
          </a:ln>
        </p:spPr>
        <p:txBody>
          <a:bodyPr/>
          <a:lstStyle/>
          <a:p>
            <a:endParaRPr lang="en-US"/>
          </a:p>
        </p:txBody>
      </p:sp>
      <p:sp>
        <p:nvSpPr>
          <p:cNvPr id="41" name="Rectangle 40">
            <a:extLst>
              <a:ext uri="{FF2B5EF4-FFF2-40B4-BE49-F238E27FC236}">
                <a16:creationId xmlns:a16="http://schemas.microsoft.com/office/drawing/2014/main" id="{754E9F6B-0ADA-4BF2-87C5-B80BB1AEAA1E}"/>
              </a:ext>
            </a:extLst>
          </p:cNvPr>
          <p:cNvSpPr>
            <a:spLocks noGrp="1"/>
          </p:cNvSpPr>
          <p:nvPr/>
        </p:nvSpPr>
        <p:spPr>
          <a:xfrm>
            <a:off x="6334125" y="4752975"/>
            <a:ext cx="2400300" cy="285750"/>
          </a:xfrm>
          <a:prstGeom prst="rect">
            <a:avLst/>
          </a:prstGeom>
          <a:noFill/>
          <a:ln w="0">
            <a:noFill/>
          </a:ln>
        </p:spPr>
        <p:txBody>
          <a:bodyPr>
            <a:noAutofit/>
          </a:bodyPr>
          <a:lstStyle/>
          <a:p>
            <a:pPr>
              <a:defRPr sz="1425" b="1">
                <a:solidFill>
                  <a:srgbClr val="0B1F3A"/>
                </a:solidFill>
                <a:latin typeface="Segoe UI"/>
                <a:ea typeface="Segoe UI"/>
                <a:cs typeface="Segoe UI"/>
              </a:defRPr>
            </a:pPr>
            <a:r>
              <a:rPr sz="1425" b="1">
                <a:solidFill>
                  <a:srgbClr val="0B1F3A"/>
                </a:solidFill>
                <a:latin typeface="Segoe UI"/>
                <a:ea typeface="Segoe UI"/>
                <a:cs typeface="Segoe UI"/>
              </a:rPr>
              <a:t>Hybrid retrieval</a:t>
            </a:r>
          </a:p>
        </p:txBody>
      </p:sp>
      <p:sp>
        <p:nvSpPr>
          <p:cNvPr id="42" name="Rectangle 41">
            <a:extLst>
              <a:ext uri="{FF2B5EF4-FFF2-40B4-BE49-F238E27FC236}">
                <a16:creationId xmlns:a16="http://schemas.microsoft.com/office/drawing/2014/main" id="{16719F1F-5F9A-4B8C-9CF0-B5137EA8F67D}"/>
              </a:ext>
            </a:extLst>
          </p:cNvPr>
          <p:cNvSpPr>
            <a:spLocks noGrp="1"/>
          </p:cNvSpPr>
          <p:nvPr/>
        </p:nvSpPr>
        <p:spPr>
          <a:xfrm>
            <a:off x="6334125" y="5114925"/>
            <a:ext cx="2400300" cy="495300"/>
          </a:xfrm>
          <a:prstGeom prst="rect">
            <a:avLst/>
          </a:prstGeom>
          <a:noFill/>
          <a:ln w="0">
            <a:noFill/>
          </a:ln>
        </p:spPr>
        <p:txBody>
          <a:bodyPr>
            <a:noAutofit/>
          </a:bodyPr>
          <a:lstStyle/>
          <a:p>
            <a:pPr>
              <a:defRPr sz="1275" b="0">
                <a:solidFill>
                  <a:srgbClr val="253E55"/>
                </a:solidFill>
                <a:latin typeface="Segoe UI"/>
                <a:ea typeface="Segoe UI"/>
                <a:cs typeface="Segoe UI"/>
              </a:defRPr>
            </a:pPr>
            <a:r>
              <a:rPr sz="1275" b="0">
                <a:solidFill>
                  <a:srgbClr val="253E55"/>
                </a:solidFill>
                <a:latin typeface="Segoe UI"/>
                <a:ea typeface="Segoe UI"/>
                <a:cs typeface="Segoe UI"/>
              </a:rPr>
              <a:t>Exact IDs + keyword + vectors</a:t>
            </a:r>
          </a:p>
        </p:txBody>
      </p:sp>
      <p:sp>
        <p:nvSpPr>
          <p:cNvPr id="43" name="Arrow: Right 42">
            <a:extLst>
              <a:ext uri="{FF2B5EF4-FFF2-40B4-BE49-F238E27FC236}">
                <a16:creationId xmlns:a16="http://schemas.microsoft.com/office/drawing/2014/main" id="{8E0EF719-9D01-45C5-93C3-882030D32A61}"/>
              </a:ext>
            </a:extLst>
          </p:cNvPr>
          <p:cNvSpPr>
            <a:spLocks noGrp="1"/>
          </p:cNvSpPr>
          <p:nvPr/>
        </p:nvSpPr>
        <p:spPr>
          <a:xfrm>
            <a:off x="8886825" y="5086350"/>
            <a:ext cx="171450" cy="152400"/>
          </a:xfrm>
          <a:prstGeom prst="rightArrow">
            <a:avLst/>
          </a:prstGeom>
          <a:solidFill>
            <a:srgbClr val="00A6B2"/>
          </a:solidFill>
          <a:ln w="0">
            <a:noFill/>
          </a:ln>
        </p:spPr>
        <p:txBody>
          <a:bodyPr/>
          <a:lstStyle/>
          <a:p>
            <a:endParaRPr lang="en-US"/>
          </a:p>
        </p:txBody>
      </p:sp>
      <p:sp>
        <p:nvSpPr>
          <p:cNvPr id="44" name="Rectangle: Rounded Corners 43">
            <a:extLst>
              <a:ext uri="{FF2B5EF4-FFF2-40B4-BE49-F238E27FC236}">
                <a16:creationId xmlns:a16="http://schemas.microsoft.com/office/drawing/2014/main" id="{58EFA805-D75F-4C67-9FE4-12963283EEBF}"/>
              </a:ext>
            </a:extLst>
          </p:cNvPr>
          <p:cNvSpPr>
            <a:spLocks noGrp="1"/>
          </p:cNvSpPr>
          <p:nvPr/>
        </p:nvSpPr>
        <p:spPr>
          <a:xfrm>
            <a:off x="9086850" y="4657725"/>
            <a:ext cx="2647950" cy="1038225"/>
          </a:xfrm>
          <a:prstGeom prst="roundRect">
            <a:avLst>
              <a:gd name="adj" fmla="val 5505"/>
            </a:avLst>
          </a:prstGeom>
          <a:solidFill>
            <a:srgbClr val="FFFFFF"/>
          </a:solidFill>
          <a:ln w="11906">
            <a:solidFill>
              <a:srgbClr val="B8C7D9"/>
            </a:solidFill>
          </a:ln>
        </p:spPr>
        <p:txBody>
          <a:bodyPr/>
          <a:lstStyle/>
          <a:p>
            <a:endParaRPr lang="en-US"/>
          </a:p>
        </p:txBody>
      </p:sp>
      <p:sp>
        <p:nvSpPr>
          <p:cNvPr id="45" name="Rectangle 44">
            <a:extLst>
              <a:ext uri="{FF2B5EF4-FFF2-40B4-BE49-F238E27FC236}">
                <a16:creationId xmlns:a16="http://schemas.microsoft.com/office/drawing/2014/main" id="{DA7B83FD-E2E3-41CD-A1BF-6131F45D648D}"/>
              </a:ext>
            </a:extLst>
          </p:cNvPr>
          <p:cNvSpPr>
            <a:spLocks noGrp="1"/>
          </p:cNvSpPr>
          <p:nvPr/>
        </p:nvSpPr>
        <p:spPr>
          <a:xfrm>
            <a:off x="9210675" y="4752975"/>
            <a:ext cx="2400300" cy="285750"/>
          </a:xfrm>
          <a:prstGeom prst="rect">
            <a:avLst/>
          </a:prstGeom>
          <a:noFill/>
          <a:ln w="0">
            <a:noFill/>
          </a:ln>
        </p:spPr>
        <p:txBody>
          <a:bodyPr>
            <a:noAutofit/>
          </a:bodyPr>
          <a:lstStyle/>
          <a:p>
            <a:pPr>
              <a:defRPr sz="1425" b="1">
                <a:solidFill>
                  <a:srgbClr val="0B1F3A"/>
                </a:solidFill>
                <a:latin typeface="Segoe UI"/>
                <a:ea typeface="Segoe UI"/>
                <a:cs typeface="Segoe UI"/>
              </a:defRPr>
            </a:pPr>
            <a:r>
              <a:rPr sz="1425" b="1">
                <a:solidFill>
                  <a:srgbClr val="0B1F3A"/>
                </a:solidFill>
                <a:latin typeface="Segoe UI"/>
                <a:ea typeface="Segoe UI"/>
                <a:cs typeface="Segoe UI"/>
              </a:rPr>
              <a:t>Validate citation</a:t>
            </a:r>
          </a:p>
        </p:txBody>
      </p:sp>
      <p:sp>
        <p:nvSpPr>
          <p:cNvPr id="46" name="Rectangle 45">
            <a:extLst>
              <a:ext uri="{FF2B5EF4-FFF2-40B4-BE49-F238E27FC236}">
                <a16:creationId xmlns:a16="http://schemas.microsoft.com/office/drawing/2014/main" id="{7E2AD6D6-6036-4C0D-907F-6CAC2A37D3FB}"/>
              </a:ext>
            </a:extLst>
          </p:cNvPr>
          <p:cNvSpPr>
            <a:spLocks noGrp="1"/>
          </p:cNvSpPr>
          <p:nvPr/>
        </p:nvSpPr>
        <p:spPr>
          <a:xfrm>
            <a:off x="9210675" y="5114925"/>
            <a:ext cx="2400300" cy="495300"/>
          </a:xfrm>
          <a:prstGeom prst="rect">
            <a:avLst/>
          </a:prstGeom>
          <a:noFill/>
          <a:ln w="0">
            <a:noFill/>
          </a:ln>
        </p:spPr>
        <p:txBody>
          <a:bodyPr>
            <a:noAutofit/>
          </a:bodyPr>
          <a:lstStyle/>
          <a:p>
            <a:pPr>
              <a:defRPr sz="1275" b="0">
                <a:solidFill>
                  <a:srgbClr val="253E55"/>
                </a:solidFill>
                <a:latin typeface="Segoe UI"/>
                <a:ea typeface="Segoe UI"/>
                <a:cs typeface="Segoe UI"/>
              </a:defRPr>
            </a:pPr>
            <a:r>
              <a:rPr sz="1275" b="0">
                <a:solidFill>
                  <a:srgbClr val="253E55"/>
                </a:solidFill>
                <a:latin typeface="Segoe UI"/>
                <a:ea typeface="Segoe UI"/>
                <a:cs typeface="Segoe UI"/>
              </a:rPr>
              <a:t>Original file / page / clause</a:t>
            </a:r>
          </a:p>
        </p:txBody>
      </p:sp>
      <p:sp>
        <p:nvSpPr>
          <p:cNvPr id="47" name="Rectangle: Rounded Corners 46">
            <a:extLst>
              <a:ext uri="{FF2B5EF4-FFF2-40B4-BE49-F238E27FC236}">
                <a16:creationId xmlns:a16="http://schemas.microsoft.com/office/drawing/2014/main" id="{C0B52548-864E-41DA-91C6-BDB32ADB7683}"/>
              </a:ext>
            </a:extLst>
          </p:cNvPr>
          <p:cNvSpPr>
            <a:spLocks noGrp="1"/>
          </p:cNvSpPr>
          <p:nvPr/>
        </p:nvSpPr>
        <p:spPr>
          <a:xfrm>
            <a:off x="457200" y="5962650"/>
            <a:ext cx="11277600" cy="409575"/>
          </a:xfrm>
          <a:prstGeom prst="roundRect">
            <a:avLst>
              <a:gd name="adj" fmla="val 13953"/>
            </a:avLst>
          </a:prstGeom>
          <a:solidFill>
            <a:srgbClr val="0B1F3A"/>
          </a:solidFill>
          <a:ln w="11906">
            <a:solidFill>
              <a:srgbClr val="0B1F3A"/>
            </a:solidFill>
          </a:ln>
        </p:spPr>
        <p:txBody>
          <a:bodyPr/>
          <a:lstStyle/>
          <a:p>
            <a:endParaRPr lang="en-US"/>
          </a:p>
        </p:txBody>
      </p:sp>
      <p:sp>
        <p:nvSpPr>
          <p:cNvPr id="48" name="Rectangle 47">
            <a:extLst>
              <a:ext uri="{FF2B5EF4-FFF2-40B4-BE49-F238E27FC236}">
                <a16:creationId xmlns:a16="http://schemas.microsoft.com/office/drawing/2014/main" id="{7F07C178-9A74-4BB0-91D0-A8C90DCB39CB}"/>
              </a:ext>
            </a:extLst>
          </p:cNvPr>
          <p:cNvSpPr>
            <a:spLocks noGrp="1"/>
          </p:cNvSpPr>
          <p:nvPr/>
        </p:nvSpPr>
        <p:spPr>
          <a:xfrm>
            <a:off x="581025" y="6057900"/>
            <a:ext cx="11029950" cy="266700"/>
          </a:xfrm>
          <a:prstGeom prst="rect">
            <a:avLst/>
          </a:prstGeom>
          <a:noFill/>
          <a:ln w="0">
            <a:noFill/>
          </a:ln>
        </p:spPr>
        <p:txBody>
          <a:bodyPr>
            <a:noAutofit/>
          </a:bodyPr>
          <a:lstStyle/>
          <a:p>
            <a:pPr>
              <a:defRPr sz="1200" b="1">
                <a:solidFill>
                  <a:srgbClr val="FFFFFF"/>
                </a:solidFill>
                <a:latin typeface="Segoe UI"/>
                <a:ea typeface="Segoe UI"/>
                <a:cs typeface="Segoe UI"/>
              </a:defRPr>
            </a:pPr>
            <a:r>
              <a:rPr sz="1200" b="1">
                <a:solidFill>
                  <a:srgbClr val="FFFFFF"/>
                </a:solidFill>
                <a:latin typeface="Segoe UI"/>
                <a:ea typeface="Segoe UI"/>
                <a:cs typeface="Segoe UI"/>
              </a:rPr>
              <a:t>A graph edge proves a dependency, not an automatic service failure. Extracted clauses and proposed relationships require validation.</a:t>
            </a:r>
          </a:p>
        </p:txBody>
      </p:sp>
    </p:spTree>
    <p:extLst>
      <p:ext uri="{BB962C8B-B14F-4D97-AF65-F5344CB8AC3E}">
        <p14:creationId xmlns:p14="http://schemas.microsoft.com/office/powerpoint/2010/main" val="7724607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4F391780-B166-44FD-BECD-659232617D49}"/>
              </a:ext>
            </a:extLst>
          </p:cNvPr>
          <p:cNvSpPr>
            <a:spLocks noGrp="1"/>
          </p:cNvSpPr>
          <p:nvPr/>
        </p:nvSpPr>
        <p:spPr>
          <a:xfrm>
            <a:off x="0" y="0"/>
            <a:ext cx="12192000" cy="95250"/>
          </a:xfrm>
          <a:prstGeom prst="rect">
            <a:avLst/>
          </a:prstGeom>
          <a:solidFill>
            <a:srgbClr val="0B1F3A"/>
          </a:solidFill>
          <a:ln w="11906">
            <a:solidFill>
              <a:srgbClr val="0B1F3A"/>
            </a:solidFill>
          </a:ln>
        </p:spPr>
        <p:txBody>
          <a:bodyPr/>
          <a:lstStyle/>
          <a:p>
            <a:endParaRPr lang="en-US"/>
          </a:p>
        </p:txBody>
      </p:sp>
      <p:sp>
        <p:nvSpPr>
          <p:cNvPr id="2" name="Rectangle 1">
            <a:extLst>
              <a:ext uri="{FF2B5EF4-FFF2-40B4-BE49-F238E27FC236}">
                <a16:creationId xmlns:a16="http://schemas.microsoft.com/office/drawing/2014/main" id="{E028F974-44A1-4C02-B404-4D04437F5EC2}"/>
              </a:ext>
            </a:extLst>
          </p:cNvPr>
          <p:cNvSpPr>
            <a:spLocks noGrp="1"/>
          </p:cNvSpPr>
          <p:nvPr/>
        </p:nvSpPr>
        <p:spPr>
          <a:xfrm>
            <a:off x="457200" y="352425"/>
            <a:ext cx="11239500" cy="504825"/>
          </a:xfrm>
          <a:prstGeom prst="rect">
            <a:avLst/>
          </a:prstGeom>
          <a:noFill/>
          <a:ln w="0">
            <a:noFill/>
          </a:ln>
        </p:spPr>
        <p:txBody>
          <a:bodyPr>
            <a:noAutofit/>
          </a:bodyPr>
          <a:lstStyle/>
          <a:p>
            <a:pPr>
              <a:defRPr sz="2550" b="1">
                <a:solidFill>
                  <a:srgbClr val="0B1F3A"/>
                </a:solidFill>
                <a:latin typeface="Segoe UI"/>
                <a:ea typeface="Segoe UI"/>
                <a:cs typeface="Segoe UI"/>
              </a:defRPr>
            </a:pPr>
            <a:r>
              <a:rPr sz="2550" b="1">
                <a:solidFill>
                  <a:srgbClr val="0B1F3A"/>
                </a:solidFill>
                <a:latin typeface="Segoe UI"/>
                <a:ea typeface="Segoe UI"/>
                <a:cs typeface="Segoe UI"/>
              </a:rPr>
              <a:t>Agent runtime: one supervisor, four specialists</a:t>
            </a:r>
          </a:p>
        </p:txBody>
      </p:sp>
      <p:sp>
        <p:nvSpPr>
          <p:cNvPr id="3" name="Rectangle 2">
            <a:extLst>
              <a:ext uri="{FF2B5EF4-FFF2-40B4-BE49-F238E27FC236}">
                <a16:creationId xmlns:a16="http://schemas.microsoft.com/office/drawing/2014/main" id="{5A8B58E7-1C6F-4966-ADA3-34043155528C}"/>
              </a:ext>
            </a:extLst>
          </p:cNvPr>
          <p:cNvSpPr>
            <a:spLocks noGrp="1"/>
          </p:cNvSpPr>
          <p:nvPr/>
        </p:nvSpPr>
        <p:spPr>
          <a:xfrm>
            <a:off x="466725" y="885825"/>
            <a:ext cx="11239500" cy="409575"/>
          </a:xfrm>
          <a:prstGeom prst="rect">
            <a:avLst/>
          </a:prstGeom>
          <a:noFill/>
          <a:ln w="0">
            <a:noFill/>
          </a:ln>
        </p:spPr>
        <p:txBody>
          <a:bodyPr>
            <a:noAutofit/>
          </a:bodyPr>
          <a:lstStyle/>
          <a:p>
            <a:pPr>
              <a:defRPr sz="1350" b="0">
                <a:solidFill>
                  <a:srgbClr val="46586C"/>
                </a:solidFill>
                <a:latin typeface="Segoe UI"/>
                <a:ea typeface="Segoe UI"/>
                <a:cs typeface="Segoe UI"/>
              </a:defRPr>
            </a:pPr>
            <a:r>
              <a:rPr sz="1350" b="0">
                <a:solidFill>
                  <a:srgbClr val="46586C"/>
                </a:solidFill>
                <a:latin typeface="Segoe UI"/>
                <a:ea typeface="Segoe UI"/>
                <a:cs typeface="Segoe UI"/>
              </a:rPr>
              <a:t>Bounded plans, explicit tool permissions, shared analysis state and validated evidence before explanation.</a:t>
            </a:r>
          </a:p>
        </p:txBody>
      </p:sp>
      <p:sp>
        <p:nvSpPr>
          <p:cNvPr id="4" name="Rectangle 3">
            <a:extLst>
              <a:ext uri="{FF2B5EF4-FFF2-40B4-BE49-F238E27FC236}">
                <a16:creationId xmlns:a16="http://schemas.microsoft.com/office/drawing/2014/main" id="{3C4D1625-5130-4C03-96FA-3E20AB8DABFC}"/>
              </a:ext>
            </a:extLst>
          </p:cNvPr>
          <p:cNvSpPr>
            <a:spLocks noGrp="1"/>
          </p:cNvSpPr>
          <p:nvPr/>
        </p:nvSpPr>
        <p:spPr>
          <a:xfrm>
            <a:off x="457200" y="6562725"/>
            <a:ext cx="9906000" cy="200025"/>
          </a:xfrm>
          <a:prstGeom prst="rect">
            <a:avLst/>
          </a:prstGeom>
          <a:noFill/>
          <a:ln w="0">
            <a:noFill/>
          </a:ln>
        </p:spPr>
        <p:txBody>
          <a:bodyPr>
            <a:noAutofit/>
          </a:bodyPr>
          <a:lstStyle/>
          <a:p>
            <a:pPr>
              <a:defRPr sz="900" b="0">
                <a:solidFill>
                  <a:srgbClr val="46586C"/>
                </a:solidFill>
                <a:latin typeface="Segoe UI"/>
                <a:ea typeface="Segoe UI"/>
                <a:cs typeface="Segoe UI"/>
              </a:defRPr>
            </a:pPr>
            <a:r>
              <a:rPr sz="900" b="0">
                <a:solidFill>
                  <a:srgbClr val="46586C"/>
                </a:solidFill>
                <a:latin typeface="Segoe UI"/>
                <a:ea typeface="Segoe UI"/>
                <a:cs typeface="Segoe UI"/>
              </a:rPr>
              <a:t>CITI VENDOR DECISION INTELLIGENCE  /  PROPOSED SOLUTION</a:t>
            </a:r>
          </a:p>
        </p:txBody>
      </p:sp>
      <p:sp>
        <p:nvSpPr>
          <p:cNvPr id="5" name="Rectangle 4">
            <a:extLst>
              <a:ext uri="{FF2B5EF4-FFF2-40B4-BE49-F238E27FC236}">
                <a16:creationId xmlns:a16="http://schemas.microsoft.com/office/drawing/2014/main" id="{B854C260-D7B1-4F02-92A4-98FBFC89CF2B}"/>
              </a:ext>
            </a:extLst>
          </p:cNvPr>
          <p:cNvSpPr>
            <a:spLocks noGrp="1"/>
          </p:cNvSpPr>
          <p:nvPr/>
        </p:nvSpPr>
        <p:spPr>
          <a:xfrm>
            <a:off x="11391900" y="6562725"/>
            <a:ext cx="323850" cy="190500"/>
          </a:xfrm>
          <a:prstGeom prst="rect">
            <a:avLst/>
          </a:prstGeom>
          <a:noFill/>
          <a:ln w="0">
            <a:noFill/>
          </a:ln>
        </p:spPr>
        <p:txBody>
          <a:bodyPr>
            <a:noAutofit/>
          </a:bodyPr>
          <a:lstStyle/>
          <a:p>
            <a:pPr>
              <a:defRPr sz="900" b="1">
                <a:solidFill>
                  <a:srgbClr val="0B1F3A"/>
                </a:solidFill>
                <a:latin typeface="Segoe UI"/>
                <a:ea typeface="Segoe UI"/>
                <a:cs typeface="Segoe UI"/>
              </a:defRPr>
            </a:pPr>
            <a:r>
              <a:rPr sz="900" b="1">
                <a:solidFill>
                  <a:srgbClr val="0B1F3A"/>
                </a:solidFill>
                <a:latin typeface="Segoe UI"/>
                <a:ea typeface="Segoe UI"/>
                <a:cs typeface="Segoe UI"/>
              </a:rPr>
              <a:t>05</a:t>
            </a:r>
          </a:p>
        </p:txBody>
      </p:sp>
      <p:sp>
        <p:nvSpPr>
          <p:cNvPr id="6" name="Rectangle: Rounded Corners 5">
            <a:extLst>
              <a:ext uri="{FF2B5EF4-FFF2-40B4-BE49-F238E27FC236}">
                <a16:creationId xmlns:a16="http://schemas.microsoft.com/office/drawing/2014/main" id="{9328F863-4BA8-4CF7-90D5-03E6B7764B61}"/>
              </a:ext>
            </a:extLst>
          </p:cNvPr>
          <p:cNvSpPr>
            <a:spLocks noGrp="1"/>
          </p:cNvSpPr>
          <p:nvPr/>
        </p:nvSpPr>
        <p:spPr>
          <a:xfrm>
            <a:off x="457200" y="1428750"/>
            <a:ext cx="11277600" cy="542925"/>
          </a:xfrm>
          <a:prstGeom prst="roundRect">
            <a:avLst>
              <a:gd name="adj" fmla="val 10526"/>
            </a:avLst>
          </a:prstGeom>
          <a:solidFill>
            <a:srgbClr val="0B1F3A"/>
          </a:solidFill>
          <a:ln w="11906">
            <a:solidFill>
              <a:srgbClr val="0B1F3A"/>
            </a:solidFill>
          </a:ln>
        </p:spPr>
        <p:txBody>
          <a:bodyPr/>
          <a:lstStyle/>
          <a:p>
            <a:endParaRPr lang="en-US"/>
          </a:p>
        </p:txBody>
      </p:sp>
      <p:sp>
        <p:nvSpPr>
          <p:cNvPr id="7" name="Rectangle 6">
            <a:extLst>
              <a:ext uri="{FF2B5EF4-FFF2-40B4-BE49-F238E27FC236}">
                <a16:creationId xmlns:a16="http://schemas.microsoft.com/office/drawing/2014/main" id="{E20AB1A7-AFD9-4F97-857C-FF7459DEEF0B}"/>
              </a:ext>
            </a:extLst>
          </p:cNvPr>
          <p:cNvSpPr>
            <a:spLocks noGrp="1"/>
          </p:cNvSpPr>
          <p:nvPr/>
        </p:nvSpPr>
        <p:spPr>
          <a:xfrm>
            <a:off x="581025" y="1524000"/>
            <a:ext cx="11029950" cy="400050"/>
          </a:xfrm>
          <a:prstGeom prst="rect">
            <a:avLst/>
          </a:prstGeom>
          <a:noFill/>
          <a:ln w="0">
            <a:noFill/>
          </a:ln>
        </p:spPr>
        <p:txBody>
          <a:bodyPr>
            <a:noAutofit/>
          </a:bodyPr>
          <a:lstStyle/>
          <a:p>
            <a:pPr>
              <a:defRPr sz="1800" b="1">
                <a:solidFill>
                  <a:srgbClr val="FFFFFF"/>
                </a:solidFill>
                <a:latin typeface="Segoe UI"/>
                <a:ea typeface="Segoe UI"/>
                <a:cs typeface="Segoe UI"/>
              </a:defRPr>
            </a:pPr>
            <a:r>
              <a:rPr sz="1800" b="1">
                <a:solidFill>
                  <a:srgbClr val="FFFFFF"/>
                </a:solidFill>
                <a:latin typeface="Segoe UI"/>
                <a:ea typeface="Segoe UI"/>
                <a:cs typeface="Segoe UI"/>
              </a:rPr>
              <a:t>Authorized request → intent router → supervisor task plan</a:t>
            </a:r>
          </a:p>
        </p:txBody>
      </p:sp>
      <p:sp>
        <p:nvSpPr>
          <p:cNvPr id="8" name="Arrow: Down 7">
            <a:extLst>
              <a:ext uri="{FF2B5EF4-FFF2-40B4-BE49-F238E27FC236}">
                <a16:creationId xmlns:a16="http://schemas.microsoft.com/office/drawing/2014/main" id="{192650DA-EC0E-4B40-B5E2-4D8FF9E99E0D}"/>
              </a:ext>
            </a:extLst>
          </p:cNvPr>
          <p:cNvSpPr>
            <a:spLocks noGrp="1"/>
          </p:cNvSpPr>
          <p:nvPr/>
        </p:nvSpPr>
        <p:spPr>
          <a:xfrm>
            <a:off x="1657350" y="2038350"/>
            <a:ext cx="190500" cy="228600"/>
          </a:xfrm>
          <a:prstGeom prst="downArrow">
            <a:avLst/>
          </a:prstGeom>
          <a:solidFill>
            <a:srgbClr val="00A6B2"/>
          </a:solidFill>
          <a:ln w="0">
            <a:noFill/>
          </a:ln>
        </p:spPr>
        <p:txBody>
          <a:bodyPr/>
          <a:lstStyle/>
          <a:p>
            <a:endParaRPr lang="en-US"/>
          </a:p>
        </p:txBody>
      </p:sp>
      <p:sp>
        <p:nvSpPr>
          <p:cNvPr id="9" name="Rectangle: Rounded Corners 8">
            <a:extLst>
              <a:ext uri="{FF2B5EF4-FFF2-40B4-BE49-F238E27FC236}">
                <a16:creationId xmlns:a16="http://schemas.microsoft.com/office/drawing/2014/main" id="{047BD092-7DAF-43AD-8CCE-B84978788C6B}"/>
              </a:ext>
            </a:extLst>
          </p:cNvPr>
          <p:cNvSpPr>
            <a:spLocks noGrp="1"/>
          </p:cNvSpPr>
          <p:nvPr/>
        </p:nvSpPr>
        <p:spPr>
          <a:xfrm>
            <a:off x="457200" y="2343150"/>
            <a:ext cx="2647950" cy="1028700"/>
          </a:xfrm>
          <a:prstGeom prst="roundRect">
            <a:avLst>
              <a:gd name="adj" fmla="val 5556"/>
            </a:avLst>
          </a:prstGeom>
          <a:solidFill>
            <a:srgbClr val="E4F6F7"/>
          </a:solidFill>
          <a:ln w="11906">
            <a:solidFill>
              <a:srgbClr val="00A6B2"/>
            </a:solidFill>
          </a:ln>
        </p:spPr>
        <p:txBody>
          <a:bodyPr/>
          <a:lstStyle/>
          <a:p>
            <a:endParaRPr lang="en-US"/>
          </a:p>
        </p:txBody>
      </p:sp>
      <p:sp>
        <p:nvSpPr>
          <p:cNvPr id="10" name="Rectangle 9">
            <a:extLst>
              <a:ext uri="{FF2B5EF4-FFF2-40B4-BE49-F238E27FC236}">
                <a16:creationId xmlns:a16="http://schemas.microsoft.com/office/drawing/2014/main" id="{B3CDC060-E746-437B-8F59-F29C30DB2B2A}"/>
              </a:ext>
            </a:extLst>
          </p:cNvPr>
          <p:cNvSpPr>
            <a:spLocks noGrp="1"/>
          </p:cNvSpPr>
          <p:nvPr/>
        </p:nvSpPr>
        <p:spPr>
          <a:xfrm>
            <a:off x="581025" y="2438400"/>
            <a:ext cx="2400300" cy="285750"/>
          </a:xfrm>
          <a:prstGeom prst="rect">
            <a:avLst/>
          </a:prstGeom>
          <a:noFill/>
          <a:ln w="0">
            <a:noFill/>
          </a:ln>
        </p:spPr>
        <p:txBody>
          <a:bodyPr>
            <a:noAutofit/>
          </a:bodyPr>
          <a:lstStyle/>
          <a:p>
            <a:pPr>
              <a:defRPr sz="1650" b="1">
                <a:solidFill>
                  <a:srgbClr val="0B1F3A"/>
                </a:solidFill>
                <a:latin typeface="Segoe UI"/>
                <a:ea typeface="Segoe UI"/>
                <a:cs typeface="Segoe UI"/>
              </a:defRPr>
            </a:pPr>
            <a:r>
              <a:rPr sz="1650" b="1">
                <a:solidFill>
                  <a:srgbClr val="0B1F3A"/>
                </a:solidFill>
                <a:latin typeface="Segoe UI"/>
                <a:ea typeface="Segoe UI"/>
                <a:cs typeface="Segoe UI"/>
              </a:rPr>
              <a:t>Commercial</a:t>
            </a:r>
          </a:p>
        </p:txBody>
      </p:sp>
      <p:sp>
        <p:nvSpPr>
          <p:cNvPr id="11" name="Rectangle 10">
            <a:extLst>
              <a:ext uri="{FF2B5EF4-FFF2-40B4-BE49-F238E27FC236}">
                <a16:creationId xmlns:a16="http://schemas.microsoft.com/office/drawing/2014/main" id="{2122D34D-F82C-4940-9B91-08D35669F3E8}"/>
              </a:ext>
            </a:extLst>
          </p:cNvPr>
          <p:cNvSpPr>
            <a:spLocks noGrp="1"/>
          </p:cNvSpPr>
          <p:nvPr/>
        </p:nvSpPr>
        <p:spPr>
          <a:xfrm>
            <a:off x="581025" y="2800350"/>
            <a:ext cx="2400300" cy="485775"/>
          </a:xfrm>
          <a:prstGeom prst="rect">
            <a:avLst/>
          </a:prstGeom>
          <a:noFill/>
          <a:ln w="0">
            <a:noFill/>
          </a:ln>
        </p:spPr>
        <p:txBody>
          <a:bodyPr>
            <a:noAutofit/>
          </a:bodyPr>
          <a:lstStyle/>
          <a:p>
            <a:pPr>
              <a:defRPr sz="1350" b="0">
                <a:solidFill>
                  <a:srgbClr val="253E55"/>
                </a:solidFill>
                <a:latin typeface="Segoe UI"/>
                <a:ea typeface="Segoe UI"/>
                <a:cs typeface="Segoe UI"/>
              </a:defRPr>
            </a:pPr>
            <a:r>
              <a:rPr sz="1350" b="0">
                <a:solidFill>
                  <a:srgbClr val="253E55"/>
                </a:solidFill>
                <a:latin typeface="Segoe UI"/>
                <a:ea typeface="Segoe UI"/>
                <a:cs typeface="Segoe UI"/>
              </a:rPr>
              <a:t>Contracts / SOWs</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Notice and termination</a:t>
            </a:r>
          </a:p>
        </p:txBody>
      </p:sp>
      <p:sp>
        <p:nvSpPr>
          <p:cNvPr id="12" name="Arrow: Down 11">
            <a:extLst>
              <a:ext uri="{FF2B5EF4-FFF2-40B4-BE49-F238E27FC236}">
                <a16:creationId xmlns:a16="http://schemas.microsoft.com/office/drawing/2014/main" id="{735AF1DC-82B2-4A90-94D0-55BDFA831A6D}"/>
              </a:ext>
            </a:extLst>
          </p:cNvPr>
          <p:cNvSpPr>
            <a:spLocks noGrp="1"/>
          </p:cNvSpPr>
          <p:nvPr/>
        </p:nvSpPr>
        <p:spPr>
          <a:xfrm>
            <a:off x="4533900" y="2038350"/>
            <a:ext cx="190500" cy="228600"/>
          </a:xfrm>
          <a:prstGeom prst="downArrow">
            <a:avLst/>
          </a:prstGeom>
          <a:solidFill>
            <a:srgbClr val="00A6B2"/>
          </a:solidFill>
          <a:ln w="0">
            <a:noFill/>
          </a:ln>
        </p:spPr>
        <p:txBody>
          <a:bodyPr/>
          <a:lstStyle/>
          <a:p>
            <a:endParaRPr lang="en-US"/>
          </a:p>
        </p:txBody>
      </p:sp>
      <p:sp>
        <p:nvSpPr>
          <p:cNvPr id="13" name="Rectangle: Rounded Corners 12">
            <a:extLst>
              <a:ext uri="{FF2B5EF4-FFF2-40B4-BE49-F238E27FC236}">
                <a16:creationId xmlns:a16="http://schemas.microsoft.com/office/drawing/2014/main" id="{90CCA400-A6D2-4E14-BE52-3CFEB9209CAD}"/>
              </a:ext>
            </a:extLst>
          </p:cNvPr>
          <p:cNvSpPr>
            <a:spLocks noGrp="1"/>
          </p:cNvSpPr>
          <p:nvPr/>
        </p:nvSpPr>
        <p:spPr>
          <a:xfrm>
            <a:off x="3333750" y="2343150"/>
            <a:ext cx="2647950" cy="1028700"/>
          </a:xfrm>
          <a:prstGeom prst="roundRect">
            <a:avLst>
              <a:gd name="adj" fmla="val 5556"/>
            </a:avLst>
          </a:prstGeom>
          <a:solidFill>
            <a:srgbClr val="E4F6F7"/>
          </a:solidFill>
          <a:ln w="11906">
            <a:solidFill>
              <a:srgbClr val="00A6B2"/>
            </a:solidFill>
          </a:ln>
        </p:spPr>
        <p:txBody>
          <a:bodyPr/>
          <a:lstStyle/>
          <a:p>
            <a:endParaRPr lang="en-US"/>
          </a:p>
        </p:txBody>
      </p:sp>
      <p:sp>
        <p:nvSpPr>
          <p:cNvPr id="14" name="Rectangle 13">
            <a:extLst>
              <a:ext uri="{FF2B5EF4-FFF2-40B4-BE49-F238E27FC236}">
                <a16:creationId xmlns:a16="http://schemas.microsoft.com/office/drawing/2014/main" id="{59B7479B-9424-4D98-83B6-930358DEAA03}"/>
              </a:ext>
            </a:extLst>
          </p:cNvPr>
          <p:cNvSpPr>
            <a:spLocks noGrp="1"/>
          </p:cNvSpPr>
          <p:nvPr/>
        </p:nvSpPr>
        <p:spPr>
          <a:xfrm>
            <a:off x="3457575" y="2438400"/>
            <a:ext cx="2400300" cy="285750"/>
          </a:xfrm>
          <a:prstGeom prst="rect">
            <a:avLst/>
          </a:prstGeom>
          <a:noFill/>
          <a:ln w="0">
            <a:noFill/>
          </a:ln>
        </p:spPr>
        <p:txBody>
          <a:bodyPr>
            <a:noAutofit/>
          </a:bodyPr>
          <a:lstStyle/>
          <a:p>
            <a:pPr>
              <a:defRPr sz="1650" b="1">
                <a:solidFill>
                  <a:srgbClr val="0B1F3A"/>
                </a:solidFill>
                <a:latin typeface="Segoe UI"/>
                <a:ea typeface="Segoe UI"/>
                <a:cs typeface="Segoe UI"/>
              </a:defRPr>
            </a:pPr>
            <a:r>
              <a:rPr sz="1650" b="1">
                <a:solidFill>
                  <a:srgbClr val="0B1F3A"/>
                </a:solidFill>
                <a:latin typeface="Segoe UI"/>
                <a:ea typeface="Segoe UI"/>
                <a:cs typeface="Segoe UI"/>
              </a:rPr>
              <a:t>Financial</a:t>
            </a:r>
          </a:p>
        </p:txBody>
      </p:sp>
      <p:sp>
        <p:nvSpPr>
          <p:cNvPr id="15" name="Rectangle 14">
            <a:extLst>
              <a:ext uri="{FF2B5EF4-FFF2-40B4-BE49-F238E27FC236}">
                <a16:creationId xmlns:a16="http://schemas.microsoft.com/office/drawing/2014/main" id="{BA983A96-8CE9-4E6E-A68E-1FD72BCB9506}"/>
              </a:ext>
            </a:extLst>
          </p:cNvPr>
          <p:cNvSpPr>
            <a:spLocks noGrp="1"/>
          </p:cNvSpPr>
          <p:nvPr/>
        </p:nvSpPr>
        <p:spPr>
          <a:xfrm>
            <a:off x="3457575" y="2800350"/>
            <a:ext cx="2400300" cy="485775"/>
          </a:xfrm>
          <a:prstGeom prst="rect">
            <a:avLst/>
          </a:prstGeom>
          <a:noFill/>
          <a:ln w="0">
            <a:noFill/>
          </a:ln>
        </p:spPr>
        <p:txBody>
          <a:bodyPr>
            <a:noAutofit/>
          </a:bodyPr>
          <a:lstStyle/>
          <a:p>
            <a:pPr>
              <a:defRPr sz="1350" b="0">
                <a:solidFill>
                  <a:srgbClr val="253E55"/>
                </a:solidFill>
                <a:latin typeface="Segoe UI"/>
                <a:ea typeface="Segoe UI"/>
                <a:cs typeface="Segoe UI"/>
              </a:defRPr>
            </a:pPr>
            <a:r>
              <a:rPr sz="1350" b="0">
                <a:solidFill>
                  <a:srgbClr val="253E55"/>
                </a:solidFill>
                <a:latin typeface="Segoe UI"/>
                <a:ea typeface="Segoe UI"/>
                <a:cs typeface="Segoe UI"/>
              </a:rPr>
              <a:t>Spend / forecast</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Variance and scenario costs</a:t>
            </a:r>
          </a:p>
        </p:txBody>
      </p:sp>
      <p:sp>
        <p:nvSpPr>
          <p:cNvPr id="16" name="Arrow: Down 15">
            <a:extLst>
              <a:ext uri="{FF2B5EF4-FFF2-40B4-BE49-F238E27FC236}">
                <a16:creationId xmlns:a16="http://schemas.microsoft.com/office/drawing/2014/main" id="{D02E95D1-5980-4634-86F4-1824F95F5A83}"/>
              </a:ext>
            </a:extLst>
          </p:cNvPr>
          <p:cNvSpPr>
            <a:spLocks noGrp="1"/>
          </p:cNvSpPr>
          <p:nvPr/>
        </p:nvSpPr>
        <p:spPr>
          <a:xfrm>
            <a:off x="7410450" y="2038350"/>
            <a:ext cx="190500" cy="228600"/>
          </a:xfrm>
          <a:prstGeom prst="downArrow">
            <a:avLst/>
          </a:prstGeom>
          <a:solidFill>
            <a:srgbClr val="00A6B2"/>
          </a:solidFill>
          <a:ln w="0">
            <a:noFill/>
          </a:ln>
        </p:spPr>
        <p:txBody>
          <a:bodyPr/>
          <a:lstStyle/>
          <a:p>
            <a:endParaRPr lang="en-US"/>
          </a:p>
        </p:txBody>
      </p:sp>
      <p:sp>
        <p:nvSpPr>
          <p:cNvPr id="17" name="Rectangle: Rounded Corners 16">
            <a:extLst>
              <a:ext uri="{FF2B5EF4-FFF2-40B4-BE49-F238E27FC236}">
                <a16:creationId xmlns:a16="http://schemas.microsoft.com/office/drawing/2014/main" id="{C9382EFA-690D-490A-A3D3-61A42151F9FA}"/>
              </a:ext>
            </a:extLst>
          </p:cNvPr>
          <p:cNvSpPr>
            <a:spLocks noGrp="1"/>
          </p:cNvSpPr>
          <p:nvPr/>
        </p:nvSpPr>
        <p:spPr>
          <a:xfrm>
            <a:off x="6210300" y="2343150"/>
            <a:ext cx="2647950" cy="1028700"/>
          </a:xfrm>
          <a:prstGeom prst="roundRect">
            <a:avLst>
              <a:gd name="adj" fmla="val 5556"/>
            </a:avLst>
          </a:prstGeom>
          <a:solidFill>
            <a:srgbClr val="E4F6F7"/>
          </a:solidFill>
          <a:ln w="11906">
            <a:solidFill>
              <a:srgbClr val="00A6B2"/>
            </a:solidFill>
          </a:ln>
        </p:spPr>
        <p:txBody>
          <a:bodyPr/>
          <a:lstStyle/>
          <a:p>
            <a:endParaRPr lang="en-US"/>
          </a:p>
        </p:txBody>
      </p:sp>
      <p:sp>
        <p:nvSpPr>
          <p:cNvPr id="18" name="Rectangle 17">
            <a:extLst>
              <a:ext uri="{FF2B5EF4-FFF2-40B4-BE49-F238E27FC236}">
                <a16:creationId xmlns:a16="http://schemas.microsoft.com/office/drawing/2014/main" id="{8992CCEB-578E-44C1-9FCD-BC2D07BA4539}"/>
              </a:ext>
            </a:extLst>
          </p:cNvPr>
          <p:cNvSpPr>
            <a:spLocks noGrp="1"/>
          </p:cNvSpPr>
          <p:nvPr/>
        </p:nvSpPr>
        <p:spPr>
          <a:xfrm>
            <a:off x="6334125" y="2438400"/>
            <a:ext cx="2400300" cy="285750"/>
          </a:xfrm>
          <a:prstGeom prst="rect">
            <a:avLst/>
          </a:prstGeom>
          <a:noFill/>
          <a:ln w="0">
            <a:noFill/>
          </a:ln>
        </p:spPr>
        <p:txBody>
          <a:bodyPr>
            <a:noAutofit/>
          </a:bodyPr>
          <a:lstStyle/>
          <a:p>
            <a:pPr>
              <a:defRPr sz="1650" b="1">
                <a:solidFill>
                  <a:srgbClr val="0B1F3A"/>
                </a:solidFill>
                <a:latin typeface="Segoe UI"/>
                <a:ea typeface="Segoe UI"/>
                <a:cs typeface="Segoe UI"/>
              </a:defRPr>
            </a:pPr>
            <a:r>
              <a:rPr sz="1650" b="1">
                <a:solidFill>
                  <a:srgbClr val="0B1F3A"/>
                </a:solidFill>
                <a:latin typeface="Segoe UI"/>
                <a:ea typeface="Segoe UI"/>
                <a:cs typeface="Segoe UI"/>
              </a:rPr>
              <a:t>Dependency / risk</a:t>
            </a:r>
          </a:p>
        </p:txBody>
      </p:sp>
      <p:sp>
        <p:nvSpPr>
          <p:cNvPr id="19" name="Rectangle 18">
            <a:extLst>
              <a:ext uri="{FF2B5EF4-FFF2-40B4-BE49-F238E27FC236}">
                <a16:creationId xmlns:a16="http://schemas.microsoft.com/office/drawing/2014/main" id="{341D0FA0-BD4C-4785-ACF7-AAC993609493}"/>
              </a:ext>
            </a:extLst>
          </p:cNvPr>
          <p:cNvSpPr>
            <a:spLocks noGrp="1"/>
          </p:cNvSpPr>
          <p:nvPr/>
        </p:nvSpPr>
        <p:spPr>
          <a:xfrm>
            <a:off x="6334125" y="2800350"/>
            <a:ext cx="2400300" cy="485775"/>
          </a:xfrm>
          <a:prstGeom prst="rect">
            <a:avLst/>
          </a:prstGeom>
          <a:noFill/>
          <a:ln w="0">
            <a:noFill/>
          </a:ln>
        </p:spPr>
        <p:txBody>
          <a:bodyPr>
            <a:noAutofit/>
          </a:bodyPr>
          <a:lstStyle/>
          <a:p>
            <a:pPr>
              <a:defRPr sz="1350" b="0">
                <a:solidFill>
                  <a:srgbClr val="253E55"/>
                </a:solidFill>
                <a:latin typeface="Segoe UI"/>
                <a:ea typeface="Segoe UI"/>
                <a:cs typeface="Segoe UI"/>
              </a:defRPr>
            </a:pPr>
            <a:r>
              <a:rPr sz="1350" b="0">
                <a:solidFill>
                  <a:srgbClr val="253E55"/>
                </a:solidFill>
                <a:latin typeface="Segoe UI"/>
                <a:ea typeface="Segoe UI"/>
                <a:cs typeface="Segoe UI"/>
              </a:rPr>
              <a:t>Apps / workforce / products</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Concentration / TPRM / SLA</a:t>
            </a:r>
          </a:p>
        </p:txBody>
      </p:sp>
      <p:sp>
        <p:nvSpPr>
          <p:cNvPr id="20" name="Arrow: Down 19">
            <a:extLst>
              <a:ext uri="{FF2B5EF4-FFF2-40B4-BE49-F238E27FC236}">
                <a16:creationId xmlns:a16="http://schemas.microsoft.com/office/drawing/2014/main" id="{630461B7-57D6-4A42-BE28-3EE15C69BB91}"/>
              </a:ext>
            </a:extLst>
          </p:cNvPr>
          <p:cNvSpPr>
            <a:spLocks noGrp="1"/>
          </p:cNvSpPr>
          <p:nvPr/>
        </p:nvSpPr>
        <p:spPr>
          <a:xfrm>
            <a:off x="10287000" y="2038350"/>
            <a:ext cx="190500" cy="228600"/>
          </a:xfrm>
          <a:prstGeom prst="downArrow">
            <a:avLst/>
          </a:prstGeom>
          <a:solidFill>
            <a:srgbClr val="00A6B2"/>
          </a:solidFill>
          <a:ln w="0">
            <a:noFill/>
          </a:ln>
        </p:spPr>
        <p:txBody>
          <a:bodyPr/>
          <a:lstStyle/>
          <a:p>
            <a:endParaRPr lang="en-US"/>
          </a:p>
        </p:txBody>
      </p:sp>
      <p:sp>
        <p:nvSpPr>
          <p:cNvPr id="21" name="Rectangle: Rounded Corners 20">
            <a:extLst>
              <a:ext uri="{FF2B5EF4-FFF2-40B4-BE49-F238E27FC236}">
                <a16:creationId xmlns:a16="http://schemas.microsoft.com/office/drawing/2014/main" id="{BE33486F-6DA8-4D93-9DF2-91D41D603E9E}"/>
              </a:ext>
            </a:extLst>
          </p:cNvPr>
          <p:cNvSpPr>
            <a:spLocks noGrp="1"/>
          </p:cNvSpPr>
          <p:nvPr/>
        </p:nvSpPr>
        <p:spPr>
          <a:xfrm>
            <a:off x="9086850" y="2343150"/>
            <a:ext cx="2647950" cy="1028700"/>
          </a:xfrm>
          <a:prstGeom prst="roundRect">
            <a:avLst>
              <a:gd name="adj" fmla="val 5556"/>
            </a:avLst>
          </a:prstGeom>
          <a:solidFill>
            <a:srgbClr val="E4F6F7"/>
          </a:solidFill>
          <a:ln w="11906">
            <a:solidFill>
              <a:srgbClr val="00A6B2"/>
            </a:solidFill>
          </a:ln>
        </p:spPr>
        <p:txBody>
          <a:bodyPr/>
          <a:lstStyle/>
          <a:p>
            <a:endParaRPr lang="en-US"/>
          </a:p>
        </p:txBody>
      </p:sp>
      <p:sp>
        <p:nvSpPr>
          <p:cNvPr id="22" name="Rectangle 21">
            <a:extLst>
              <a:ext uri="{FF2B5EF4-FFF2-40B4-BE49-F238E27FC236}">
                <a16:creationId xmlns:a16="http://schemas.microsoft.com/office/drawing/2014/main" id="{06AAB4A0-55DD-488C-898B-4A8E489A4268}"/>
              </a:ext>
            </a:extLst>
          </p:cNvPr>
          <p:cNvSpPr>
            <a:spLocks noGrp="1"/>
          </p:cNvSpPr>
          <p:nvPr/>
        </p:nvSpPr>
        <p:spPr>
          <a:xfrm>
            <a:off x="9210675" y="2438400"/>
            <a:ext cx="2400300" cy="285750"/>
          </a:xfrm>
          <a:prstGeom prst="rect">
            <a:avLst/>
          </a:prstGeom>
          <a:noFill/>
          <a:ln w="0">
            <a:noFill/>
          </a:ln>
        </p:spPr>
        <p:txBody>
          <a:bodyPr>
            <a:noAutofit/>
          </a:bodyPr>
          <a:lstStyle/>
          <a:p>
            <a:pPr>
              <a:defRPr sz="1650" b="1">
                <a:solidFill>
                  <a:srgbClr val="0B1F3A"/>
                </a:solidFill>
                <a:latin typeface="Segoe UI"/>
                <a:ea typeface="Segoe UI"/>
                <a:cs typeface="Segoe UI"/>
              </a:defRPr>
            </a:pPr>
            <a:r>
              <a:rPr sz="1650" b="1">
                <a:solidFill>
                  <a:srgbClr val="0B1F3A"/>
                </a:solidFill>
                <a:latin typeface="Segoe UI"/>
                <a:ea typeface="Segoe UI"/>
                <a:cs typeface="Segoe UI"/>
              </a:rPr>
              <a:t>Sourcing</a:t>
            </a:r>
          </a:p>
        </p:txBody>
      </p:sp>
      <p:sp>
        <p:nvSpPr>
          <p:cNvPr id="23" name="Rectangle 22">
            <a:extLst>
              <a:ext uri="{FF2B5EF4-FFF2-40B4-BE49-F238E27FC236}">
                <a16:creationId xmlns:a16="http://schemas.microsoft.com/office/drawing/2014/main" id="{0094DA54-7774-4ACE-9444-325814B3DA95}"/>
              </a:ext>
            </a:extLst>
          </p:cNvPr>
          <p:cNvSpPr>
            <a:spLocks noGrp="1"/>
          </p:cNvSpPr>
          <p:nvPr/>
        </p:nvSpPr>
        <p:spPr>
          <a:xfrm>
            <a:off x="9210675" y="2800350"/>
            <a:ext cx="2400300" cy="485775"/>
          </a:xfrm>
          <a:prstGeom prst="rect">
            <a:avLst/>
          </a:prstGeom>
          <a:noFill/>
          <a:ln w="0">
            <a:noFill/>
          </a:ln>
        </p:spPr>
        <p:txBody>
          <a:bodyPr>
            <a:noAutofit/>
          </a:bodyPr>
          <a:lstStyle/>
          <a:p>
            <a:pPr>
              <a:defRPr sz="1350" b="0">
                <a:solidFill>
                  <a:srgbClr val="253E55"/>
                </a:solidFill>
                <a:latin typeface="Segoe UI"/>
                <a:ea typeface="Segoe UI"/>
                <a:cs typeface="Segoe UI"/>
              </a:defRPr>
            </a:pPr>
            <a:r>
              <a:rPr sz="1350" b="0">
                <a:solidFill>
                  <a:srgbClr val="253E55"/>
                </a:solidFill>
                <a:latin typeface="Segoe UI"/>
                <a:ea typeface="Segoe UI"/>
                <a:cs typeface="Segoe UI"/>
              </a:rPr>
              <a:t>Overlap and alternatives</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Capacity / transition checks</a:t>
            </a:r>
          </a:p>
        </p:txBody>
      </p:sp>
      <p:sp>
        <p:nvSpPr>
          <p:cNvPr id="24" name="Rectangle: Rounded Corners 23">
            <a:extLst>
              <a:ext uri="{FF2B5EF4-FFF2-40B4-BE49-F238E27FC236}">
                <a16:creationId xmlns:a16="http://schemas.microsoft.com/office/drawing/2014/main" id="{369CAD27-992B-4849-A6A2-A50DF3F8B22E}"/>
              </a:ext>
            </a:extLst>
          </p:cNvPr>
          <p:cNvSpPr>
            <a:spLocks noGrp="1"/>
          </p:cNvSpPr>
          <p:nvPr/>
        </p:nvSpPr>
        <p:spPr>
          <a:xfrm>
            <a:off x="457200" y="3657600"/>
            <a:ext cx="11277600" cy="571500"/>
          </a:xfrm>
          <a:prstGeom prst="roundRect">
            <a:avLst>
              <a:gd name="adj" fmla="val 10000"/>
            </a:avLst>
          </a:prstGeom>
          <a:solidFill>
            <a:srgbClr val="FFFFFF"/>
          </a:solidFill>
          <a:ln w="11906">
            <a:solidFill>
              <a:srgbClr val="B8C7D9"/>
            </a:solidFill>
          </a:ln>
        </p:spPr>
        <p:txBody>
          <a:bodyPr/>
          <a:lstStyle/>
          <a:p>
            <a:endParaRPr lang="en-US"/>
          </a:p>
        </p:txBody>
      </p:sp>
      <p:sp>
        <p:nvSpPr>
          <p:cNvPr id="25" name="Rectangle 24">
            <a:extLst>
              <a:ext uri="{FF2B5EF4-FFF2-40B4-BE49-F238E27FC236}">
                <a16:creationId xmlns:a16="http://schemas.microsoft.com/office/drawing/2014/main" id="{C9E95830-0279-4F2E-8A56-C9953D8E5C14}"/>
              </a:ext>
            </a:extLst>
          </p:cNvPr>
          <p:cNvSpPr>
            <a:spLocks noGrp="1"/>
          </p:cNvSpPr>
          <p:nvPr/>
        </p:nvSpPr>
        <p:spPr>
          <a:xfrm>
            <a:off x="581025" y="3752850"/>
            <a:ext cx="11029950" cy="209550"/>
          </a:xfrm>
          <a:prstGeom prst="rect">
            <a:avLst/>
          </a:prstGeom>
          <a:noFill/>
          <a:ln w="0">
            <a:noFill/>
          </a:ln>
        </p:spPr>
        <p:txBody>
          <a:bodyPr>
            <a:noAutofit/>
          </a:bodyPr>
          <a:lstStyle/>
          <a:p>
            <a:pPr>
              <a:defRPr sz="1650" b="1">
                <a:solidFill>
                  <a:srgbClr val="0B1F3A"/>
                </a:solidFill>
                <a:latin typeface="Segoe UI"/>
                <a:ea typeface="Segoe UI"/>
                <a:cs typeface="Segoe UI"/>
              </a:defRPr>
            </a:pPr>
            <a:r>
              <a:rPr sz="1650" b="1">
                <a:solidFill>
                  <a:srgbClr val="0B1F3A"/>
                </a:solidFill>
                <a:latin typeface="Segoe UI"/>
                <a:ea typeface="Segoe UI"/>
                <a:cs typeface="Segoe UI"/>
              </a:rPr>
              <a:t>Typed tool gateway + approved prompt / shared-skill registry</a:t>
            </a:r>
          </a:p>
        </p:txBody>
      </p:sp>
      <p:sp>
        <p:nvSpPr>
          <p:cNvPr id="26" name="Rectangle 25">
            <a:extLst>
              <a:ext uri="{FF2B5EF4-FFF2-40B4-BE49-F238E27FC236}">
                <a16:creationId xmlns:a16="http://schemas.microsoft.com/office/drawing/2014/main" id="{CF210D4B-A301-4701-919C-E36F9225E1BB}"/>
              </a:ext>
            </a:extLst>
          </p:cNvPr>
          <p:cNvSpPr>
            <a:spLocks noGrp="1"/>
          </p:cNvSpPr>
          <p:nvPr/>
        </p:nvSpPr>
        <p:spPr>
          <a:xfrm>
            <a:off x="581025" y="3981450"/>
            <a:ext cx="11029950" cy="161925"/>
          </a:xfrm>
          <a:prstGeom prst="rect">
            <a:avLst/>
          </a:prstGeom>
          <a:noFill/>
          <a:ln w="0">
            <a:noFill/>
          </a:ln>
        </p:spPr>
        <p:txBody>
          <a:bodyPr>
            <a:noAutofit/>
          </a:bodyPr>
          <a:lstStyle/>
          <a:p>
            <a:pPr>
              <a:defRPr sz="1350" b="0">
                <a:solidFill>
                  <a:srgbClr val="253E55"/>
                </a:solidFill>
                <a:latin typeface="Segoe UI"/>
                <a:ea typeface="Segoe UI"/>
                <a:cs typeface="Segoe UI"/>
              </a:defRPr>
            </a:pPr>
            <a:r>
              <a:rPr sz="1350" b="0">
                <a:solidFill>
                  <a:srgbClr val="253E55"/>
                </a:solidFill>
                <a:latin typeface="Segoe UI"/>
                <a:ea typeface="Segoe UI"/>
                <a:cs typeface="Segoe UI"/>
              </a:rPr>
              <a:t>SQL metrics / graph traversal / document retrieval / temporal comparison / deterministic scenarios</a:t>
            </a:r>
          </a:p>
        </p:txBody>
      </p:sp>
      <p:sp>
        <p:nvSpPr>
          <p:cNvPr id="27" name="Arrow: Down 26">
            <a:extLst>
              <a:ext uri="{FF2B5EF4-FFF2-40B4-BE49-F238E27FC236}">
                <a16:creationId xmlns:a16="http://schemas.microsoft.com/office/drawing/2014/main" id="{BC63F5B9-DE00-4D03-B8C9-5BED12FC121E}"/>
              </a:ext>
            </a:extLst>
          </p:cNvPr>
          <p:cNvSpPr>
            <a:spLocks noGrp="1"/>
          </p:cNvSpPr>
          <p:nvPr/>
        </p:nvSpPr>
        <p:spPr>
          <a:xfrm>
            <a:off x="5943600" y="4295775"/>
            <a:ext cx="190500" cy="209550"/>
          </a:xfrm>
          <a:prstGeom prst="downArrow">
            <a:avLst/>
          </a:prstGeom>
          <a:solidFill>
            <a:srgbClr val="00A6B2"/>
          </a:solidFill>
          <a:ln w="0">
            <a:noFill/>
          </a:ln>
        </p:spPr>
        <p:txBody>
          <a:bodyPr/>
          <a:lstStyle/>
          <a:p>
            <a:endParaRPr lang="en-US"/>
          </a:p>
        </p:txBody>
      </p:sp>
      <p:sp>
        <p:nvSpPr>
          <p:cNvPr id="28" name="Rectangle: Rounded Corners 27">
            <a:extLst>
              <a:ext uri="{FF2B5EF4-FFF2-40B4-BE49-F238E27FC236}">
                <a16:creationId xmlns:a16="http://schemas.microsoft.com/office/drawing/2014/main" id="{E4718956-3E7C-46D2-89AE-7FDBB2F7ECC4}"/>
              </a:ext>
            </a:extLst>
          </p:cNvPr>
          <p:cNvSpPr>
            <a:spLocks noGrp="1"/>
          </p:cNvSpPr>
          <p:nvPr/>
        </p:nvSpPr>
        <p:spPr>
          <a:xfrm>
            <a:off x="457200" y="4591050"/>
            <a:ext cx="7200900" cy="990600"/>
          </a:xfrm>
          <a:prstGeom prst="roundRect">
            <a:avLst>
              <a:gd name="adj" fmla="val 5769"/>
            </a:avLst>
          </a:prstGeom>
          <a:solidFill>
            <a:srgbClr val="FFFFFF"/>
          </a:solidFill>
          <a:ln w="11906">
            <a:solidFill>
              <a:srgbClr val="B8C7D9"/>
            </a:solidFill>
          </a:ln>
        </p:spPr>
        <p:txBody>
          <a:bodyPr/>
          <a:lstStyle/>
          <a:p>
            <a:endParaRPr lang="en-US"/>
          </a:p>
        </p:txBody>
      </p:sp>
      <p:sp>
        <p:nvSpPr>
          <p:cNvPr id="29" name="Rectangle 28">
            <a:extLst>
              <a:ext uri="{FF2B5EF4-FFF2-40B4-BE49-F238E27FC236}">
                <a16:creationId xmlns:a16="http://schemas.microsoft.com/office/drawing/2014/main" id="{7050C508-526A-4BFD-9615-679A0E2717AE}"/>
              </a:ext>
            </a:extLst>
          </p:cNvPr>
          <p:cNvSpPr>
            <a:spLocks noGrp="1"/>
          </p:cNvSpPr>
          <p:nvPr/>
        </p:nvSpPr>
        <p:spPr>
          <a:xfrm>
            <a:off x="581025" y="4686300"/>
            <a:ext cx="6953250" cy="285750"/>
          </a:xfrm>
          <a:prstGeom prst="rect">
            <a:avLst/>
          </a:prstGeom>
          <a:noFill/>
          <a:ln w="0">
            <a:noFill/>
          </a:ln>
        </p:spPr>
        <p:txBody>
          <a:bodyPr>
            <a:noAutofit/>
          </a:bodyPr>
          <a:lstStyle/>
          <a:p>
            <a:pPr>
              <a:defRPr sz="1650" b="1">
                <a:solidFill>
                  <a:srgbClr val="0B1F3A"/>
                </a:solidFill>
                <a:latin typeface="Segoe UI"/>
                <a:ea typeface="Segoe UI"/>
                <a:cs typeface="Segoe UI"/>
              </a:defRPr>
            </a:pPr>
            <a:r>
              <a:rPr sz="1650" b="1">
                <a:solidFill>
                  <a:srgbClr val="0B1F3A"/>
                </a:solidFill>
                <a:latin typeface="Segoe UI"/>
                <a:ea typeface="Segoe UI"/>
                <a:cs typeface="Segoe UI"/>
              </a:rPr>
              <a:t>Evidence validation and explanation</a:t>
            </a:r>
          </a:p>
        </p:txBody>
      </p:sp>
      <p:sp>
        <p:nvSpPr>
          <p:cNvPr id="30" name="Rectangle 29">
            <a:extLst>
              <a:ext uri="{FF2B5EF4-FFF2-40B4-BE49-F238E27FC236}">
                <a16:creationId xmlns:a16="http://schemas.microsoft.com/office/drawing/2014/main" id="{49CF3BE0-6EE2-400A-AC9E-D3847C79FEF3}"/>
              </a:ext>
            </a:extLst>
          </p:cNvPr>
          <p:cNvSpPr>
            <a:spLocks noGrp="1"/>
          </p:cNvSpPr>
          <p:nvPr/>
        </p:nvSpPr>
        <p:spPr>
          <a:xfrm>
            <a:off x="581025" y="5048250"/>
            <a:ext cx="6953250" cy="447675"/>
          </a:xfrm>
          <a:prstGeom prst="rect">
            <a:avLst/>
          </a:prstGeom>
          <a:noFill/>
          <a:ln w="0">
            <a:noFill/>
          </a:ln>
        </p:spPr>
        <p:txBody>
          <a:bodyPr>
            <a:noAutofit/>
          </a:bodyPr>
          <a:lstStyle/>
          <a:p>
            <a:pPr>
              <a:defRPr sz="1350" b="0">
                <a:solidFill>
                  <a:srgbClr val="253E55"/>
                </a:solidFill>
                <a:latin typeface="Segoe UI"/>
                <a:ea typeface="Segoe UI"/>
                <a:cs typeface="Segoe UI"/>
              </a:defRPr>
            </a:pPr>
            <a:r>
              <a:rPr sz="1350" b="0">
                <a:solidFill>
                  <a:srgbClr val="253E55"/>
                </a:solidFill>
                <a:latin typeface="Segoe UI"/>
                <a:ea typeface="Segoe UI"/>
                <a:cs typeface="Segoe UI"/>
              </a:rPr>
              <a:t>Scope / reconciliation / freshness / conflicts / citation access</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Facts, calculations, inferences and recommendations labelled</a:t>
            </a:r>
          </a:p>
        </p:txBody>
      </p:sp>
      <p:sp>
        <p:nvSpPr>
          <p:cNvPr id="31" name="Rectangle: Rounded Corners 30">
            <a:extLst>
              <a:ext uri="{FF2B5EF4-FFF2-40B4-BE49-F238E27FC236}">
                <a16:creationId xmlns:a16="http://schemas.microsoft.com/office/drawing/2014/main" id="{429BE580-2926-4F13-A401-8ADD24BAD941}"/>
              </a:ext>
            </a:extLst>
          </p:cNvPr>
          <p:cNvSpPr>
            <a:spLocks noGrp="1"/>
          </p:cNvSpPr>
          <p:nvPr/>
        </p:nvSpPr>
        <p:spPr>
          <a:xfrm>
            <a:off x="7962900" y="4591050"/>
            <a:ext cx="3771900" cy="990600"/>
          </a:xfrm>
          <a:prstGeom prst="roundRect">
            <a:avLst>
              <a:gd name="adj" fmla="val 5769"/>
            </a:avLst>
          </a:prstGeom>
          <a:solidFill>
            <a:srgbClr val="E4F6F7"/>
          </a:solidFill>
          <a:ln w="11906">
            <a:solidFill>
              <a:srgbClr val="B8C7D9"/>
            </a:solidFill>
          </a:ln>
        </p:spPr>
        <p:txBody>
          <a:bodyPr/>
          <a:lstStyle/>
          <a:p>
            <a:endParaRPr lang="en-US"/>
          </a:p>
        </p:txBody>
      </p:sp>
      <p:sp>
        <p:nvSpPr>
          <p:cNvPr id="32" name="Rectangle 31">
            <a:extLst>
              <a:ext uri="{FF2B5EF4-FFF2-40B4-BE49-F238E27FC236}">
                <a16:creationId xmlns:a16="http://schemas.microsoft.com/office/drawing/2014/main" id="{F04280B8-8379-4AF4-9D2D-9C875A3390E1}"/>
              </a:ext>
            </a:extLst>
          </p:cNvPr>
          <p:cNvSpPr>
            <a:spLocks noGrp="1"/>
          </p:cNvSpPr>
          <p:nvPr/>
        </p:nvSpPr>
        <p:spPr>
          <a:xfrm>
            <a:off x="8086725" y="4686300"/>
            <a:ext cx="3524250" cy="285750"/>
          </a:xfrm>
          <a:prstGeom prst="rect">
            <a:avLst/>
          </a:prstGeom>
          <a:noFill/>
          <a:ln w="0">
            <a:noFill/>
          </a:ln>
        </p:spPr>
        <p:txBody>
          <a:bodyPr>
            <a:noAutofit/>
          </a:bodyPr>
          <a:lstStyle/>
          <a:p>
            <a:pPr>
              <a:defRPr sz="1575" b="1">
                <a:solidFill>
                  <a:srgbClr val="0B1F3A"/>
                </a:solidFill>
                <a:latin typeface="Segoe UI"/>
                <a:ea typeface="Segoe UI"/>
                <a:cs typeface="Segoe UI"/>
              </a:defRPr>
            </a:pPr>
            <a:r>
              <a:rPr sz="1575" b="1">
                <a:solidFill>
                  <a:srgbClr val="0B1F3A"/>
                </a:solidFill>
                <a:latin typeface="Segoe UI"/>
                <a:ea typeface="Segoe UI"/>
                <a:cs typeface="Segoe UI"/>
              </a:rPr>
              <a:t>Durable investigation state</a:t>
            </a:r>
          </a:p>
        </p:txBody>
      </p:sp>
      <p:sp>
        <p:nvSpPr>
          <p:cNvPr id="33" name="Rectangle 32">
            <a:extLst>
              <a:ext uri="{FF2B5EF4-FFF2-40B4-BE49-F238E27FC236}">
                <a16:creationId xmlns:a16="http://schemas.microsoft.com/office/drawing/2014/main" id="{0A0AA04A-FB8E-4AA7-86BC-EB1E1BD9707A}"/>
              </a:ext>
            </a:extLst>
          </p:cNvPr>
          <p:cNvSpPr>
            <a:spLocks noGrp="1"/>
          </p:cNvSpPr>
          <p:nvPr/>
        </p:nvSpPr>
        <p:spPr>
          <a:xfrm>
            <a:off x="8086725" y="5048250"/>
            <a:ext cx="3524250" cy="447675"/>
          </a:xfrm>
          <a:prstGeom prst="rect">
            <a:avLst/>
          </a:prstGeom>
          <a:noFill/>
          <a:ln w="0">
            <a:noFill/>
          </a:ln>
        </p:spPr>
        <p:txBody>
          <a:bodyPr>
            <a:noAutofit/>
          </a:bodyPr>
          <a:lstStyle/>
          <a:p>
            <a:pPr>
              <a:defRPr sz="1350" b="0">
                <a:solidFill>
                  <a:srgbClr val="253E55"/>
                </a:solidFill>
                <a:latin typeface="Segoe UI"/>
                <a:ea typeface="Segoe UI"/>
                <a:cs typeface="Segoe UI"/>
              </a:defRPr>
            </a:pPr>
            <a:r>
              <a:rPr sz="1350" b="0">
                <a:solidFill>
                  <a:srgbClr val="253E55"/>
                </a:solidFill>
                <a:latin typeface="Segoe UI"/>
                <a:ea typeface="Segoe UI"/>
                <a:cs typeface="Segoe UI"/>
              </a:rPr>
              <a:t>Baseline / findings / tool versions</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Checkpoint and pending reviews</a:t>
            </a:r>
          </a:p>
        </p:txBody>
      </p:sp>
      <p:sp>
        <p:nvSpPr>
          <p:cNvPr id="34" name="Rectangle: Rounded Corners 33">
            <a:extLst>
              <a:ext uri="{FF2B5EF4-FFF2-40B4-BE49-F238E27FC236}">
                <a16:creationId xmlns:a16="http://schemas.microsoft.com/office/drawing/2014/main" id="{531D7907-134E-4384-B16D-4BA70C2E8760}"/>
              </a:ext>
            </a:extLst>
          </p:cNvPr>
          <p:cNvSpPr>
            <a:spLocks noGrp="1"/>
          </p:cNvSpPr>
          <p:nvPr/>
        </p:nvSpPr>
        <p:spPr>
          <a:xfrm>
            <a:off x="457200" y="5962650"/>
            <a:ext cx="11277600" cy="409575"/>
          </a:xfrm>
          <a:prstGeom prst="roundRect">
            <a:avLst>
              <a:gd name="adj" fmla="val 13953"/>
            </a:avLst>
          </a:prstGeom>
          <a:solidFill>
            <a:srgbClr val="0B1F3A"/>
          </a:solidFill>
          <a:ln w="11906">
            <a:solidFill>
              <a:srgbClr val="0B1F3A"/>
            </a:solidFill>
          </a:ln>
        </p:spPr>
        <p:txBody>
          <a:bodyPr/>
          <a:lstStyle/>
          <a:p>
            <a:endParaRPr lang="en-US"/>
          </a:p>
        </p:txBody>
      </p:sp>
      <p:sp>
        <p:nvSpPr>
          <p:cNvPr id="35" name="Rectangle 34">
            <a:extLst>
              <a:ext uri="{FF2B5EF4-FFF2-40B4-BE49-F238E27FC236}">
                <a16:creationId xmlns:a16="http://schemas.microsoft.com/office/drawing/2014/main" id="{7A1986F4-EE3D-43D0-9A2D-8A1A709A6E28}"/>
              </a:ext>
            </a:extLst>
          </p:cNvPr>
          <p:cNvSpPr>
            <a:spLocks noGrp="1"/>
          </p:cNvSpPr>
          <p:nvPr/>
        </p:nvSpPr>
        <p:spPr>
          <a:xfrm>
            <a:off x="581025" y="6057900"/>
            <a:ext cx="11029950" cy="266700"/>
          </a:xfrm>
          <a:prstGeom prst="rect">
            <a:avLst/>
          </a:prstGeom>
          <a:noFill/>
          <a:ln w="0">
            <a:noFill/>
          </a:ln>
        </p:spPr>
        <p:txBody>
          <a:bodyPr>
            <a:noAutofit/>
          </a:bodyPr>
          <a:lstStyle/>
          <a:p>
            <a:pPr>
              <a:defRPr sz="1200" b="1">
                <a:solidFill>
                  <a:srgbClr val="FFFFFF"/>
                </a:solidFill>
                <a:latin typeface="Segoe UI"/>
                <a:ea typeface="Segoe UI"/>
                <a:cs typeface="Segoe UI"/>
              </a:defRPr>
            </a:pPr>
            <a:r>
              <a:rPr sz="1200" b="1">
                <a:solidFill>
                  <a:srgbClr val="FFFFFF"/>
                </a:solidFill>
                <a:latin typeface="Segoe UI"/>
                <a:ea typeface="Segoe UI"/>
                <a:cs typeface="Segoe UI"/>
              </a:rPr>
              <a:t>Simple queries bypass agents. Specialist tool calls stay within the user’s scope. LLM gateway, budgets and audit span every agent.</a:t>
            </a:r>
          </a:p>
        </p:txBody>
      </p:sp>
    </p:spTree>
    <p:extLst>
      <p:ext uri="{BB962C8B-B14F-4D97-AF65-F5344CB8AC3E}">
        <p14:creationId xmlns:p14="http://schemas.microsoft.com/office/powerpoint/2010/main" val="19402461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FAA1F92F-4D3B-4DB1-81B6-8021EB618073}"/>
              </a:ext>
            </a:extLst>
          </p:cNvPr>
          <p:cNvSpPr>
            <a:spLocks noGrp="1"/>
          </p:cNvSpPr>
          <p:nvPr/>
        </p:nvSpPr>
        <p:spPr>
          <a:xfrm>
            <a:off x="0" y="0"/>
            <a:ext cx="12192000" cy="95250"/>
          </a:xfrm>
          <a:prstGeom prst="rect">
            <a:avLst/>
          </a:prstGeom>
          <a:solidFill>
            <a:srgbClr val="0B1F3A"/>
          </a:solidFill>
          <a:ln w="11906">
            <a:solidFill>
              <a:srgbClr val="0B1F3A"/>
            </a:solidFill>
          </a:ln>
        </p:spPr>
        <p:txBody>
          <a:bodyPr/>
          <a:lstStyle/>
          <a:p>
            <a:endParaRPr lang="en-US"/>
          </a:p>
        </p:txBody>
      </p:sp>
      <p:sp>
        <p:nvSpPr>
          <p:cNvPr id="2" name="Rectangle 1">
            <a:extLst>
              <a:ext uri="{FF2B5EF4-FFF2-40B4-BE49-F238E27FC236}">
                <a16:creationId xmlns:a16="http://schemas.microsoft.com/office/drawing/2014/main" id="{469B928D-880D-40D6-B7E9-85DC00989555}"/>
              </a:ext>
            </a:extLst>
          </p:cNvPr>
          <p:cNvSpPr>
            <a:spLocks noGrp="1"/>
          </p:cNvSpPr>
          <p:nvPr/>
        </p:nvSpPr>
        <p:spPr>
          <a:xfrm>
            <a:off x="457200" y="352425"/>
            <a:ext cx="11239500" cy="504825"/>
          </a:xfrm>
          <a:prstGeom prst="rect">
            <a:avLst/>
          </a:prstGeom>
          <a:noFill/>
          <a:ln w="0">
            <a:noFill/>
          </a:ln>
        </p:spPr>
        <p:txBody>
          <a:bodyPr>
            <a:noAutofit/>
          </a:bodyPr>
          <a:lstStyle/>
          <a:p>
            <a:pPr>
              <a:defRPr sz="2550" b="1">
                <a:solidFill>
                  <a:srgbClr val="0B1F3A"/>
                </a:solidFill>
                <a:latin typeface="Segoe UI"/>
                <a:ea typeface="Segoe UI"/>
                <a:cs typeface="Segoe UI"/>
              </a:defRPr>
            </a:pPr>
            <a:r>
              <a:rPr sz="2550" b="1">
                <a:solidFill>
                  <a:srgbClr val="0B1F3A"/>
                </a:solidFill>
                <a:latin typeface="Segoe UI"/>
                <a:ea typeface="Segoe UI"/>
                <a:cs typeface="Segoe UI"/>
              </a:rPr>
              <a:t>Scenario engine and human review: calculate, validate, decide</a:t>
            </a:r>
          </a:p>
        </p:txBody>
      </p:sp>
      <p:sp>
        <p:nvSpPr>
          <p:cNvPr id="3" name="Rectangle 2">
            <a:extLst>
              <a:ext uri="{FF2B5EF4-FFF2-40B4-BE49-F238E27FC236}">
                <a16:creationId xmlns:a16="http://schemas.microsoft.com/office/drawing/2014/main" id="{7CE4FD27-21B7-4C28-838B-832CDAE7BD2C}"/>
              </a:ext>
            </a:extLst>
          </p:cNvPr>
          <p:cNvSpPr>
            <a:spLocks noGrp="1"/>
          </p:cNvSpPr>
          <p:nvPr/>
        </p:nvSpPr>
        <p:spPr>
          <a:xfrm>
            <a:off x="466725" y="885825"/>
            <a:ext cx="11239500" cy="409575"/>
          </a:xfrm>
          <a:prstGeom prst="rect">
            <a:avLst/>
          </a:prstGeom>
          <a:noFill/>
          <a:ln w="0">
            <a:noFill/>
          </a:ln>
        </p:spPr>
        <p:txBody>
          <a:bodyPr>
            <a:noAutofit/>
          </a:bodyPr>
          <a:lstStyle/>
          <a:p>
            <a:pPr>
              <a:defRPr sz="1350" b="0">
                <a:solidFill>
                  <a:srgbClr val="46586C"/>
                </a:solidFill>
                <a:latin typeface="Segoe UI"/>
                <a:ea typeface="Segoe UI"/>
                <a:cs typeface="Segoe UI"/>
              </a:defRPr>
            </a:pPr>
            <a:r>
              <a:rPr sz="1350" b="0">
                <a:solidFill>
                  <a:srgbClr val="46586C"/>
                </a:solidFill>
                <a:latin typeface="Segoe UI"/>
                <a:ea typeface="Segoe UI"/>
                <a:cs typeface="Segoe UI"/>
              </a:rPr>
              <a:t>A scenario changes a proposed overlay. Review gates preserve accountable decisions and the original baseline.</a:t>
            </a:r>
          </a:p>
        </p:txBody>
      </p:sp>
      <p:sp>
        <p:nvSpPr>
          <p:cNvPr id="4" name="Rectangle 3">
            <a:extLst>
              <a:ext uri="{FF2B5EF4-FFF2-40B4-BE49-F238E27FC236}">
                <a16:creationId xmlns:a16="http://schemas.microsoft.com/office/drawing/2014/main" id="{0E39D805-C88E-49D9-9D5A-A7262507532C}"/>
              </a:ext>
            </a:extLst>
          </p:cNvPr>
          <p:cNvSpPr>
            <a:spLocks noGrp="1"/>
          </p:cNvSpPr>
          <p:nvPr/>
        </p:nvSpPr>
        <p:spPr>
          <a:xfrm>
            <a:off x="457200" y="6562725"/>
            <a:ext cx="9906000" cy="200025"/>
          </a:xfrm>
          <a:prstGeom prst="rect">
            <a:avLst/>
          </a:prstGeom>
          <a:noFill/>
          <a:ln w="0">
            <a:noFill/>
          </a:ln>
        </p:spPr>
        <p:txBody>
          <a:bodyPr>
            <a:noAutofit/>
          </a:bodyPr>
          <a:lstStyle/>
          <a:p>
            <a:pPr>
              <a:defRPr sz="900" b="0">
                <a:solidFill>
                  <a:srgbClr val="46586C"/>
                </a:solidFill>
                <a:latin typeface="Segoe UI"/>
                <a:ea typeface="Segoe UI"/>
                <a:cs typeface="Segoe UI"/>
              </a:defRPr>
            </a:pPr>
            <a:r>
              <a:rPr sz="900" b="0">
                <a:solidFill>
                  <a:srgbClr val="46586C"/>
                </a:solidFill>
                <a:latin typeface="Segoe UI"/>
                <a:ea typeface="Segoe UI"/>
                <a:cs typeface="Segoe UI"/>
              </a:rPr>
              <a:t>CITI VENDOR DECISION INTELLIGENCE  /  PROPOSED SOLUTION</a:t>
            </a:r>
          </a:p>
        </p:txBody>
      </p:sp>
      <p:sp>
        <p:nvSpPr>
          <p:cNvPr id="5" name="Rectangle 4">
            <a:extLst>
              <a:ext uri="{FF2B5EF4-FFF2-40B4-BE49-F238E27FC236}">
                <a16:creationId xmlns:a16="http://schemas.microsoft.com/office/drawing/2014/main" id="{F0CA8381-3534-432E-8BF1-3440D3B1C64B}"/>
              </a:ext>
            </a:extLst>
          </p:cNvPr>
          <p:cNvSpPr>
            <a:spLocks noGrp="1"/>
          </p:cNvSpPr>
          <p:nvPr/>
        </p:nvSpPr>
        <p:spPr>
          <a:xfrm>
            <a:off x="11391900" y="6562725"/>
            <a:ext cx="323850" cy="190500"/>
          </a:xfrm>
          <a:prstGeom prst="rect">
            <a:avLst/>
          </a:prstGeom>
          <a:noFill/>
          <a:ln w="0">
            <a:noFill/>
          </a:ln>
        </p:spPr>
        <p:txBody>
          <a:bodyPr>
            <a:noAutofit/>
          </a:bodyPr>
          <a:lstStyle/>
          <a:p>
            <a:pPr>
              <a:defRPr sz="900" b="1">
                <a:solidFill>
                  <a:srgbClr val="0B1F3A"/>
                </a:solidFill>
                <a:latin typeface="Segoe UI"/>
                <a:ea typeface="Segoe UI"/>
                <a:cs typeface="Segoe UI"/>
              </a:defRPr>
            </a:pPr>
            <a:r>
              <a:rPr sz="900" b="1">
                <a:solidFill>
                  <a:srgbClr val="0B1F3A"/>
                </a:solidFill>
                <a:latin typeface="Segoe UI"/>
                <a:ea typeface="Segoe UI"/>
                <a:cs typeface="Segoe UI"/>
              </a:rPr>
              <a:t>06</a:t>
            </a:r>
          </a:p>
        </p:txBody>
      </p:sp>
      <p:sp>
        <p:nvSpPr>
          <p:cNvPr id="6" name="Rectangle: Rounded Corners 5">
            <a:extLst>
              <a:ext uri="{FF2B5EF4-FFF2-40B4-BE49-F238E27FC236}">
                <a16:creationId xmlns:a16="http://schemas.microsoft.com/office/drawing/2014/main" id="{0A1D90B1-0DB2-4905-8331-19E7BE7951D0}"/>
              </a:ext>
            </a:extLst>
          </p:cNvPr>
          <p:cNvSpPr>
            <a:spLocks noGrp="1"/>
          </p:cNvSpPr>
          <p:nvPr/>
        </p:nvSpPr>
        <p:spPr>
          <a:xfrm>
            <a:off x="457200" y="1447800"/>
            <a:ext cx="3619500" cy="1647825"/>
          </a:xfrm>
          <a:prstGeom prst="roundRect">
            <a:avLst>
              <a:gd name="adj" fmla="val 3468"/>
            </a:avLst>
          </a:prstGeom>
          <a:solidFill>
            <a:srgbClr val="FFFFFF"/>
          </a:solidFill>
          <a:ln w="11906">
            <a:solidFill>
              <a:srgbClr val="B8C7D9"/>
            </a:solidFill>
          </a:ln>
        </p:spPr>
        <p:txBody>
          <a:bodyPr/>
          <a:lstStyle/>
          <a:p>
            <a:endParaRPr lang="en-US"/>
          </a:p>
        </p:txBody>
      </p:sp>
      <p:sp>
        <p:nvSpPr>
          <p:cNvPr id="7" name="Rectangle 6">
            <a:extLst>
              <a:ext uri="{FF2B5EF4-FFF2-40B4-BE49-F238E27FC236}">
                <a16:creationId xmlns:a16="http://schemas.microsoft.com/office/drawing/2014/main" id="{61E0C9B5-7685-4685-8CEF-E0CD46CDE55B}"/>
              </a:ext>
            </a:extLst>
          </p:cNvPr>
          <p:cNvSpPr>
            <a:spLocks noGrp="1"/>
          </p:cNvSpPr>
          <p:nvPr/>
        </p:nvSpPr>
        <p:spPr>
          <a:xfrm>
            <a:off x="581025" y="1543050"/>
            <a:ext cx="3371850" cy="285750"/>
          </a:xfrm>
          <a:prstGeom prst="rect">
            <a:avLst/>
          </a:prstGeom>
          <a:noFill/>
          <a:ln w="0">
            <a:noFill/>
          </a:ln>
        </p:spPr>
        <p:txBody>
          <a:bodyPr>
            <a:noAutofit/>
          </a:bodyPr>
          <a:lstStyle/>
          <a:p>
            <a:pPr>
              <a:defRPr sz="1650" b="1">
                <a:solidFill>
                  <a:srgbClr val="0B1F3A"/>
                </a:solidFill>
                <a:latin typeface="Segoe UI"/>
                <a:ea typeface="Segoe UI"/>
                <a:cs typeface="Segoe UI"/>
              </a:defRPr>
            </a:pPr>
            <a:r>
              <a:rPr sz="1650" b="1">
                <a:solidFill>
                  <a:srgbClr val="0B1F3A"/>
                </a:solidFill>
                <a:latin typeface="Segoe UI"/>
                <a:ea typeface="Segoe UI"/>
                <a:cs typeface="Segoe UI"/>
              </a:rPr>
              <a:t>1  Scenario input</a:t>
            </a:r>
          </a:p>
        </p:txBody>
      </p:sp>
      <p:sp>
        <p:nvSpPr>
          <p:cNvPr id="8" name="Rectangle 7">
            <a:extLst>
              <a:ext uri="{FF2B5EF4-FFF2-40B4-BE49-F238E27FC236}">
                <a16:creationId xmlns:a16="http://schemas.microsoft.com/office/drawing/2014/main" id="{9A2200A7-1475-4130-AA4D-9D81FDEBDD0E}"/>
              </a:ext>
            </a:extLst>
          </p:cNvPr>
          <p:cNvSpPr>
            <a:spLocks noGrp="1"/>
          </p:cNvSpPr>
          <p:nvPr/>
        </p:nvSpPr>
        <p:spPr>
          <a:xfrm>
            <a:off x="581025" y="1905000"/>
            <a:ext cx="3371850" cy="1104900"/>
          </a:xfrm>
          <a:prstGeom prst="rect">
            <a:avLst/>
          </a:prstGeom>
          <a:noFill/>
          <a:ln w="0">
            <a:noFill/>
          </a:ln>
        </p:spPr>
        <p:txBody>
          <a:bodyPr>
            <a:noAutofit/>
          </a:bodyPr>
          <a:lstStyle/>
          <a:p>
            <a:pPr>
              <a:defRPr sz="1500" b="0">
                <a:solidFill>
                  <a:srgbClr val="253E55"/>
                </a:solidFill>
                <a:latin typeface="Segoe UI"/>
                <a:ea typeface="Segoe UI"/>
                <a:cs typeface="Segoe UI"/>
              </a:defRPr>
            </a:pPr>
            <a:r>
              <a:rPr sz="1500" b="0">
                <a:solidFill>
                  <a:srgbClr val="253E55"/>
                </a:solidFill>
                <a:latin typeface="Segoe UI"/>
                <a:ea typeface="Segoe UI"/>
                <a:cs typeface="Segoe UI"/>
              </a:rPr>
              <a:t>Authorized baseline and owner</a:t>
            </a:r>
          </a:p>
          <a:p>
            <a:pPr>
              <a:defRPr sz="1500" b="0">
                <a:solidFill>
                  <a:srgbClr val="253E55"/>
                </a:solidFill>
                <a:latin typeface="Segoe UI"/>
                <a:ea typeface="Segoe UI"/>
                <a:cs typeface="Segoe UI"/>
              </a:defRPr>
            </a:pPr>
            <a:r>
              <a:rPr sz="1500" b="0">
                <a:solidFill>
                  <a:srgbClr val="253E55"/>
                </a:solidFill>
                <a:latin typeface="Segoe UI"/>
                <a:ea typeface="Segoe UI"/>
                <a:cs typeface="Segoe UI"/>
              </a:rPr>
              <a:t>Selected scope / timing / lever</a:t>
            </a:r>
          </a:p>
          <a:p>
            <a:pPr>
              <a:defRPr sz="1500" b="0">
                <a:solidFill>
                  <a:srgbClr val="253E55"/>
                </a:solidFill>
                <a:latin typeface="Segoe UI"/>
                <a:ea typeface="Segoe UI"/>
                <a:cs typeface="Segoe UI"/>
              </a:defRPr>
            </a:pPr>
            <a:r>
              <a:rPr sz="1500" b="0">
                <a:solidFill>
                  <a:srgbClr val="253E55"/>
                </a:solidFill>
                <a:latin typeface="Segoe UI"/>
                <a:ea typeface="Segoe UI"/>
                <a:cs typeface="Segoe UI"/>
              </a:rPr>
              <a:t>Assumptions and permitted bounds</a:t>
            </a:r>
          </a:p>
        </p:txBody>
      </p:sp>
      <p:sp>
        <p:nvSpPr>
          <p:cNvPr id="9" name="Arrow: Right 8">
            <a:extLst>
              <a:ext uri="{FF2B5EF4-FFF2-40B4-BE49-F238E27FC236}">
                <a16:creationId xmlns:a16="http://schemas.microsoft.com/office/drawing/2014/main" id="{B718F65F-C88C-43FB-BE69-7688A6C65AAF}"/>
              </a:ext>
            </a:extLst>
          </p:cNvPr>
          <p:cNvSpPr>
            <a:spLocks noGrp="1"/>
          </p:cNvSpPr>
          <p:nvPr/>
        </p:nvSpPr>
        <p:spPr>
          <a:xfrm>
            <a:off x="4105275" y="2200275"/>
            <a:ext cx="161925" cy="161925"/>
          </a:xfrm>
          <a:prstGeom prst="rightArrow">
            <a:avLst/>
          </a:prstGeom>
          <a:solidFill>
            <a:srgbClr val="00A6B2"/>
          </a:solidFill>
          <a:ln w="0">
            <a:noFill/>
          </a:ln>
        </p:spPr>
        <p:txBody>
          <a:bodyPr/>
          <a:lstStyle/>
          <a:p>
            <a:endParaRPr lang="en-US"/>
          </a:p>
        </p:txBody>
      </p:sp>
      <p:sp>
        <p:nvSpPr>
          <p:cNvPr id="10" name="Rectangle: Rounded Corners 9">
            <a:extLst>
              <a:ext uri="{FF2B5EF4-FFF2-40B4-BE49-F238E27FC236}">
                <a16:creationId xmlns:a16="http://schemas.microsoft.com/office/drawing/2014/main" id="{B48218C7-C320-4BB7-8D8C-3863C9F07D7B}"/>
              </a:ext>
            </a:extLst>
          </p:cNvPr>
          <p:cNvSpPr>
            <a:spLocks noGrp="1"/>
          </p:cNvSpPr>
          <p:nvPr/>
        </p:nvSpPr>
        <p:spPr>
          <a:xfrm>
            <a:off x="4286250" y="1447800"/>
            <a:ext cx="3619500" cy="1647825"/>
          </a:xfrm>
          <a:prstGeom prst="roundRect">
            <a:avLst>
              <a:gd name="adj" fmla="val 3468"/>
            </a:avLst>
          </a:prstGeom>
          <a:solidFill>
            <a:srgbClr val="FFFFFF"/>
          </a:solidFill>
          <a:ln w="11906">
            <a:solidFill>
              <a:srgbClr val="B8C7D9"/>
            </a:solidFill>
          </a:ln>
        </p:spPr>
        <p:txBody>
          <a:bodyPr/>
          <a:lstStyle/>
          <a:p>
            <a:endParaRPr lang="en-US"/>
          </a:p>
        </p:txBody>
      </p:sp>
      <p:sp>
        <p:nvSpPr>
          <p:cNvPr id="11" name="Rectangle 10">
            <a:extLst>
              <a:ext uri="{FF2B5EF4-FFF2-40B4-BE49-F238E27FC236}">
                <a16:creationId xmlns:a16="http://schemas.microsoft.com/office/drawing/2014/main" id="{8EC9FEB0-8C06-4329-98E1-CD80AD073011}"/>
              </a:ext>
            </a:extLst>
          </p:cNvPr>
          <p:cNvSpPr>
            <a:spLocks noGrp="1"/>
          </p:cNvSpPr>
          <p:nvPr/>
        </p:nvSpPr>
        <p:spPr>
          <a:xfrm>
            <a:off x="4410075" y="1543050"/>
            <a:ext cx="3371850" cy="285750"/>
          </a:xfrm>
          <a:prstGeom prst="rect">
            <a:avLst/>
          </a:prstGeom>
          <a:noFill/>
          <a:ln w="0">
            <a:noFill/>
          </a:ln>
        </p:spPr>
        <p:txBody>
          <a:bodyPr>
            <a:noAutofit/>
          </a:bodyPr>
          <a:lstStyle/>
          <a:p>
            <a:pPr>
              <a:defRPr sz="1650" b="1">
                <a:solidFill>
                  <a:srgbClr val="0B1F3A"/>
                </a:solidFill>
                <a:latin typeface="Segoe UI"/>
                <a:ea typeface="Segoe UI"/>
                <a:cs typeface="Segoe UI"/>
              </a:defRPr>
            </a:pPr>
            <a:r>
              <a:rPr sz="1650" b="1">
                <a:solidFill>
                  <a:srgbClr val="0B1F3A"/>
                </a:solidFill>
                <a:latin typeface="Segoe UI"/>
                <a:ea typeface="Segoe UI"/>
                <a:cs typeface="Segoe UI"/>
              </a:rPr>
              <a:t>2  Deterministic engine</a:t>
            </a:r>
          </a:p>
        </p:txBody>
      </p:sp>
      <p:sp>
        <p:nvSpPr>
          <p:cNvPr id="12" name="Rectangle 11">
            <a:extLst>
              <a:ext uri="{FF2B5EF4-FFF2-40B4-BE49-F238E27FC236}">
                <a16:creationId xmlns:a16="http://schemas.microsoft.com/office/drawing/2014/main" id="{9DF10B90-38FD-4C01-AEA4-B1718C099B2C}"/>
              </a:ext>
            </a:extLst>
          </p:cNvPr>
          <p:cNvSpPr>
            <a:spLocks noGrp="1"/>
          </p:cNvSpPr>
          <p:nvPr/>
        </p:nvSpPr>
        <p:spPr>
          <a:xfrm>
            <a:off x="4410075" y="1905000"/>
            <a:ext cx="3371850" cy="1104900"/>
          </a:xfrm>
          <a:prstGeom prst="rect">
            <a:avLst/>
          </a:prstGeom>
          <a:noFill/>
          <a:ln w="0">
            <a:noFill/>
          </a:ln>
        </p:spPr>
        <p:txBody>
          <a:bodyPr>
            <a:noAutofit/>
          </a:bodyPr>
          <a:lstStyle/>
          <a:p>
            <a:pPr>
              <a:defRPr sz="1500" b="0">
                <a:solidFill>
                  <a:srgbClr val="253E55"/>
                </a:solidFill>
                <a:latin typeface="Segoe UI"/>
                <a:ea typeface="Segoe UI"/>
                <a:cs typeface="Segoe UI"/>
              </a:defRPr>
            </a:pPr>
            <a:r>
              <a:rPr sz="1500" b="0">
                <a:solidFill>
                  <a:srgbClr val="253E55"/>
                </a:solidFill>
                <a:latin typeface="Segoe UI"/>
                <a:ea typeface="Segoe UI"/>
                <a:cs typeface="Segoe UI"/>
              </a:rPr>
              <a:t>SQL costs + graph dependencies</a:t>
            </a:r>
          </a:p>
          <a:p>
            <a:pPr>
              <a:defRPr sz="1500" b="0">
                <a:solidFill>
                  <a:srgbClr val="253E55"/>
                </a:solidFill>
                <a:latin typeface="Segoe UI"/>
                <a:ea typeface="Segoe UI"/>
                <a:cs typeface="Segoe UI"/>
              </a:defRPr>
            </a:pPr>
            <a:r>
              <a:rPr sz="1500" b="0">
                <a:solidFill>
                  <a:srgbClr val="253E55"/>
                </a:solidFill>
                <a:latin typeface="Segoe UI"/>
                <a:ea typeface="Segoe UI"/>
                <a:cs typeface="Segoe UI"/>
              </a:rPr>
              <a:t>Unique affected entities</a:t>
            </a:r>
          </a:p>
          <a:p>
            <a:pPr>
              <a:defRPr sz="1500" b="0">
                <a:solidFill>
                  <a:srgbClr val="253E55"/>
                </a:solidFill>
                <a:latin typeface="Segoe UI"/>
                <a:ea typeface="Segoe UI"/>
                <a:cs typeface="Segoe UI"/>
              </a:defRPr>
            </a:pPr>
            <a:r>
              <a:rPr sz="1500" b="0">
                <a:solidFill>
                  <a:srgbClr val="253E55"/>
                </a:solidFill>
                <a:latin typeface="Segoe UI"/>
                <a:ea typeface="Segoe UI"/>
                <a:cs typeface="Segoe UI"/>
              </a:rPr>
              <a:t>Gross / net impact + exclusions</a:t>
            </a:r>
          </a:p>
        </p:txBody>
      </p:sp>
      <p:sp>
        <p:nvSpPr>
          <p:cNvPr id="13" name="Arrow: Right 12">
            <a:extLst>
              <a:ext uri="{FF2B5EF4-FFF2-40B4-BE49-F238E27FC236}">
                <a16:creationId xmlns:a16="http://schemas.microsoft.com/office/drawing/2014/main" id="{69B54A70-7137-46A3-9E1A-EABDA15AB1E1}"/>
              </a:ext>
            </a:extLst>
          </p:cNvPr>
          <p:cNvSpPr>
            <a:spLocks noGrp="1"/>
          </p:cNvSpPr>
          <p:nvPr/>
        </p:nvSpPr>
        <p:spPr>
          <a:xfrm>
            <a:off x="7934325" y="2200275"/>
            <a:ext cx="161925" cy="161925"/>
          </a:xfrm>
          <a:prstGeom prst="rightArrow">
            <a:avLst/>
          </a:prstGeom>
          <a:solidFill>
            <a:srgbClr val="00A6B2"/>
          </a:solidFill>
          <a:ln w="0">
            <a:noFill/>
          </a:ln>
        </p:spPr>
        <p:txBody>
          <a:bodyPr/>
          <a:lstStyle/>
          <a:p>
            <a:endParaRPr lang="en-US"/>
          </a:p>
        </p:txBody>
      </p:sp>
      <p:sp>
        <p:nvSpPr>
          <p:cNvPr id="14" name="Rectangle: Rounded Corners 13">
            <a:extLst>
              <a:ext uri="{FF2B5EF4-FFF2-40B4-BE49-F238E27FC236}">
                <a16:creationId xmlns:a16="http://schemas.microsoft.com/office/drawing/2014/main" id="{97BA0BCD-FC0B-4899-A37B-DEFB29DB32AC}"/>
              </a:ext>
            </a:extLst>
          </p:cNvPr>
          <p:cNvSpPr>
            <a:spLocks noGrp="1"/>
          </p:cNvSpPr>
          <p:nvPr/>
        </p:nvSpPr>
        <p:spPr>
          <a:xfrm>
            <a:off x="8115300" y="1447800"/>
            <a:ext cx="3619500" cy="1647825"/>
          </a:xfrm>
          <a:prstGeom prst="roundRect">
            <a:avLst>
              <a:gd name="adj" fmla="val 3468"/>
            </a:avLst>
          </a:prstGeom>
          <a:solidFill>
            <a:srgbClr val="FFFFFF"/>
          </a:solidFill>
          <a:ln w="11906">
            <a:solidFill>
              <a:srgbClr val="B8C7D9"/>
            </a:solidFill>
          </a:ln>
        </p:spPr>
        <p:txBody>
          <a:bodyPr/>
          <a:lstStyle/>
          <a:p>
            <a:endParaRPr lang="en-US"/>
          </a:p>
        </p:txBody>
      </p:sp>
      <p:sp>
        <p:nvSpPr>
          <p:cNvPr id="15" name="Rectangle 14">
            <a:extLst>
              <a:ext uri="{FF2B5EF4-FFF2-40B4-BE49-F238E27FC236}">
                <a16:creationId xmlns:a16="http://schemas.microsoft.com/office/drawing/2014/main" id="{B44BAF95-C9D0-41EA-8F42-903834E92949}"/>
              </a:ext>
            </a:extLst>
          </p:cNvPr>
          <p:cNvSpPr>
            <a:spLocks noGrp="1"/>
          </p:cNvSpPr>
          <p:nvPr/>
        </p:nvSpPr>
        <p:spPr>
          <a:xfrm>
            <a:off x="8239125" y="1543050"/>
            <a:ext cx="3371850" cy="285750"/>
          </a:xfrm>
          <a:prstGeom prst="rect">
            <a:avLst/>
          </a:prstGeom>
          <a:noFill/>
          <a:ln w="0">
            <a:noFill/>
          </a:ln>
        </p:spPr>
        <p:txBody>
          <a:bodyPr>
            <a:noAutofit/>
          </a:bodyPr>
          <a:lstStyle/>
          <a:p>
            <a:pPr>
              <a:defRPr sz="1650" b="1">
                <a:solidFill>
                  <a:srgbClr val="0B1F3A"/>
                </a:solidFill>
                <a:latin typeface="Segoe UI"/>
                <a:ea typeface="Segoe UI"/>
                <a:cs typeface="Segoe UI"/>
              </a:defRPr>
            </a:pPr>
            <a:r>
              <a:rPr sz="1650" b="1">
                <a:solidFill>
                  <a:srgbClr val="0B1F3A"/>
                </a:solidFill>
                <a:latin typeface="Segoe UI"/>
                <a:ea typeface="Segoe UI"/>
                <a:cs typeface="Segoe UI"/>
              </a:rPr>
              <a:t>3  Baseline comparison</a:t>
            </a:r>
          </a:p>
        </p:txBody>
      </p:sp>
      <p:sp>
        <p:nvSpPr>
          <p:cNvPr id="16" name="Rectangle 15">
            <a:extLst>
              <a:ext uri="{FF2B5EF4-FFF2-40B4-BE49-F238E27FC236}">
                <a16:creationId xmlns:a16="http://schemas.microsoft.com/office/drawing/2014/main" id="{2012A374-79DC-4BFA-A1CD-FD7569977A28}"/>
              </a:ext>
            </a:extLst>
          </p:cNvPr>
          <p:cNvSpPr>
            <a:spLocks noGrp="1"/>
          </p:cNvSpPr>
          <p:nvPr/>
        </p:nvSpPr>
        <p:spPr>
          <a:xfrm>
            <a:off x="8239125" y="1905000"/>
            <a:ext cx="3371850" cy="1104900"/>
          </a:xfrm>
          <a:prstGeom prst="rect">
            <a:avLst/>
          </a:prstGeom>
          <a:noFill/>
          <a:ln w="0">
            <a:noFill/>
          </a:ln>
        </p:spPr>
        <p:txBody>
          <a:bodyPr>
            <a:noAutofit/>
          </a:bodyPr>
          <a:lstStyle/>
          <a:p>
            <a:pPr>
              <a:defRPr sz="1500" b="0">
                <a:solidFill>
                  <a:srgbClr val="253E55"/>
                </a:solidFill>
                <a:latin typeface="Segoe UI"/>
                <a:ea typeface="Segoe UI"/>
                <a:cs typeface="Segoe UI"/>
              </a:defRPr>
            </a:pPr>
            <a:r>
              <a:rPr sz="1500" b="0">
                <a:solidFill>
                  <a:srgbClr val="253E55"/>
                </a:solidFill>
                <a:latin typeface="Segoe UI"/>
                <a:ea typeface="Segoe UI"/>
                <a:cs typeface="Segoe UI"/>
              </a:rPr>
              <a:t>Financial / operational / risk delta</a:t>
            </a:r>
          </a:p>
          <a:p>
            <a:pPr>
              <a:defRPr sz="1500" b="0">
                <a:solidFill>
                  <a:srgbClr val="253E55"/>
                </a:solidFill>
                <a:latin typeface="Segoe UI"/>
                <a:ea typeface="Segoe UI"/>
                <a:cs typeface="Segoe UI"/>
              </a:defRPr>
            </a:pPr>
            <a:r>
              <a:rPr sz="1500" b="0">
                <a:solidFill>
                  <a:srgbClr val="253E55"/>
                </a:solidFill>
                <a:latin typeface="Segoe UI"/>
                <a:ea typeface="Segoe UI"/>
                <a:cs typeface="Segoe UI"/>
              </a:rPr>
              <a:t>Evidence and rule versions</a:t>
            </a:r>
          </a:p>
          <a:p>
            <a:pPr>
              <a:defRPr sz="1500" b="0">
                <a:solidFill>
                  <a:srgbClr val="253E55"/>
                </a:solidFill>
                <a:latin typeface="Segoe UI"/>
                <a:ea typeface="Segoe UI"/>
                <a:cs typeface="Segoe UI"/>
              </a:defRPr>
            </a:pPr>
            <a:r>
              <a:rPr sz="1500" b="0">
                <a:solidFill>
                  <a:srgbClr val="253E55"/>
                </a:solidFill>
                <a:latin typeface="Segoe UI"/>
                <a:ea typeface="Segoe UI"/>
                <a:cs typeface="Segoe UI"/>
              </a:rPr>
              <a:t>Unresolved constraints visible</a:t>
            </a:r>
          </a:p>
        </p:txBody>
      </p:sp>
      <p:sp>
        <p:nvSpPr>
          <p:cNvPr id="17" name="Rectangle: Rounded Corners 16">
            <a:extLst>
              <a:ext uri="{FF2B5EF4-FFF2-40B4-BE49-F238E27FC236}">
                <a16:creationId xmlns:a16="http://schemas.microsoft.com/office/drawing/2014/main" id="{ACADB741-62E8-4918-87C3-C8A25C5BFDD5}"/>
              </a:ext>
            </a:extLst>
          </p:cNvPr>
          <p:cNvSpPr>
            <a:spLocks noGrp="1"/>
          </p:cNvSpPr>
          <p:nvPr/>
        </p:nvSpPr>
        <p:spPr>
          <a:xfrm>
            <a:off x="457200" y="3448050"/>
            <a:ext cx="3619500" cy="1304925"/>
          </a:xfrm>
          <a:prstGeom prst="roundRect">
            <a:avLst>
              <a:gd name="adj" fmla="val 4380"/>
            </a:avLst>
          </a:prstGeom>
          <a:solidFill>
            <a:srgbClr val="FFF1E5"/>
          </a:solidFill>
          <a:ln w="11906">
            <a:solidFill>
              <a:srgbClr val="EA6B17"/>
            </a:solidFill>
          </a:ln>
        </p:spPr>
        <p:txBody>
          <a:bodyPr/>
          <a:lstStyle/>
          <a:p>
            <a:endParaRPr lang="en-US"/>
          </a:p>
        </p:txBody>
      </p:sp>
      <p:sp>
        <p:nvSpPr>
          <p:cNvPr id="18" name="Oval 17">
            <a:extLst>
              <a:ext uri="{FF2B5EF4-FFF2-40B4-BE49-F238E27FC236}">
                <a16:creationId xmlns:a16="http://schemas.microsoft.com/office/drawing/2014/main" id="{482BD114-0706-47A0-B851-F4066BA99DBD}"/>
              </a:ext>
            </a:extLst>
          </p:cNvPr>
          <p:cNvSpPr>
            <a:spLocks noGrp="1"/>
          </p:cNvSpPr>
          <p:nvPr/>
        </p:nvSpPr>
        <p:spPr>
          <a:xfrm>
            <a:off x="3724275" y="3562350"/>
            <a:ext cx="123825" cy="123825"/>
          </a:xfrm>
          <a:prstGeom prst="ellipse">
            <a:avLst/>
          </a:prstGeom>
          <a:solidFill>
            <a:srgbClr val="E4F6F7"/>
          </a:solidFill>
          <a:ln w="15240">
            <a:solidFill>
              <a:srgbClr val="007C83"/>
            </a:solidFill>
          </a:ln>
        </p:spPr>
        <p:txBody>
          <a:bodyPr/>
          <a:lstStyle/>
          <a:p>
            <a:endParaRPr lang="en-US"/>
          </a:p>
        </p:txBody>
      </p:sp>
      <p:sp>
        <p:nvSpPr>
          <p:cNvPr id="19" name="Rectangle: Rounded Corners 18">
            <a:extLst>
              <a:ext uri="{FF2B5EF4-FFF2-40B4-BE49-F238E27FC236}">
                <a16:creationId xmlns:a16="http://schemas.microsoft.com/office/drawing/2014/main" id="{0FA7F092-94BE-4025-B1E0-604AE826C22C}"/>
              </a:ext>
            </a:extLst>
          </p:cNvPr>
          <p:cNvSpPr>
            <a:spLocks noGrp="1"/>
          </p:cNvSpPr>
          <p:nvPr/>
        </p:nvSpPr>
        <p:spPr>
          <a:xfrm>
            <a:off x="3657600" y="3724275"/>
            <a:ext cx="266700" cy="161925"/>
          </a:xfrm>
          <a:prstGeom prst="roundRect">
            <a:avLst>
              <a:gd name="adj" fmla="val 47059"/>
            </a:avLst>
          </a:prstGeom>
          <a:solidFill>
            <a:srgbClr val="E4F6F7"/>
          </a:solidFill>
          <a:ln w="15240">
            <a:solidFill>
              <a:srgbClr val="007C83"/>
            </a:solidFill>
          </a:ln>
        </p:spPr>
        <p:txBody>
          <a:bodyPr/>
          <a:lstStyle/>
          <a:p>
            <a:endParaRPr lang="en-US"/>
          </a:p>
        </p:txBody>
      </p:sp>
      <p:sp>
        <p:nvSpPr>
          <p:cNvPr id="20" name="Rectangle 19">
            <a:extLst>
              <a:ext uri="{FF2B5EF4-FFF2-40B4-BE49-F238E27FC236}">
                <a16:creationId xmlns:a16="http://schemas.microsoft.com/office/drawing/2014/main" id="{1B8792D5-6CC4-4131-8E8B-3A2005447A06}"/>
              </a:ext>
            </a:extLst>
          </p:cNvPr>
          <p:cNvSpPr>
            <a:spLocks noGrp="1"/>
          </p:cNvSpPr>
          <p:nvPr/>
        </p:nvSpPr>
        <p:spPr>
          <a:xfrm>
            <a:off x="581025" y="3543300"/>
            <a:ext cx="2962275" cy="285750"/>
          </a:xfrm>
          <a:prstGeom prst="rect">
            <a:avLst/>
          </a:prstGeom>
          <a:noFill/>
          <a:ln w="0">
            <a:noFill/>
          </a:ln>
        </p:spPr>
        <p:txBody>
          <a:bodyPr>
            <a:noAutofit/>
          </a:bodyPr>
          <a:lstStyle/>
          <a:p>
            <a:pPr>
              <a:defRPr sz="1575" b="1">
                <a:solidFill>
                  <a:srgbClr val="0B1F3A"/>
                </a:solidFill>
                <a:latin typeface="Segoe UI"/>
                <a:ea typeface="Segoe UI"/>
                <a:cs typeface="Segoe UI"/>
              </a:defRPr>
            </a:pPr>
            <a:r>
              <a:rPr sz="1575" b="1">
                <a:solidFill>
                  <a:srgbClr val="0B1F3A"/>
                </a:solidFill>
                <a:latin typeface="Segoe UI"/>
                <a:ea typeface="Segoe UI"/>
                <a:cs typeface="Segoe UI"/>
              </a:rPr>
              <a:t>Review triggers</a:t>
            </a:r>
          </a:p>
        </p:txBody>
      </p:sp>
      <p:sp>
        <p:nvSpPr>
          <p:cNvPr id="21" name="Rectangle 20">
            <a:extLst>
              <a:ext uri="{FF2B5EF4-FFF2-40B4-BE49-F238E27FC236}">
                <a16:creationId xmlns:a16="http://schemas.microsoft.com/office/drawing/2014/main" id="{2112C039-8EB0-4E75-B477-7405223183A6}"/>
              </a:ext>
            </a:extLst>
          </p:cNvPr>
          <p:cNvSpPr>
            <a:spLocks noGrp="1"/>
          </p:cNvSpPr>
          <p:nvPr/>
        </p:nvSpPr>
        <p:spPr>
          <a:xfrm>
            <a:off x="581025" y="3905250"/>
            <a:ext cx="3371850" cy="762000"/>
          </a:xfrm>
          <a:prstGeom prst="rect">
            <a:avLst/>
          </a:prstGeom>
          <a:noFill/>
          <a:ln w="0">
            <a:noFill/>
          </a:ln>
        </p:spPr>
        <p:txBody>
          <a:bodyPr>
            <a:noAutofit/>
          </a:bodyPr>
          <a:lstStyle/>
          <a:p>
            <a:pPr>
              <a:defRPr sz="1350" b="0">
                <a:solidFill>
                  <a:srgbClr val="253E55"/>
                </a:solidFill>
                <a:latin typeface="Segoe UI"/>
                <a:ea typeface="Segoe UI"/>
                <a:cs typeface="Segoe UI"/>
              </a:defRPr>
            </a:pPr>
            <a:r>
              <a:rPr sz="1350" b="0">
                <a:solidFill>
                  <a:srgbClr val="253E55"/>
                </a:solidFill>
                <a:latin typeface="Segoe UI"/>
                <a:ea typeface="Segoe UI"/>
                <a:cs typeface="Segoe UI"/>
              </a:rPr>
              <a:t>Ambiguous entity / clause extraction</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Unvalidated costs or capacity</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Business disposition</a:t>
            </a:r>
          </a:p>
        </p:txBody>
      </p:sp>
      <p:sp>
        <p:nvSpPr>
          <p:cNvPr id="22" name="Rectangle: Rounded Corners 21">
            <a:extLst>
              <a:ext uri="{FF2B5EF4-FFF2-40B4-BE49-F238E27FC236}">
                <a16:creationId xmlns:a16="http://schemas.microsoft.com/office/drawing/2014/main" id="{94C0BA8F-DE8B-4993-A3F8-27A9273AEDF7}"/>
              </a:ext>
            </a:extLst>
          </p:cNvPr>
          <p:cNvSpPr>
            <a:spLocks noGrp="1"/>
          </p:cNvSpPr>
          <p:nvPr/>
        </p:nvSpPr>
        <p:spPr>
          <a:xfrm>
            <a:off x="4286250" y="3448050"/>
            <a:ext cx="3619500" cy="1304925"/>
          </a:xfrm>
          <a:prstGeom prst="roundRect">
            <a:avLst>
              <a:gd name="adj" fmla="val 4380"/>
            </a:avLst>
          </a:prstGeom>
          <a:solidFill>
            <a:srgbClr val="E4F6F7"/>
          </a:solidFill>
          <a:ln w="11906">
            <a:solidFill>
              <a:srgbClr val="B8C7D9"/>
            </a:solidFill>
          </a:ln>
        </p:spPr>
        <p:txBody>
          <a:bodyPr/>
          <a:lstStyle/>
          <a:p>
            <a:endParaRPr lang="en-US"/>
          </a:p>
        </p:txBody>
      </p:sp>
      <p:sp>
        <p:nvSpPr>
          <p:cNvPr id="23" name="Oval 22">
            <a:extLst>
              <a:ext uri="{FF2B5EF4-FFF2-40B4-BE49-F238E27FC236}">
                <a16:creationId xmlns:a16="http://schemas.microsoft.com/office/drawing/2014/main" id="{97EBA8E9-3184-47BE-BEAE-855D5FF899AF}"/>
              </a:ext>
            </a:extLst>
          </p:cNvPr>
          <p:cNvSpPr>
            <a:spLocks noGrp="1"/>
          </p:cNvSpPr>
          <p:nvPr/>
        </p:nvSpPr>
        <p:spPr>
          <a:xfrm>
            <a:off x="7553325" y="3562350"/>
            <a:ext cx="123825" cy="123825"/>
          </a:xfrm>
          <a:prstGeom prst="ellipse">
            <a:avLst/>
          </a:prstGeom>
          <a:solidFill>
            <a:srgbClr val="E4F6F7"/>
          </a:solidFill>
          <a:ln w="15240">
            <a:solidFill>
              <a:srgbClr val="007C83"/>
            </a:solidFill>
          </a:ln>
        </p:spPr>
        <p:txBody>
          <a:bodyPr/>
          <a:lstStyle/>
          <a:p>
            <a:endParaRPr lang="en-US"/>
          </a:p>
        </p:txBody>
      </p:sp>
      <p:sp>
        <p:nvSpPr>
          <p:cNvPr id="24" name="Rectangle: Rounded Corners 23">
            <a:extLst>
              <a:ext uri="{FF2B5EF4-FFF2-40B4-BE49-F238E27FC236}">
                <a16:creationId xmlns:a16="http://schemas.microsoft.com/office/drawing/2014/main" id="{5DD94125-E4CC-4D10-A60C-0C32C7D6459D}"/>
              </a:ext>
            </a:extLst>
          </p:cNvPr>
          <p:cNvSpPr>
            <a:spLocks noGrp="1"/>
          </p:cNvSpPr>
          <p:nvPr/>
        </p:nvSpPr>
        <p:spPr>
          <a:xfrm>
            <a:off x="7486650" y="3724275"/>
            <a:ext cx="266700" cy="161925"/>
          </a:xfrm>
          <a:prstGeom prst="roundRect">
            <a:avLst>
              <a:gd name="adj" fmla="val 47059"/>
            </a:avLst>
          </a:prstGeom>
          <a:solidFill>
            <a:srgbClr val="E4F6F7"/>
          </a:solidFill>
          <a:ln w="15240">
            <a:solidFill>
              <a:srgbClr val="007C83"/>
            </a:solidFill>
          </a:ln>
        </p:spPr>
        <p:txBody>
          <a:bodyPr/>
          <a:lstStyle/>
          <a:p>
            <a:endParaRPr lang="en-US"/>
          </a:p>
        </p:txBody>
      </p:sp>
      <p:sp>
        <p:nvSpPr>
          <p:cNvPr id="25" name="Rectangle 24">
            <a:extLst>
              <a:ext uri="{FF2B5EF4-FFF2-40B4-BE49-F238E27FC236}">
                <a16:creationId xmlns:a16="http://schemas.microsoft.com/office/drawing/2014/main" id="{F9435E70-39E1-4A57-9BB8-EFC1CC69A2CF}"/>
              </a:ext>
            </a:extLst>
          </p:cNvPr>
          <p:cNvSpPr>
            <a:spLocks noGrp="1"/>
          </p:cNvSpPr>
          <p:nvPr/>
        </p:nvSpPr>
        <p:spPr>
          <a:xfrm>
            <a:off x="4410075" y="3543300"/>
            <a:ext cx="2962275" cy="285750"/>
          </a:xfrm>
          <a:prstGeom prst="rect">
            <a:avLst/>
          </a:prstGeom>
          <a:noFill/>
          <a:ln w="0">
            <a:noFill/>
          </a:ln>
        </p:spPr>
        <p:txBody>
          <a:bodyPr>
            <a:noAutofit/>
          </a:bodyPr>
          <a:lstStyle/>
          <a:p>
            <a:pPr>
              <a:defRPr sz="1575" b="1">
                <a:solidFill>
                  <a:srgbClr val="0B1F3A"/>
                </a:solidFill>
                <a:latin typeface="Segoe UI"/>
                <a:ea typeface="Segoe UI"/>
                <a:cs typeface="Segoe UI"/>
              </a:defRPr>
            </a:pPr>
            <a:r>
              <a:rPr sz="1575" b="1">
                <a:solidFill>
                  <a:srgbClr val="0B1F3A"/>
                </a:solidFill>
                <a:latin typeface="Segoe UI"/>
                <a:ea typeface="Segoe UI"/>
                <a:cs typeface="Segoe UI"/>
              </a:rPr>
              <a:t>Pause and persist</a:t>
            </a:r>
          </a:p>
        </p:txBody>
      </p:sp>
      <p:sp>
        <p:nvSpPr>
          <p:cNvPr id="26" name="Rectangle 25">
            <a:extLst>
              <a:ext uri="{FF2B5EF4-FFF2-40B4-BE49-F238E27FC236}">
                <a16:creationId xmlns:a16="http://schemas.microsoft.com/office/drawing/2014/main" id="{CC372B8A-A863-4E4D-9047-92D6FF381A17}"/>
              </a:ext>
            </a:extLst>
          </p:cNvPr>
          <p:cNvSpPr>
            <a:spLocks noGrp="1"/>
          </p:cNvSpPr>
          <p:nvPr/>
        </p:nvSpPr>
        <p:spPr>
          <a:xfrm>
            <a:off x="4410075" y="3905250"/>
            <a:ext cx="3371850" cy="762000"/>
          </a:xfrm>
          <a:prstGeom prst="rect">
            <a:avLst/>
          </a:prstGeom>
          <a:noFill/>
          <a:ln w="0">
            <a:noFill/>
          </a:ln>
        </p:spPr>
        <p:txBody>
          <a:bodyPr>
            <a:noAutofit/>
          </a:bodyPr>
          <a:lstStyle/>
          <a:p>
            <a:pPr>
              <a:defRPr sz="1350" b="0">
                <a:solidFill>
                  <a:srgbClr val="253E55"/>
                </a:solidFill>
                <a:latin typeface="Segoe UI"/>
                <a:ea typeface="Segoe UI"/>
                <a:cs typeface="Segoe UI"/>
              </a:defRPr>
            </a:pPr>
            <a:r>
              <a:rPr sz="1350" b="0">
                <a:solidFill>
                  <a:srgbClr val="253E55"/>
                </a:solidFill>
                <a:latin typeface="Segoe UI"/>
                <a:ea typeface="Segoe UI"/>
                <a:cs typeface="Segoe UI"/>
              </a:rPr>
              <a:t>Save evidence + baseline versions</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Assign user / steward / domain owner</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Record comment and decision</a:t>
            </a:r>
          </a:p>
        </p:txBody>
      </p:sp>
      <p:sp>
        <p:nvSpPr>
          <p:cNvPr id="27" name="Rectangle: Rounded Corners 26">
            <a:extLst>
              <a:ext uri="{FF2B5EF4-FFF2-40B4-BE49-F238E27FC236}">
                <a16:creationId xmlns:a16="http://schemas.microsoft.com/office/drawing/2014/main" id="{2EFBD311-D982-4963-8695-0F32041944DD}"/>
              </a:ext>
            </a:extLst>
          </p:cNvPr>
          <p:cNvSpPr>
            <a:spLocks noGrp="1"/>
          </p:cNvSpPr>
          <p:nvPr/>
        </p:nvSpPr>
        <p:spPr>
          <a:xfrm>
            <a:off x="8115300" y="3448050"/>
            <a:ext cx="3619500" cy="1304925"/>
          </a:xfrm>
          <a:prstGeom prst="roundRect">
            <a:avLst>
              <a:gd name="adj" fmla="val 4380"/>
            </a:avLst>
          </a:prstGeom>
          <a:solidFill>
            <a:srgbClr val="E4F6F7"/>
          </a:solidFill>
          <a:ln w="11906">
            <a:solidFill>
              <a:srgbClr val="B8C7D9"/>
            </a:solidFill>
          </a:ln>
        </p:spPr>
        <p:txBody>
          <a:bodyPr/>
          <a:lstStyle/>
          <a:p>
            <a:endParaRPr lang="en-US"/>
          </a:p>
        </p:txBody>
      </p:sp>
      <p:sp>
        <p:nvSpPr>
          <p:cNvPr id="28" name="Rectangle 27">
            <a:extLst>
              <a:ext uri="{FF2B5EF4-FFF2-40B4-BE49-F238E27FC236}">
                <a16:creationId xmlns:a16="http://schemas.microsoft.com/office/drawing/2014/main" id="{3D386232-FA08-4796-906F-F9D3E40619F1}"/>
              </a:ext>
            </a:extLst>
          </p:cNvPr>
          <p:cNvSpPr>
            <a:spLocks noGrp="1"/>
          </p:cNvSpPr>
          <p:nvPr/>
        </p:nvSpPr>
        <p:spPr>
          <a:xfrm>
            <a:off x="8239125" y="3543300"/>
            <a:ext cx="3371850" cy="285750"/>
          </a:xfrm>
          <a:prstGeom prst="rect">
            <a:avLst/>
          </a:prstGeom>
          <a:noFill/>
          <a:ln w="0">
            <a:noFill/>
          </a:ln>
        </p:spPr>
        <p:txBody>
          <a:bodyPr>
            <a:noAutofit/>
          </a:bodyPr>
          <a:lstStyle/>
          <a:p>
            <a:pPr>
              <a:defRPr sz="1575" b="1">
                <a:solidFill>
                  <a:srgbClr val="0B1F3A"/>
                </a:solidFill>
                <a:latin typeface="Segoe UI"/>
                <a:ea typeface="Segoe UI"/>
                <a:cs typeface="Segoe UI"/>
              </a:defRPr>
            </a:pPr>
            <a:r>
              <a:rPr sz="1575" b="1">
                <a:solidFill>
                  <a:srgbClr val="0B1F3A"/>
                </a:solidFill>
                <a:latin typeface="Segoe UI"/>
                <a:ea typeface="Segoe UI"/>
                <a:cs typeface="Segoe UI"/>
              </a:rPr>
              <a:t>Resume with checks</a:t>
            </a:r>
          </a:p>
        </p:txBody>
      </p:sp>
      <p:sp>
        <p:nvSpPr>
          <p:cNvPr id="29" name="Rectangle 28">
            <a:extLst>
              <a:ext uri="{FF2B5EF4-FFF2-40B4-BE49-F238E27FC236}">
                <a16:creationId xmlns:a16="http://schemas.microsoft.com/office/drawing/2014/main" id="{D91A7D64-207F-4241-A944-8EF3A0491014}"/>
              </a:ext>
            </a:extLst>
          </p:cNvPr>
          <p:cNvSpPr>
            <a:spLocks noGrp="1"/>
          </p:cNvSpPr>
          <p:nvPr/>
        </p:nvSpPr>
        <p:spPr>
          <a:xfrm>
            <a:off x="8239125" y="3905250"/>
            <a:ext cx="3371850" cy="762000"/>
          </a:xfrm>
          <a:prstGeom prst="rect">
            <a:avLst/>
          </a:prstGeom>
          <a:noFill/>
          <a:ln w="0">
            <a:noFill/>
          </a:ln>
        </p:spPr>
        <p:txBody>
          <a:bodyPr>
            <a:noAutofit/>
          </a:bodyPr>
          <a:lstStyle/>
          <a:p>
            <a:pPr>
              <a:defRPr sz="1350" b="0">
                <a:solidFill>
                  <a:srgbClr val="253E55"/>
                </a:solidFill>
                <a:latin typeface="Segoe UI"/>
                <a:ea typeface="Segoe UI"/>
                <a:cs typeface="Segoe UI"/>
              </a:defRPr>
            </a:pPr>
            <a:r>
              <a:rPr sz="1350" b="0">
                <a:solidFill>
                  <a:srgbClr val="253E55"/>
                </a:solidFill>
                <a:latin typeface="Segoe UI"/>
                <a:ea typeface="Segoe UI"/>
                <a:cs typeface="Segoe UI"/>
              </a:rPr>
              <a:t>Recheck access and source changes</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Recompute affected results</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Continue from a durable checkpoint</a:t>
            </a:r>
          </a:p>
        </p:txBody>
      </p:sp>
      <p:sp>
        <p:nvSpPr>
          <p:cNvPr id="30" name="Arrow: Right 29">
            <a:extLst>
              <a:ext uri="{FF2B5EF4-FFF2-40B4-BE49-F238E27FC236}">
                <a16:creationId xmlns:a16="http://schemas.microsoft.com/office/drawing/2014/main" id="{ABC2D977-EAD0-48B5-9B02-65BB3582DE33}"/>
              </a:ext>
            </a:extLst>
          </p:cNvPr>
          <p:cNvSpPr>
            <a:spLocks noGrp="1"/>
          </p:cNvSpPr>
          <p:nvPr/>
        </p:nvSpPr>
        <p:spPr>
          <a:xfrm>
            <a:off x="4114800" y="4000500"/>
            <a:ext cx="142875" cy="161925"/>
          </a:xfrm>
          <a:prstGeom prst="rightArrow">
            <a:avLst/>
          </a:prstGeom>
          <a:solidFill>
            <a:srgbClr val="00A6B2"/>
          </a:solidFill>
          <a:ln w="0">
            <a:noFill/>
          </a:ln>
        </p:spPr>
        <p:txBody>
          <a:bodyPr/>
          <a:lstStyle/>
          <a:p>
            <a:endParaRPr lang="en-US"/>
          </a:p>
        </p:txBody>
      </p:sp>
      <p:sp>
        <p:nvSpPr>
          <p:cNvPr id="31" name="Arrow: Right 30">
            <a:extLst>
              <a:ext uri="{FF2B5EF4-FFF2-40B4-BE49-F238E27FC236}">
                <a16:creationId xmlns:a16="http://schemas.microsoft.com/office/drawing/2014/main" id="{87213A3A-7A8E-4DAD-8C83-F3BE80493174}"/>
              </a:ext>
            </a:extLst>
          </p:cNvPr>
          <p:cNvSpPr>
            <a:spLocks noGrp="1"/>
          </p:cNvSpPr>
          <p:nvPr/>
        </p:nvSpPr>
        <p:spPr>
          <a:xfrm>
            <a:off x="7943850" y="4000500"/>
            <a:ext cx="142875" cy="161925"/>
          </a:xfrm>
          <a:prstGeom prst="rightArrow">
            <a:avLst/>
          </a:prstGeom>
          <a:solidFill>
            <a:srgbClr val="00A6B2"/>
          </a:solidFill>
          <a:ln w="0">
            <a:noFill/>
          </a:ln>
        </p:spPr>
        <p:txBody>
          <a:bodyPr/>
          <a:lstStyle/>
          <a:p>
            <a:endParaRPr lang="en-US"/>
          </a:p>
        </p:txBody>
      </p:sp>
      <p:sp>
        <p:nvSpPr>
          <p:cNvPr id="32" name="Rectangle: Rounded Corners 31">
            <a:extLst>
              <a:ext uri="{FF2B5EF4-FFF2-40B4-BE49-F238E27FC236}">
                <a16:creationId xmlns:a16="http://schemas.microsoft.com/office/drawing/2014/main" id="{6EAC24A1-3428-4B25-8650-FE5043D9FD0A}"/>
              </a:ext>
            </a:extLst>
          </p:cNvPr>
          <p:cNvSpPr>
            <a:spLocks noGrp="1"/>
          </p:cNvSpPr>
          <p:nvPr/>
        </p:nvSpPr>
        <p:spPr>
          <a:xfrm>
            <a:off x="457200" y="5095875"/>
            <a:ext cx="11277600" cy="619125"/>
          </a:xfrm>
          <a:prstGeom prst="roundRect">
            <a:avLst>
              <a:gd name="adj" fmla="val 9231"/>
            </a:avLst>
          </a:prstGeom>
          <a:solidFill>
            <a:srgbClr val="0B1F3A"/>
          </a:solidFill>
          <a:ln w="11906">
            <a:solidFill>
              <a:srgbClr val="0B1F3A"/>
            </a:solidFill>
          </a:ln>
        </p:spPr>
        <p:txBody>
          <a:bodyPr/>
          <a:lstStyle/>
          <a:p>
            <a:endParaRPr lang="en-US"/>
          </a:p>
        </p:txBody>
      </p:sp>
      <p:sp>
        <p:nvSpPr>
          <p:cNvPr id="33" name="Rectangle 32">
            <a:extLst>
              <a:ext uri="{FF2B5EF4-FFF2-40B4-BE49-F238E27FC236}">
                <a16:creationId xmlns:a16="http://schemas.microsoft.com/office/drawing/2014/main" id="{398A1197-0EA7-4775-9E04-17F674AAC0A0}"/>
              </a:ext>
            </a:extLst>
          </p:cNvPr>
          <p:cNvSpPr>
            <a:spLocks noGrp="1"/>
          </p:cNvSpPr>
          <p:nvPr/>
        </p:nvSpPr>
        <p:spPr>
          <a:xfrm>
            <a:off x="581025" y="5191125"/>
            <a:ext cx="11029950" cy="219075"/>
          </a:xfrm>
          <a:prstGeom prst="rect">
            <a:avLst/>
          </a:prstGeom>
          <a:noFill/>
          <a:ln w="0">
            <a:noFill/>
          </a:ln>
        </p:spPr>
        <p:txBody>
          <a:bodyPr>
            <a:noAutofit/>
          </a:bodyPr>
          <a:lstStyle/>
          <a:p>
            <a:pPr>
              <a:defRPr sz="1650" b="1">
                <a:solidFill>
                  <a:srgbClr val="FFFFFF"/>
                </a:solidFill>
                <a:latin typeface="Segoe UI"/>
                <a:ea typeface="Segoe UI"/>
                <a:cs typeface="Segoe UI"/>
              </a:defRPr>
            </a:pPr>
            <a:r>
              <a:rPr sz="1650" b="1">
                <a:solidFill>
                  <a:srgbClr val="FFFFFF"/>
                </a:solidFill>
                <a:latin typeface="Segoe UI"/>
                <a:ea typeface="Segoe UI"/>
                <a:cs typeface="Segoe UI"/>
              </a:rPr>
              <a:t>Decision brief and human disposition</a:t>
            </a:r>
          </a:p>
        </p:txBody>
      </p:sp>
      <p:sp>
        <p:nvSpPr>
          <p:cNvPr id="34" name="Rectangle 33">
            <a:extLst>
              <a:ext uri="{FF2B5EF4-FFF2-40B4-BE49-F238E27FC236}">
                <a16:creationId xmlns:a16="http://schemas.microsoft.com/office/drawing/2014/main" id="{541BB38E-EE33-49DE-9DD5-550AE3114288}"/>
              </a:ext>
            </a:extLst>
          </p:cNvPr>
          <p:cNvSpPr>
            <a:spLocks noGrp="1"/>
          </p:cNvSpPr>
          <p:nvPr/>
        </p:nvSpPr>
        <p:spPr>
          <a:xfrm>
            <a:off x="581025" y="5429250"/>
            <a:ext cx="11029950" cy="200025"/>
          </a:xfrm>
          <a:prstGeom prst="rect">
            <a:avLst/>
          </a:prstGeom>
          <a:noFill/>
          <a:ln w="0">
            <a:noFill/>
          </a:ln>
        </p:spPr>
        <p:txBody>
          <a:bodyPr>
            <a:noAutofit/>
          </a:bodyPr>
          <a:lstStyle/>
          <a:p>
            <a:pPr>
              <a:defRPr sz="1275" b="0">
                <a:solidFill>
                  <a:srgbClr val="FFFFFF"/>
                </a:solidFill>
                <a:latin typeface="Segoe UI"/>
                <a:ea typeface="Segoe UI"/>
                <a:cs typeface="Segoe UI"/>
              </a:defRPr>
            </a:pPr>
            <a:r>
              <a:rPr sz="1275" b="0">
                <a:solidFill>
                  <a:srgbClr val="FFFFFF"/>
                </a:solidFill>
                <a:latin typeface="Segoe UI"/>
                <a:ea typeface="Segoe UI"/>
                <a:cs typeface="Segoe UI"/>
              </a:rPr>
              <a:t>Accept for review / reject / defer / request evidence. Authorized export retains evidence, assumptions and confidentiality.</a:t>
            </a:r>
          </a:p>
        </p:txBody>
      </p:sp>
      <p:sp>
        <p:nvSpPr>
          <p:cNvPr id="35" name="Rectangle: Rounded Corners 34">
            <a:extLst>
              <a:ext uri="{FF2B5EF4-FFF2-40B4-BE49-F238E27FC236}">
                <a16:creationId xmlns:a16="http://schemas.microsoft.com/office/drawing/2014/main" id="{C3745E61-233D-46FC-8A67-3CC945CC04DA}"/>
              </a:ext>
            </a:extLst>
          </p:cNvPr>
          <p:cNvSpPr>
            <a:spLocks noGrp="1"/>
          </p:cNvSpPr>
          <p:nvPr/>
        </p:nvSpPr>
        <p:spPr>
          <a:xfrm>
            <a:off x="457200" y="5962650"/>
            <a:ext cx="11277600" cy="409575"/>
          </a:xfrm>
          <a:prstGeom prst="roundRect">
            <a:avLst>
              <a:gd name="adj" fmla="val 13953"/>
            </a:avLst>
          </a:prstGeom>
          <a:solidFill>
            <a:srgbClr val="0B1F3A"/>
          </a:solidFill>
          <a:ln w="11906">
            <a:solidFill>
              <a:srgbClr val="0B1F3A"/>
            </a:solidFill>
          </a:ln>
        </p:spPr>
        <p:txBody>
          <a:bodyPr/>
          <a:lstStyle/>
          <a:p>
            <a:endParaRPr lang="en-US"/>
          </a:p>
        </p:txBody>
      </p:sp>
      <p:sp>
        <p:nvSpPr>
          <p:cNvPr id="36" name="Rectangle 35">
            <a:extLst>
              <a:ext uri="{FF2B5EF4-FFF2-40B4-BE49-F238E27FC236}">
                <a16:creationId xmlns:a16="http://schemas.microsoft.com/office/drawing/2014/main" id="{A87DC751-97DF-45F3-B97D-094F51E93BD0}"/>
              </a:ext>
            </a:extLst>
          </p:cNvPr>
          <p:cNvSpPr>
            <a:spLocks noGrp="1"/>
          </p:cNvSpPr>
          <p:nvPr/>
        </p:nvSpPr>
        <p:spPr>
          <a:xfrm>
            <a:off x="581025" y="6057900"/>
            <a:ext cx="11029950" cy="266700"/>
          </a:xfrm>
          <a:prstGeom prst="rect">
            <a:avLst/>
          </a:prstGeom>
          <a:noFill/>
          <a:ln w="0">
            <a:noFill/>
          </a:ln>
        </p:spPr>
        <p:txBody>
          <a:bodyPr>
            <a:noAutofit/>
          </a:bodyPr>
          <a:lstStyle/>
          <a:p>
            <a:pPr>
              <a:defRPr sz="1200" b="1">
                <a:solidFill>
                  <a:srgbClr val="FFFFFF"/>
                </a:solidFill>
                <a:latin typeface="Segoe UI"/>
                <a:ea typeface="Segoe UI"/>
                <a:cs typeface="Segoe UI"/>
              </a:defRPr>
            </a:pPr>
            <a:r>
              <a:rPr sz="1200" b="1">
                <a:solidFill>
                  <a:srgbClr val="FFFFFF"/>
                </a:solidFill>
                <a:latin typeface="Segoe UI"/>
                <a:ea typeface="Segoe UI"/>
                <a:cs typeface="Segoe UI"/>
              </a:rPr>
              <a:t>Exploratory reads and scenarios proceed within policy. No agent renews a contract, changes workforce or offboards a supplier.</a:t>
            </a:r>
          </a:p>
        </p:txBody>
      </p:sp>
    </p:spTree>
    <p:extLst>
      <p:ext uri="{BB962C8B-B14F-4D97-AF65-F5344CB8AC3E}">
        <p14:creationId xmlns:p14="http://schemas.microsoft.com/office/powerpoint/2010/main" val="12143611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01A117A9-F418-4CCC-A4E5-45599EA6D62C}"/>
              </a:ext>
            </a:extLst>
          </p:cNvPr>
          <p:cNvSpPr>
            <a:spLocks noGrp="1"/>
          </p:cNvSpPr>
          <p:nvPr/>
        </p:nvSpPr>
        <p:spPr>
          <a:xfrm>
            <a:off x="0" y="0"/>
            <a:ext cx="12192000" cy="95250"/>
          </a:xfrm>
          <a:prstGeom prst="rect">
            <a:avLst/>
          </a:prstGeom>
          <a:solidFill>
            <a:srgbClr val="0B1F3A"/>
          </a:solidFill>
          <a:ln w="11906">
            <a:solidFill>
              <a:srgbClr val="0B1F3A"/>
            </a:solidFill>
          </a:ln>
        </p:spPr>
        <p:txBody>
          <a:bodyPr/>
          <a:lstStyle/>
          <a:p>
            <a:endParaRPr lang="en-US"/>
          </a:p>
        </p:txBody>
      </p:sp>
      <p:sp>
        <p:nvSpPr>
          <p:cNvPr id="2" name="Rectangle 1">
            <a:extLst>
              <a:ext uri="{FF2B5EF4-FFF2-40B4-BE49-F238E27FC236}">
                <a16:creationId xmlns:a16="http://schemas.microsoft.com/office/drawing/2014/main" id="{3476C0A5-2D7B-4634-820F-0BF3E5B19EE4}"/>
              </a:ext>
            </a:extLst>
          </p:cNvPr>
          <p:cNvSpPr>
            <a:spLocks noGrp="1"/>
          </p:cNvSpPr>
          <p:nvPr/>
        </p:nvSpPr>
        <p:spPr>
          <a:xfrm>
            <a:off x="457200" y="352425"/>
            <a:ext cx="11239500" cy="504825"/>
          </a:xfrm>
          <a:prstGeom prst="rect">
            <a:avLst/>
          </a:prstGeom>
          <a:noFill/>
          <a:ln w="0">
            <a:noFill/>
          </a:ln>
        </p:spPr>
        <p:txBody>
          <a:bodyPr>
            <a:noAutofit/>
          </a:bodyPr>
          <a:lstStyle/>
          <a:p>
            <a:pPr>
              <a:defRPr sz="2550" b="1">
                <a:solidFill>
                  <a:srgbClr val="0B1F3A"/>
                </a:solidFill>
                <a:latin typeface="Segoe UI"/>
                <a:ea typeface="Segoe UI"/>
                <a:cs typeface="Segoe UI"/>
              </a:defRPr>
            </a:pPr>
            <a:r>
              <a:rPr sz="2550" b="1">
                <a:solidFill>
                  <a:srgbClr val="0B1F3A"/>
                </a:solidFill>
                <a:latin typeface="Segoe UI"/>
                <a:ea typeface="Segoe UI"/>
                <a:cs typeface="Segoe UI"/>
              </a:rPr>
              <a:t>Reference deployment: concrete choices with defined alternatives</a:t>
            </a:r>
          </a:p>
        </p:txBody>
      </p:sp>
      <p:sp>
        <p:nvSpPr>
          <p:cNvPr id="3" name="Rectangle 2">
            <a:extLst>
              <a:ext uri="{FF2B5EF4-FFF2-40B4-BE49-F238E27FC236}">
                <a16:creationId xmlns:a16="http://schemas.microsoft.com/office/drawing/2014/main" id="{2A7ED82E-8DF8-42CD-AE9B-2429FD88325B}"/>
              </a:ext>
            </a:extLst>
          </p:cNvPr>
          <p:cNvSpPr>
            <a:spLocks noGrp="1"/>
          </p:cNvSpPr>
          <p:nvPr/>
        </p:nvSpPr>
        <p:spPr>
          <a:xfrm>
            <a:off x="466725" y="885825"/>
            <a:ext cx="11239500" cy="409575"/>
          </a:xfrm>
          <a:prstGeom prst="rect">
            <a:avLst/>
          </a:prstGeom>
          <a:noFill/>
          <a:ln w="0">
            <a:noFill/>
          </a:ln>
        </p:spPr>
        <p:txBody>
          <a:bodyPr>
            <a:noAutofit/>
          </a:bodyPr>
          <a:lstStyle/>
          <a:p>
            <a:pPr>
              <a:defRPr sz="1350" b="0">
                <a:solidFill>
                  <a:srgbClr val="46586C"/>
                </a:solidFill>
                <a:latin typeface="Segoe UI"/>
                <a:ea typeface="Segoe UI"/>
                <a:cs typeface="Segoe UI"/>
              </a:defRPr>
            </a:pPr>
            <a:r>
              <a:rPr sz="1350" b="0">
                <a:solidFill>
                  <a:srgbClr val="46586C"/>
                </a:solidFill>
                <a:latin typeface="Segoe UI"/>
                <a:ea typeface="Segoe UI"/>
                <a:cs typeface="Segoe UI"/>
              </a:rPr>
              <a:t>Proposed stack for the demo. Production uses Citi-approved platforms, entitlement capabilities and measured workload requirements.</a:t>
            </a:r>
          </a:p>
        </p:txBody>
      </p:sp>
      <p:sp>
        <p:nvSpPr>
          <p:cNvPr id="4" name="Rectangle 3">
            <a:extLst>
              <a:ext uri="{FF2B5EF4-FFF2-40B4-BE49-F238E27FC236}">
                <a16:creationId xmlns:a16="http://schemas.microsoft.com/office/drawing/2014/main" id="{06196817-7EF4-4FBA-A26B-E37449D2E7B5}"/>
              </a:ext>
            </a:extLst>
          </p:cNvPr>
          <p:cNvSpPr>
            <a:spLocks noGrp="1"/>
          </p:cNvSpPr>
          <p:nvPr/>
        </p:nvSpPr>
        <p:spPr>
          <a:xfrm>
            <a:off x="457200" y="6562725"/>
            <a:ext cx="9906000" cy="200025"/>
          </a:xfrm>
          <a:prstGeom prst="rect">
            <a:avLst/>
          </a:prstGeom>
          <a:noFill/>
          <a:ln w="0">
            <a:noFill/>
          </a:ln>
        </p:spPr>
        <p:txBody>
          <a:bodyPr>
            <a:noAutofit/>
          </a:bodyPr>
          <a:lstStyle/>
          <a:p>
            <a:pPr>
              <a:defRPr sz="900" b="0">
                <a:solidFill>
                  <a:srgbClr val="46586C"/>
                </a:solidFill>
                <a:latin typeface="Segoe UI"/>
                <a:ea typeface="Segoe UI"/>
                <a:cs typeface="Segoe UI"/>
              </a:defRPr>
            </a:pPr>
            <a:r>
              <a:rPr sz="900" b="0">
                <a:solidFill>
                  <a:srgbClr val="46586C"/>
                </a:solidFill>
                <a:latin typeface="Segoe UI"/>
                <a:ea typeface="Segoe UI"/>
                <a:cs typeface="Segoe UI"/>
              </a:rPr>
              <a:t>CITI VENDOR DECISION INTELLIGENCE  /  PROPOSED SOLUTION</a:t>
            </a:r>
          </a:p>
        </p:txBody>
      </p:sp>
      <p:sp>
        <p:nvSpPr>
          <p:cNvPr id="5" name="Rectangle 4">
            <a:extLst>
              <a:ext uri="{FF2B5EF4-FFF2-40B4-BE49-F238E27FC236}">
                <a16:creationId xmlns:a16="http://schemas.microsoft.com/office/drawing/2014/main" id="{13465D30-EA17-4785-A821-ADE36CADDADD}"/>
              </a:ext>
            </a:extLst>
          </p:cNvPr>
          <p:cNvSpPr>
            <a:spLocks noGrp="1"/>
          </p:cNvSpPr>
          <p:nvPr/>
        </p:nvSpPr>
        <p:spPr>
          <a:xfrm>
            <a:off x="11391900" y="6562725"/>
            <a:ext cx="323850" cy="190500"/>
          </a:xfrm>
          <a:prstGeom prst="rect">
            <a:avLst/>
          </a:prstGeom>
          <a:noFill/>
          <a:ln w="0">
            <a:noFill/>
          </a:ln>
        </p:spPr>
        <p:txBody>
          <a:bodyPr>
            <a:noAutofit/>
          </a:bodyPr>
          <a:lstStyle/>
          <a:p>
            <a:pPr>
              <a:defRPr sz="900" b="1">
                <a:solidFill>
                  <a:srgbClr val="0B1F3A"/>
                </a:solidFill>
                <a:latin typeface="Segoe UI"/>
                <a:ea typeface="Segoe UI"/>
                <a:cs typeface="Segoe UI"/>
              </a:defRPr>
            </a:pPr>
            <a:r>
              <a:rPr sz="900" b="1">
                <a:solidFill>
                  <a:srgbClr val="0B1F3A"/>
                </a:solidFill>
                <a:latin typeface="Segoe UI"/>
                <a:ea typeface="Segoe UI"/>
                <a:cs typeface="Segoe UI"/>
              </a:rPr>
              <a:t>07</a:t>
            </a:r>
          </a:p>
        </p:txBody>
      </p:sp>
      <p:sp>
        <p:nvSpPr>
          <p:cNvPr id="6" name="Rectangle: Rounded Corners 5">
            <a:extLst>
              <a:ext uri="{FF2B5EF4-FFF2-40B4-BE49-F238E27FC236}">
                <a16:creationId xmlns:a16="http://schemas.microsoft.com/office/drawing/2014/main" id="{872595AB-E1F3-47F0-9140-660DF048CE31}"/>
              </a:ext>
            </a:extLst>
          </p:cNvPr>
          <p:cNvSpPr>
            <a:spLocks noGrp="1"/>
          </p:cNvSpPr>
          <p:nvPr/>
        </p:nvSpPr>
        <p:spPr>
          <a:xfrm>
            <a:off x="457200" y="1438275"/>
            <a:ext cx="3619500" cy="1304925"/>
          </a:xfrm>
          <a:prstGeom prst="roundRect">
            <a:avLst>
              <a:gd name="adj" fmla="val 4380"/>
            </a:avLst>
          </a:prstGeom>
          <a:solidFill>
            <a:srgbClr val="FFFFFF"/>
          </a:solidFill>
          <a:ln w="11906">
            <a:solidFill>
              <a:srgbClr val="B8C7D9"/>
            </a:solidFill>
          </a:ln>
        </p:spPr>
        <p:txBody>
          <a:bodyPr/>
          <a:lstStyle/>
          <a:p>
            <a:endParaRPr lang="en-US"/>
          </a:p>
        </p:txBody>
      </p:sp>
      <p:sp>
        <p:nvSpPr>
          <p:cNvPr id="7" name="Rectangle 6">
            <a:extLst>
              <a:ext uri="{FF2B5EF4-FFF2-40B4-BE49-F238E27FC236}">
                <a16:creationId xmlns:a16="http://schemas.microsoft.com/office/drawing/2014/main" id="{37160297-4C2F-4FF9-99C9-1000FF355829}"/>
              </a:ext>
            </a:extLst>
          </p:cNvPr>
          <p:cNvSpPr>
            <a:spLocks noGrp="1"/>
          </p:cNvSpPr>
          <p:nvPr/>
        </p:nvSpPr>
        <p:spPr>
          <a:xfrm>
            <a:off x="581025" y="1533525"/>
            <a:ext cx="3371850" cy="285750"/>
          </a:xfrm>
          <a:prstGeom prst="rect">
            <a:avLst/>
          </a:prstGeom>
          <a:noFill/>
          <a:ln w="0">
            <a:noFill/>
          </a:ln>
        </p:spPr>
        <p:txBody>
          <a:bodyPr>
            <a:noAutofit/>
          </a:bodyPr>
          <a:lstStyle/>
          <a:p>
            <a:pPr>
              <a:defRPr sz="1725" b="1">
                <a:solidFill>
                  <a:srgbClr val="0B1F3A"/>
                </a:solidFill>
                <a:latin typeface="Segoe UI"/>
                <a:ea typeface="Segoe UI"/>
                <a:cs typeface="Segoe UI"/>
              </a:defRPr>
            </a:pPr>
            <a:r>
              <a:rPr sz="1725" b="1">
                <a:solidFill>
                  <a:srgbClr val="0B1F3A"/>
                </a:solidFill>
                <a:latin typeface="Segoe UI"/>
                <a:ea typeface="Segoe UI"/>
                <a:cs typeface="Segoe UI"/>
              </a:rPr>
              <a:t>React + TypeScript</a:t>
            </a:r>
          </a:p>
        </p:txBody>
      </p:sp>
      <p:sp>
        <p:nvSpPr>
          <p:cNvPr id="8" name="Rectangle 7">
            <a:extLst>
              <a:ext uri="{FF2B5EF4-FFF2-40B4-BE49-F238E27FC236}">
                <a16:creationId xmlns:a16="http://schemas.microsoft.com/office/drawing/2014/main" id="{DA7B0677-5DEC-4891-8ED9-D83384E0CC18}"/>
              </a:ext>
            </a:extLst>
          </p:cNvPr>
          <p:cNvSpPr>
            <a:spLocks noGrp="1"/>
          </p:cNvSpPr>
          <p:nvPr/>
        </p:nvSpPr>
        <p:spPr>
          <a:xfrm>
            <a:off x="581025" y="1895475"/>
            <a:ext cx="3371850" cy="762000"/>
          </a:xfrm>
          <a:prstGeom prst="rect">
            <a:avLst/>
          </a:prstGeom>
          <a:noFill/>
          <a:ln w="0">
            <a:noFill/>
          </a:ln>
        </p:spPr>
        <p:txBody>
          <a:bodyPr>
            <a:noAutofit/>
          </a:bodyPr>
          <a:lstStyle/>
          <a:p>
            <a:pPr>
              <a:defRPr sz="1425" b="0">
                <a:solidFill>
                  <a:srgbClr val="253E55"/>
                </a:solidFill>
                <a:latin typeface="Segoe UI"/>
                <a:ea typeface="Segoe UI"/>
                <a:cs typeface="Segoe UI"/>
              </a:defRPr>
            </a:pPr>
            <a:r>
              <a:rPr sz="1425" b="0">
                <a:solidFill>
                  <a:srgbClr val="253E55"/>
                </a:solidFill>
                <a:latin typeface="Segoe UI"/>
                <a:ea typeface="Segoe UI"/>
                <a:cs typeface="Segoe UI"/>
              </a:rPr>
              <a:t>Cockpit, graph explorer, scenario</a:t>
            </a:r>
          </a:p>
          <a:p>
            <a:pPr>
              <a:defRPr sz="1425" b="0">
                <a:solidFill>
                  <a:srgbClr val="253E55"/>
                </a:solidFill>
                <a:latin typeface="Segoe UI"/>
                <a:ea typeface="Segoe UI"/>
                <a:cs typeface="Segoe UI"/>
              </a:defRPr>
            </a:pPr>
            <a:r>
              <a:rPr sz="1425" b="0">
                <a:solidFill>
                  <a:srgbClr val="253E55"/>
                </a:solidFill>
                <a:latin typeface="Segoe UI"/>
                <a:ea typeface="Segoe UI"/>
                <a:cs typeface="Segoe UI"/>
              </a:rPr>
              <a:t>Evidence drawer and review queue</a:t>
            </a:r>
          </a:p>
        </p:txBody>
      </p:sp>
      <p:sp>
        <p:nvSpPr>
          <p:cNvPr id="9" name="Rectangle: Rounded Corners 8">
            <a:extLst>
              <a:ext uri="{FF2B5EF4-FFF2-40B4-BE49-F238E27FC236}">
                <a16:creationId xmlns:a16="http://schemas.microsoft.com/office/drawing/2014/main" id="{1EECF6C6-A34D-4504-AA86-167D3D22169E}"/>
              </a:ext>
            </a:extLst>
          </p:cNvPr>
          <p:cNvSpPr>
            <a:spLocks noGrp="1"/>
          </p:cNvSpPr>
          <p:nvPr/>
        </p:nvSpPr>
        <p:spPr>
          <a:xfrm>
            <a:off x="4286250" y="1438275"/>
            <a:ext cx="3619500" cy="1304925"/>
          </a:xfrm>
          <a:prstGeom prst="roundRect">
            <a:avLst>
              <a:gd name="adj" fmla="val 4380"/>
            </a:avLst>
          </a:prstGeom>
          <a:solidFill>
            <a:srgbClr val="FFFFFF"/>
          </a:solidFill>
          <a:ln w="11906">
            <a:solidFill>
              <a:srgbClr val="B8C7D9"/>
            </a:solidFill>
          </a:ln>
        </p:spPr>
        <p:txBody>
          <a:bodyPr/>
          <a:lstStyle/>
          <a:p>
            <a:endParaRPr lang="en-US"/>
          </a:p>
        </p:txBody>
      </p:sp>
      <p:sp>
        <p:nvSpPr>
          <p:cNvPr id="10" name="Rectangle 9">
            <a:extLst>
              <a:ext uri="{FF2B5EF4-FFF2-40B4-BE49-F238E27FC236}">
                <a16:creationId xmlns:a16="http://schemas.microsoft.com/office/drawing/2014/main" id="{AFE61D0D-5E33-43F0-88B7-97B942DCB73E}"/>
              </a:ext>
            </a:extLst>
          </p:cNvPr>
          <p:cNvSpPr>
            <a:spLocks noGrp="1"/>
          </p:cNvSpPr>
          <p:nvPr/>
        </p:nvSpPr>
        <p:spPr>
          <a:xfrm>
            <a:off x="4410075" y="1533525"/>
            <a:ext cx="3371850" cy="285750"/>
          </a:xfrm>
          <a:prstGeom prst="rect">
            <a:avLst/>
          </a:prstGeom>
          <a:noFill/>
          <a:ln w="0">
            <a:noFill/>
          </a:ln>
        </p:spPr>
        <p:txBody>
          <a:bodyPr>
            <a:noAutofit/>
          </a:bodyPr>
          <a:lstStyle/>
          <a:p>
            <a:pPr>
              <a:defRPr sz="1725" b="1">
                <a:solidFill>
                  <a:srgbClr val="0B1F3A"/>
                </a:solidFill>
                <a:latin typeface="Segoe UI"/>
                <a:ea typeface="Segoe UI"/>
                <a:cs typeface="Segoe UI"/>
              </a:defRPr>
            </a:pPr>
            <a:r>
              <a:rPr sz="1725" b="1">
                <a:solidFill>
                  <a:srgbClr val="0B1F3A"/>
                </a:solidFill>
                <a:latin typeface="Segoe UI"/>
                <a:ea typeface="Segoe UI"/>
                <a:cs typeface="Segoe UI"/>
              </a:rPr>
              <a:t>Python API + workers</a:t>
            </a:r>
          </a:p>
        </p:txBody>
      </p:sp>
      <p:sp>
        <p:nvSpPr>
          <p:cNvPr id="11" name="Rectangle 10">
            <a:extLst>
              <a:ext uri="{FF2B5EF4-FFF2-40B4-BE49-F238E27FC236}">
                <a16:creationId xmlns:a16="http://schemas.microsoft.com/office/drawing/2014/main" id="{A59AD58E-B6B4-46CB-9D1A-C242D54EB504}"/>
              </a:ext>
            </a:extLst>
          </p:cNvPr>
          <p:cNvSpPr>
            <a:spLocks noGrp="1"/>
          </p:cNvSpPr>
          <p:nvPr/>
        </p:nvSpPr>
        <p:spPr>
          <a:xfrm>
            <a:off x="4410075" y="1895475"/>
            <a:ext cx="3371850" cy="762000"/>
          </a:xfrm>
          <a:prstGeom prst="rect">
            <a:avLst/>
          </a:prstGeom>
          <a:noFill/>
          <a:ln w="0">
            <a:noFill/>
          </a:ln>
        </p:spPr>
        <p:txBody>
          <a:bodyPr>
            <a:noAutofit/>
          </a:bodyPr>
          <a:lstStyle/>
          <a:p>
            <a:pPr>
              <a:defRPr sz="1425" b="0">
                <a:solidFill>
                  <a:srgbClr val="253E55"/>
                </a:solidFill>
                <a:latin typeface="Segoe UI"/>
                <a:ea typeface="Segoe UI"/>
                <a:cs typeface="Segoe UI"/>
              </a:defRPr>
            </a:pPr>
            <a:r>
              <a:rPr sz="1425" b="0">
                <a:solidFill>
                  <a:srgbClr val="253E55"/>
                </a:solidFill>
                <a:latin typeface="Segoe UI"/>
                <a:ea typeface="Segoe UI"/>
                <a:cs typeface="Segoe UI"/>
              </a:rPr>
              <a:t>Typed service contracts / SSO</a:t>
            </a:r>
          </a:p>
          <a:p>
            <a:pPr>
              <a:defRPr sz="1425" b="0">
                <a:solidFill>
                  <a:srgbClr val="253E55"/>
                </a:solidFill>
                <a:latin typeface="Segoe UI"/>
                <a:ea typeface="Segoe UI"/>
                <a:cs typeface="Segoe UI"/>
              </a:defRPr>
            </a:pPr>
            <a:r>
              <a:rPr sz="1425" b="0">
                <a:solidFill>
                  <a:srgbClr val="253E55"/>
                </a:solidFill>
                <a:latin typeface="Segoe UI"/>
                <a:ea typeface="Segoe UI"/>
                <a:cs typeface="Segoe UI"/>
              </a:rPr>
              <a:t>Jobs, exports and ingestion</a:t>
            </a:r>
          </a:p>
        </p:txBody>
      </p:sp>
      <p:sp>
        <p:nvSpPr>
          <p:cNvPr id="12" name="Rectangle: Rounded Corners 11">
            <a:extLst>
              <a:ext uri="{FF2B5EF4-FFF2-40B4-BE49-F238E27FC236}">
                <a16:creationId xmlns:a16="http://schemas.microsoft.com/office/drawing/2014/main" id="{F61F4A5B-1E3E-4633-A9B1-0BA21CD317D9}"/>
              </a:ext>
            </a:extLst>
          </p:cNvPr>
          <p:cNvSpPr>
            <a:spLocks noGrp="1"/>
          </p:cNvSpPr>
          <p:nvPr/>
        </p:nvSpPr>
        <p:spPr>
          <a:xfrm>
            <a:off x="8115300" y="1438275"/>
            <a:ext cx="3619500" cy="1304925"/>
          </a:xfrm>
          <a:prstGeom prst="roundRect">
            <a:avLst>
              <a:gd name="adj" fmla="val 4380"/>
            </a:avLst>
          </a:prstGeom>
          <a:solidFill>
            <a:srgbClr val="FFFFFF"/>
          </a:solidFill>
          <a:ln w="11906">
            <a:solidFill>
              <a:srgbClr val="B8C7D9"/>
            </a:solidFill>
          </a:ln>
        </p:spPr>
        <p:txBody>
          <a:bodyPr/>
          <a:lstStyle/>
          <a:p>
            <a:endParaRPr lang="en-US"/>
          </a:p>
        </p:txBody>
      </p:sp>
      <p:sp>
        <p:nvSpPr>
          <p:cNvPr id="13" name="Rectangle 12">
            <a:extLst>
              <a:ext uri="{FF2B5EF4-FFF2-40B4-BE49-F238E27FC236}">
                <a16:creationId xmlns:a16="http://schemas.microsoft.com/office/drawing/2014/main" id="{82593617-22B7-4DFF-BD7C-C08AA69089A9}"/>
              </a:ext>
            </a:extLst>
          </p:cNvPr>
          <p:cNvSpPr>
            <a:spLocks noGrp="1"/>
          </p:cNvSpPr>
          <p:nvPr/>
        </p:nvSpPr>
        <p:spPr>
          <a:xfrm>
            <a:off x="8239125" y="1533525"/>
            <a:ext cx="3371850" cy="285750"/>
          </a:xfrm>
          <a:prstGeom prst="rect">
            <a:avLst/>
          </a:prstGeom>
          <a:noFill/>
          <a:ln w="0">
            <a:noFill/>
          </a:ln>
        </p:spPr>
        <p:txBody>
          <a:bodyPr>
            <a:noAutofit/>
          </a:bodyPr>
          <a:lstStyle/>
          <a:p>
            <a:pPr>
              <a:defRPr sz="1725" b="1">
                <a:solidFill>
                  <a:srgbClr val="0B1F3A"/>
                </a:solidFill>
                <a:latin typeface="Segoe UI"/>
                <a:ea typeface="Segoe UI"/>
                <a:cs typeface="Segoe UI"/>
              </a:defRPr>
            </a:pPr>
            <a:r>
              <a:rPr sz="1725" b="1">
                <a:solidFill>
                  <a:srgbClr val="0B1F3A"/>
                </a:solidFill>
                <a:latin typeface="Segoe UI"/>
                <a:ea typeface="Segoe UI"/>
                <a:cs typeface="Segoe UI"/>
              </a:rPr>
              <a:t>LangGraph runtime</a:t>
            </a:r>
          </a:p>
        </p:txBody>
      </p:sp>
      <p:sp>
        <p:nvSpPr>
          <p:cNvPr id="14" name="Rectangle 13">
            <a:extLst>
              <a:ext uri="{FF2B5EF4-FFF2-40B4-BE49-F238E27FC236}">
                <a16:creationId xmlns:a16="http://schemas.microsoft.com/office/drawing/2014/main" id="{DDE2EDD2-C922-449D-8FD9-2C1F245F7A81}"/>
              </a:ext>
            </a:extLst>
          </p:cNvPr>
          <p:cNvSpPr>
            <a:spLocks noGrp="1"/>
          </p:cNvSpPr>
          <p:nvPr/>
        </p:nvSpPr>
        <p:spPr>
          <a:xfrm>
            <a:off x="8239125" y="1895475"/>
            <a:ext cx="3371850" cy="762000"/>
          </a:xfrm>
          <a:prstGeom prst="rect">
            <a:avLst/>
          </a:prstGeom>
          <a:noFill/>
          <a:ln w="0">
            <a:noFill/>
          </a:ln>
        </p:spPr>
        <p:txBody>
          <a:bodyPr>
            <a:noAutofit/>
          </a:bodyPr>
          <a:lstStyle/>
          <a:p>
            <a:pPr>
              <a:defRPr sz="1425" b="0">
                <a:solidFill>
                  <a:srgbClr val="253E55"/>
                </a:solidFill>
                <a:latin typeface="Segoe UI"/>
                <a:ea typeface="Segoe UI"/>
                <a:cs typeface="Segoe UI"/>
              </a:defRPr>
            </a:pPr>
            <a:r>
              <a:rPr sz="1425" b="0">
                <a:solidFill>
                  <a:srgbClr val="253E55"/>
                </a:solidFill>
                <a:latin typeface="Segoe UI"/>
                <a:ea typeface="Segoe UI"/>
                <a:cs typeface="Segoe UI"/>
              </a:rPr>
              <a:t>Supervisor and specialists</a:t>
            </a:r>
          </a:p>
          <a:p>
            <a:pPr>
              <a:defRPr sz="1425" b="0">
                <a:solidFill>
                  <a:srgbClr val="253E55"/>
                </a:solidFill>
                <a:latin typeface="Segoe UI"/>
                <a:ea typeface="Segoe UI"/>
                <a:cs typeface="Segoe UI"/>
              </a:defRPr>
            </a:pPr>
            <a:r>
              <a:rPr sz="1425" b="0">
                <a:solidFill>
                  <a:srgbClr val="253E55"/>
                </a:solidFill>
                <a:latin typeface="Segoe UI"/>
                <a:ea typeface="Segoe UI"/>
                <a:cs typeface="Segoe UI"/>
              </a:rPr>
              <a:t>Durable checkpoints / review pause</a:t>
            </a:r>
          </a:p>
        </p:txBody>
      </p:sp>
      <p:sp>
        <p:nvSpPr>
          <p:cNvPr id="15" name="Rectangle: Rounded Corners 14">
            <a:extLst>
              <a:ext uri="{FF2B5EF4-FFF2-40B4-BE49-F238E27FC236}">
                <a16:creationId xmlns:a16="http://schemas.microsoft.com/office/drawing/2014/main" id="{77A2E94A-618D-4933-BE29-3146C54B84AF}"/>
              </a:ext>
            </a:extLst>
          </p:cNvPr>
          <p:cNvSpPr>
            <a:spLocks noGrp="1"/>
          </p:cNvSpPr>
          <p:nvPr/>
        </p:nvSpPr>
        <p:spPr>
          <a:xfrm>
            <a:off x="457200" y="2962275"/>
            <a:ext cx="3619500" cy="1304925"/>
          </a:xfrm>
          <a:prstGeom prst="roundRect">
            <a:avLst>
              <a:gd name="adj" fmla="val 4380"/>
            </a:avLst>
          </a:prstGeom>
          <a:solidFill>
            <a:srgbClr val="E4F6F7"/>
          </a:solidFill>
          <a:ln w="11906">
            <a:solidFill>
              <a:srgbClr val="B8C7D9"/>
            </a:solidFill>
          </a:ln>
        </p:spPr>
        <p:txBody>
          <a:bodyPr/>
          <a:lstStyle/>
          <a:p>
            <a:endParaRPr lang="en-US"/>
          </a:p>
        </p:txBody>
      </p:sp>
      <p:sp>
        <p:nvSpPr>
          <p:cNvPr id="16" name="Oval 15">
            <a:extLst>
              <a:ext uri="{FF2B5EF4-FFF2-40B4-BE49-F238E27FC236}">
                <a16:creationId xmlns:a16="http://schemas.microsoft.com/office/drawing/2014/main" id="{CC2A8311-3EB4-4ABA-88BE-A4C628F9F099}"/>
              </a:ext>
            </a:extLst>
          </p:cNvPr>
          <p:cNvSpPr>
            <a:spLocks noGrp="1"/>
          </p:cNvSpPr>
          <p:nvPr/>
        </p:nvSpPr>
        <p:spPr>
          <a:xfrm>
            <a:off x="3629025" y="3295650"/>
            <a:ext cx="304800" cy="95250"/>
          </a:xfrm>
          <a:prstGeom prst="ellipse">
            <a:avLst/>
          </a:prstGeom>
          <a:solidFill>
            <a:srgbClr val="FFFFFF"/>
          </a:solidFill>
          <a:ln w="15240">
            <a:solidFill>
              <a:srgbClr val="007C83"/>
            </a:solidFill>
          </a:ln>
        </p:spPr>
        <p:txBody>
          <a:bodyPr/>
          <a:lstStyle/>
          <a:p>
            <a:endParaRPr lang="en-US"/>
          </a:p>
        </p:txBody>
      </p:sp>
      <p:sp>
        <p:nvSpPr>
          <p:cNvPr id="17" name="Rectangle 16">
            <a:extLst>
              <a:ext uri="{FF2B5EF4-FFF2-40B4-BE49-F238E27FC236}">
                <a16:creationId xmlns:a16="http://schemas.microsoft.com/office/drawing/2014/main" id="{F1189B77-DEC6-40A2-8AE1-272459FB9BB4}"/>
              </a:ext>
            </a:extLst>
          </p:cNvPr>
          <p:cNvSpPr>
            <a:spLocks noGrp="1"/>
          </p:cNvSpPr>
          <p:nvPr/>
        </p:nvSpPr>
        <p:spPr>
          <a:xfrm>
            <a:off x="3629025" y="3124200"/>
            <a:ext cx="304800" cy="219075"/>
          </a:xfrm>
          <a:prstGeom prst="rect">
            <a:avLst/>
          </a:prstGeom>
          <a:solidFill>
            <a:srgbClr val="FFFFFF"/>
          </a:solidFill>
          <a:ln w="15240">
            <a:solidFill>
              <a:srgbClr val="007C83"/>
            </a:solidFill>
          </a:ln>
        </p:spPr>
        <p:txBody>
          <a:bodyPr/>
          <a:lstStyle/>
          <a:p>
            <a:endParaRPr lang="en-US"/>
          </a:p>
        </p:txBody>
      </p:sp>
      <p:sp>
        <p:nvSpPr>
          <p:cNvPr id="18" name="Oval 17">
            <a:extLst>
              <a:ext uri="{FF2B5EF4-FFF2-40B4-BE49-F238E27FC236}">
                <a16:creationId xmlns:a16="http://schemas.microsoft.com/office/drawing/2014/main" id="{10024820-5AFA-4401-8B2F-A22B01F4C3EA}"/>
              </a:ext>
            </a:extLst>
          </p:cNvPr>
          <p:cNvSpPr>
            <a:spLocks noGrp="1"/>
          </p:cNvSpPr>
          <p:nvPr/>
        </p:nvSpPr>
        <p:spPr>
          <a:xfrm>
            <a:off x="3629025" y="3076575"/>
            <a:ext cx="304800" cy="95250"/>
          </a:xfrm>
          <a:prstGeom prst="ellipse">
            <a:avLst/>
          </a:prstGeom>
          <a:solidFill>
            <a:srgbClr val="FFFFFF"/>
          </a:solidFill>
          <a:ln w="15240">
            <a:solidFill>
              <a:srgbClr val="007C83"/>
            </a:solidFill>
          </a:ln>
        </p:spPr>
        <p:txBody>
          <a:bodyPr/>
          <a:lstStyle/>
          <a:p>
            <a:endParaRPr lang="en-US"/>
          </a:p>
        </p:txBody>
      </p:sp>
      <p:sp>
        <p:nvSpPr>
          <p:cNvPr id="19" name="Rectangle 18">
            <a:extLst>
              <a:ext uri="{FF2B5EF4-FFF2-40B4-BE49-F238E27FC236}">
                <a16:creationId xmlns:a16="http://schemas.microsoft.com/office/drawing/2014/main" id="{ADDE5C3A-BE96-4FC7-8AC7-77AA178E38AC}"/>
              </a:ext>
            </a:extLst>
          </p:cNvPr>
          <p:cNvSpPr>
            <a:spLocks noGrp="1"/>
          </p:cNvSpPr>
          <p:nvPr/>
        </p:nvSpPr>
        <p:spPr>
          <a:xfrm>
            <a:off x="581025" y="3057525"/>
            <a:ext cx="2962275" cy="285750"/>
          </a:xfrm>
          <a:prstGeom prst="rect">
            <a:avLst/>
          </a:prstGeom>
          <a:noFill/>
          <a:ln w="0">
            <a:noFill/>
          </a:ln>
        </p:spPr>
        <p:txBody>
          <a:bodyPr>
            <a:noAutofit/>
          </a:bodyPr>
          <a:lstStyle/>
          <a:p>
            <a:pPr>
              <a:defRPr sz="1725" b="1">
                <a:solidFill>
                  <a:srgbClr val="0B1F3A"/>
                </a:solidFill>
                <a:latin typeface="Segoe UI"/>
                <a:ea typeface="Segoe UI"/>
                <a:cs typeface="Segoe UI"/>
              </a:defRPr>
            </a:pPr>
            <a:r>
              <a:rPr sz="1725" b="1">
                <a:solidFill>
                  <a:srgbClr val="0B1F3A"/>
                </a:solidFill>
                <a:latin typeface="Segoe UI"/>
                <a:ea typeface="Segoe UI"/>
                <a:cs typeface="Segoe UI"/>
              </a:rPr>
              <a:t>PostgreSQL</a:t>
            </a:r>
          </a:p>
        </p:txBody>
      </p:sp>
      <p:sp>
        <p:nvSpPr>
          <p:cNvPr id="20" name="Rectangle 19">
            <a:extLst>
              <a:ext uri="{FF2B5EF4-FFF2-40B4-BE49-F238E27FC236}">
                <a16:creationId xmlns:a16="http://schemas.microsoft.com/office/drawing/2014/main" id="{4E4FB61A-ABFD-4B0E-82EB-3E49B26A8F19}"/>
              </a:ext>
            </a:extLst>
          </p:cNvPr>
          <p:cNvSpPr>
            <a:spLocks noGrp="1"/>
          </p:cNvSpPr>
          <p:nvPr/>
        </p:nvSpPr>
        <p:spPr>
          <a:xfrm>
            <a:off x="581025" y="3419475"/>
            <a:ext cx="3371850" cy="762000"/>
          </a:xfrm>
          <a:prstGeom prst="rect">
            <a:avLst/>
          </a:prstGeom>
          <a:noFill/>
          <a:ln w="0">
            <a:noFill/>
          </a:ln>
        </p:spPr>
        <p:txBody>
          <a:bodyPr>
            <a:noAutofit/>
          </a:bodyPr>
          <a:lstStyle/>
          <a:p>
            <a:pPr>
              <a:defRPr sz="1425" b="0">
                <a:solidFill>
                  <a:srgbClr val="253E55"/>
                </a:solidFill>
                <a:latin typeface="Segoe UI"/>
                <a:ea typeface="Segoe UI"/>
                <a:cs typeface="Segoe UI"/>
              </a:defRPr>
            </a:pPr>
            <a:r>
              <a:rPr sz="1425" b="0">
                <a:solidFill>
                  <a:srgbClr val="253E55"/>
                </a:solidFill>
                <a:latin typeface="Segoe UI"/>
                <a:ea typeface="Segoe UI"/>
                <a:cs typeface="Segoe UI"/>
              </a:rPr>
              <a:t>Demo facts + metric catalog</a:t>
            </a:r>
          </a:p>
          <a:p>
            <a:pPr>
              <a:defRPr sz="1425" b="0">
                <a:solidFill>
                  <a:srgbClr val="253E55"/>
                </a:solidFill>
                <a:latin typeface="Segoe UI"/>
                <a:ea typeface="Segoe UI"/>
                <a:cs typeface="Segoe UI"/>
              </a:defRPr>
            </a:pPr>
            <a:r>
              <a:rPr sz="1425" b="0">
                <a:solidFill>
                  <a:srgbClr val="253E55"/>
                </a:solidFill>
                <a:latin typeface="Segoe UI"/>
                <a:ea typeface="Segoe UI"/>
                <a:cs typeface="Segoe UI"/>
              </a:rPr>
              <a:t>Workflow / scenario state; scoped roles</a:t>
            </a:r>
          </a:p>
        </p:txBody>
      </p:sp>
      <p:sp>
        <p:nvSpPr>
          <p:cNvPr id="21" name="Rectangle: Rounded Corners 20">
            <a:extLst>
              <a:ext uri="{FF2B5EF4-FFF2-40B4-BE49-F238E27FC236}">
                <a16:creationId xmlns:a16="http://schemas.microsoft.com/office/drawing/2014/main" id="{33A37CC3-F959-4A0B-8B1A-8F5B148D52C0}"/>
              </a:ext>
            </a:extLst>
          </p:cNvPr>
          <p:cNvSpPr>
            <a:spLocks noGrp="1"/>
          </p:cNvSpPr>
          <p:nvPr/>
        </p:nvSpPr>
        <p:spPr>
          <a:xfrm>
            <a:off x="4286250" y="2962275"/>
            <a:ext cx="3619500" cy="1304925"/>
          </a:xfrm>
          <a:prstGeom prst="roundRect">
            <a:avLst>
              <a:gd name="adj" fmla="val 4380"/>
            </a:avLst>
          </a:prstGeom>
          <a:solidFill>
            <a:srgbClr val="E4F6F7"/>
          </a:solidFill>
          <a:ln w="11906">
            <a:solidFill>
              <a:srgbClr val="B8C7D9"/>
            </a:solidFill>
          </a:ln>
        </p:spPr>
        <p:txBody>
          <a:bodyPr/>
          <a:lstStyle/>
          <a:p>
            <a:endParaRPr lang="en-US"/>
          </a:p>
        </p:txBody>
      </p:sp>
      <p:sp>
        <p:nvSpPr>
          <p:cNvPr id="22" name="Rectangle 21">
            <a:extLst>
              <a:ext uri="{FF2B5EF4-FFF2-40B4-BE49-F238E27FC236}">
                <a16:creationId xmlns:a16="http://schemas.microsoft.com/office/drawing/2014/main" id="{9257951B-EC70-46CD-B924-8D785CCE838D}"/>
              </a:ext>
            </a:extLst>
          </p:cNvPr>
          <p:cNvSpPr>
            <a:spLocks noGrp="1"/>
          </p:cNvSpPr>
          <p:nvPr/>
        </p:nvSpPr>
        <p:spPr>
          <a:xfrm>
            <a:off x="7505700" y="3124200"/>
            <a:ext cx="228600" cy="19050"/>
          </a:xfrm>
          <a:prstGeom prst="rect">
            <a:avLst/>
          </a:prstGeom>
          <a:solidFill>
            <a:srgbClr val="007C83"/>
          </a:solidFill>
          <a:ln w="11906">
            <a:solidFill>
              <a:srgbClr val="007C83"/>
            </a:solidFill>
          </a:ln>
        </p:spPr>
        <p:txBody>
          <a:bodyPr/>
          <a:lstStyle/>
          <a:p>
            <a:endParaRPr lang="en-US"/>
          </a:p>
        </p:txBody>
      </p:sp>
      <p:sp>
        <p:nvSpPr>
          <p:cNvPr id="23" name="Rectangle 22">
            <a:extLst>
              <a:ext uri="{FF2B5EF4-FFF2-40B4-BE49-F238E27FC236}">
                <a16:creationId xmlns:a16="http://schemas.microsoft.com/office/drawing/2014/main" id="{73C9789D-254E-4063-A229-4082528E9FCB}"/>
              </a:ext>
            </a:extLst>
          </p:cNvPr>
          <p:cNvSpPr>
            <a:spLocks noGrp="1"/>
          </p:cNvSpPr>
          <p:nvPr/>
        </p:nvSpPr>
        <p:spPr>
          <a:xfrm>
            <a:off x="7505700" y="3124200"/>
            <a:ext cx="19050" cy="228600"/>
          </a:xfrm>
          <a:prstGeom prst="rect">
            <a:avLst/>
          </a:prstGeom>
          <a:solidFill>
            <a:srgbClr val="007C83"/>
          </a:solidFill>
          <a:ln w="11906">
            <a:solidFill>
              <a:srgbClr val="007C83"/>
            </a:solidFill>
          </a:ln>
        </p:spPr>
        <p:txBody>
          <a:bodyPr/>
          <a:lstStyle/>
          <a:p>
            <a:endParaRPr lang="en-US"/>
          </a:p>
        </p:txBody>
      </p:sp>
      <p:sp>
        <p:nvSpPr>
          <p:cNvPr id="24" name="Rectangle 23">
            <a:extLst>
              <a:ext uri="{FF2B5EF4-FFF2-40B4-BE49-F238E27FC236}">
                <a16:creationId xmlns:a16="http://schemas.microsoft.com/office/drawing/2014/main" id="{CE212C76-AF54-418E-992F-CFEDDEAC48D8}"/>
              </a:ext>
            </a:extLst>
          </p:cNvPr>
          <p:cNvSpPr>
            <a:spLocks noGrp="1"/>
          </p:cNvSpPr>
          <p:nvPr/>
        </p:nvSpPr>
        <p:spPr>
          <a:xfrm>
            <a:off x="7505700" y="3343275"/>
            <a:ext cx="228600" cy="19050"/>
          </a:xfrm>
          <a:prstGeom prst="rect">
            <a:avLst/>
          </a:prstGeom>
          <a:solidFill>
            <a:srgbClr val="007C83"/>
          </a:solidFill>
          <a:ln w="11906">
            <a:solidFill>
              <a:srgbClr val="007C83"/>
            </a:solidFill>
          </a:ln>
        </p:spPr>
        <p:txBody>
          <a:bodyPr/>
          <a:lstStyle/>
          <a:p>
            <a:endParaRPr lang="en-US"/>
          </a:p>
        </p:txBody>
      </p:sp>
      <p:sp>
        <p:nvSpPr>
          <p:cNvPr id="25" name="Rectangle 24">
            <a:extLst>
              <a:ext uri="{FF2B5EF4-FFF2-40B4-BE49-F238E27FC236}">
                <a16:creationId xmlns:a16="http://schemas.microsoft.com/office/drawing/2014/main" id="{3DA4FE4B-2A7A-4542-A3F2-D21B7BE7019E}"/>
              </a:ext>
            </a:extLst>
          </p:cNvPr>
          <p:cNvSpPr>
            <a:spLocks noGrp="1"/>
          </p:cNvSpPr>
          <p:nvPr/>
        </p:nvSpPr>
        <p:spPr>
          <a:xfrm>
            <a:off x="7724775" y="3124200"/>
            <a:ext cx="19050" cy="228600"/>
          </a:xfrm>
          <a:prstGeom prst="rect">
            <a:avLst/>
          </a:prstGeom>
          <a:solidFill>
            <a:srgbClr val="007C83"/>
          </a:solidFill>
          <a:ln w="11906">
            <a:solidFill>
              <a:srgbClr val="007C83"/>
            </a:solidFill>
          </a:ln>
        </p:spPr>
        <p:txBody>
          <a:bodyPr/>
          <a:lstStyle/>
          <a:p>
            <a:endParaRPr lang="en-US"/>
          </a:p>
        </p:txBody>
      </p:sp>
      <p:sp>
        <p:nvSpPr>
          <p:cNvPr id="26" name="Oval 25">
            <a:extLst>
              <a:ext uri="{FF2B5EF4-FFF2-40B4-BE49-F238E27FC236}">
                <a16:creationId xmlns:a16="http://schemas.microsoft.com/office/drawing/2014/main" id="{3DC4E340-491E-4D33-B574-CCCF964EDA9E}"/>
              </a:ext>
            </a:extLst>
          </p:cNvPr>
          <p:cNvSpPr>
            <a:spLocks noGrp="1"/>
          </p:cNvSpPr>
          <p:nvPr/>
        </p:nvSpPr>
        <p:spPr>
          <a:xfrm>
            <a:off x="7458075" y="3076575"/>
            <a:ext cx="95250" cy="95250"/>
          </a:xfrm>
          <a:prstGeom prst="ellipse">
            <a:avLst/>
          </a:prstGeom>
          <a:solidFill>
            <a:srgbClr val="E4F6F7"/>
          </a:solidFill>
          <a:ln w="15240">
            <a:solidFill>
              <a:srgbClr val="007C83"/>
            </a:solidFill>
          </a:ln>
        </p:spPr>
        <p:txBody>
          <a:bodyPr/>
          <a:lstStyle/>
          <a:p>
            <a:endParaRPr lang="en-US"/>
          </a:p>
        </p:txBody>
      </p:sp>
      <p:sp>
        <p:nvSpPr>
          <p:cNvPr id="27" name="Oval 26">
            <a:extLst>
              <a:ext uri="{FF2B5EF4-FFF2-40B4-BE49-F238E27FC236}">
                <a16:creationId xmlns:a16="http://schemas.microsoft.com/office/drawing/2014/main" id="{E6E76A38-C7A1-4BB4-B112-E28FFB9559DC}"/>
              </a:ext>
            </a:extLst>
          </p:cNvPr>
          <p:cNvSpPr>
            <a:spLocks noGrp="1"/>
          </p:cNvSpPr>
          <p:nvPr/>
        </p:nvSpPr>
        <p:spPr>
          <a:xfrm>
            <a:off x="7677150" y="3076575"/>
            <a:ext cx="95250" cy="95250"/>
          </a:xfrm>
          <a:prstGeom prst="ellipse">
            <a:avLst/>
          </a:prstGeom>
          <a:solidFill>
            <a:srgbClr val="E4F6F7"/>
          </a:solidFill>
          <a:ln w="15240">
            <a:solidFill>
              <a:srgbClr val="007C83"/>
            </a:solidFill>
          </a:ln>
        </p:spPr>
        <p:txBody>
          <a:bodyPr/>
          <a:lstStyle/>
          <a:p>
            <a:endParaRPr lang="en-US"/>
          </a:p>
        </p:txBody>
      </p:sp>
      <p:sp>
        <p:nvSpPr>
          <p:cNvPr id="28" name="Oval 27">
            <a:extLst>
              <a:ext uri="{FF2B5EF4-FFF2-40B4-BE49-F238E27FC236}">
                <a16:creationId xmlns:a16="http://schemas.microsoft.com/office/drawing/2014/main" id="{42B2AD2B-FE29-457D-9E37-7E6CC3E76A8F}"/>
              </a:ext>
            </a:extLst>
          </p:cNvPr>
          <p:cNvSpPr>
            <a:spLocks noGrp="1"/>
          </p:cNvSpPr>
          <p:nvPr/>
        </p:nvSpPr>
        <p:spPr>
          <a:xfrm>
            <a:off x="7458075" y="3295650"/>
            <a:ext cx="95250" cy="95250"/>
          </a:xfrm>
          <a:prstGeom prst="ellipse">
            <a:avLst/>
          </a:prstGeom>
          <a:solidFill>
            <a:srgbClr val="E4F6F7"/>
          </a:solidFill>
          <a:ln w="15240">
            <a:solidFill>
              <a:srgbClr val="007C83"/>
            </a:solidFill>
          </a:ln>
        </p:spPr>
        <p:txBody>
          <a:bodyPr/>
          <a:lstStyle/>
          <a:p>
            <a:endParaRPr lang="en-US"/>
          </a:p>
        </p:txBody>
      </p:sp>
      <p:sp>
        <p:nvSpPr>
          <p:cNvPr id="29" name="Oval 28">
            <a:extLst>
              <a:ext uri="{FF2B5EF4-FFF2-40B4-BE49-F238E27FC236}">
                <a16:creationId xmlns:a16="http://schemas.microsoft.com/office/drawing/2014/main" id="{422CEA18-E800-4152-B980-0A44488C9FB5}"/>
              </a:ext>
            </a:extLst>
          </p:cNvPr>
          <p:cNvSpPr>
            <a:spLocks noGrp="1"/>
          </p:cNvSpPr>
          <p:nvPr/>
        </p:nvSpPr>
        <p:spPr>
          <a:xfrm>
            <a:off x="7677150" y="3295650"/>
            <a:ext cx="95250" cy="95250"/>
          </a:xfrm>
          <a:prstGeom prst="ellipse">
            <a:avLst/>
          </a:prstGeom>
          <a:solidFill>
            <a:srgbClr val="E4F6F7"/>
          </a:solidFill>
          <a:ln w="15240">
            <a:solidFill>
              <a:srgbClr val="007C83"/>
            </a:solidFill>
          </a:ln>
        </p:spPr>
        <p:txBody>
          <a:bodyPr/>
          <a:lstStyle/>
          <a:p>
            <a:endParaRPr lang="en-US"/>
          </a:p>
        </p:txBody>
      </p:sp>
      <p:sp>
        <p:nvSpPr>
          <p:cNvPr id="30" name="Rectangle 29">
            <a:extLst>
              <a:ext uri="{FF2B5EF4-FFF2-40B4-BE49-F238E27FC236}">
                <a16:creationId xmlns:a16="http://schemas.microsoft.com/office/drawing/2014/main" id="{F2DDF4C2-3250-4068-805E-6DF4171F73E9}"/>
              </a:ext>
            </a:extLst>
          </p:cNvPr>
          <p:cNvSpPr>
            <a:spLocks noGrp="1"/>
          </p:cNvSpPr>
          <p:nvPr/>
        </p:nvSpPr>
        <p:spPr>
          <a:xfrm>
            <a:off x="4410075" y="3057525"/>
            <a:ext cx="2962275" cy="285750"/>
          </a:xfrm>
          <a:prstGeom prst="rect">
            <a:avLst/>
          </a:prstGeom>
          <a:noFill/>
          <a:ln w="0">
            <a:noFill/>
          </a:ln>
        </p:spPr>
        <p:txBody>
          <a:bodyPr>
            <a:noAutofit/>
          </a:bodyPr>
          <a:lstStyle/>
          <a:p>
            <a:pPr>
              <a:defRPr sz="1725" b="1">
                <a:solidFill>
                  <a:srgbClr val="0B1F3A"/>
                </a:solidFill>
                <a:latin typeface="Segoe UI"/>
                <a:ea typeface="Segoe UI"/>
                <a:cs typeface="Segoe UI"/>
              </a:defRPr>
            </a:pPr>
            <a:r>
              <a:rPr sz="1725" b="1">
                <a:solidFill>
                  <a:srgbClr val="0B1F3A"/>
                </a:solidFill>
                <a:latin typeface="Segoe UI"/>
                <a:ea typeface="Segoe UI"/>
                <a:cs typeface="Segoe UI"/>
              </a:rPr>
              <a:t>Neo4j projection</a:t>
            </a:r>
          </a:p>
        </p:txBody>
      </p:sp>
      <p:sp>
        <p:nvSpPr>
          <p:cNvPr id="31" name="Rectangle 30">
            <a:extLst>
              <a:ext uri="{FF2B5EF4-FFF2-40B4-BE49-F238E27FC236}">
                <a16:creationId xmlns:a16="http://schemas.microsoft.com/office/drawing/2014/main" id="{61C3505A-ACF8-4DC5-8025-1557AACA35B7}"/>
              </a:ext>
            </a:extLst>
          </p:cNvPr>
          <p:cNvSpPr>
            <a:spLocks noGrp="1"/>
          </p:cNvSpPr>
          <p:nvPr/>
        </p:nvSpPr>
        <p:spPr>
          <a:xfrm>
            <a:off x="4410075" y="3419475"/>
            <a:ext cx="3371850" cy="762000"/>
          </a:xfrm>
          <a:prstGeom prst="rect">
            <a:avLst/>
          </a:prstGeom>
          <a:noFill/>
          <a:ln w="0">
            <a:noFill/>
          </a:ln>
        </p:spPr>
        <p:txBody>
          <a:bodyPr>
            <a:noAutofit/>
          </a:bodyPr>
          <a:lstStyle/>
          <a:p>
            <a:pPr>
              <a:defRPr sz="1425" b="0">
                <a:solidFill>
                  <a:srgbClr val="253E55"/>
                </a:solidFill>
                <a:latin typeface="Segoe UI"/>
                <a:ea typeface="Segoe UI"/>
                <a:cs typeface="Segoe UI"/>
              </a:defRPr>
            </a:pPr>
            <a:r>
              <a:rPr sz="1425" b="0">
                <a:solidFill>
                  <a:srgbClr val="253E55"/>
                </a:solidFill>
                <a:latin typeface="Segoe UI"/>
                <a:ea typeface="Segoe UI"/>
                <a:cs typeface="Segoe UI"/>
              </a:rPr>
              <a:t>Dependency traversal and graph UI</a:t>
            </a:r>
          </a:p>
          <a:p>
            <a:pPr>
              <a:defRPr sz="1425" b="0">
                <a:solidFill>
                  <a:srgbClr val="253E55"/>
                </a:solidFill>
                <a:latin typeface="Segoe UI"/>
                <a:ea typeface="Segoe UI"/>
                <a:cs typeface="Segoe UI"/>
              </a:defRPr>
            </a:pPr>
            <a:r>
              <a:rPr sz="1425" b="0">
                <a:solidFill>
                  <a:srgbClr val="253E55"/>
                </a:solidFill>
                <a:latin typeface="Segoe UI"/>
                <a:ea typeface="Segoe UI"/>
                <a:cs typeface="Segoe UI"/>
              </a:rPr>
              <a:t>Optional if relational paths suffice</a:t>
            </a:r>
          </a:p>
        </p:txBody>
      </p:sp>
      <p:sp>
        <p:nvSpPr>
          <p:cNvPr id="32" name="Rectangle: Rounded Corners 31">
            <a:extLst>
              <a:ext uri="{FF2B5EF4-FFF2-40B4-BE49-F238E27FC236}">
                <a16:creationId xmlns:a16="http://schemas.microsoft.com/office/drawing/2014/main" id="{05AF3C82-D78A-49BC-9417-07431A8AC2C0}"/>
              </a:ext>
            </a:extLst>
          </p:cNvPr>
          <p:cNvSpPr>
            <a:spLocks noGrp="1"/>
          </p:cNvSpPr>
          <p:nvPr/>
        </p:nvSpPr>
        <p:spPr>
          <a:xfrm>
            <a:off x="8115300" y="2962275"/>
            <a:ext cx="3619500" cy="1304925"/>
          </a:xfrm>
          <a:prstGeom prst="roundRect">
            <a:avLst>
              <a:gd name="adj" fmla="val 4380"/>
            </a:avLst>
          </a:prstGeom>
          <a:solidFill>
            <a:srgbClr val="E4F6F7"/>
          </a:solidFill>
          <a:ln w="11906">
            <a:solidFill>
              <a:srgbClr val="B8C7D9"/>
            </a:solidFill>
          </a:ln>
        </p:spPr>
        <p:txBody>
          <a:bodyPr/>
          <a:lstStyle/>
          <a:p>
            <a:endParaRPr lang="en-US"/>
          </a:p>
        </p:txBody>
      </p:sp>
      <p:sp>
        <p:nvSpPr>
          <p:cNvPr id="33" name="Rectangle 32">
            <a:extLst>
              <a:ext uri="{FF2B5EF4-FFF2-40B4-BE49-F238E27FC236}">
                <a16:creationId xmlns:a16="http://schemas.microsoft.com/office/drawing/2014/main" id="{2BF2A333-7FFA-41A9-9FD5-BCE55E7C7785}"/>
              </a:ext>
            </a:extLst>
          </p:cNvPr>
          <p:cNvSpPr>
            <a:spLocks noGrp="1"/>
          </p:cNvSpPr>
          <p:nvPr/>
        </p:nvSpPr>
        <p:spPr>
          <a:xfrm>
            <a:off x="11315700" y="3076575"/>
            <a:ext cx="257175" cy="314325"/>
          </a:xfrm>
          <a:prstGeom prst="rect">
            <a:avLst/>
          </a:prstGeom>
          <a:solidFill>
            <a:srgbClr val="FFFFFF"/>
          </a:solidFill>
          <a:ln w="15240">
            <a:solidFill>
              <a:srgbClr val="007C83"/>
            </a:solidFill>
          </a:ln>
        </p:spPr>
        <p:txBody>
          <a:bodyPr/>
          <a:lstStyle/>
          <a:p>
            <a:endParaRPr lang="en-US"/>
          </a:p>
        </p:txBody>
      </p:sp>
      <p:sp>
        <p:nvSpPr>
          <p:cNvPr id="34" name="Rectangle 33">
            <a:extLst>
              <a:ext uri="{FF2B5EF4-FFF2-40B4-BE49-F238E27FC236}">
                <a16:creationId xmlns:a16="http://schemas.microsoft.com/office/drawing/2014/main" id="{EE46A707-8AD0-4106-BD91-58C675751374}"/>
              </a:ext>
            </a:extLst>
          </p:cNvPr>
          <p:cNvSpPr>
            <a:spLocks noGrp="1"/>
          </p:cNvSpPr>
          <p:nvPr/>
        </p:nvSpPr>
        <p:spPr>
          <a:xfrm>
            <a:off x="11363325" y="3152775"/>
            <a:ext cx="161925" cy="19050"/>
          </a:xfrm>
          <a:prstGeom prst="rect">
            <a:avLst/>
          </a:prstGeom>
          <a:solidFill>
            <a:srgbClr val="007C83"/>
          </a:solidFill>
          <a:ln w="11906">
            <a:solidFill>
              <a:srgbClr val="007C83"/>
            </a:solidFill>
          </a:ln>
        </p:spPr>
        <p:txBody>
          <a:bodyPr/>
          <a:lstStyle/>
          <a:p>
            <a:endParaRPr lang="en-US"/>
          </a:p>
        </p:txBody>
      </p:sp>
      <p:sp>
        <p:nvSpPr>
          <p:cNvPr id="35" name="Rectangle 34">
            <a:extLst>
              <a:ext uri="{FF2B5EF4-FFF2-40B4-BE49-F238E27FC236}">
                <a16:creationId xmlns:a16="http://schemas.microsoft.com/office/drawing/2014/main" id="{20D9FFB0-23DA-47A0-B3EF-7622C35024CE}"/>
              </a:ext>
            </a:extLst>
          </p:cNvPr>
          <p:cNvSpPr>
            <a:spLocks noGrp="1"/>
          </p:cNvSpPr>
          <p:nvPr/>
        </p:nvSpPr>
        <p:spPr>
          <a:xfrm>
            <a:off x="11363325" y="3219450"/>
            <a:ext cx="161925" cy="19050"/>
          </a:xfrm>
          <a:prstGeom prst="rect">
            <a:avLst/>
          </a:prstGeom>
          <a:solidFill>
            <a:srgbClr val="007C83"/>
          </a:solidFill>
          <a:ln w="11906">
            <a:solidFill>
              <a:srgbClr val="007C83"/>
            </a:solidFill>
          </a:ln>
        </p:spPr>
        <p:txBody>
          <a:bodyPr/>
          <a:lstStyle/>
          <a:p>
            <a:endParaRPr lang="en-US"/>
          </a:p>
        </p:txBody>
      </p:sp>
      <p:sp>
        <p:nvSpPr>
          <p:cNvPr id="36" name="Rectangle 35">
            <a:extLst>
              <a:ext uri="{FF2B5EF4-FFF2-40B4-BE49-F238E27FC236}">
                <a16:creationId xmlns:a16="http://schemas.microsoft.com/office/drawing/2014/main" id="{A6488F25-1E8E-4B2B-B2D3-49D83E0B4D21}"/>
              </a:ext>
            </a:extLst>
          </p:cNvPr>
          <p:cNvSpPr>
            <a:spLocks noGrp="1"/>
          </p:cNvSpPr>
          <p:nvPr/>
        </p:nvSpPr>
        <p:spPr>
          <a:xfrm>
            <a:off x="11363325" y="3286125"/>
            <a:ext cx="161925" cy="19050"/>
          </a:xfrm>
          <a:prstGeom prst="rect">
            <a:avLst/>
          </a:prstGeom>
          <a:solidFill>
            <a:srgbClr val="007C83"/>
          </a:solidFill>
          <a:ln w="11906">
            <a:solidFill>
              <a:srgbClr val="007C83"/>
            </a:solidFill>
          </a:ln>
        </p:spPr>
        <p:txBody>
          <a:bodyPr/>
          <a:lstStyle/>
          <a:p>
            <a:endParaRPr lang="en-US"/>
          </a:p>
        </p:txBody>
      </p:sp>
      <p:sp>
        <p:nvSpPr>
          <p:cNvPr id="37" name="Rectangle 36">
            <a:extLst>
              <a:ext uri="{FF2B5EF4-FFF2-40B4-BE49-F238E27FC236}">
                <a16:creationId xmlns:a16="http://schemas.microsoft.com/office/drawing/2014/main" id="{C60FAF45-DF69-4A3C-94A7-7174C46BC482}"/>
              </a:ext>
            </a:extLst>
          </p:cNvPr>
          <p:cNvSpPr>
            <a:spLocks noGrp="1"/>
          </p:cNvSpPr>
          <p:nvPr/>
        </p:nvSpPr>
        <p:spPr>
          <a:xfrm>
            <a:off x="8239125" y="3057525"/>
            <a:ext cx="2962275" cy="285750"/>
          </a:xfrm>
          <a:prstGeom prst="rect">
            <a:avLst/>
          </a:prstGeom>
          <a:noFill/>
          <a:ln w="0">
            <a:noFill/>
          </a:ln>
        </p:spPr>
        <p:txBody>
          <a:bodyPr>
            <a:noAutofit/>
          </a:bodyPr>
          <a:lstStyle/>
          <a:p>
            <a:pPr>
              <a:defRPr sz="1725" b="1">
                <a:solidFill>
                  <a:srgbClr val="0B1F3A"/>
                </a:solidFill>
                <a:latin typeface="Segoe UI"/>
                <a:ea typeface="Segoe UI"/>
                <a:cs typeface="Segoe UI"/>
              </a:defRPr>
            </a:pPr>
            <a:r>
              <a:rPr sz="1725" b="1">
                <a:solidFill>
                  <a:srgbClr val="0B1F3A"/>
                </a:solidFill>
                <a:latin typeface="Segoe UI"/>
                <a:ea typeface="Segoe UI"/>
                <a:cs typeface="Segoe UI"/>
              </a:rPr>
              <a:t>pgvector + text search</a:t>
            </a:r>
          </a:p>
        </p:txBody>
      </p:sp>
      <p:sp>
        <p:nvSpPr>
          <p:cNvPr id="38" name="Rectangle 37">
            <a:extLst>
              <a:ext uri="{FF2B5EF4-FFF2-40B4-BE49-F238E27FC236}">
                <a16:creationId xmlns:a16="http://schemas.microsoft.com/office/drawing/2014/main" id="{CEE6BB06-9B64-4DE2-ABFA-AA7C5EE87814}"/>
              </a:ext>
            </a:extLst>
          </p:cNvPr>
          <p:cNvSpPr>
            <a:spLocks noGrp="1"/>
          </p:cNvSpPr>
          <p:nvPr/>
        </p:nvSpPr>
        <p:spPr>
          <a:xfrm>
            <a:off x="8239125" y="3419475"/>
            <a:ext cx="3371850" cy="762000"/>
          </a:xfrm>
          <a:prstGeom prst="rect">
            <a:avLst/>
          </a:prstGeom>
          <a:noFill/>
          <a:ln w="0">
            <a:noFill/>
          </a:ln>
        </p:spPr>
        <p:txBody>
          <a:bodyPr>
            <a:noAutofit/>
          </a:bodyPr>
          <a:lstStyle/>
          <a:p>
            <a:pPr>
              <a:defRPr sz="1425" b="0">
                <a:solidFill>
                  <a:srgbClr val="253E55"/>
                </a:solidFill>
                <a:latin typeface="Segoe UI"/>
                <a:ea typeface="Segoe UI"/>
                <a:cs typeface="Segoe UI"/>
              </a:defRPr>
            </a:pPr>
            <a:r>
              <a:rPr sz="1425" b="0">
                <a:solidFill>
                  <a:srgbClr val="253E55"/>
                </a:solidFill>
                <a:latin typeface="Segoe UI"/>
                <a:ea typeface="Segoe UI"/>
                <a:cs typeface="Segoe UI"/>
              </a:rPr>
              <a:t>Demo clause retrieval + object store</a:t>
            </a:r>
          </a:p>
          <a:p>
            <a:pPr>
              <a:defRPr sz="1425" b="0">
                <a:solidFill>
                  <a:srgbClr val="253E55"/>
                </a:solidFill>
                <a:latin typeface="Segoe UI"/>
                <a:ea typeface="Segoe UI"/>
                <a:cs typeface="Segoe UI"/>
              </a:defRPr>
            </a:pPr>
            <a:r>
              <a:rPr sz="1425" b="0">
                <a:solidFill>
                  <a:srgbClr val="253E55"/>
                </a:solidFill>
                <a:latin typeface="Segoe UI"/>
                <a:ea typeface="Segoe UI"/>
                <a:cs typeface="Segoe UI"/>
              </a:rPr>
              <a:t>Benchmark ACL filtering and recall</a:t>
            </a:r>
          </a:p>
        </p:txBody>
      </p:sp>
      <p:sp>
        <p:nvSpPr>
          <p:cNvPr id="39" name="Rectangle: Rounded Corners 38">
            <a:extLst>
              <a:ext uri="{FF2B5EF4-FFF2-40B4-BE49-F238E27FC236}">
                <a16:creationId xmlns:a16="http://schemas.microsoft.com/office/drawing/2014/main" id="{5BF90998-3FAA-47FD-8AB5-B3BF167A9BA9}"/>
              </a:ext>
            </a:extLst>
          </p:cNvPr>
          <p:cNvSpPr>
            <a:spLocks noGrp="1"/>
          </p:cNvSpPr>
          <p:nvPr/>
        </p:nvSpPr>
        <p:spPr>
          <a:xfrm>
            <a:off x="457200" y="4705350"/>
            <a:ext cx="11277600" cy="1066800"/>
          </a:xfrm>
          <a:prstGeom prst="roundRect">
            <a:avLst>
              <a:gd name="adj" fmla="val 5357"/>
            </a:avLst>
          </a:prstGeom>
          <a:solidFill>
            <a:srgbClr val="FFFFFF"/>
          </a:solidFill>
          <a:ln w="11906">
            <a:solidFill>
              <a:srgbClr val="B8C7D9"/>
            </a:solidFill>
          </a:ln>
        </p:spPr>
        <p:txBody>
          <a:bodyPr/>
          <a:lstStyle/>
          <a:p>
            <a:endParaRPr lang="en-US"/>
          </a:p>
        </p:txBody>
      </p:sp>
      <p:sp>
        <p:nvSpPr>
          <p:cNvPr id="40" name="Rectangle 39">
            <a:extLst>
              <a:ext uri="{FF2B5EF4-FFF2-40B4-BE49-F238E27FC236}">
                <a16:creationId xmlns:a16="http://schemas.microsoft.com/office/drawing/2014/main" id="{6BABA643-B5E7-42F8-A775-BA8C41126047}"/>
              </a:ext>
            </a:extLst>
          </p:cNvPr>
          <p:cNvSpPr>
            <a:spLocks noGrp="1"/>
          </p:cNvSpPr>
          <p:nvPr/>
        </p:nvSpPr>
        <p:spPr>
          <a:xfrm>
            <a:off x="581025" y="4800600"/>
            <a:ext cx="11029950" cy="285750"/>
          </a:xfrm>
          <a:prstGeom prst="rect">
            <a:avLst/>
          </a:prstGeom>
          <a:noFill/>
          <a:ln w="0">
            <a:noFill/>
          </a:ln>
        </p:spPr>
        <p:txBody>
          <a:bodyPr>
            <a:noAutofit/>
          </a:bodyPr>
          <a:lstStyle/>
          <a:p>
            <a:pPr>
              <a:defRPr sz="1725" b="1">
                <a:solidFill>
                  <a:srgbClr val="0B1F3A"/>
                </a:solidFill>
                <a:latin typeface="Segoe UI"/>
                <a:ea typeface="Segoe UI"/>
                <a:cs typeface="Segoe UI"/>
              </a:defRPr>
            </a:pPr>
            <a:r>
              <a:rPr sz="1725" b="1">
                <a:solidFill>
                  <a:srgbClr val="0B1F3A"/>
                </a:solidFill>
                <a:latin typeface="Segoe UI"/>
                <a:ea typeface="Segoe UI"/>
                <a:cs typeface="Segoe UI"/>
              </a:rPr>
              <a:t>Production adaptation</a:t>
            </a:r>
          </a:p>
        </p:txBody>
      </p:sp>
      <p:sp>
        <p:nvSpPr>
          <p:cNvPr id="41" name="Rectangle 40">
            <a:extLst>
              <a:ext uri="{FF2B5EF4-FFF2-40B4-BE49-F238E27FC236}">
                <a16:creationId xmlns:a16="http://schemas.microsoft.com/office/drawing/2014/main" id="{DE4B7464-6707-40F3-BA81-749F6C795DA9}"/>
              </a:ext>
            </a:extLst>
          </p:cNvPr>
          <p:cNvSpPr>
            <a:spLocks noGrp="1"/>
          </p:cNvSpPr>
          <p:nvPr/>
        </p:nvSpPr>
        <p:spPr>
          <a:xfrm>
            <a:off x="581025" y="5162550"/>
            <a:ext cx="11029950" cy="523875"/>
          </a:xfrm>
          <a:prstGeom prst="rect">
            <a:avLst/>
          </a:prstGeom>
          <a:noFill/>
          <a:ln w="0">
            <a:noFill/>
          </a:ln>
        </p:spPr>
        <p:txBody>
          <a:bodyPr>
            <a:noAutofit/>
          </a:bodyPr>
          <a:lstStyle/>
          <a:p>
            <a:pPr>
              <a:defRPr sz="1350" b="0">
                <a:solidFill>
                  <a:srgbClr val="253E55"/>
                </a:solidFill>
                <a:latin typeface="Segoe UI"/>
                <a:ea typeface="Segoe UI"/>
                <a:cs typeface="Segoe UI"/>
              </a:defRPr>
            </a:pPr>
            <a:r>
              <a:rPr sz="1350" b="0">
                <a:solidFill>
                  <a:srgbClr val="253E55"/>
                </a:solidFill>
                <a:latin typeface="Segoe UI"/>
                <a:ea typeface="Segoe UI"/>
                <a:cs typeface="Segoe UI"/>
              </a:rPr>
              <a:t>Reuse approved warehouse and metric platform (dbt / MetricFlow candidate). Approved model gateway + object storage + job queue.</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OpenTelemetry with approved sinks; secrets, encryption, scoped cache, backups and recovery procedures.</a:t>
            </a:r>
          </a:p>
        </p:txBody>
      </p:sp>
      <p:sp>
        <p:nvSpPr>
          <p:cNvPr id="42" name="Rectangle: Rounded Corners 41">
            <a:extLst>
              <a:ext uri="{FF2B5EF4-FFF2-40B4-BE49-F238E27FC236}">
                <a16:creationId xmlns:a16="http://schemas.microsoft.com/office/drawing/2014/main" id="{E73E6E88-FAC4-4C80-AD25-366109F2C9DA}"/>
              </a:ext>
            </a:extLst>
          </p:cNvPr>
          <p:cNvSpPr>
            <a:spLocks noGrp="1"/>
          </p:cNvSpPr>
          <p:nvPr/>
        </p:nvSpPr>
        <p:spPr>
          <a:xfrm>
            <a:off x="457200" y="5962650"/>
            <a:ext cx="11277600" cy="409575"/>
          </a:xfrm>
          <a:prstGeom prst="roundRect">
            <a:avLst>
              <a:gd name="adj" fmla="val 13953"/>
            </a:avLst>
          </a:prstGeom>
          <a:solidFill>
            <a:srgbClr val="0B1F3A"/>
          </a:solidFill>
          <a:ln w="11906">
            <a:solidFill>
              <a:srgbClr val="0B1F3A"/>
            </a:solidFill>
          </a:ln>
        </p:spPr>
        <p:txBody>
          <a:bodyPr/>
          <a:lstStyle/>
          <a:p>
            <a:endParaRPr lang="en-US"/>
          </a:p>
        </p:txBody>
      </p:sp>
      <p:sp>
        <p:nvSpPr>
          <p:cNvPr id="43" name="Rectangle 42">
            <a:extLst>
              <a:ext uri="{FF2B5EF4-FFF2-40B4-BE49-F238E27FC236}">
                <a16:creationId xmlns:a16="http://schemas.microsoft.com/office/drawing/2014/main" id="{919F1463-7841-40AE-AEDF-DEE5D32A61A7}"/>
              </a:ext>
            </a:extLst>
          </p:cNvPr>
          <p:cNvSpPr>
            <a:spLocks noGrp="1"/>
          </p:cNvSpPr>
          <p:nvPr/>
        </p:nvSpPr>
        <p:spPr>
          <a:xfrm>
            <a:off x="581025" y="6057900"/>
            <a:ext cx="11029950" cy="266700"/>
          </a:xfrm>
          <a:prstGeom prst="rect">
            <a:avLst/>
          </a:prstGeom>
          <a:noFill/>
          <a:ln w="0">
            <a:noFill/>
          </a:ln>
        </p:spPr>
        <p:txBody>
          <a:bodyPr>
            <a:noAutofit/>
          </a:bodyPr>
          <a:lstStyle/>
          <a:p>
            <a:pPr>
              <a:defRPr sz="1200" b="1">
                <a:solidFill>
                  <a:srgbClr val="FFFFFF"/>
                </a:solidFill>
                <a:latin typeface="Segoe UI"/>
                <a:ea typeface="Segoe UI"/>
                <a:cs typeface="Segoe UI"/>
              </a:defRPr>
            </a:pPr>
            <a:r>
              <a:rPr sz="1200" b="1">
                <a:solidFill>
                  <a:srgbClr val="FFFFFF"/>
                </a:solidFill>
                <a:latin typeface="Segoe UI"/>
                <a:ea typeface="Segoe UI"/>
                <a:cs typeface="Segoe UI"/>
              </a:rPr>
              <a:t>Selection gates: Citi approval / classification / entitlement support / scale / latency / licensing / operations. No unapproved model endpoints.</a:t>
            </a:r>
          </a:p>
        </p:txBody>
      </p:sp>
    </p:spTree>
    <p:extLst>
      <p:ext uri="{BB962C8B-B14F-4D97-AF65-F5344CB8AC3E}">
        <p14:creationId xmlns:p14="http://schemas.microsoft.com/office/powerpoint/2010/main" val="16622127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611F45DF-3439-4CC5-BF19-3D5500978448}"/>
              </a:ext>
            </a:extLst>
          </p:cNvPr>
          <p:cNvSpPr>
            <a:spLocks noGrp="1"/>
          </p:cNvSpPr>
          <p:nvPr/>
        </p:nvSpPr>
        <p:spPr>
          <a:xfrm>
            <a:off x="0" y="0"/>
            <a:ext cx="12192000" cy="95250"/>
          </a:xfrm>
          <a:prstGeom prst="rect">
            <a:avLst/>
          </a:prstGeom>
          <a:solidFill>
            <a:srgbClr val="0B1F3A"/>
          </a:solidFill>
          <a:ln w="11906">
            <a:solidFill>
              <a:srgbClr val="0B1F3A"/>
            </a:solidFill>
          </a:ln>
        </p:spPr>
        <p:txBody>
          <a:bodyPr/>
          <a:lstStyle/>
          <a:p>
            <a:endParaRPr lang="en-US"/>
          </a:p>
        </p:txBody>
      </p:sp>
      <p:sp>
        <p:nvSpPr>
          <p:cNvPr id="2" name="Rectangle 1">
            <a:extLst>
              <a:ext uri="{FF2B5EF4-FFF2-40B4-BE49-F238E27FC236}">
                <a16:creationId xmlns:a16="http://schemas.microsoft.com/office/drawing/2014/main" id="{795D8ACF-4124-4D6A-9A6F-A676D9A0C415}"/>
              </a:ext>
            </a:extLst>
          </p:cNvPr>
          <p:cNvSpPr>
            <a:spLocks noGrp="1"/>
          </p:cNvSpPr>
          <p:nvPr/>
        </p:nvSpPr>
        <p:spPr>
          <a:xfrm>
            <a:off x="457200" y="352425"/>
            <a:ext cx="11239500" cy="504825"/>
          </a:xfrm>
          <a:prstGeom prst="rect">
            <a:avLst/>
          </a:prstGeom>
          <a:noFill/>
          <a:ln w="0">
            <a:noFill/>
          </a:ln>
        </p:spPr>
        <p:txBody>
          <a:bodyPr>
            <a:noAutofit/>
          </a:bodyPr>
          <a:lstStyle/>
          <a:p>
            <a:pPr>
              <a:defRPr sz="2550" b="1">
                <a:solidFill>
                  <a:srgbClr val="0B1F3A"/>
                </a:solidFill>
                <a:latin typeface="Segoe UI"/>
                <a:ea typeface="Segoe UI"/>
                <a:cs typeface="Segoe UI"/>
              </a:defRPr>
            </a:pPr>
            <a:r>
              <a:rPr sz="2550" b="1">
                <a:solidFill>
                  <a:srgbClr val="0B1F3A"/>
                </a:solidFill>
                <a:latin typeface="Segoe UI"/>
                <a:ea typeface="Segoe UI"/>
                <a:cs typeface="Segoe UI"/>
              </a:rPr>
              <a:t>All six use cases share one governed solution</a:t>
            </a:r>
          </a:p>
        </p:txBody>
      </p:sp>
      <p:sp>
        <p:nvSpPr>
          <p:cNvPr id="3" name="Rectangle 2">
            <a:extLst>
              <a:ext uri="{FF2B5EF4-FFF2-40B4-BE49-F238E27FC236}">
                <a16:creationId xmlns:a16="http://schemas.microsoft.com/office/drawing/2014/main" id="{A19C0719-7DFB-4CE3-9A88-6F45E0963DCE}"/>
              </a:ext>
            </a:extLst>
          </p:cNvPr>
          <p:cNvSpPr>
            <a:spLocks noGrp="1"/>
          </p:cNvSpPr>
          <p:nvPr/>
        </p:nvSpPr>
        <p:spPr>
          <a:xfrm>
            <a:off x="466725" y="885825"/>
            <a:ext cx="11239500" cy="409575"/>
          </a:xfrm>
          <a:prstGeom prst="rect">
            <a:avLst/>
          </a:prstGeom>
          <a:noFill/>
          <a:ln w="0">
            <a:noFill/>
          </a:ln>
        </p:spPr>
        <p:txBody>
          <a:bodyPr>
            <a:noAutofit/>
          </a:bodyPr>
          <a:lstStyle/>
          <a:p>
            <a:pPr>
              <a:defRPr sz="1350" b="0">
                <a:solidFill>
                  <a:srgbClr val="46586C"/>
                </a:solidFill>
                <a:latin typeface="Segoe UI"/>
                <a:ea typeface="Segoe UI"/>
                <a:cs typeface="Segoe UI"/>
              </a:defRPr>
            </a:pPr>
            <a:r>
              <a:rPr sz="1350" b="0">
                <a:solidFill>
                  <a:srgbClr val="46586C"/>
                </a:solidFill>
                <a:latin typeface="Segoe UI"/>
                <a:ea typeface="Segoe UI"/>
                <a:cs typeface="Segoe UI"/>
              </a:rPr>
              <a:t>The shared architecture supports each business outcome and the FSD’s evidence, security and acceptance requirements.</a:t>
            </a:r>
          </a:p>
        </p:txBody>
      </p:sp>
      <p:sp>
        <p:nvSpPr>
          <p:cNvPr id="4" name="Rectangle 3">
            <a:extLst>
              <a:ext uri="{FF2B5EF4-FFF2-40B4-BE49-F238E27FC236}">
                <a16:creationId xmlns:a16="http://schemas.microsoft.com/office/drawing/2014/main" id="{ED946756-5308-4BAD-9B7C-F30A7982BEF6}"/>
              </a:ext>
            </a:extLst>
          </p:cNvPr>
          <p:cNvSpPr>
            <a:spLocks noGrp="1"/>
          </p:cNvSpPr>
          <p:nvPr/>
        </p:nvSpPr>
        <p:spPr>
          <a:xfrm>
            <a:off x="457200" y="6562725"/>
            <a:ext cx="9906000" cy="200025"/>
          </a:xfrm>
          <a:prstGeom prst="rect">
            <a:avLst/>
          </a:prstGeom>
          <a:noFill/>
          <a:ln w="0">
            <a:noFill/>
          </a:ln>
        </p:spPr>
        <p:txBody>
          <a:bodyPr>
            <a:noAutofit/>
          </a:bodyPr>
          <a:lstStyle/>
          <a:p>
            <a:pPr>
              <a:defRPr sz="900" b="0">
                <a:solidFill>
                  <a:srgbClr val="46586C"/>
                </a:solidFill>
                <a:latin typeface="Segoe UI"/>
                <a:ea typeface="Segoe UI"/>
                <a:cs typeface="Segoe UI"/>
              </a:defRPr>
            </a:pPr>
            <a:r>
              <a:rPr sz="900" b="0">
                <a:solidFill>
                  <a:srgbClr val="46586C"/>
                </a:solidFill>
                <a:latin typeface="Segoe UI"/>
                <a:ea typeface="Segoe UI"/>
                <a:cs typeface="Segoe UI"/>
              </a:rPr>
              <a:t>CITI VENDOR DECISION INTELLIGENCE  /  PROPOSED SOLUTION</a:t>
            </a:r>
          </a:p>
        </p:txBody>
      </p:sp>
      <p:sp>
        <p:nvSpPr>
          <p:cNvPr id="5" name="Rectangle 4">
            <a:extLst>
              <a:ext uri="{FF2B5EF4-FFF2-40B4-BE49-F238E27FC236}">
                <a16:creationId xmlns:a16="http://schemas.microsoft.com/office/drawing/2014/main" id="{5BCB426C-F6DC-4641-A05D-B47D96F24D0A}"/>
              </a:ext>
            </a:extLst>
          </p:cNvPr>
          <p:cNvSpPr>
            <a:spLocks noGrp="1"/>
          </p:cNvSpPr>
          <p:nvPr/>
        </p:nvSpPr>
        <p:spPr>
          <a:xfrm>
            <a:off x="11391900" y="6562725"/>
            <a:ext cx="323850" cy="190500"/>
          </a:xfrm>
          <a:prstGeom prst="rect">
            <a:avLst/>
          </a:prstGeom>
          <a:noFill/>
          <a:ln w="0">
            <a:noFill/>
          </a:ln>
        </p:spPr>
        <p:txBody>
          <a:bodyPr>
            <a:noAutofit/>
          </a:bodyPr>
          <a:lstStyle/>
          <a:p>
            <a:pPr>
              <a:defRPr sz="900" b="1">
                <a:solidFill>
                  <a:srgbClr val="0B1F3A"/>
                </a:solidFill>
                <a:latin typeface="Segoe UI"/>
                <a:ea typeface="Segoe UI"/>
                <a:cs typeface="Segoe UI"/>
              </a:defRPr>
            </a:pPr>
            <a:r>
              <a:rPr sz="900" b="1">
                <a:solidFill>
                  <a:srgbClr val="0B1F3A"/>
                </a:solidFill>
                <a:latin typeface="Segoe UI"/>
                <a:ea typeface="Segoe UI"/>
                <a:cs typeface="Segoe UI"/>
              </a:rPr>
              <a:t>08</a:t>
            </a:r>
          </a:p>
        </p:txBody>
      </p:sp>
      <p:sp>
        <p:nvSpPr>
          <p:cNvPr id="6" name="Rectangle: Rounded Corners 5">
            <a:extLst>
              <a:ext uri="{FF2B5EF4-FFF2-40B4-BE49-F238E27FC236}">
                <a16:creationId xmlns:a16="http://schemas.microsoft.com/office/drawing/2014/main" id="{00A089E2-34DA-467B-8047-210B3421A697}"/>
              </a:ext>
            </a:extLst>
          </p:cNvPr>
          <p:cNvSpPr>
            <a:spLocks noGrp="1"/>
          </p:cNvSpPr>
          <p:nvPr/>
        </p:nvSpPr>
        <p:spPr>
          <a:xfrm>
            <a:off x="457200" y="1438275"/>
            <a:ext cx="3619500" cy="1200150"/>
          </a:xfrm>
          <a:prstGeom prst="roundRect">
            <a:avLst>
              <a:gd name="adj" fmla="val 4762"/>
            </a:avLst>
          </a:prstGeom>
          <a:solidFill>
            <a:srgbClr val="E4F6F7"/>
          </a:solidFill>
          <a:ln w="11906">
            <a:solidFill>
              <a:srgbClr val="B8C7D9"/>
            </a:solidFill>
          </a:ln>
        </p:spPr>
        <p:txBody>
          <a:bodyPr/>
          <a:lstStyle/>
          <a:p>
            <a:endParaRPr lang="en-US"/>
          </a:p>
        </p:txBody>
      </p:sp>
      <p:sp>
        <p:nvSpPr>
          <p:cNvPr id="7" name="Rectangle 6">
            <a:extLst>
              <a:ext uri="{FF2B5EF4-FFF2-40B4-BE49-F238E27FC236}">
                <a16:creationId xmlns:a16="http://schemas.microsoft.com/office/drawing/2014/main" id="{53984FC8-13D5-4E61-AB21-22AE43B8F517}"/>
              </a:ext>
            </a:extLst>
          </p:cNvPr>
          <p:cNvSpPr>
            <a:spLocks noGrp="1"/>
          </p:cNvSpPr>
          <p:nvPr/>
        </p:nvSpPr>
        <p:spPr>
          <a:xfrm>
            <a:off x="581025" y="1533525"/>
            <a:ext cx="3371850" cy="285750"/>
          </a:xfrm>
          <a:prstGeom prst="rect">
            <a:avLst/>
          </a:prstGeom>
          <a:noFill/>
          <a:ln w="0">
            <a:noFill/>
          </a:ln>
        </p:spPr>
        <p:txBody>
          <a:bodyPr>
            <a:noAutofit/>
          </a:bodyPr>
          <a:lstStyle/>
          <a:p>
            <a:pPr>
              <a:defRPr sz="1725" b="1">
                <a:solidFill>
                  <a:srgbClr val="0B1F3A"/>
                </a:solidFill>
                <a:latin typeface="Segoe UI"/>
                <a:ea typeface="Segoe UI"/>
                <a:cs typeface="Segoe UI"/>
              </a:defRPr>
            </a:pPr>
            <a:r>
              <a:rPr sz="1725" b="1">
                <a:solidFill>
                  <a:srgbClr val="0B1F3A"/>
                </a:solidFill>
                <a:latin typeface="Segoe UI"/>
                <a:ea typeface="Segoe UI"/>
                <a:cs typeface="Segoe UI"/>
              </a:rPr>
              <a:t>Vendor 360</a:t>
            </a:r>
          </a:p>
        </p:txBody>
      </p:sp>
      <p:sp>
        <p:nvSpPr>
          <p:cNvPr id="8" name="Rectangle 7">
            <a:extLst>
              <a:ext uri="{FF2B5EF4-FFF2-40B4-BE49-F238E27FC236}">
                <a16:creationId xmlns:a16="http://schemas.microsoft.com/office/drawing/2014/main" id="{6FE6CB66-FDE6-4FFE-BE50-78D91E18EBB3}"/>
              </a:ext>
            </a:extLst>
          </p:cNvPr>
          <p:cNvSpPr>
            <a:spLocks noGrp="1"/>
          </p:cNvSpPr>
          <p:nvPr/>
        </p:nvSpPr>
        <p:spPr>
          <a:xfrm>
            <a:off x="581025" y="1895475"/>
            <a:ext cx="3371850" cy="657225"/>
          </a:xfrm>
          <a:prstGeom prst="rect">
            <a:avLst/>
          </a:prstGeom>
          <a:noFill/>
          <a:ln w="0">
            <a:noFill/>
          </a:ln>
        </p:spPr>
        <p:txBody>
          <a:bodyPr>
            <a:noAutofit/>
          </a:bodyPr>
          <a:lstStyle/>
          <a:p>
            <a:pPr>
              <a:defRPr sz="1350" b="0">
                <a:solidFill>
                  <a:srgbClr val="253E55"/>
                </a:solidFill>
                <a:latin typeface="Segoe UI"/>
                <a:ea typeface="Segoe UI"/>
                <a:cs typeface="Segoe UI"/>
              </a:defRPr>
            </a:pPr>
            <a:r>
              <a:rPr sz="1350" b="0">
                <a:solidFill>
                  <a:srgbClr val="253E55"/>
                </a:solidFill>
                <a:latin typeface="Segoe UI"/>
                <a:ea typeface="Segoe UI"/>
                <a:cs typeface="Segoe UI"/>
              </a:rPr>
              <a:t>Canonical ID + profile APIs</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Evidence, owners, freshness and gaps</a:t>
            </a:r>
          </a:p>
        </p:txBody>
      </p:sp>
      <p:sp>
        <p:nvSpPr>
          <p:cNvPr id="9" name="Rectangle: Rounded Corners 8">
            <a:extLst>
              <a:ext uri="{FF2B5EF4-FFF2-40B4-BE49-F238E27FC236}">
                <a16:creationId xmlns:a16="http://schemas.microsoft.com/office/drawing/2014/main" id="{19E22F32-EBA4-462B-959F-3537BF381299}"/>
              </a:ext>
            </a:extLst>
          </p:cNvPr>
          <p:cNvSpPr>
            <a:spLocks noGrp="1"/>
          </p:cNvSpPr>
          <p:nvPr/>
        </p:nvSpPr>
        <p:spPr>
          <a:xfrm>
            <a:off x="4286250" y="1438275"/>
            <a:ext cx="3619500" cy="1200150"/>
          </a:xfrm>
          <a:prstGeom prst="roundRect">
            <a:avLst>
              <a:gd name="adj" fmla="val 4762"/>
            </a:avLst>
          </a:prstGeom>
          <a:solidFill>
            <a:srgbClr val="E4F6F7"/>
          </a:solidFill>
          <a:ln w="11906">
            <a:solidFill>
              <a:srgbClr val="B8C7D9"/>
            </a:solidFill>
          </a:ln>
        </p:spPr>
        <p:txBody>
          <a:bodyPr/>
          <a:lstStyle/>
          <a:p>
            <a:endParaRPr lang="en-US"/>
          </a:p>
        </p:txBody>
      </p:sp>
      <p:sp>
        <p:nvSpPr>
          <p:cNvPr id="10" name="Rectangle 9">
            <a:extLst>
              <a:ext uri="{FF2B5EF4-FFF2-40B4-BE49-F238E27FC236}">
                <a16:creationId xmlns:a16="http://schemas.microsoft.com/office/drawing/2014/main" id="{DD3F56E5-F038-4EC3-851B-6FEA561D9FDD}"/>
              </a:ext>
            </a:extLst>
          </p:cNvPr>
          <p:cNvSpPr>
            <a:spLocks noGrp="1"/>
          </p:cNvSpPr>
          <p:nvPr/>
        </p:nvSpPr>
        <p:spPr>
          <a:xfrm>
            <a:off x="4410075" y="1533525"/>
            <a:ext cx="3371850" cy="285750"/>
          </a:xfrm>
          <a:prstGeom prst="rect">
            <a:avLst/>
          </a:prstGeom>
          <a:noFill/>
          <a:ln w="0">
            <a:noFill/>
          </a:ln>
        </p:spPr>
        <p:txBody>
          <a:bodyPr>
            <a:noAutofit/>
          </a:bodyPr>
          <a:lstStyle/>
          <a:p>
            <a:pPr>
              <a:defRPr sz="1725" b="1">
                <a:solidFill>
                  <a:srgbClr val="0B1F3A"/>
                </a:solidFill>
                <a:latin typeface="Segoe UI"/>
                <a:ea typeface="Segoe UI"/>
                <a:cs typeface="Segoe UI"/>
              </a:defRPr>
            </a:pPr>
            <a:r>
              <a:rPr sz="1725" b="1">
                <a:solidFill>
                  <a:srgbClr val="0B1F3A"/>
                </a:solidFill>
                <a:latin typeface="Segoe UI"/>
                <a:ea typeface="Segoe UI"/>
                <a:cs typeface="Segoe UI"/>
              </a:rPr>
              <a:t>Renewals</a:t>
            </a:r>
          </a:p>
        </p:txBody>
      </p:sp>
      <p:sp>
        <p:nvSpPr>
          <p:cNvPr id="11" name="Rectangle 10">
            <a:extLst>
              <a:ext uri="{FF2B5EF4-FFF2-40B4-BE49-F238E27FC236}">
                <a16:creationId xmlns:a16="http://schemas.microsoft.com/office/drawing/2014/main" id="{7AC6E8F1-493F-4FA4-8E25-75A50A6B4677}"/>
              </a:ext>
            </a:extLst>
          </p:cNvPr>
          <p:cNvSpPr>
            <a:spLocks noGrp="1"/>
          </p:cNvSpPr>
          <p:nvPr/>
        </p:nvSpPr>
        <p:spPr>
          <a:xfrm>
            <a:off x="4410075" y="1895475"/>
            <a:ext cx="3371850" cy="657225"/>
          </a:xfrm>
          <a:prstGeom prst="rect">
            <a:avLst/>
          </a:prstGeom>
          <a:noFill/>
          <a:ln w="0">
            <a:noFill/>
          </a:ln>
        </p:spPr>
        <p:txBody>
          <a:bodyPr>
            <a:noAutofit/>
          </a:bodyPr>
          <a:lstStyle/>
          <a:p>
            <a:pPr>
              <a:defRPr sz="1350" b="0">
                <a:solidFill>
                  <a:srgbClr val="253E55"/>
                </a:solidFill>
                <a:latin typeface="Segoe UI"/>
                <a:ea typeface="Segoe UI"/>
                <a:cs typeface="Segoe UI"/>
              </a:defRPr>
            </a:pPr>
            <a:r>
              <a:rPr sz="1350" b="0">
                <a:solidFill>
                  <a:srgbClr val="253E55"/>
                </a:solidFill>
                <a:latin typeface="Segoe UI"/>
                <a:ea typeface="Segoe UI"/>
                <a:cs typeface="Segoe UI"/>
              </a:rPr>
              <a:t>Priority rules + commercial agent</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Score components, clauses and dependency</a:t>
            </a:r>
          </a:p>
        </p:txBody>
      </p:sp>
      <p:sp>
        <p:nvSpPr>
          <p:cNvPr id="12" name="Rectangle: Rounded Corners 11">
            <a:extLst>
              <a:ext uri="{FF2B5EF4-FFF2-40B4-BE49-F238E27FC236}">
                <a16:creationId xmlns:a16="http://schemas.microsoft.com/office/drawing/2014/main" id="{7AE147A2-0C0F-4B6B-92EA-747E06918B2B}"/>
              </a:ext>
            </a:extLst>
          </p:cNvPr>
          <p:cNvSpPr>
            <a:spLocks noGrp="1"/>
          </p:cNvSpPr>
          <p:nvPr/>
        </p:nvSpPr>
        <p:spPr>
          <a:xfrm>
            <a:off x="8115300" y="1438275"/>
            <a:ext cx="3619500" cy="1200150"/>
          </a:xfrm>
          <a:prstGeom prst="roundRect">
            <a:avLst>
              <a:gd name="adj" fmla="val 4762"/>
            </a:avLst>
          </a:prstGeom>
          <a:solidFill>
            <a:srgbClr val="E4F6F7"/>
          </a:solidFill>
          <a:ln w="11906">
            <a:solidFill>
              <a:srgbClr val="B8C7D9"/>
            </a:solidFill>
          </a:ln>
        </p:spPr>
        <p:txBody>
          <a:bodyPr/>
          <a:lstStyle/>
          <a:p>
            <a:endParaRPr lang="en-US"/>
          </a:p>
        </p:txBody>
      </p:sp>
      <p:sp>
        <p:nvSpPr>
          <p:cNvPr id="13" name="Rectangle 12">
            <a:extLst>
              <a:ext uri="{FF2B5EF4-FFF2-40B4-BE49-F238E27FC236}">
                <a16:creationId xmlns:a16="http://schemas.microsoft.com/office/drawing/2014/main" id="{3886161C-7312-414C-85DD-7DA9E73118B2}"/>
              </a:ext>
            </a:extLst>
          </p:cNvPr>
          <p:cNvSpPr>
            <a:spLocks noGrp="1"/>
          </p:cNvSpPr>
          <p:nvPr/>
        </p:nvSpPr>
        <p:spPr>
          <a:xfrm>
            <a:off x="8239125" y="1533525"/>
            <a:ext cx="3371850" cy="285750"/>
          </a:xfrm>
          <a:prstGeom prst="rect">
            <a:avLst/>
          </a:prstGeom>
          <a:noFill/>
          <a:ln w="0">
            <a:noFill/>
          </a:ln>
        </p:spPr>
        <p:txBody>
          <a:bodyPr>
            <a:noAutofit/>
          </a:bodyPr>
          <a:lstStyle/>
          <a:p>
            <a:pPr>
              <a:defRPr sz="1725" b="1">
                <a:solidFill>
                  <a:srgbClr val="0B1F3A"/>
                </a:solidFill>
                <a:latin typeface="Segoe UI"/>
                <a:ea typeface="Segoe UI"/>
                <a:cs typeface="Segoe UI"/>
              </a:defRPr>
            </a:pPr>
            <a:r>
              <a:rPr sz="1725" b="1">
                <a:solidFill>
                  <a:srgbClr val="0B1F3A"/>
                </a:solidFill>
                <a:latin typeface="Segoe UI"/>
                <a:ea typeface="Segoe UI"/>
                <a:cs typeface="Segoe UI"/>
              </a:rPr>
              <a:t>Concentration</a:t>
            </a:r>
          </a:p>
        </p:txBody>
      </p:sp>
      <p:sp>
        <p:nvSpPr>
          <p:cNvPr id="14" name="Rectangle 13">
            <a:extLst>
              <a:ext uri="{FF2B5EF4-FFF2-40B4-BE49-F238E27FC236}">
                <a16:creationId xmlns:a16="http://schemas.microsoft.com/office/drawing/2014/main" id="{A547EF6D-6F23-4D76-8158-31462D77F4C4}"/>
              </a:ext>
            </a:extLst>
          </p:cNvPr>
          <p:cNvSpPr>
            <a:spLocks noGrp="1"/>
          </p:cNvSpPr>
          <p:nvPr/>
        </p:nvSpPr>
        <p:spPr>
          <a:xfrm>
            <a:off x="8239125" y="1895475"/>
            <a:ext cx="3371850" cy="657225"/>
          </a:xfrm>
          <a:prstGeom prst="rect">
            <a:avLst/>
          </a:prstGeom>
          <a:noFill/>
          <a:ln w="0">
            <a:noFill/>
          </a:ln>
        </p:spPr>
        <p:txBody>
          <a:bodyPr>
            <a:noAutofit/>
          </a:bodyPr>
          <a:lstStyle/>
          <a:p>
            <a:pPr>
              <a:defRPr sz="1350" b="0">
                <a:solidFill>
                  <a:srgbClr val="253E55"/>
                </a:solidFill>
                <a:latin typeface="Segoe UI"/>
                <a:ea typeface="Segoe UI"/>
                <a:cs typeface="Segoe UI"/>
              </a:defRPr>
            </a:pPr>
            <a:r>
              <a:rPr sz="1350" b="0">
                <a:solidFill>
                  <a:srgbClr val="253E55"/>
                </a:solidFill>
                <a:latin typeface="Segoe UI"/>
                <a:ea typeface="Segoe UI"/>
                <a:cs typeface="Segoe UI"/>
              </a:rPr>
              <a:t>Graph paths + exposure metrics</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Defined portfolio and approved denominator</a:t>
            </a:r>
          </a:p>
        </p:txBody>
      </p:sp>
      <p:sp>
        <p:nvSpPr>
          <p:cNvPr id="15" name="Rectangle: Rounded Corners 14">
            <a:extLst>
              <a:ext uri="{FF2B5EF4-FFF2-40B4-BE49-F238E27FC236}">
                <a16:creationId xmlns:a16="http://schemas.microsoft.com/office/drawing/2014/main" id="{906CCFB1-32A0-4C14-83DC-B9F0C8F9F925}"/>
              </a:ext>
            </a:extLst>
          </p:cNvPr>
          <p:cNvSpPr>
            <a:spLocks noGrp="1"/>
          </p:cNvSpPr>
          <p:nvPr/>
        </p:nvSpPr>
        <p:spPr>
          <a:xfrm>
            <a:off x="457200" y="2867025"/>
            <a:ext cx="3619500" cy="1200150"/>
          </a:xfrm>
          <a:prstGeom prst="roundRect">
            <a:avLst>
              <a:gd name="adj" fmla="val 4762"/>
            </a:avLst>
          </a:prstGeom>
          <a:solidFill>
            <a:srgbClr val="E4F6F7"/>
          </a:solidFill>
          <a:ln w="11906">
            <a:solidFill>
              <a:srgbClr val="B8C7D9"/>
            </a:solidFill>
          </a:ln>
        </p:spPr>
        <p:txBody>
          <a:bodyPr/>
          <a:lstStyle/>
          <a:p>
            <a:endParaRPr lang="en-US"/>
          </a:p>
        </p:txBody>
      </p:sp>
      <p:sp>
        <p:nvSpPr>
          <p:cNvPr id="16" name="Rectangle 15">
            <a:extLst>
              <a:ext uri="{FF2B5EF4-FFF2-40B4-BE49-F238E27FC236}">
                <a16:creationId xmlns:a16="http://schemas.microsoft.com/office/drawing/2014/main" id="{27293F3A-01F7-41D5-8FEE-A58458EABEAC}"/>
              </a:ext>
            </a:extLst>
          </p:cNvPr>
          <p:cNvSpPr>
            <a:spLocks noGrp="1"/>
          </p:cNvSpPr>
          <p:nvPr/>
        </p:nvSpPr>
        <p:spPr>
          <a:xfrm>
            <a:off x="581025" y="2962275"/>
            <a:ext cx="3371850" cy="285750"/>
          </a:xfrm>
          <a:prstGeom prst="rect">
            <a:avLst/>
          </a:prstGeom>
          <a:noFill/>
          <a:ln w="0">
            <a:noFill/>
          </a:ln>
        </p:spPr>
        <p:txBody>
          <a:bodyPr>
            <a:noAutofit/>
          </a:bodyPr>
          <a:lstStyle/>
          <a:p>
            <a:pPr>
              <a:defRPr sz="1725" b="1">
                <a:solidFill>
                  <a:srgbClr val="0B1F3A"/>
                </a:solidFill>
                <a:latin typeface="Segoe UI"/>
                <a:ea typeface="Segoe UI"/>
                <a:cs typeface="Segoe UI"/>
              </a:defRPr>
            </a:pPr>
            <a:r>
              <a:rPr sz="1725" b="1">
                <a:solidFill>
                  <a:srgbClr val="0B1F3A"/>
                </a:solidFill>
                <a:latin typeface="Segoe UI"/>
                <a:ea typeface="Segoe UI"/>
                <a:cs typeface="Segoe UI"/>
              </a:rPr>
              <a:t>Rationalization</a:t>
            </a:r>
          </a:p>
        </p:txBody>
      </p:sp>
      <p:sp>
        <p:nvSpPr>
          <p:cNvPr id="17" name="Rectangle 16">
            <a:extLst>
              <a:ext uri="{FF2B5EF4-FFF2-40B4-BE49-F238E27FC236}">
                <a16:creationId xmlns:a16="http://schemas.microsoft.com/office/drawing/2014/main" id="{D3ECF6B4-013E-489C-A185-16E63836C647}"/>
              </a:ext>
            </a:extLst>
          </p:cNvPr>
          <p:cNvSpPr>
            <a:spLocks noGrp="1"/>
          </p:cNvSpPr>
          <p:nvPr/>
        </p:nvSpPr>
        <p:spPr>
          <a:xfrm>
            <a:off x="581025" y="3324225"/>
            <a:ext cx="3371850" cy="657225"/>
          </a:xfrm>
          <a:prstGeom prst="rect">
            <a:avLst/>
          </a:prstGeom>
          <a:noFill/>
          <a:ln w="0">
            <a:noFill/>
          </a:ln>
        </p:spPr>
        <p:txBody>
          <a:bodyPr>
            <a:noAutofit/>
          </a:bodyPr>
          <a:lstStyle/>
          <a:p>
            <a:pPr>
              <a:defRPr sz="1350" b="0">
                <a:solidFill>
                  <a:srgbClr val="253E55"/>
                </a:solidFill>
                <a:latin typeface="Segoe UI"/>
                <a:ea typeface="Segoe UI"/>
                <a:cs typeface="Segoe UI"/>
              </a:defRPr>
            </a:pPr>
            <a:r>
              <a:rPr sz="1350" b="0">
                <a:solidFill>
                  <a:srgbClr val="253E55"/>
                </a:solidFill>
                <a:latin typeface="Segoe UI"/>
                <a:ea typeface="Segoe UI"/>
                <a:cs typeface="Segoe UI"/>
              </a:rPr>
              <a:t>Sourcing + capability comparison</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Contract / capacity / risk / transition checks</a:t>
            </a:r>
          </a:p>
        </p:txBody>
      </p:sp>
      <p:sp>
        <p:nvSpPr>
          <p:cNvPr id="18" name="Rectangle: Rounded Corners 17">
            <a:extLst>
              <a:ext uri="{FF2B5EF4-FFF2-40B4-BE49-F238E27FC236}">
                <a16:creationId xmlns:a16="http://schemas.microsoft.com/office/drawing/2014/main" id="{1AE5A70D-73DD-4A68-A444-397929E6B7F1}"/>
              </a:ext>
            </a:extLst>
          </p:cNvPr>
          <p:cNvSpPr>
            <a:spLocks noGrp="1"/>
          </p:cNvSpPr>
          <p:nvPr/>
        </p:nvSpPr>
        <p:spPr>
          <a:xfrm>
            <a:off x="4286250" y="2867025"/>
            <a:ext cx="3619500" cy="1200150"/>
          </a:xfrm>
          <a:prstGeom prst="roundRect">
            <a:avLst>
              <a:gd name="adj" fmla="val 4762"/>
            </a:avLst>
          </a:prstGeom>
          <a:solidFill>
            <a:srgbClr val="E4F6F7"/>
          </a:solidFill>
          <a:ln w="11906">
            <a:solidFill>
              <a:srgbClr val="B8C7D9"/>
            </a:solidFill>
          </a:ln>
        </p:spPr>
        <p:txBody>
          <a:bodyPr/>
          <a:lstStyle/>
          <a:p>
            <a:endParaRPr lang="en-US"/>
          </a:p>
        </p:txBody>
      </p:sp>
      <p:sp>
        <p:nvSpPr>
          <p:cNvPr id="19" name="Rectangle 18">
            <a:extLst>
              <a:ext uri="{FF2B5EF4-FFF2-40B4-BE49-F238E27FC236}">
                <a16:creationId xmlns:a16="http://schemas.microsoft.com/office/drawing/2014/main" id="{3FB3784A-043E-4508-A161-BEC8B7F47F63}"/>
              </a:ext>
            </a:extLst>
          </p:cNvPr>
          <p:cNvSpPr>
            <a:spLocks noGrp="1"/>
          </p:cNvSpPr>
          <p:nvPr/>
        </p:nvSpPr>
        <p:spPr>
          <a:xfrm>
            <a:off x="4410075" y="2962275"/>
            <a:ext cx="3371850" cy="285750"/>
          </a:xfrm>
          <a:prstGeom prst="rect">
            <a:avLst/>
          </a:prstGeom>
          <a:noFill/>
          <a:ln w="0">
            <a:noFill/>
          </a:ln>
        </p:spPr>
        <p:txBody>
          <a:bodyPr>
            <a:noAutofit/>
          </a:bodyPr>
          <a:lstStyle/>
          <a:p>
            <a:pPr>
              <a:defRPr sz="1725" b="1">
                <a:solidFill>
                  <a:srgbClr val="0B1F3A"/>
                </a:solidFill>
                <a:latin typeface="Segoe UI"/>
                <a:ea typeface="Segoe UI"/>
                <a:cs typeface="Segoe UI"/>
              </a:defRPr>
            </a:pPr>
            <a:r>
              <a:rPr sz="1725" b="1">
                <a:solidFill>
                  <a:srgbClr val="0B1F3A"/>
                </a:solidFill>
                <a:latin typeface="Segoe UI"/>
                <a:ea typeface="Segoe UI"/>
                <a:cs typeface="Segoe UI"/>
              </a:rPr>
              <a:t>Spend variance</a:t>
            </a:r>
          </a:p>
        </p:txBody>
      </p:sp>
      <p:sp>
        <p:nvSpPr>
          <p:cNvPr id="20" name="Rectangle 19">
            <a:extLst>
              <a:ext uri="{FF2B5EF4-FFF2-40B4-BE49-F238E27FC236}">
                <a16:creationId xmlns:a16="http://schemas.microsoft.com/office/drawing/2014/main" id="{E81E55BD-FAE6-4B56-8FB6-548D966D938B}"/>
              </a:ext>
            </a:extLst>
          </p:cNvPr>
          <p:cNvSpPr>
            <a:spLocks noGrp="1"/>
          </p:cNvSpPr>
          <p:nvPr/>
        </p:nvSpPr>
        <p:spPr>
          <a:xfrm>
            <a:off x="4410075" y="3324225"/>
            <a:ext cx="3371850" cy="657225"/>
          </a:xfrm>
          <a:prstGeom prst="rect">
            <a:avLst/>
          </a:prstGeom>
          <a:noFill/>
          <a:ln w="0">
            <a:noFill/>
          </a:ln>
        </p:spPr>
        <p:txBody>
          <a:bodyPr>
            <a:noAutofit/>
          </a:bodyPr>
          <a:lstStyle/>
          <a:p>
            <a:pPr>
              <a:defRPr sz="1350" b="0">
                <a:solidFill>
                  <a:srgbClr val="253E55"/>
                </a:solidFill>
                <a:latin typeface="Segoe UI"/>
                <a:ea typeface="Segoe UI"/>
                <a:cs typeface="Segoe UI"/>
              </a:defRPr>
            </a:pPr>
            <a:r>
              <a:rPr sz="1350" b="0">
                <a:solidFill>
                  <a:srgbClr val="253E55"/>
                </a:solidFill>
                <a:latin typeface="Segoe UI"/>
                <a:ea typeface="Segoe UI"/>
                <a:cs typeface="Segoe UI"/>
              </a:rPr>
              <a:t>Financial agent + semantic metrics</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Reconciled drivers, currency and snapshots</a:t>
            </a:r>
          </a:p>
        </p:txBody>
      </p:sp>
      <p:sp>
        <p:nvSpPr>
          <p:cNvPr id="21" name="Rectangle: Rounded Corners 20">
            <a:extLst>
              <a:ext uri="{FF2B5EF4-FFF2-40B4-BE49-F238E27FC236}">
                <a16:creationId xmlns:a16="http://schemas.microsoft.com/office/drawing/2014/main" id="{0256AF63-C5B7-4131-B1E3-56FAD46BB88A}"/>
              </a:ext>
            </a:extLst>
          </p:cNvPr>
          <p:cNvSpPr>
            <a:spLocks noGrp="1"/>
          </p:cNvSpPr>
          <p:nvPr/>
        </p:nvSpPr>
        <p:spPr>
          <a:xfrm>
            <a:off x="8115300" y="2867025"/>
            <a:ext cx="3619500" cy="1200150"/>
          </a:xfrm>
          <a:prstGeom prst="roundRect">
            <a:avLst>
              <a:gd name="adj" fmla="val 4762"/>
            </a:avLst>
          </a:prstGeom>
          <a:solidFill>
            <a:srgbClr val="E4F6F7"/>
          </a:solidFill>
          <a:ln w="11906">
            <a:solidFill>
              <a:srgbClr val="B8C7D9"/>
            </a:solidFill>
          </a:ln>
        </p:spPr>
        <p:txBody>
          <a:bodyPr/>
          <a:lstStyle/>
          <a:p>
            <a:endParaRPr lang="en-US"/>
          </a:p>
        </p:txBody>
      </p:sp>
      <p:sp>
        <p:nvSpPr>
          <p:cNvPr id="22" name="Rectangle 21">
            <a:extLst>
              <a:ext uri="{FF2B5EF4-FFF2-40B4-BE49-F238E27FC236}">
                <a16:creationId xmlns:a16="http://schemas.microsoft.com/office/drawing/2014/main" id="{11207A3F-0014-441E-A588-9C401A347AFB}"/>
              </a:ext>
            </a:extLst>
          </p:cNvPr>
          <p:cNvSpPr>
            <a:spLocks noGrp="1"/>
          </p:cNvSpPr>
          <p:nvPr/>
        </p:nvSpPr>
        <p:spPr>
          <a:xfrm>
            <a:off x="8239125" y="2962275"/>
            <a:ext cx="3371850" cy="285750"/>
          </a:xfrm>
          <a:prstGeom prst="rect">
            <a:avLst/>
          </a:prstGeom>
          <a:noFill/>
          <a:ln w="0">
            <a:noFill/>
          </a:ln>
        </p:spPr>
        <p:txBody>
          <a:bodyPr>
            <a:noAutofit/>
          </a:bodyPr>
          <a:lstStyle/>
          <a:p>
            <a:pPr>
              <a:defRPr sz="1725" b="1">
                <a:solidFill>
                  <a:srgbClr val="0B1F3A"/>
                </a:solidFill>
                <a:latin typeface="Segoe UI"/>
                <a:ea typeface="Segoe UI"/>
                <a:cs typeface="Segoe UI"/>
              </a:defRPr>
            </a:pPr>
            <a:r>
              <a:rPr sz="1725" b="1">
                <a:solidFill>
                  <a:srgbClr val="0B1F3A"/>
                </a:solidFill>
                <a:latin typeface="Segoe UI"/>
                <a:ea typeface="Segoe UI"/>
                <a:cs typeface="Segoe UI"/>
              </a:rPr>
              <a:t>Scenarios</a:t>
            </a:r>
          </a:p>
        </p:txBody>
      </p:sp>
      <p:sp>
        <p:nvSpPr>
          <p:cNvPr id="23" name="Rectangle 22">
            <a:extLst>
              <a:ext uri="{FF2B5EF4-FFF2-40B4-BE49-F238E27FC236}">
                <a16:creationId xmlns:a16="http://schemas.microsoft.com/office/drawing/2014/main" id="{C9A7BB91-81CE-459B-B5F1-1196D28ED0A4}"/>
              </a:ext>
            </a:extLst>
          </p:cNvPr>
          <p:cNvSpPr>
            <a:spLocks noGrp="1"/>
          </p:cNvSpPr>
          <p:nvPr/>
        </p:nvSpPr>
        <p:spPr>
          <a:xfrm>
            <a:off x="8239125" y="3324225"/>
            <a:ext cx="3371850" cy="657225"/>
          </a:xfrm>
          <a:prstGeom prst="rect">
            <a:avLst/>
          </a:prstGeom>
          <a:noFill/>
          <a:ln w="0">
            <a:noFill/>
          </a:ln>
        </p:spPr>
        <p:txBody>
          <a:bodyPr>
            <a:noAutofit/>
          </a:bodyPr>
          <a:lstStyle/>
          <a:p>
            <a:pPr>
              <a:defRPr sz="1350" b="0">
                <a:solidFill>
                  <a:srgbClr val="253E55"/>
                </a:solidFill>
                <a:latin typeface="Segoe UI"/>
                <a:ea typeface="Segoe UI"/>
                <a:cs typeface="Segoe UI"/>
              </a:defRPr>
            </a:pPr>
            <a:r>
              <a:rPr sz="1350" b="0">
                <a:solidFill>
                  <a:srgbClr val="253E55"/>
                </a:solidFill>
                <a:latin typeface="Segoe UI"/>
                <a:ea typeface="Segoe UI"/>
                <a:cs typeface="Segoe UI"/>
              </a:rPr>
              <a:t>Deterministic engine + review state</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Baseline, impact paths and assumptions</a:t>
            </a:r>
          </a:p>
        </p:txBody>
      </p:sp>
      <p:sp>
        <p:nvSpPr>
          <p:cNvPr id="24" name="Rectangle: Rounded Corners 23">
            <a:extLst>
              <a:ext uri="{FF2B5EF4-FFF2-40B4-BE49-F238E27FC236}">
                <a16:creationId xmlns:a16="http://schemas.microsoft.com/office/drawing/2014/main" id="{421543F1-14E2-467C-A362-5BF7D975F938}"/>
              </a:ext>
            </a:extLst>
          </p:cNvPr>
          <p:cNvSpPr>
            <a:spLocks noGrp="1"/>
          </p:cNvSpPr>
          <p:nvPr/>
        </p:nvSpPr>
        <p:spPr>
          <a:xfrm>
            <a:off x="457200" y="4495800"/>
            <a:ext cx="5448300" cy="1238250"/>
          </a:xfrm>
          <a:prstGeom prst="roundRect">
            <a:avLst>
              <a:gd name="adj" fmla="val 4615"/>
            </a:avLst>
          </a:prstGeom>
          <a:solidFill>
            <a:srgbClr val="FFFFFF"/>
          </a:solidFill>
          <a:ln w="11906">
            <a:solidFill>
              <a:srgbClr val="B8C7D9"/>
            </a:solidFill>
          </a:ln>
        </p:spPr>
        <p:txBody>
          <a:bodyPr/>
          <a:lstStyle/>
          <a:p>
            <a:endParaRPr lang="en-US"/>
          </a:p>
        </p:txBody>
      </p:sp>
      <p:sp>
        <p:nvSpPr>
          <p:cNvPr id="25" name="Rectangle 24">
            <a:extLst>
              <a:ext uri="{FF2B5EF4-FFF2-40B4-BE49-F238E27FC236}">
                <a16:creationId xmlns:a16="http://schemas.microsoft.com/office/drawing/2014/main" id="{98BA57BE-14BF-4BBD-AEC2-9DDD90B8793B}"/>
              </a:ext>
            </a:extLst>
          </p:cNvPr>
          <p:cNvSpPr>
            <a:spLocks noGrp="1"/>
          </p:cNvSpPr>
          <p:nvPr/>
        </p:nvSpPr>
        <p:spPr>
          <a:xfrm>
            <a:off x="581025" y="4591050"/>
            <a:ext cx="5200650" cy="285750"/>
          </a:xfrm>
          <a:prstGeom prst="rect">
            <a:avLst/>
          </a:prstGeom>
          <a:noFill/>
          <a:ln w="0">
            <a:noFill/>
          </a:ln>
        </p:spPr>
        <p:txBody>
          <a:bodyPr>
            <a:noAutofit/>
          </a:bodyPr>
          <a:lstStyle/>
          <a:p>
            <a:pPr>
              <a:defRPr sz="1650" b="1">
                <a:solidFill>
                  <a:srgbClr val="0B1F3A"/>
                </a:solidFill>
                <a:latin typeface="Segoe UI"/>
                <a:ea typeface="Segoe UI"/>
                <a:cs typeface="Segoe UI"/>
              </a:defRPr>
            </a:pPr>
            <a:r>
              <a:rPr sz="1650" b="1">
                <a:solidFill>
                  <a:srgbClr val="0B1F3A"/>
                </a:solidFill>
                <a:latin typeface="Segoe UI"/>
                <a:ea typeface="Segoe UI"/>
                <a:cs typeface="Segoe UI"/>
              </a:rPr>
              <a:t>Security and operations</a:t>
            </a:r>
          </a:p>
        </p:txBody>
      </p:sp>
      <p:sp>
        <p:nvSpPr>
          <p:cNvPr id="26" name="Rectangle 25">
            <a:extLst>
              <a:ext uri="{FF2B5EF4-FFF2-40B4-BE49-F238E27FC236}">
                <a16:creationId xmlns:a16="http://schemas.microsoft.com/office/drawing/2014/main" id="{5474A740-AD92-4B9F-9BD3-42A444A3062C}"/>
              </a:ext>
            </a:extLst>
          </p:cNvPr>
          <p:cNvSpPr>
            <a:spLocks noGrp="1"/>
          </p:cNvSpPr>
          <p:nvPr/>
        </p:nvSpPr>
        <p:spPr>
          <a:xfrm>
            <a:off x="581025" y="4953000"/>
            <a:ext cx="5200650" cy="695325"/>
          </a:xfrm>
          <a:prstGeom prst="rect">
            <a:avLst/>
          </a:prstGeom>
          <a:noFill/>
          <a:ln w="0">
            <a:noFill/>
          </a:ln>
        </p:spPr>
        <p:txBody>
          <a:bodyPr>
            <a:noAutofit/>
          </a:bodyPr>
          <a:lstStyle/>
          <a:p>
            <a:pPr>
              <a:defRPr sz="1350" b="0">
                <a:solidFill>
                  <a:srgbClr val="253E55"/>
                </a:solidFill>
                <a:latin typeface="Segoe UI"/>
                <a:ea typeface="Segoe UI"/>
                <a:cs typeface="Segoe UI"/>
              </a:defRPr>
            </a:pPr>
            <a:r>
              <a:rPr sz="1350" b="0">
                <a:solidFill>
                  <a:srgbClr val="253E55"/>
                </a:solidFill>
                <a:latin typeface="Segoe UI"/>
                <a:ea typeface="Segoe UI"/>
                <a:cs typeface="Segoe UI"/>
              </a:rPr>
              <a:t>Least privilege / row, field, document and graph scope</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Model / prompt / rule versions; protected traces</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Freshness alerts, retry, recovery and cost budgets</a:t>
            </a:r>
          </a:p>
        </p:txBody>
      </p:sp>
      <p:sp>
        <p:nvSpPr>
          <p:cNvPr id="27" name="Rectangle: Rounded Corners 26">
            <a:extLst>
              <a:ext uri="{FF2B5EF4-FFF2-40B4-BE49-F238E27FC236}">
                <a16:creationId xmlns:a16="http://schemas.microsoft.com/office/drawing/2014/main" id="{31A5CE37-61EE-40DE-B1DA-1C28C66533A1}"/>
              </a:ext>
            </a:extLst>
          </p:cNvPr>
          <p:cNvSpPr>
            <a:spLocks noGrp="1"/>
          </p:cNvSpPr>
          <p:nvPr/>
        </p:nvSpPr>
        <p:spPr>
          <a:xfrm>
            <a:off x="6286500" y="4495800"/>
            <a:ext cx="5448300" cy="1238250"/>
          </a:xfrm>
          <a:prstGeom prst="roundRect">
            <a:avLst>
              <a:gd name="adj" fmla="val 4615"/>
            </a:avLst>
          </a:prstGeom>
          <a:solidFill>
            <a:srgbClr val="FFFFFF"/>
          </a:solidFill>
          <a:ln w="11906">
            <a:solidFill>
              <a:srgbClr val="B8C7D9"/>
            </a:solidFill>
          </a:ln>
        </p:spPr>
        <p:txBody>
          <a:bodyPr/>
          <a:lstStyle/>
          <a:p>
            <a:endParaRPr lang="en-US"/>
          </a:p>
        </p:txBody>
      </p:sp>
      <p:sp>
        <p:nvSpPr>
          <p:cNvPr id="28" name="Rectangle 27">
            <a:extLst>
              <a:ext uri="{FF2B5EF4-FFF2-40B4-BE49-F238E27FC236}">
                <a16:creationId xmlns:a16="http://schemas.microsoft.com/office/drawing/2014/main" id="{5D2FAC0C-5B0C-464A-BAE2-1C887D9CF2EE}"/>
              </a:ext>
            </a:extLst>
          </p:cNvPr>
          <p:cNvSpPr>
            <a:spLocks noGrp="1"/>
          </p:cNvSpPr>
          <p:nvPr/>
        </p:nvSpPr>
        <p:spPr>
          <a:xfrm>
            <a:off x="6410325" y="4591050"/>
            <a:ext cx="5200650" cy="285750"/>
          </a:xfrm>
          <a:prstGeom prst="rect">
            <a:avLst/>
          </a:prstGeom>
          <a:noFill/>
          <a:ln w="0">
            <a:noFill/>
          </a:ln>
        </p:spPr>
        <p:txBody>
          <a:bodyPr>
            <a:noAutofit/>
          </a:bodyPr>
          <a:lstStyle/>
          <a:p>
            <a:pPr>
              <a:defRPr sz="1650" b="1">
                <a:solidFill>
                  <a:srgbClr val="0B1F3A"/>
                </a:solidFill>
                <a:latin typeface="Segoe UI"/>
                <a:ea typeface="Segoe UI"/>
                <a:cs typeface="Segoe UI"/>
              </a:defRPr>
            </a:pPr>
            <a:r>
              <a:rPr sz="1650" b="1">
                <a:solidFill>
                  <a:srgbClr val="0B1F3A"/>
                </a:solidFill>
                <a:latin typeface="Segoe UI"/>
                <a:ea typeface="Segoe UI"/>
                <a:cs typeface="Segoe UI"/>
              </a:rPr>
              <a:t>Acceptance before go-live</a:t>
            </a:r>
          </a:p>
        </p:txBody>
      </p:sp>
      <p:sp>
        <p:nvSpPr>
          <p:cNvPr id="29" name="Rectangle 28">
            <a:extLst>
              <a:ext uri="{FF2B5EF4-FFF2-40B4-BE49-F238E27FC236}">
                <a16:creationId xmlns:a16="http://schemas.microsoft.com/office/drawing/2014/main" id="{96635F5E-124A-452F-B16F-E69304CDF1B5}"/>
              </a:ext>
            </a:extLst>
          </p:cNvPr>
          <p:cNvSpPr>
            <a:spLocks noGrp="1"/>
          </p:cNvSpPr>
          <p:nvPr/>
        </p:nvSpPr>
        <p:spPr>
          <a:xfrm>
            <a:off x="6410325" y="4953000"/>
            <a:ext cx="5200650" cy="695325"/>
          </a:xfrm>
          <a:prstGeom prst="rect">
            <a:avLst/>
          </a:prstGeom>
          <a:noFill/>
          <a:ln w="0">
            <a:noFill/>
          </a:ln>
        </p:spPr>
        <p:txBody>
          <a:bodyPr>
            <a:noAutofit/>
          </a:bodyPr>
          <a:lstStyle/>
          <a:p>
            <a:pPr>
              <a:defRPr sz="1350" b="0">
                <a:solidFill>
                  <a:srgbClr val="253E55"/>
                </a:solidFill>
                <a:latin typeface="Segoe UI"/>
                <a:ea typeface="Segoe UI"/>
                <a:cs typeface="Segoe UI"/>
              </a:defRPr>
            </a:pPr>
            <a:r>
              <a:rPr sz="1350" b="0">
                <a:solidFill>
                  <a:srgbClr val="253E55"/>
                </a:solidFill>
                <a:latin typeface="Segoe UI"/>
                <a:ea typeface="Segoe UI"/>
                <a:cs typeface="Segoe UI"/>
              </a:rPr>
              <a:t>Golden questions + expected answers</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Reconciliation, citation and negative access tests</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Human-review replay, resilience and accessibility</a:t>
            </a:r>
          </a:p>
        </p:txBody>
      </p:sp>
      <p:sp>
        <p:nvSpPr>
          <p:cNvPr id="30" name="Rectangle: Rounded Corners 29">
            <a:extLst>
              <a:ext uri="{FF2B5EF4-FFF2-40B4-BE49-F238E27FC236}">
                <a16:creationId xmlns:a16="http://schemas.microsoft.com/office/drawing/2014/main" id="{AB24B431-08F6-4B24-947A-8F2365FC94D3}"/>
              </a:ext>
            </a:extLst>
          </p:cNvPr>
          <p:cNvSpPr>
            <a:spLocks noGrp="1"/>
          </p:cNvSpPr>
          <p:nvPr/>
        </p:nvSpPr>
        <p:spPr>
          <a:xfrm>
            <a:off x="457200" y="5962650"/>
            <a:ext cx="11277600" cy="409575"/>
          </a:xfrm>
          <a:prstGeom prst="roundRect">
            <a:avLst>
              <a:gd name="adj" fmla="val 13953"/>
            </a:avLst>
          </a:prstGeom>
          <a:solidFill>
            <a:srgbClr val="0B1F3A"/>
          </a:solidFill>
          <a:ln w="11906">
            <a:solidFill>
              <a:srgbClr val="0B1F3A"/>
            </a:solidFill>
          </a:ln>
        </p:spPr>
        <p:txBody>
          <a:bodyPr/>
          <a:lstStyle/>
          <a:p>
            <a:endParaRPr lang="en-US"/>
          </a:p>
        </p:txBody>
      </p:sp>
      <p:sp>
        <p:nvSpPr>
          <p:cNvPr id="31" name="Rectangle 30">
            <a:extLst>
              <a:ext uri="{FF2B5EF4-FFF2-40B4-BE49-F238E27FC236}">
                <a16:creationId xmlns:a16="http://schemas.microsoft.com/office/drawing/2014/main" id="{9F533B15-FB05-43C9-ADD2-8B5226462E40}"/>
              </a:ext>
            </a:extLst>
          </p:cNvPr>
          <p:cNvSpPr>
            <a:spLocks noGrp="1"/>
          </p:cNvSpPr>
          <p:nvPr/>
        </p:nvSpPr>
        <p:spPr>
          <a:xfrm>
            <a:off x="581025" y="6057900"/>
            <a:ext cx="11029950" cy="266700"/>
          </a:xfrm>
          <a:prstGeom prst="rect">
            <a:avLst/>
          </a:prstGeom>
          <a:noFill/>
          <a:ln w="0">
            <a:noFill/>
          </a:ln>
        </p:spPr>
        <p:txBody>
          <a:bodyPr>
            <a:noAutofit/>
          </a:bodyPr>
          <a:lstStyle/>
          <a:p>
            <a:pPr>
              <a:defRPr sz="1200" b="1">
                <a:solidFill>
                  <a:srgbClr val="FFFFFF"/>
                </a:solidFill>
                <a:latin typeface="Segoe UI"/>
                <a:ea typeface="Segoe UI"/>
                <a:cs typeface="Segoe UI"/>
              </a:defRPr>
            </a:pPr>
            <a:r>
              <a:rPr sz="1200" b="1">
                <a:solidFill>
                  <a:srgbClr val="FFFFFF"/>
                </a:solidFill>
                <a:latin typeface="Segoe UI"/>
                <a:ea typeface="Segoe UI"/>
                <a:cs typeface="Segoe UI"/>
              </a:rPr>
              <a:t>Delivery sequence: validate scope → curated data → metrics / graph / retrieval → workflows / UX → security, evaluation and UAT.</a:t>
            </a:r>
          </a:p>
        </p:txBody>
      </p:sp>
    </p:spTree>
    <p:extLst>
      <p:ext uri="{BB962C8B-B14F-4D97-AF65-F5344CB8AC3E}">
        <p14:creationId xmlns:p14="http://schemas.microsoft.com/office/powerpoint/2010/main" val="114791983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Metadata/LabelInfo.xml><?xml version="1.0" encoding="utf-8"?>
<clbl:labelList xmlns:clbl="http://schemas.microsoft.com/office/2020/mipLabelMetadata">
  <clbl:label id="{e760c494-6550-44b4-8258-77c175d778b7}" enabled="1" method="Privileged" siteId="{76a2ae5a-9f00-4f6b-95ed-5d33d77c4d61}" contentBits="0" removed="0"/>
</clbl:labelList>
</file>

<file path=docProps/app.xml><?xml version="1.0" encoding="utf-8"?>
<Properties xmlns="http://schemas.openxmlformats.org/officeDocument/2006/extended-properties" xmlns:vt="http://schemas.openxmlformats.org/officeDocument/2006/docPropsVTypes">
  <TotalTime>0</TotalTime>
  <Words>28814</Words>
  <Application>Microsoft Office PowerPoint</Application>
  <DocSecurity>0</DocSecurity>
  <PresentationFormat>Widescreen</PresentationFormat>
  <Paragraphs>1865</Paragraphs>
  <Slides>21</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Aptos</vt:lpstr>
      <vt:lpstr>Segoe UI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Dixit, Vishal</cp:lastModifiedBy>
  <cp:revision>1</cp:revision>
  <dcterms:created xsi:type="dcterms:W3CDTF">2026-09-28T01:43:41Z</dcterms:created>
  <dcterms:modified xsi:type="dcterms:W3CDTF">2026-09-28T02:43:50Z</dcterms:modified>
</cp:coreProperties>
</file>