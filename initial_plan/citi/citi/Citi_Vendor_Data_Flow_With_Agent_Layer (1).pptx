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d203ecd78343c2" /><Relationship Type="http://schemas.openxmlformats.org/officeDocument/2006/relationships/extended-properties" Target="/docProps/app.xml" Id="R474199ed75da4a8d" /><Relationship Type="http://schemas.openxmlformats.org/officeDocument/2006/relationships/officeDocument" Target="/ppt/presentation.xml" Id="Rc4af483998a14ba9" /></Relationships>
</file>

<file path=ppt/presentation.xml><?xml version="1.0" encoding="utf-8"?>
<p:presentation xmlns:p="http://schemas.openxmlformats.org/presentationml/2006/main">
  <p:sldMasterIdLst>
    <p:sldMasterId xmlns:r="http://schemas.openxmlformats.org/officeDocument/2006/relationships" id="2147483648" r:id="R7b36c71565284e95"/>
  </p:sldMasterIdLst>
  <p:notesMasterIdLst>
    <p:notesMasterId xmlns:r="http://schemas.openxmlformats.org/officeDocument/2006/relationships" r:id="Rfe5b54d49c484f1a"/>
  </p:notesMasterIdLst>
  <p:sldIdLst>
    <p:sldId xmlns:r="http://schemas.openxmlformats.org/officeDocument/2006/relationships" id="256" r:id="R1cac6803a4a94ea4"/>
    <p:sldId xmlns:r="http://schemas.openxmlformats.org/officeDocument/2006/relationships" id="257" r:id="R9d07a84f0d324065"/>
    <p:sldId xmlns:r="http://schemas.openxmlformats.org/officeDocument/2006/relationships" id="258" r:id="Rf2570a430a564034"/>
    <p:sldId xmlns:r="http://schemas.openxmlformats.org/officeDocument/2006/relationships" id="259" r:id="R14f3b574b231476d"/>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972b8ea8ce4b57" /><Relationship Type="http://schemas.openxmlformats.org/officeDocument/2006/relationships/slideMaster" Target="/ppt/slideMasters/slideMaster1.xml" Id="R7b36c71565284e95" /><Relationship Type="http://schemas.openxmlformats.org/officeDocument/2006/relationships/notesMaster" Target="/ppt/notesMasters/notesMaster1.xml" Id="Rfe5b54d49c484f1a" /><Relationship Type="http://schemas.openxmlformats.org/officeDocument/2006/relationships/presProps" Target="/ppt/presProps.xml" Id="R9464e311cc284851" /><Relationship Type="http://schemas.openxmlformats.org/officeDocument/2006/relationships/tableStyles" Target="/ppt/tableStyles.xml" Id="R51d2f38bdb9c4c46" /><Relationship Type="http://schemas.openxmlformats.org/officeDocument/2006/relationships/slide" Target="/ppt/slides/slide1.xml" Id="R1cac6803a4a94ea4" /><Relationship Type="http://schemas.openxmlformats.org/officeDocument/2006/relationships/slide" Target="/ppt/slides/slide2.xml" Id="R9d07a84f0d324065" /><Relationship Type="http://schemas.openxmlformats.org/officeDocument/2006/relationships/slide" Target="/ppt/slides/slide3.xml" Id="Rf2570a430a564034" /><Relationship Type="http://schemas.openxmlformats.org/officeDocument/2006/relationships/slide" Target="/ppt/slides/slide4.xml" Id="R14f3b574b23147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8940addf7f49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a57b5ee90247b0" /><Relationship Type="http://schemas.openxmlformats.org/officeDocument/2006/relationships/notesMaster" Target="/ppt/notesMasters/notesMaster1.xml" Id="R554a1d78948e4b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240fa3e55f4d0b" /><Relationship Type="http://schemas.openxmlformats.org/officeDocument/2006/relationships/notesMaster" Target="/ppt/notesMasters/notesMaster1.xml" Id="Rd9e8d5df554740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07274e5bb44b3e" /><Relationship Type="http://schemas.openxmlformats.org/officeDocument/2006/relationships/notesMaster" Target="/ppt/notesMasters/notesMaster1.xml" Id="Ra230e969401849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374523662a4702" /><Relationship Type="http://schemas.openxmlformats.org/officeDocument/2006/relationships/notesMaster" Target="/ppt/notesMasters/notesMaster1.xml" Id="Rf447b1894c3246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Citi Vendor Decision Intelligence FSD v1.0, sections 3, 7–9, 11–15, 20–22. The FSD specifies source families, not verified Citi application names. All record IDs and values used as examples are synthetic. Transformation and routing choices are proposed. Detailed row-level mapping is in the companion workbook. No replacement of source systems or autonomous source-system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Citi Vendor Decision Intelligence FSD v1.0, sections 3, 7–9, 11–15, 20–22. The FSD specifies source families, not verified Citi application names. All record IDs and values used as examples are synthetic. Transformation and routing choices are proposed. Detailed row-level mapping is in the companion workbook. No replacement of source systems or autonomous source-system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Citi Vendor Decision Intelligence FSD v1.0, sections 3, 7–9, 11–15, 20–22. The FSD specifies source families, not verified Citi application names. All record IDs and values used as examples are synthetic. Transformation and routing choices are proposed. Detailed row-level mapping is in the companion workbook. No replacement of source systems or autonomous source-system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supervisor and four-specialist pattern, consistent with the earlier solution architecture. FSD sections 8, 9.1, 11, 12 and 15 support the underlying data/tool/control capabilities but do not prescribe these exact agent names. Detailed source IDs, allowed services, output contracts and human boundaries are in the Agent consumption worksheet. Specialists are logical roles and need not be separate services or always run in parallel. The supervisor invokes only the specialists required by the question. Simple lookups can bypass agents. All agents share the governed semantic layer and tool gateway. Deterministic scenario and validation services are not additional autonomous agents. Originals are accessed via an entitled viewer/retrieval adapter, not by unrestricted direct database access. Missing supplier capacity, relationship coverage or clause validation remains an explicit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45573fe8214a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7425e8bacf4439" /><Relationship Type="http://schemas.openxmlformats.org/officeDocument/2006/relationships/slideLayout" Target="/ppt/slideLayouts/slideLayout1.xml" Id="Rd3d351fba2be47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d351fba2be47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0ff06f0a5943c7" /><Relationship Type="http://schemas.openxmlformats.org/officeDocument/2006/relationships/notesSlide" Target="/ppt/notesSlides/notesSlide1.xml" Id="R9086d81d6c954e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da34c6ef584c07" /><Relationship Type="http://schemas.openxmlformats.org/officeDocument/2006/relationships/notesSlide" Target="/ppt/notesSlides/notesSlide2.xml" Id="Rcf8c3c6d132246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27e7676dbf4eae" /><Relationship Type="http://schemas.openxmlformats.org/officeDocument/2006/relationships/notesSlide" Target="/ppt/notesSlides/notesSlide3.xml" Id="R91c38d51b37342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4a4a7caff941e5" /><Relationship Type="http://schemas.openxmlformats.org/officeDocument/2006/relationships/notesSlide" Target="/ppt/notesSlides/notesSlide4.xml" Id="Raa0b4588b1524c22" /></Relationships>
</file>

<file path=ppt/slides/slide1.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26F895FF-D260-4E5E-A015-1EF9D5F44DE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2" name="">
            <a:extLst xmlns:a="http://schemas.openxmlformats.org/drawingml/2006/main">
              <a:ext uri="{FF2B5EF4-FFF2-40B4-BE49-F238E27FC236}">
                <a16:creationId xmlns:a16="http://schemas.microsoft.com/office/drawing/2014/main" id="{849AA0D0-234B-4030-B9B4-3CB6B23A1681}"/>
              </a:ext>
            </a:extLst>
          </p:cNvPr>
          <p:cNvSpPr>
            <a:spLocks xmlns:a="http://schemas.openxmlformats.org/drawingml/2006/main" noGrp="1"/>
          </p:cNvSpPr>
          <p:nvPr/>
        </p:nvSpPr>
        <p:spPr>
          <a:xfrm xmlns:a="http://schemas.openxmlformats.org/drawingml/2006/main">
            <a:off x="457200" y="333375"/>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B1F3A"/>
                </a:solidFill>
                <a:latin typeface="Segoe UI"/>
                <a:ea typeface="Segoe UI"/>
                <a:cs typeface="Segoe UI"/>
              </a:defRPr>
            </a:pPr>
            <a:r>
              <a:rPr sz="2550" b="1">
                <a:solidFill>
                  <a:srgbClr val="0B1F3A"/>
                </a:solidFill>
                <a:latin typeface="Segoe UI"/>
                <a:ea typeface="Segoe UI"/>
                <a:cs typeface="Segoe UI"/>
              </a:rPr>
              <a:t>Data flow: existing sources to connected decision evidence</a:t>
            </a:r>
          </a:p>
        </p:txBody>
      </p:sp>
      <p:sp>
        <p:nvSpPr>
          <p:cNvPr id="3" name="">
            <a:extLst xmlns:a="http://schemas.openxmlformats.org/drawingml/2006/main">
              <a:ext uri="{FF2B5EF4-FFF2-40B4-BE49-F238E27FC236}">
                <a16:creationId xmlns:a16="http://schemas.microsoft.com/office/drawing/2014/main" id="{08E361EF-4E7C-4095-B826-D636D5867B5F}"/>
              </a:ext>
            </a:extLst>
          </p:cNvPr>
          <p:cNvSpPr>
            <a:spLocks xmlns:a="http://schemas.openxmlformats.org/drawingml/2006/main" noGrp="1"/>
          </p:cNvSpPr>
          <p:nvPr/>
        </p:nvSpPr>
        <p:spPr>
          <a:xfrm xmlns:a="http://schemas.openxmlformats.org/drawingml/2006/main">
            <a:off x="466725" y="876300"/>
            <a:ext cx="1123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53E55"/>
                </a:solidFill>
                <a:latin typeface="Segoe UI"/>
                <a:ea typeface="Segoe UI"/>
                <a:cs typeface="Segoe UI"/>
              </a:defRPr>
            </a:pPr>
            <a:r>
              <a:rPr sz="1350" b="0">
                <a:solidFill>
                  <a:srgbClr val="253E55"/>
                </a:solidFill>
                <a:latin typeface="Segoe UI"/>
                <a:ea typeface="Segoe UI"/>
                <a:cs typeface="Segoe UI"/>
              </a:rPr>
              <a:t>Documented source families on the left. Proposed processing and targets on the right. Exact Citi systems remain to be confirmed.</a:t>
            </a:r>
          </a:p>
        </p:txBody>
      </p:sp>
      <p:sp>
        <p:nvSpPr>
          <p:cNvPr id="4" name="">
            <a:extLst xmlns:a="http://schemas.openxmlformats.org/drawingml/2006/main">
              <a:ext uri="{FF2B5EF4-FFF2-40B4-BE49-F238E27FC236}">
                <a16:creationId xmlns:a16="http://schemas.microsoft.com/office/drawing/2014/main" id="{DAC01143-5C78-4F9E-9485-FD1952D47A24}"/>
              </a:ext>
            </a:extLst>
          </p:cNvPr>
          <p:cNvSpPr>
            <a:spLocks xmlns:a="http://schemas.openxmlformats.org/drawingml/2006/main" noGrp="1"/>
          </p:cNvSpPr>
          <p:nvPr/>
        </p:nvSpPr>
        <p:spPr>
          <a:xfrm xmlns:a="http://schemas.openxmlformats.org/drawingml/2006/main">
            <a:off x="457200" y="65246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253E55"/>
                </a:solidFill>
                <a:latin typeface="Segoe UI"/>
                <a:ea typeface="Segoe UI"/>
                <a:cs typeface="Segoe UI"/>
              </a:defRPr>
            </a:pPr>
            <a:r>
              <a:rPr sz="900" b="0">
                <a:solidFill>
                  <a:srgbClr val="253E55"/>
                </a:solidFill>
                <a:latin typeface="Segoe UI"/>
                <a:ea typeface="Segoe UI"/>
                <a:cs typeface="Segoe UI"/>
              </a:rPr>
              <a:t>CITI VENDOR DECISION INTELLIGENCE  /  SOURCE-TO-TARGET DESIGN</a:t>
            </a:r>
          </a:p>
        </p:txBody>
      </p:sp>
      <p:sp>
        <p:nvSpPr>
          <p:cNvPr id="5" name="">
            <a:extLst xmlns:a="http://schemas.openxmlformats.org/drawingml/2006/main">
              <a:ext uri="{FF2B5EF4-FFF2-40B4-BE49-F238E27FC236}">
                <a16:creationId xmlns:a16="http://schemas.microsoft.com/office/drawing/2014/main" id="{B4A65C56-D11B-4515-8E79-977F18EFB241}"/>
              </a:ext>
            </a:extLst>
          </p:cNvPr>
          <p:cNvSpPr>
            <a:spLocks xmlns:a="http://schemas.openxmlformats.org/drawingml/2006/main" noGrp="1"/>
          </p:cNvSpPr>
          <p:nvPr/>
        </p:nvSpPr>
        <p:spPr>
          <a:xfrm xmlns:a="http://schemas.openxmlformats.org/drawingml/2006/main">
            <a:off x="11401425" y="65246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253E55"/>
                </a:solidFill>
                <a:latin typeface="Segoe UI"/>
                <a:ea typeface="Segoe UI"/>
                <a:cs typeface="Segoe UI"/>
              </a:defRPr>
            </a:pPr>
            <a:r>
              <a:rPr sz="900" b="0">
                <a:solidFill>
                  <a:srgbClr val="253E55"/>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E8B0C790-1CBA-4BC8-B8F2-5A91E97B4867}"/>
              </a:ext>
            </a:extLst>
          </p:cNvPr>
          <p:cNvSpPr>
            <a:spLocks xmlns:a="http://schemas.openxmlformats.org/drawingml/2006/main" noGrp="1"/>
          </p:cNvSpPr>
          <p:nvPr/>
        </p:nvSpPr>
        <p:spPr>
          <a:xfrm xmlns:a="http://schemas.openxmlformats.org/drawingml/2006/main">
            <a:off x="457200" y="136207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07C83"/>
                </a:solidFill>
                <a:latin typeface="Segoe UI"/>
                <a:ea typeface="Segoe UI"/>
                <a:cs typeface="Segoe UI"/>
              </a:defRPr>
            </a:pPr>
            <a:r>
              <a:rPr sz="1275" b="1">
                <a:solidFill>
                  <a:srgbClr val="007C83"/>
                </a:solidFill>
                <a:latin typeface="Segoe UI"/>
                <a:ea typeface="Segoe UI"/>
                <a:cs typeface="Segoe UI"/>
              </a:rPr>
              <a:t>TODAY: EXPECTED SOURCE FAMILIES</a:t>
            </a:r>
          </a:p>
        </p:txBody>
      </p:sp>
      <p:sp>
        <p:nvSpPr>
          <p:cNvPr id="7" name="">
            <a:extLst xmlns:a="http://schemas.openxmlformats.org/drawingml/2006/main">
              <a:ext uri="{FF2B5EF4-FFF2-40B4-BE49-F238E27FC236}">
                <a16:creationId xmlns:a16="http://schemas.microsoft.com/office/drawing/2014/main" id="{C79A2F47-4C64-46C2-8C13-0619A2654F33}"/>
              </a:ext>
            </a:extLst>
          </p:cNvPr>
          <p:cNvSpPr>
            <a:spLocks xmlns:a="http://schemas.openxmlformats.org/drawingml/2006/main" noGrp="1"/>
          </p:cNvSpPr>
          <p:nvPr/>
        </p:nvSpPr>
        <p:spPr>
          <a:xfrm xmlns:a="http://schemas.openxmlformats.org/drawingml/2006/main">
            <a:off x="4591050" y="13620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07C83"/>
                </a:solidFill>
                <a:latin typeface="Segoe UI"/>
                <a:ea typeface="Segoe UI"/>
                <a:cs typeface="Segoe UI"/>
              </a:defRPr>
            </a:pPr>
            <a:r>
              <a:rPr sz="1275" b="1">
                <a:solidFill>
                  <a:srgbClr val="007C83"/>
                </a:solidFill>
                <a:latin typeface="Segoe UI"/>
                <a:ea typeface="Segoe UI"/>
                <a:cs typeface="Segoe UI"/>
              </a:rPr>
              <a:t>PROCESSING</a:t>
            </a:r>
          </a:p>
        </p:txBody>
      </p:sp>
      <p:sp>
        <p:nvSpPr>
          <p:cNvPr id="8" name="">
            <a:extLst xmlns:a="http://schemas.openxmlformats.org/drawingml/2006/main">
              <a:ext uri="{FF2B5EF4-FFF2-40B4-BE49-F238E27FC236}">
                <a16:creationId xmlns:a16="http://schemas.microsoft.com/office/drawing/2014/main" id="{6D5C2F5D-ACF9-4E62-BC76-738C9F44DEF2}"/>
              </a:ext>
            </a:extLst>
          </p:cNvPr>
          <p:cNvSpPr>
            <a:spLocks xmlns:a="http://schemas.openxmlformats.org/drawingml/2006/main" noGrp="1"/>
          </p:cNvSpPr>
          <p:nvPr/>
        </p:nvSpPr>
        <p:spPr>
          <a:xfrm xmlns:a="http://schemas.openxmlformats.org/drawingml/2006/main">
            <a:off x="8239125" y="1362075"/>
            <a:ext cx="3486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07C83"/>
                </a:solidFill>
                <a:latin typeface="Segoe UI"/>
                <a:ea typeface="Segoe UI"/>
                <a:cs typeface="Segoe UI"/>
              </a:defRPr>
            </a:pPr>
            <a:r>
              <a:rPr sz="1275" b="1">
                <a:solidFill>
                  <a:srgbClr val="007C83"/>
                </a:solidFill>
                <a:latin typeface="Segoe UI"/>
                <a:ea typeface="Segoe UI"/>
                <a:cs typeface="Segoe UI"/>
              </a:rPr>
              <a:t>PUBLISHED READ MODELS</a:t>
            </a:r>
          </a:p>
        </p:txBody>
      </p:sp>
      <p:sp>
        <p:nvSpPr>
          <p:cNvPr id="9" name="">
            <a:extLst xmlns:a="http://schemas.openxmlformats.org/drawingml/2006/main">
              <a:ext uri="{FF2B5EF4-FFF2-40B4-BE49-F238E27FC236}">
                <a16:creationId xmlns:a16="http://schemas.microsoft.com/office/drawing/2014/main" id="{1A3F36A0-79AC-4209-A143-2F8AD42C8DA7}"/>
              </a:ext>
            </a:extLst>
          </p:cNvPr>
          <p:cNvSpPr>
            <a:spLocks xmlns:a="http://schemas.openxmlformats.org/drawingml/2006/main" noGrp="1"/>
          </p:cNvSpPr>
          <p:nvPr/>
        </p:nvSpPr>
        <p:spPr>
          <a:xfrm xmlns:a="http://schemas.openxmlformats.org/drawingml/2006/main">
            <a:off x="457200" y="1704975"/>
            <a:ext cx="37528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0" name="">
            <a:extLst xmlns:a="http://schemas.openxmlformats.org/drawingml/2006/main">
              <a:ext uri="{FF2B5EF4-FFF2-40B4-BE49-F238E27FC236}">
                <a16:creationId xmlns:a16="http://schemas.microsoft.com/office/drawing/2014/main" id="{A158DDC9-0380-44C8-8467-C941E2554F61}"/>
              </a:ext>
            </a:extLst>
          </p:cNvPr>
          <p:cNvSpPr>
            <a:spLocks xmlns:a="http://schemas.openxmlformats.org/drawingml/2006/main" noGrp="1"/>
          </p:cNvSpPr>
          <p:nvPr/>
        </p:nvSpPr>
        <p:spPr>
          <a:xfrm xmlns:a="http://schemas.openxmlformats.org/drawingml/2006/main">
            <a:off x="542925" y="1724025"/>
            <a:ext cx="357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Vendor master / ERP</a:t>
            </a:r>
          </a:p>
        </p:txBody>
      </p:sp>
      <p:sp>
        <p:nvSpPr>
          <p:cNvPr id="11" name="">
            <a:extLst xmlns:a="http://schemas.openxmlformats.org/drawingml/2006/main">
              <a:ext uri="{FF2B5EF4-FFF2-40B4-BE49-F238E27FC236}">
                <a16:creationId xmlns:a16="http://schemas.microsoft.com/office/drawing/2014/main" id="{6917F14B-6ED2-4203-A66C-B50DF0CF799E}"/>
              </a:ext>
            </a:extLst>
          </p:cNvPr>
          <p:cNvSpPr>
            <a:spLocks xmlns:a="http://schemas.openxmlformats.org/drawingml/2006/main" noGrp="1"/>
          </p:cNvSpPr>
          <p:nvPr/>
        </p:nvSpPr>
        <p:spPr>
          <a:xfrm xmlns:a="http://schemas.openxmlformats.org/drawingml/2006/main">
            <a:off x="542925" y="1943100"/>
            <a:ext cx="357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253E55"/>
                </a:solidFill>
                <a:latin typeface="Segoe UI"/>
                <a:ea typeface="Segoe UI"/>
                <a:cs typeface="Segoe UI"/>
              </a:defRPr>
            </a:pPr>
            <a:r>
              <a:rPr sz="1050" b="0">
                <a:solidFill>
                  <a:srgbClr val="253E55"/>
                </a:solidFill>
                <a:latin typeface="Segoe UI"/>
                <a:ea typeface="Segoe UI"/>
                <a:cs typeface="Segoe UI"/>
              </a:rPr>
              <a:t>Vendor IDs, aliases and hierarchy</a:t>
            </a:r>
          </a:p>
        </p:txBody>
      </p:sp>
      <p:sp>
        <p:nvSpPr>
          <p:cNvPr id="12" name="">
            <a:extLst xmlns:a="http://schemas.openxmlformats.org/drawingml/2006/main">
              <a:ext uri="{FF2B5EF4-FFF2-40B4-BE49-F238E27FC236}">
                <a16:creationId xmlns:a16="http://schemas.microsoft.com/office/drawing/2014/main" id="{7A4615BF-11AA-4FE2-90FC-51BBC070F8DE}"/>
              </a:ext>
            </a:extLst>
          </p:cNvPr>
          <p:cNvSpPr>
            <a:spLocks xmlns:a="http://schemas.openxmlformats.org/drawingml/2006/main" noGrp="1"/>
          </p:cNvSpPr>
          <p:nvPr/>
        </p:nvSpPr>
        <p:spPr>
          <a:xfrm xmlns:a="http://schemas.openxmlformats.org/drawingml/2006/main">
            <a:off x="457200" y="2200275"/>
            <a:ext cx="37528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3" name="">
            <a:extLst xmlns:a="http://schemas.openxmlformats.org/drawingml/2006/main">
              <a:ext uri="{FF2B5EF4-FFF2-40B4-BE49-F238E27FC236}">
                <a16:creationId xmlns:a16="http://schemas.microsoft.com/office/drawing/2014/main" id="{289772A1-BCE3-428C-9225-A686283708E0}"/>
              </a:ext>
            </a:extLst>
          </p:cNvPr>
          <p:cNvSpPr>
            <a:spLocks xmlns:a="http://schemas.openxmlformats.org/drawingml/2006/main" noGrp="1"/>
          </p:cNvSpPr>
          <p:nvPr/>
        </p:nvSpPr>
        <p:spPr>
          <a:xfrm xmlns:a="http://schemas.openxmlformats.org/drawingml/2006/main">
            <a:off x="542925" y="2219325"/>
            <a:ext cx="357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CLM / document repository</a:t>
            </a:r>
          </a:p>
        </p:txBody>
      </p:sp>
      <p:sp>
        <p:nvSpPr>
          <p:cNvPr id="14" name="">
            <a:extLst xmlns:a="http://schemas.openxmlformats.org/drawingml/2006/main">
              <a:ext uri="{FF2B5EF4-FFF2-40B4-BE49-F238E27FC236}">
                <a16:creationId xmlns:a16="http://schemas.microsoft.com/office/drawing/2014/main" id="{DB751924-7263-48B7-AAF5-46E6DAB43C1B}"/>
              </a:ext>
            </a:extLst>
          </p:cNvPr>
          <p:cNvSpPr>
            <a:spLocks xmlns:a="http://schemas.openxmlformats.org/drawingml/2006/main" noGrp="1"/>
          </p:cNvSpPr>
          <p:nvPr/>
        </p:nvSpPr>
        <p:spPr>
          <a:xfrm xmlns:a="http://schemas.openxmlformats.org/drawingml/2006/main">
            <a:off x="542925" y="2438400"/>
            <a:ext cx="357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253E55"/>
                </a:solidFill>
                <a:latin typeface="Segoe UI"/>
                <a:ea typeface="Segoe UI"/>
                <a:cs typeface="Segoe UI"/>
              </a:defRPr>
            </a:pPr>
            <a:r>
              <a:rPr sz="1050" b="0">
                <a:solidFill>
                  <a:srgbClr val="253E55"/>
                </a:solidFill>
                <a:latin typeface="Segoe UI"/>
                <a:ea typeface="Segoe UI"/>
                <a:cs typeface="Segoe UI"/>
              </a:rPr>
              <a:t>Contracts, SOWs, clauses and originals</a:t>
            </a:r>
          </a:p>
        </p:txBody>
      </p:sp>
      <p:sp>
        <p:nvSpPr>
          <p:cNvPr id="15" name="">
            <a:extLst xmlns:a="http://schemas.openxmlformats.org/drawingml/2006/main">
              <a:ext uri="{FF2B5EF4-FFF2-40B4-BE49-F238E27FC236}">
                <a16:creationId xmlns:a16="http://schemas.microsoft.com/office/drawing/2014/main" id="{C3A7D8C6-82A2-4152-B397-8FA7762E424B}"/>
              </a:ext>
            </a:extLst>
          </p:cNvPr>
          <p:cNvSpPr>
            <a:spLocks xmlns:a="http://schemas.openxmlformats.org/drawingml/2006/main" noGrp="1"/>
          </p:cNvSpPr>
          <p:nvPr/>
        </p:nvSpPr>
        <p:spPr>
          <a:xfrm xmlns:a="http://schemas.openxmlformats.org/drawingml/2006/main">
            <a:off x="457200" y="2695575"/>
            <a:ext cx="37528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6" name="">
            <a:extLst xmlns:a="http://schemas.openxmlformats.org/drawingml/2006/main">
              <a:ext uri="{FF2B5EF4-FFF2-40B4-BE49-F238E27FC236}">
                <a16:creationId xmlns:a16="http://schemas.microsoft.com/office/drawing/2014/main" id="{06B2979A-CAAC-4B07-9781-7D43CB158DCD}"/>
              </a:ext>
            </a:extLst>
          </p:cNvPr>
          <p:cNvSpPr>
            <a:spLocks xmlns:a="http://schemas.openxmlformats.org/drawingml/2006/main" noGrp="1"/>
          </p:cNvSpPr>
          <p:nvPr/>
        </p:nvSpPr>
        <p:spPr>
          <a:xfrm xmlns:a="http://schemas.openxmlformats.org/drawingml/2006/main">
            <a:off x="542925" y="2714625"/>
            <a:ext cx="357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Finance / procurement</a:t>
            </a:r>
          </a:p>
        </p:txBody>
      </p:sp>
      <p:sp>
        <p:nvSpPr>
          <p:cNvPr id="17" name="">
            <a:extLst xmlns:a="http://schemas.openxmlformats.org/drawingml/2006/main">
              <a:ext uri="{FF2B5EF4-FFF2-40B4-BE49-F238E27FC236}">
                <a16:creationId xmlns:a16="http://schemas.microsoft.com/office/drawing/2014/main" id="{185D4E91-0505-4694-9628-D6B254678ED4}"/>
              </a:ext>
            </a:extLst>
          </p:cNvPr>
          <p:cNvSpPr>
            <a:spLocks xmlns:a="http://schemas.openxmlformats.org/drawingml/2006/main" noGrp="1"/>
          </p:cNvSpPr>
          <p:nvPr/>
        </p:nvSpPr>
        <p:spPr>
          <a:xfrm xmlns:a="http://schemas.openxmlformats.org/drawingml/2006/main">
            <a:off x="542925" y="2933700"/>
            <a:ext cx="357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253E55"/>
                </a:solidFill>
                <a:latin typeface="Segoe UI"/>
                <a:ea typeface="Segoe UI"/>
                <a:cs typeface="Segoe UI"/>
              </a:defRPr>
            </a:pPr>
            <a:r>
              <a:rPr sz="1050" b="0">
                <a:solidFill>
                  <a:srgbClr val="253E55"/>
                </a:solidFill>
                <a:latin typeface="Segoe UI"/>
                <a:ea typeface="Segoe UI"/>
                <a:cs typeface="Segoe UI"/>
              </a:rPr>
              <a:t>Actuals, POs, budget and forecast</a:t>
            </a:r>
          </a:p>
        </p:txBody>
      </p:sp>
      <p:sp>
        <p:nvSpPr>
          <p:cNvPr id="18" name="">
            <a:extLst xmlns:a="http://schemas.openxmlformats.org/drawingml/2006/main">
              <a:ext uri="{FF2B5EF4-FFF2-40B4-BE49-F238E27FC236}">
                <a16:creationId xmlns:a16="http://schemas.microsoft.com/office/drawing/2014/main" id="{D76DF9C3-8081-4200-936D-9876E9CEEF50}"/>
              </a:ext>
            </a:extLst>
          </p:cNvPr>
          <p:cNvSpPr>
            <a:spLocks xmlns:a="http://schemas.openxmlformats.org/drawingml/2006/main" noGrp="1"/>
          </p:cNvSpPr>
          <p:nvPr/>
        </p:nvSpPr>
        <p:spPr>
          <a:xfrm xmlns:a="http://schemas.openxmlformats.org/drawingml/2006/main">
            <a:off x="457200" y="3190875"/>
            <a:ext cx="37528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9" name="">
            <a:extLst xmlns:a="http://schemas.openxmlformats.org/drawingml/2006/main">
              <a:ext uri="{FF2B5EF4-FFF2-40B4-BE49-F238E27FC236}">
                <a16:creationId xmlns:a16="http://schemas.microsoft.com/office/drawing/2014/main" id="{81FC6BB2-BEE0-4C4A-AE33-5CFD8E7E4046}"/>
              </a:ext>
            </a:extLst>
          </p:cNvPr>
          <p:cNvSpPr>
            <a:spLocks xmlns:a="http://schemas.openxmlformats.org/drawingml/2006/main" noGrp="1"/>
          </p:cNvSpPr>
          <p:nvPr/>
        </p:nvSpPr>
        <p:spPr>
          <a:xfrm xmlns:a="http://schemas.openxmlformats.org/drawingml/2006/main">
            <a:off x="542925" y="3209925"/>
            <a:ext cx="357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Workforce platform</a:t>
            </a:r>
          </a:p>
        </p:txBody>
      </p:sp>
      <p:sp>
        <p:nvSpPr>
          <p:cNvPr id="20" name="">
            <a:extLst xmlns:a="http://schemas.openxmlformats.org/drawingml/2006/main">
              <a:ext uri="{FF2B5EF4-FFF2-40B4-BE49-F238E27FC236}">
                <a16:creationId xmlns:a16="http://schemas.microsoft.com/office/drawing/2014/main" id="{FEDF59D3-C104-4AD2-B03B-7218DC004484}"/>
              </a:ext>
            </a:extLst>
          </p:cNvPr>
          <p:cNvSpPr>
            <a:spLocks xmlns:a="http://schemas.openxmlformats.org/drawingml/2006/main" noGrp="1"/>
          </p:cNvSpPr>
          <p:nvPr/>
        </p:nvSpPr>
        <p:spPr>
          <a:xfrm xmlns:a="http://schemas.openxmlformats.org/drawingml/2006/main">
            <a:off x="542925" y="3429000"/>
            <a:ext cx="357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253E55"/>
                </a:solidFill>
                <a:latin typeface="Segoe UI"/>
                <a:ea typeface="Segoe UI"/>
                <a:cs typeface="Segoe UI"/>
              </a:defRPr>
            </a:pPr>
            <a:r>
              <a:rPr sz="1050" b="0">
                <a:solidFill>
                  <a:srgbClr val="253E55"/>
                </a:solidFill>
                <a:latin typeface="Segoe UI"/>
                <a:ea typeface="Segoe UI"/>
                <a:cs typeface="Segoe UI"/>
              </a:rPr>
              <a:t>Assignments, teams and permitted cost</a:t>
            </a:r>
          </a:p>
        </p:txBody>
      </p:sp>
      <p:sp>
        <p:nvSpPr>
          <p:cNvPr id="21" name="">
            <a:extLst xmlns:a="http://schemas.openxmlformats.org/drawingml/2006/main">
              <a:ext uri="{FF2B5EF4-FFF2-40B4-BE49-F238E27FC236}">
                <a16:creationId xmlns:a16="http://schemas.microsoft.com/office/drawing/2014/main" id="{60F88D26-F33A-4425-B8CE-E574411C1972}"/>
              </a:ext>
            </a:extLst>
          </p:cNvPr>
          <p:cNvSpPr>
            <a:spLocks xmlns:a="http://schemas.openxmlformats.org/drawingml/2006/main" noGrp="1"/>
          </p:cNvSpPr>
          <p:nvPr/>
        </p:nvSpPr>
        <p:spPr>
          <a:xfrm xmlns:a="http://schemas.openxmlformats.org/drawingml/2006/main">
            <a:off x="457200" y="3686175"/>
            <a:ext cx="37528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2" name="">
            <a:extLst xmlns:a="http://schemas.openxmlformats.org/drawingml/2006/main">
              <a:ext uri="{FF2B5EF4-FFF2-40B4-BE49-F238E27FC236}">
                <a16:creationId xmlns:a16="http://schemas.microsoft.com/office/drawing/2014/main" id="{8F960A29-D372-410C-8303-72A065D3ABCC}"/>
              </a:ext>
            </a:extLst>
          </p:cNvPr>
          <p:cNvSpPr>
            <a:spLocks xmlns:a="http://schemas.openxmlformats.org/drawingml/2006/main" noGrp="1"/>
          </p:cNvSpPr>
          <p:nvPr/>
        </p:nvSpPr>
        <p:spPr>
          <a:xfrm xmlns:a="http://schemas.openxmlformats.org/drawingml/2006/main">
            <a:off x="542925" y="3705225"/>
            <a:ext cx="357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CMDB / application portfolio</a:t>
            </a:r>
          </a:p>
        </p:txBody>
      </p:sp>
      <p:sp>
        <p:nvSpPr>
          <p:cNvPr id="23" name="">
            <a:extLst xmlns:a="http://schemas.openxmlformats.org/drawingml/2006/main">
              <a:ext uri="{FF2B5EF4-FFF2-40B4-BE49-F238E27FC236}">
                <a16:creationId xmlns:a16="http://schemas.microsoft.com/office/drawing/2014/main" id="{8C04396B-3B6E-4A22-85E1-C8190DAB4927}"/>
              </a:ext>
            </a:extLst>
          </p:cNvPr>
          <p:cNvSpPr>
            <a:spLocks xmlns:a="http://schemas.openxmlformats.org/drawingml/2006/main" noGrp="1"/>
          </p:cNvSpPr>
          <p:nvPr/>
        </p:nvSpPr>
        <p:spPr>
          <a:xfrm xmlns:a="http://schemas.openxmlformats.org/drawingml/2006/main">
            <a:off x="542925" y="3924300"/>
            <a:ext cx="357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253E55"/>
                </a:solidFill>
                <a:latin typeface="Segoe UI"/>
                <a:ea typeface="Segoe UI"/>
                <a:cs typeface="Segoe UI"/>
              </a:defRPr>
            </a:pPr>
            <a:r>
              <a:rPr sz="1050" b="0">
                <a:solidFill>
                  <a:srgbClr val="253E55"/>
                </a:solidFill>
                <a:latin typeface="Segoe UI"/>
                <a:ea typeface="Segoe UI"/>
                <a:cs typeface="Segoe UI"/>
              </a:rPr>
              <a:t>Apps, services, criticality, dependencies</a:t>
            </a:r>
          </a:p>
        </p:txBody>
      </p:sp>
      <p:sp>
        <p:nvSpPr>
          <p:cNvPr id="24" name="">
            <a:extLst xmlns:a="http://schemas.openxmlformats.org/drawingml/2006/main">
              <a:ext uri="{FF2B5EF4-FFF2-40B4-BE49-F238E27FC236}">
                <a16:creationId xmlns:a16="http://schemas.microsoft.com/office/drawing/2014/main" id="{371B1BD1-5564-45C6-9F3F-85B10BFF7681}"/>
              </a:ext>
            </a:extLst>
          </p:cNvPr>
          <p:cNvSpPr>
            <a:spLocks xmlns:a="http://schemas.openxmlformats.org/drawingml/2006/main" noGrp="1"/>
          </p:cNvSpPr>
          <p:nvPr/>
        </p:nvSpPr>
        <p:spPr>
          <a:xfrm xmlns:a="http://schemas.openxmlformats.org/drawingml/2006/main">
            <a:off x="457200" y="4181475"/>
            <a:ext cx="37528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5" name="">
            <a:extLst xmlns:a="http://schemas.openxmlformats.org/drawingml/2006/main">
              <a:ext uri="{FF2B5EF4-FFF2-40B4-BE49-F238E27FC236}">
                <a16:creationId xmlns:a16="http://schemas.microsoft.com/office/drawing/2014/main" id="{433E4499-0B76-4667-A1C4-74C14C49AB5A}"/>
              </a:ext>
            </a:extLst>
          </p:cNvPr>
          <p:cNvSpPr>
            <a:spLocks xmlns:a="http://schemas.openxmlformats.org/drawingml/2006/main" noGrp="1"/>
          </p:cNvSpPr>
          <p:nvPr/>
        </p:nvSpPr>
        <p:spPr>
          <a:xfrm xmlns:a="http://schemas.openxmlformats.org/drawingml/2006/main">
            <a:off x="542925" y="4200525"/>
            <a:ext cx="357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Enterprise reference data</a:t>
            </a:r>
          </a:p>
        </p:txBody>
      </p:sp>
      <p:sp>
        <p:nvSpPr>
          <p:cNvPr id="26" name="">
            <a:extLst xmlns:a="http://schemas.openxmlformats.org/drawingml/2006/main">
              <a:ext uri="{FF2B5EF4-FFF2-40B4-BE49-F238E27FC236}">
                <a16:creationId xmlns:a16="http://schemas.microsoft.com/office/drawing/2014/main" id="{DA34A586-C016-4FFD-A72E-7A22DFAB7C39}"/>
              </a:ext>
            </a:extLst>
          </p:cNvPr>
          <p:cNvSpPr>
            <a:spLocks xmlns:a="http://schemas.openxmlformats.org/drawingml/2006/main" noGrp="1"/>
          </p:cNvSpPr>
          <p:nvPr/>
        </p:nvSpPr>
        <p:spPr>
          <a:xfrm xmlns:a="http://schemas.openxmlformats.org/drawingml/2006/main">
            <a:off x="542925" y="4419600"/>
            <a:ext cx="357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253E55"/>
                </a:solidFill>
                <a:latin typeface="Segoe UI"/>
                <a:ea typeface="Segoe UI"/>
                <a:cs typeface="Segoe UI"/>
              </a:defRPr>
            </a:pPr>
            <a:r>
              <a:rPr sz="1050" b="0">
                <a:solidFill>
                  <a:srgbClr val="253E55"/>
                </a:solidFill>
                <a:latin typeface="Segoe UI"/>
                <a:ea typeface="Segoe UI"/>
                <a:cs typeface="Segoe UI"/>
              </a:rPr>
              <a:t>Products, organizations and owners</a:t>
            </a:r>
          </a:p>
        </p:txBody>
      </p:sp>
      <p:sp>
        <p:nvSpPr>
          <p:cNvPr id="27" name="">
            <a:extLst xmlns:a="http://schemas.openxmlformats.org/drawingml/2006/main">
              <a:ext uri="{FF2B5EF4-FFF2-40B4-BE49-F238E27FC236}">
                <a16:creationId xmlns:a16="http://schemas.microsoft.com/office/drawing/2014/main" id="{3315544D-8AB0-4019-A0B0-569967058933}"/>
              </a:ext>
            </a:extLst>
          </p:cNvPr>
          <p:cNvSpPr>
            <a:spLocks xmlns:a="http://schemas.openxmlformats.org/drawingml/2006/main" noGrp="1"/>
          </p:cNvSpPr>
          <p:nvPr/>
        </p:nvSpPr>
        <p:spPr>
          <a:xfrm xmlns:a="http://schemas.openxmlformats.org/drawingml/2006/main">
            <a:off x="457200" y="4676775"/>
            <a:ext cx="37528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8" name="">
            <a:extLst xmlns:a="http://schemas.openxmlformats.org/drawingml/2006/main">
              <a:ext uri="{FF2B5EF4-FFF2-40B4-BE49-F238E27FC236}">
                <a16:creationId xmlns:a16="http://schemas.microsoft.com/office/drawing/2014/main" id="{99C42E72-040A-4377-B170-56C81467237B}"/>
              </a:ext>
            </a:extLst>
          </p:cNvPr>
          <p:cNvSpPr>
            <a:spLocks xmlns:a="http://schemas.openxmlformats.org/drawingml/2006/main" noGrp="1"/>
          </p:cNvSpPr>
          <p:nvPr/>
        </p:nvSpPr>
        <p:spPr>
          <a:xfrm xmlns:a="http://schemas.openxmlformats.org/drawingml/2006/main">
            <a:off x="542925" y="4695825"/>
            <a:ext cx="357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TPRM / performance sources</a:t>
            </a:r>
          </a:p>
        </p:txBody>
      </p:sp>
      <p:sp>
        <p:nvSpPr>
          <p:cNvPr id="29" name="">
            <a:extLst xmlns:a="http://schemas.openxmlformats.org/drawingml/2006/main">
              <a:ext uri="{FF2B5EF4-FFF2-40B4-BE49-F238E27FC236}">
                <a16:creationId xmlns:a16="http://schemas.microsoft.com/office/drawing/2014/main" id="{2CDAF937-5631-4672-99D6-F23B5A657593}"/>
              </a:ext>
            </a:extLst>
          </p:cNvPr>
          <p:cNvSpPr>
            <a:spLocks xmlns:a="http://schemas.openxmlformats.org/drawingml/2006/main" noGrp="1"/>
          </p:cNvSpPr>
          <p:nvPr/>
        </p:nvSpPr>
        <p:spPr>
          <a:xfrm xmlns:a="http://schemas.openxmlformats.org/drawingml/2006/main">
            <a:off x="542925" y="4914900"/>
            <a:ext cx="357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253E55"/>
                </a:solidFill>
                <a:latin typeface="Segoe UI"/>
                <a:ea typeface="Segoe UI"/>
                <a:cs typeface="Segoe UI"/>
              </a:defRPr>
            </a:pPr>
            <a:r>
              <a:rPr sz="1050" b="0">
                <a:solidFill>
                  <a:srgbClr val="253E55"/>
                </a:solidFill>
                <a:latin typeface="Segoe UI"/>
                <a:ea typeface="Segoe UI"/>
                <a:cs typeface="Segoe UI"/>
              </a:rPr>
              <a:t>Assessments, issues, controls and SLA</a:t>
            </a:r>
          </a:p>
        </p:txBody>
      </p:sp>
      <p:sp>
        <p:nvSpPr>
          <p:cNvPr id="30" name="">
            <a:extLst xmlns:a="http://schemas.openxmlformats.org/drawingml/2006/main">
              <a:ext uri="{FF2B5EF4-FFF2-40B4-BE49-F238E27FC236}">
                <a16:creationId xmlns:a16="http://schemas.microsoft.com/office/drawing/2014/main" id="{9A53E6F5-CD56-4F52-85AE-A6A921F3F68B}"/>
              </a:ext>
            </a:extLst>
          </p:cNvPr>
          <p:cNvSpPr>
            <a:spLocks xmlns:a="http://schemas.openxmlformats.org/drawingml/2006/main" noGrp="1"/>
          </p:cNvSpPr>
          <p:nvPr/>
        </p:nvSpPr>
        <p:spPr>
          <a:xfrm xmlns:a="http://schemas.openxmlformats.org/drawingml/2006/main">
            <a:off x="457200" y="5172075"/>
            <a:ext cx="37528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31" name="">
            <a:extLst xmlns:a="http://schemas.openxmlformats.org/drawingml/2006/main">
              <a:ext uri="{FF2B5EF4-FFF2-40B4-BE49-F238E27FC236}">
                <a16:creationId xmlns:a16="http://schemas.microsoft.com/office/drawing/2014/main" id="{FE16C227-0E38-4484-9715-4956455A64FC}"/>
              </a:ext>
            </a:extLst>
          </p:cNvPr>
          <p:cNvSpPr>
            <a:spLocks xmlns:a="http://schemas.openxmlformats.org/drawingml/2006/main" noGrp="1"/>
          </p:cNvSpPr>
          <p:nvPr/>
        </p:nvSpPr>
        <p:spPr>
          <a:xfrm xmlns:a="http://schemas.openxmlformats.org/drawingml/2006/main">
            <a:off x="542925" y="5191125"/>
            <a:ext cx="357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Curated history / source history</a:t>
            </a:r>
          </a:p>
        </p:txBody>
      </p:sp>
      <p:sp>
        <p:nvSpPr>
          <p:cNvPr id="32" name="">
            <a:extLst xmlns:a="http://schemas.openxmlformats.org/drawingml/2006/main">
              <a:ext uri="{FF2B5EF4-FFF2-40B4-BE49-F238E27FC236}">
                <a16:creationId xmlns:a16="http://schemas.microsoft.com/office/drawing/2014/main" id="{C3D470E2-5D8B-41E3-B382-A71C1FEF2C95}"/>
              </a:ext>
            </a:extLst>
          </p:cNvPr>
          <p:cNvSpPr>
            <a:spLocks xmlns:a="http://schemas.openxmlformats.org/drawingml/2006/main" noGrp="1"/>
          </p:cNvSpPr>
          <p:nvPr/>
        </p:nvSpPr>
        <p:spPr>
          <a:xfrm xmlns:a="http://schemas.openxmlformats.org/drawingml/2006/main">
            <a:off x="542925" y="5410200"/>
            <a:ext cx="357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253E55"/>
                </a:solidFill>
                <a:latin typeface="Segoe UI"/>
                <a:ea typeface="Segoe UI"/>
                <a:cs typeface="Segoe UI"/>
              </a:defRPr>
            </a:pPr>
            <a:r>
              <a:rPr sz="1050" b="0">
                <a:solidFill>
                  <a:srgbClr val="253E55"/>
                </a:solidFill>
                <a:latin typeface="Segoe UI"/>
                <a:ea typeface="Segoe UI"/>
                <a:cs typeface="Segoe UI"/>
              </a:rPr>
              <a:t>Versioned states, if available</a:t>
            </a:r>
          </a:p>
        </p:txBody>
      </p:sp>
      <p:sp>
        <p:nvSpPr>
          <p:cNvPr id="33" name="">
            <a:extLst xmlns:a="http://schemas.openxmlformats.org/drawingml/2006/main">
              <a:ext uri="{FF2B5EF4-FFF2-40B4-BE49-F238E27FC236}">
                <a16:creationId xmlns:a16="http://schemas.microsoft.com/office/drawing/2014/main" id="{1E865260-E6C4-44AB-A34D-01051C76B596}"/>
              </a:ext>
            </a:extLst>
          </p:cNvPr>
          <p:cNvSpPr>
            <a:spLocks xmlns:a="http://schemas.openxmlformats.org/drawingml/2006/main" noGrp="1"/>
          </p:cNvSpPr>
          <p:nvPr/>
        </p:nvSpPr>
        <p:spPr>
          <a:xfrm xmlns:a="http://schemas.openxmlformats.org/drawingml/2006/main">
            <a:off x="4276725" y="3514725"/>
            <a:ext cx="228600" cy="2095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EAE9713-6667-4D82-B355-050E44BF80D5}"/>
              </a:ext>
            </a:extLst>
          </p:cNvPr>
          <p:cNvSpPr>
            <a:spLocks xmlns:a="http://schemas.openxmlformats.org/drawingml/2006/main" noGrp="1"/>
          </p:cNvSpPr>
          <p:nvPr/>
        </p:nvSpPr>
        <p:spPr>
          <a:xfrm xmlns:a="http://schemas.openxmlformats.org/drawingml/2006/main">
            <a:off x="4591050" y="1724025"/>
            <a:ext cx="3190875"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35" name="">
            <a:extLst xmlns:a="http://schemas.openxmlformats.org/drawingml/2006/main">
              <a:ext uri="{FF2B5EF4-FFF2-40B4-BE49-F238E27FC236}">
                <a16:creationId xmlns:a16="http://schemas.microsoft.com/office/drawing/2014/main" id="{682769B6-3176-4499-B5EC-ABDE8E0B3F22}"/>
              </a:ext>
            </a:extLst>
          </p:cNvPr>
          <p:cNvSpPr>
            <a:spLocks xmlns:a="http://schemas.openxmlformats.org/drawingml/2006/main" noGrp="1"/>
          </p:cNvSpPr>
          <p:nvPr/>
        </p:nvSpPr>
        <p:spPr>
          <a:xfrm xmlns:a="http://schemas.openxmlformats.org/drawingml/2006/main">
            <a:off x="4705350" y="1800225"/>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0B1F3A"/>
                </a:solidFill>
                <a:latin typeface="Segoe UI"/>
                <a:ea typeface="Segoe UI"/>
                <a:cs typeface="Segoe UI"/>
              </a:defRPr>
            </a:pPr>
            <a:r>
              <a:rPr sz="1500" b="1">
                <a:solidFill>
                  <a:srgbClr val="0B1F3A"/>
                </a:solidFill>
                <a:latin typeface="Segoe UI"/>
                <a:ea typeface="Segoe UI"/>
                <a:cs typeface="Segoe UI"/>
              </a:rPr>
              <a:t>1  Acquire only approved data</a:t>
            </a:r>
          </a:p>
        </p:txBody>
      </p:sp>
      <p:sp>
        <p:nvSpPr>
          <p:cNvPr id="36" name="">
            <a:extLst xmlns:a="http://schemas.openxmlformats.org/drawingml/2006/main">
              <a:ext uri="{FF2B5EF4-FFF2-40B4-BE49-F238E27FC236}">
                <a16:creationId xmlns:a16="http://schemas.microsoft.com/office/drawing/2014/main" id="{C57062B3-AE8D-4DC6-9298-9E91CD4DBBA4}"/>
              </a:ext>
            </a:extLst>
          </p:cNvPr>
          <p:cNvSpPr>
            <a:spLocks xmlns:a="http://schemas.openxmlformats.org/drawingml/2006/main" noGrp="1"/>
          </p:cNvSpPr>
          <p:nvPr/>
        </p:nvSpPr>
        <p:spPr>
          <a:xfrm xmlns:a="http://schemas.openxmlformats.org/drawingml/2006/main">
            <a:off x="4705350" y="2124075"/>
            <a:ext cx="2962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API / batch / CDC / files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IDs, versions, ACLs, watermark</a:t>
            </a:r>
          </a:p>
        </p:txBody>
      </p:sp>
      <p:sp>
        <p:nvSpPr>
          <p:cNvPr id="37" name="">
            <a:extLst xmlns:a="http://schemas.openxmlformats.org/drawingml/2006/main">
              <a:ext uri="{FF2B5EF4-FFF2-40B4-BE49-F238E27FC236}">
                <a16:creationId xmlns:a16="http://schemas.microsoft.com/office/drawing/2014/main" id="{FACCCC01-7487-4366-8F0C-EBFA5F187EA3}"/>
              </a:ext>
            </a:extLst>
          </p:cNvPr>
          <p:cNvSpPr>
            <a:spLocks xmlns:a="http://schemas.openxmlformats.org/drawingml/2006/main" noGrp="1"/>
          </p:cNvSpPr>
          <p:nvPr/>
        </p:nvSpPr>
        <p:spPr>
          <a:xfrm xmlns:a="http://schemas.openxmlformats.org/drawingml/2006/main">
            <a:off x="6057900" y="2686050"/>
            <a:ext cx="200025" cy="209550"/>
          </a:xfrm>
          <a:prstGeom xmlns:a="http://schemas.openxmlformats.org/drawingml/2006/main" prst="downArrow">
            <a:avLst/>
          </a:prstGeom>
          <a:solidFill xmlns:a="http://schemas.openxmlformats.org/drawingml/2006/main">
            <a:srgbClr val="007C8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90AE2C9-9B65-4E6E-95F4-1EEEC4A3750F}"/>
              </a:ext>
            </a:extLst>
          </p:cNvPr>
          <p:cNvSpPr>
            <a:spLocks xmlns:a="http://schemas.openxmlformats.org/drawingml/2006/main" noGrp="1"/>
          </p:cNvSpPr>
          <p:nvPr/>
        </p:nvSpPr>
        <p:spPr>
          <a:xfrm xmlns:a="http://schemas.openxmlformats.org/drawingml/2006/main">
            <a:off x="4591050" y="2962275"/>
            <a:ext cx="3190875"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39" name="">
            <a:extLst xmlns:a="http://schemas.openxmlformats.org/drawingml/2006/main">
              <a:ext uri="{FF2B5EF4-FFF2-40B4-BE49-F238E27FC236}">
                <a16:creationId xmlns:a16="http://schemas.microsoft.com/office/drawing/2014/main" id="{8AFC41DC-19DE-4D65-B05F-DF583D59A1EA}"/>
              </a:ext>
            </a:extLst>
          </p:cNvPr>
          <p:cNvSpPr>
            <a:spLocks xmlns:a="http://schemas.openxmlformats.org/drawingml/2006/main" noGrp="1"/>
          </p:cNvSpPr>
          <p:nvPr/>
        </p:nvSpPr>
        <p:spPr>
          <a:xfrm xmlns:a="http://schemas.openxmlformats.org/drawingml/2006/main">
            <a:off x="4705350" y="3038475"/>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0B1F3A"/>
                </a:solidFill>
                <a:latin typeface="Segoe UI"/>
                <a:ea typeface="Segoe UI"/>
                <a:cs typeface="Segoe UI"/>
              </a:defRPr>
            </a:pPr>
            <a:r>
              <a:rPr sz="1500" b="1">
                <a:solidFill>
                  <a:srgbClr val="0B1F3A"/>
                </a:solidFill>
                <a:latin typeface="Segoe UI"/>
                <a:ea typeface="Segoe UI"/>
                <a:cs typeface="Segoe UI"/>
              </a:rPr>
              <a:t>2  Resolve and reconcile</a:t>
            </a:r>
          </a:p>
        </p:txBody>
      </p:sp>
      <p:sp>
        <p:nvSpPr>
          <p:cNvPr id="40" name="">
            <a:extLst xmlns:a="http://schemas.openxmlformats.org/drawingml/2006/main">
              <a:ext uri="{FF2B5EF4-FFF2-40B4-BE49-F238E27FC236}">
                <a16:creationId xmlns:a16="http://schemas.microsoft.com/office/drawing/2014/main" id="{FB92BDB8-D7C5-4AC6-AB3D-936E9C54BD40}"/>
              </a:ext>
            </a:extLst>
          </p:cNvPr>
          <p:cNvSpPr>
            <a:spLocks xmlns:a="http://schemas.openxmlformats.org/drawingml/2006/main" noGrp="1"/>
          </p:cNvSpPr>
          <p:nvPr/>
        </p:nvSpPr>
        <p:spPr>
          <a:xfrm xmlns:a="http://schemas.openxmlformats.org/drawingml/2006/main">
            <a:off x="4705350" y="3362325"/>
            <a:ext cx="29622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Canonical IDs and effective dates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Quality checks, totals and stewardship</a:t>
            </a:r>
          </a:p>
        </p:txBody>
      </p:sp>
      <p:sp>
        <p:nvSpPr>
          <p:cNvPr id="41" name="">
            <a:extLst xmlns:a="http://schemas.openxmlformats.org/drawingml/2006/main">
              <a:ext uri="{FF2B5EF4-FFF2-40B4-BE49-F238E27FC236}">
                <a16:creationId xmlns:a16="http://schemas.microsoft.com/office/drawing/2014/main" id="{33BF7F51-3F30-4E2D-ABC2-335B5623C625}"/>
              </a:ext>
            </a:extLst>
          </p:cNvPr>
          <p:cNvSpPr>
            <a:spLocks xmlns:a="http://schemas.openxmlformats.org/drawingml/2006/main" noGrp="1"/>
          </p:cNvSpPr>
          <p:nvPr/>
        </p:nvSpPr>
        <p:spPr>
          <a:xfrm xmlns:a="http://schemas.openxmlformats.org/drawingml/2006/main">
            <a:off x="6057900" y="4095750"/>
            <a:ext cx="200025" cy="209550"/>
          </a:xfrm>
          <a:prstGeom xmlns:a="http://schemas.openxmlformats.org/drawingml/2006/main" prst="downArrow">
            <a:avLst/>
          </a:prstGeom>
          <a:solidFill xmlns:a="http://schemas.openxmlformats.org/drawingml/2006/main">
            <a:srgbClr val="007C8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BA3BC19-D050-4C1C-8377-E8FCEE5C3FAE}"/>
              </a:ext>
            </a:extLst>
          </p:cNvPr>
          <p:cNvSpPr>
            <a:spLocks xmlns:a="http://schemas.openxmlformats.org/drawingml/2006/main" noGrp="1"/>
          </p:cNvSpPr>
          <p:nvPr/>
        </p:nvSpPr>
        <p:spPr>
          <a:xfrm xmlns:a="http://schemas.openxmlformats.org/drawingml/2006/main">
            <a:off x="4591050" y="4381500"/>
            <a:ext cx="3190875" cy="128587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43" name="">
            <a:extLst xmlns:a="http://schemas.openxmlformats.org/drawingml/2006/main">
              <a:ext uri="{FF2B5EF4-FFF2-40B4-BE49-F238E27FC236}">
                <a16:creationId xmlns:a16="http://schemas.microsoft.com/office/drawing/2014/main" id="{523624C7-08C3-4E4F-9310-35C4CDE4220A}"/>
              </a:ext>
            </a:extLst>
          </p:cNvPr>
          <p:cNvSpPr>
            <a:spLocks xmlns:a="http://schemas.openxmlformats.org/drawingml/2006/main" noGrp="1"/>
          </p:cNvSpPr>
          <p:nvPr/>
        </p:nvSpPr>
        <p:spPr>
          <a:xfrm xmlns:a="http://schemas.openxmlformats.org/drawingml/2006/main">
            <a:off x="4705350" y="4457700"/>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0B1F3A"/>
                </a:solidFill>
                <a:latin typeface="Segoe UI"/>
                <a:ea typeface="Segoe UI"/>
                <a:cs typeface="Segoe UI"/>
              </a:defRPr>
            </a:pPr>
            <a:r>
              <a:rPr sz="1500" b="1">
                <a:solidFill>
                  <a:srgbClr val="0B1F3A"/>
                </a:solidFill>
                <a:latin typeface="Segoe UI"/>
                <a:ea typeface="Segoe UI"/>
                <a:cs typeface="Segoe UI"/>
              </a:rPr>
              <a:t>3  Publish read models</a:t>
            </a:r>
          </a:p>
        </p:txBody>
      </p:sp>
      <p:sp>
        <p:nvSpPr>
          <p:cNvPr id="44" name="">
            <a:extLst xmlns:a="http://schemas.openxmlformats.org/drawingml/2006/main">
              <a:ext uri="{FF2B5EF4-FFF2-40B4-BE49-F238E27FC236}">
                <a16:creationId xmlns:a16="http://schemas.microsoft.com/office/drawing/2014/main" id="{35080B22-6AF9-4486-A866-DE02420446B2}"/>
              </a:ext>
            </a:extLst>
          </p:cNvPr>
          <p:cNvSpPr>
            <a:spLocks xmlns:a="http://schemas.openxmlformats.org/drawingml/2006/main" noGrp="1"/>
          </p:cNvSpPr>
          <p:nvPr/>
        </p:nvSpPr>
        <p:spPr>
          <a:xfrm xmlns:a="http://schemas.openxmlformats.org/drawingml/2006/main">
            <a:off x="4705350" y="4781550"/>
            <a:ext cx="2962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Structured fields and snapshots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Validated relationships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Entitled document passages</a:t>
            </a:r>
          </a:p>
        </p:txBody>
      </p:sp>
      <p:sp>
        <p:nvSpPr>
          <p:cNvPr id="45" name="">
            <a:extLst xmlns:a="http://schemas.openxmlformats.org/drawingml/2006/main">
              <a:ext uri="{FF2B5EF4-FFF2-40B4-BE49-F238E27FC236}">
                <a16:creationId xmlns:a16="http://schemas.microsoft.com/office/drawing/2014/main" id="{858981E0-39E2-475E-8D5C-D20D2FB96AE9}"/>
              </a:ext>
            </a:extLst>
          </p:cNvPr>
          <p:cNvSpPr>
            <a:spLocks xmlns:a="http://schemas.openxmlformats.org/drawingml/2006/main" noGrp="1"/>
          </p:cNvSpPr>
          <p:nvPr/>
        </p:nvSpPr>
        <p:spPr>
          <a:xfrm xmlns:a="http://schemas.openxmlformats.org/drawingml/2006/main">
            <a:off x="7867650" y="3514725"/>
            <a:ext cx="247650" cy="2095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8F78A06-B0B7-4A40-A891-F55B70256E51}"/>
              </a:ext>
            </a:extLst>
          </p:cNvPr>
          <p:cNvSpPr>
            <a:spLocks xmlns:a="http://schemas.openxmlformats.org/drawingml/2006/main" noGrp="1"/>
          </p:cNvSpPr>
          <p:nvPr/>
        </p:nvSpPr>
        <p:spPr>
          <a:xfrm xmlns:a="http://schemas.openxmlformats.org/drawingml/2006/main">
            <a:off x="8239125" y="1724025"/>
            <a:ext cx="3495675" cy="990600"/>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47" name="">
            <a:extLst xmlns:a="http://schemas.openxmlformats.org/drawingml/2006/main">
              <a:ext uri="{FF2B5EF4-FFF2-40B4-BE49-F238E27FC236}">
                <a16:creationId xmlns:a16="http://schemas.microsoft.com/office/drawing/2014/main" id="{6DF886CE-3DE1-47DA-880B-BD6B307420C1}"/>
              </a:ext>
            </a:extLst>
          </p:cNvPr>
          <p:cNvSpPr>
            <a:spLocks xmlns:a="http://schemas.openxmlformats.org/drawingml/2006/main" noGrp="1"/>
          </p:cNvSpPr>
          <p:nvPr/>
        </p:nvSpPr>
        <p:spPr>
          <a:xfrm xmlns:a="http://schemas.openxmlformats.org/drawingml/2006/main">
            <a:off x="8353425" y="18002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Curated SQL / views</a:t>
            </a:r>
          </a:p>
        </p:txBody>
      </p:sp>
      <p:sp>
        <p:nvSpPr>
          <p:cNvPr id="48" name="">
            <a:extLst xmlns:a="http://schemas.openxmlformats.org/drawingml/2006/main">
              <a:ext uri="{FF2B5EF4-FFF2-40B4-BE49-F238E27FC236}">
                <a16:creationId xmlns:a16="http://schemas.microsoft.com/office/drawing/2014/main" id="{823FD1A1-B674-4B01-8317-DE2BCF669EA9}"/>
              </a:ext>
            </a:extLst>
          </p:cNvPr>
          <p:cNvSpPr>
            <a:spLocks xmlns:a="http://schemas.openxmlformats.org/drawingml/2006/main" noGrp="1"/>
          </p:cNvSpPr>
          <p:nvPr/>
        </p:nvSpPr>
        <p:spPr>
          <a:xfrm xmlns:a="http://schemas.openxmlformats.org/drawingml/2006/main">
            <a:off x="8353425" y="2124075"/>
            <a:ext cx="3267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Facts, dimensions and history</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Exact amounts, dates and metrics</a:t>
            </a:r>
          </a:p>
        </p:txBody>
      </p:sp>
      <p:sp>
        <p:nvSpPr>
          <p:cNvPr id="49" name="">
            <a:extLst xmlns:a="http://schemas.openxmlformats.org/drawingml/2006/main">
              <a:ext uri="{FF2B5EF4-FFF2-40B4-BE49-F238E27FC236}">
                <a16:creationId xmlns:a16="http://schemas.microsoft.com/office/drawing/2014/main" id="{846F3F20-9301-4901-8F3F-E0DDAE455A23}"/>
              </a:ext>
            </a:extLst>
          </p:cNvPr>
          <p:cNvSpPr>
            <a:spLocks xmlns:a="http://schemas.openxmlformats.org/drawingml/2006/main" noGrp="1"/>
          </p:cNvSpPr>
          <p:nvPr/>
        </p:nvSpPr>
        <p:spPr>
          <a:xfrm xmlns:a="http://schemas.openxmlformats.org/drawingml/2006/main">
            <a:off x="11201400" y="2057400"/>
            <a:ext cx="333375"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7C83"/>
            </a:solidFill>
          </a:ln>
        </p:spPr>
      </p:sp>
      <p:sp>
        <p:nvSpPr>
          <p:cNvPr id="50" name="">
            <a:extLst xmlns:a="http://schemas.openxmlformats.org/drawingml/2006/main">
              <a:ext uri="{FF2B5EF4-FFF2-40B4-BE49-F238E27FC236}">
                <a16:creationId xmlns:a16="http://schemas.microsoft.com/office/drawing/2014/main" id="{126D8C20-3AD6-41C1-A6C8-48B053328784}"/>
              </a:ext>
            </a:extLst>
          </p:cNvPr>
          <p:cNvSpPr>
            <a:spLocks xmlns:a="http://schemas.openxmlformats.org/drawingml/2006/main" noGrp="1"/>
          </p:cNvSpPr>
          <p:nvPr/>
        </p:nvSpPr>
        <p:spPr>
          <a:xfrm xmlns:a="http://schemas.openxmlformats.org/drawingml/2006/main">
            <a:off x="11201400" y="1876425"/>
            <a:ext cx="333375" cy="228600"/>
          </a:xfrm>
          <a:prstGeom xmlns:a="http://schemas.openxmlformats.org/drawingml/2006/main" prst="rect">
            <a:avLst/>
          </a:prstGeom>
          <a:solidFill xmlns:a="http://schemas.openxmlformats.org/drawingml/2006/main">
            <a:srgbClr val="FFFFFF"/>
          </a:solidFill>
          <a:ln xmlns:a="http://schemas.openxmlformats.org/drawingml/2006/main" w="14288">
            <a:solidFill>
              <a:srgbClr val="007C83"/>
            </a:solidFill>
          </a:ln>
        </p:spPr>
      </p:sp>
      <p:sp>
        <p:nvSpPr>
          <p:cNvPr id="51" name="">
            <a:extLst xmlns:a="http://schemas.openxmlformats.org/drawingml/2006/main">
              <a:ext uri="{FF2B5EF4-FFF2-40B4-BE49-F238E27FC236}">
                <a16:creationId xmlns:a16="http://schemas.microsoft.com/office/drawing/2014/main" id="{1CED72F0-6ACB-45DA-A019-B71FC4271E0C}"/>
              </a:ext>
            </a:extLst>
          </p:cNvPr>
          <p:cNvSpPr>
            <a:spLocks xmlns:a="http://schemas.openxmlformats.org/drawingml/2006/main" noGrp="1"/>
          </p:cNvSpPr>
          <p:nvPr/>
        </p:nvSpPr>
        <p:spPr>
          <a:xfrm xmlns:a="http://schemas.openxmlformats.org/drawingml/2006/main">
            <a:off x="11201400" y="1828800"/>
            <a:ext cx="333375" cy="952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7C83"/>
            </a:solidFill>
          </a:ln>
        </p:spPr>
      </p:sp>
      <p:sp>
        <p:nvSpPr>
          <p:cNvPr id="52" name="">
            <a:extLst xmlns:a="http://schemas.openxmlformats.org/drawingml/2006/main">
              <a:ext uri="{FF2B5EF4-FFF2-40B4-BE49-F238E27FC236}">
                <a16:creationId xmlns:a16="http://schemas.microsoft.com/office/drawing/2014/main" id="{73DF3B3E-9CAD-4B3E-BDD9-45F5825E1382}"/>
              </a:ext>
            </a:extLst>
          </p:cNvPr>
          <p:cNvSpPr>
            <a:spLocks xmlns:a="http://schemas.openxmlformats.org/drawingml/2006/main" noGrp="1"/>
          </p:cNvSpPr>
          <p:nvPr/>
        </p:nvSpPr>
        <p:spPr>
          <a:xfrm xmlns:a="http://schemas.openxmlformats.org/drawingml/2006/main">
            <a:off x="8239125" y="2895600"/>
            <a:ext cx="3495675" cy="990600"/>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53" name="">
            <a:extLst xmlns:a="http://schemas.openxmlformats.org/drawingml/2006/main">
              <a:ext uri="{FF2B5EF4-FFF2-40B4-BE49-F238E27FC236}">
                <a16:creationId xmlns:a16="http://schemas.microsoft.com/office/drawing/2014/main" id="{2A6A4E19-9D74-4430-9AF6-2B91EA5130B0}"/>
              </a:ext>
            </a:extLst>
          </p:cNvPr>
          <p:cNvSpPr>
            <a:spLocks xmlns:a="http://schemas.openxmlformats.org/drawingml/2006/main" noGrp="1"/>
          </p:cNvSpPr>
          <p:nvPr/>
        </p:nvSpPr>
        <p:spPr>
          <a:xfrm xmlns:a="http://schemas.openxmlformats.org/drawingml/2006/main">
            <a:off x="8353425" y="2971800"/>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Graph projection</a:t>
            </a:r>
          </a:p>
        </p:txBody>
      </p:sp>
      <p:sp>
        <p:nvSpPr>
          <p:cNvPr id="54" name="">
            <a:extLst xmlns:a="http://schemas.openxmlformats.org/drawingml/2006/main">
              <a:ext uri="{FF2B5EF4-FFF2-40B4-BE49-F238E27FC236}">
                <a16:creationId xmlns:a16="http://schemas.microsoft.com/office/drawing/2014/main" id="{F743ED1F-42C0-4DCF-ADF2-7413EC917F39}"/>
              </a:ext>
            </a:extLst>
          </p:cNvPr>
          <p:cNvSpPr>
            <a:spLocks xmlns:a="http://schemas.openxmlformats.org/drawingml/2006/main" noGrp="1"/>
          </p:cNvSpPr>
          <p:nvPr/>
        </p:nvSpPr>
        <p:spPr>
          <a:xfrm xmlns:a="http://schemas.openxmlformats.org/drawingml/2006/main">
            <a:off x="8353425" y="3295650"/>
            <a:ext cx="3267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Dependencies, ownership and evidence</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Selected entities and approved edges</a:t>
            </a:r>
          </a:p>
        </p:txBody>
      </p:sp>
      <p:sp>
        <p:nvSpPr>
          <p:cNvPr id="55" name="">
            <a:extLst xmlns:a="http://schemas.openxmlformats.org/drawingml/2006/main">
              <a:ext uri="{FF2B5EF4-FFF2-40B4-BE49-F238E27FC236}">
                <a16:creationId xmlns:a16="http://schemas.microsoft.com/office/drawing/2014/main" id="{75B951DF-A585-4E8A-8F4A-3154F9824D31}"/>
              </a:ext>
            </a:extLst>
          </p:cNvPr>
          <p:cNvSpPr>
            <a:spLocks xmlns:a="http://schemas.openxmlformats.org/drawingml/2006/main" noGrp="1"/>
          </p:cNvSpPr>
          <p:nvPr/>
        </p:nvSpPr>
        <p:spPr>
          <a:xfrm xmlns:a="http://schemas.openxmlformats.org/drawingml/2006/main">
            <a:off x="11210925" y="3048000"/>
            <a:ext cx="285750" cy="19050"/>
          </a:xfrm>
          <a:prstGeom xmlns:a="http://schemas.openxmlformats.org/drawingml/2006/main" prst="rect">
            <a:avLst/>
          </a:prstGeom>
          <a:solidFill xmlns:a="http://schemas.openxmlformats.org/drawingml/2006/main">
            <a:srgbClr val="007C83"/>
          </a:solidFill>
          <a:ln xmlns:a="http://schemas.openxmlformats.org/drawingml/2006/main" w="9525">
            <a:solidFill>
              <a:srgbClr val="B8C7D9"/>
            </a:solidFill>
          </a:ln>
        </p:spPr>
      </p:sp>
      <p:sp>
        <p:nvSpPr>
          <p:cNvPr id="56" name="">
            <a:extLst xmlns:a="http://schemas.openxmlformats.org/drawingml/2006/main">
              <a:ext uri="{FF2B5EF4-FFF2-40B4-BE49-F238E27FC236}">
                <a16:creationId xmlns:a16="http://schemas.microsoft.com/office/drawing/2014/main" id="{8B87041D-D279-47C6-BD0C-43185ED4CDA0}"/>
              </a:ext>
            </a:extLst>
          </p:cNvPr>
          <p:cNvSpPr>
            <a:spLocks xmlns:a="http://schemas.openxmlformats.org/drawingml/2006/main" noGrp="1"/>
          </p:cNvSpPr>
          <p:nvPr/>
        </p:nvSpPr>
        <p:spPr>
          <a:xfrm xmlns:a="http://schemas.openxmlformats.org/drawingml/2006/main">
            <a:off x="11210925" y="3048000"/>
            <a:ext cx="19050" cy="257175"/>
          </a:xfrm>
          <a:prstGeom xmlns:a="http://schemas.openxmlformats.org/drawingml/2006/main" prst="rect">
            <a:avLst/>
          </a:prstGeom>
          <a:solidFill xmlns:a="http://schemas.openxmlformats.org/drawingml/2006/main">
            <a:srgbClr val="007C83"/>
          </a:solidFill>
          <a:ln xmlns:a="http://schemas.openxmlformats.org/drawingml/2006/main" w="9525">
            <a:solidFill>
              <a:srgbClr val="B8C7D9"/>
            </a:solidFill>
          </a:ln>
        </p:spPr>
      </p:sp>
      <p:sp>
        <p:nvSpPr>
          <p:cNvPr id="57" name="">
            <a:extLst xmlns:a="http://schemas.openxmlformats.org/drawingml/2006/main">
              <a:ext uri="{FF2B5EF4-FFF2-40B4-BE49-F238E27FC236}">
                <a16:creationId xmlns:a16="http://schemas.microsoft.com/office/drawing/2014/main" id="{2A0EC66A-AD61-42D1-A352-AE13064C8E86}"/>
              </a:ext>
            </a:extLst>
          </p:cNvPr>
          <p:cNvSpPr>
            <a:spLocks xmlns:a="http://schemas.openxmlformats.org/drawingml/2006/main" noGrp="1"/>
          </p:cNvSpPr>
          <p:nvPr/>
        </p:nvSpPr>
        <p:spPr>
          <a:xfrm xmlns:a="http://schemas.openxmlformats.org/drawingml/2006/main">
            <a:off x="11210925" y="3295650"/>
            <a:ext cx="285750" cy="19050"/>
          </a:xfrm>
          <a:prstGeom xmlns:a="http://schemas.openxmlformats.org/drawingml/2006/main" prst="rect">
            <a:avLst/>
          </a:prstGeom>
          <a:solidFill xmlns:a="http://schemas.openxmlformats.org/drawingml/2006/main">
            <a:srgbClr val="007C83"/>
          </a:solidFill>
          <a:ln xmlns:a="http://schemas.openxmlformats.org/drawingml/2006/main" w="9525">
            <a:solidFill>
              <a:srgbClr val="B8C7D9"/>
            </a:solidFill>
          </a:ln>
        </p:spPr>
      </p:sp>
      <p:sp>
        <p:nvSpPr>
          <p:cNvPr id="58" name="">
            <a:extLst xmlns:a="http://schemas.openxmlformats.org/drawingml/2006/main">
              <a:ext uri="{FF2B5EF4-FFF2-40B4-BE49-F238E27FC236}">
                <a16:creationId xmlns:a16="http://schemas.microsoft.com/office/drawing/2014/main" id="{AEC64ACA-3886-4BA5-8B40-DED5EDF99E25}"/>
              </a:ext>
            </a:extLst>
          </p:cNvPr>
          <p:cNvSpPr>
            <a:spLocks xmlns:a="http://schemas.openxmlformats.org/drawingml/2006/main" noGrp="1"/>
          </p:cNvSpPr>
          <p:nvPr/>
        </p:nvSpPr>
        <p:spPr>
          <a:xfrm xmlns:a="http://schemas.openxmlformats.org/drawingml/2006/main">
            <a:off x="11477625" y="3048000"/>
            <a:ext cx="19050" cy="257175"/>
          </a:xfrm>
          <a:prstGeom xmlns:a="http://schemas.openxmlformats.org/drawingml/2006/main" prst="rect">
            <a:avLst/>
          </a:prstGeom>
          <a:solidFill xmlns:a="http://schemas.openxmlformats.org/drawingml/2006/main">
            <a:srgbClr val="007C83"/>
          </a:solidFill>
          <a:ln xmlns:a="http://schemas.openxmlformats.org/drawingml/2006/main" w="9525">
            <a:solidFill>
              <a:srgbClr val="B8C7D9"/>
            </a:solidFill>
          </a:ln>
        </p:spPr>
      </p:sp>
      <p:sp>
        <p:nvSpPr>
          <p:cNvPr id="59" name="">
            <a:extLst xmlns:a="http://schemas.openxmlformats.org/drawingml/2006/main">
              <a:ext uri="{FF2B5EF4-FFF2-40B4-BE49-F238E27FC236}">
                <a16:creationId xmlns:a16="http://schemas.microsoft.com/office/drawing/2014/main" id="{98FDF1FB-6E63-41E8-931A-CF13DE0076E7}"/>
              </a:ext>
            </a:extLst>
          </p:cNvPr>
          <p:cNvSpPr>
            <a:spLocks xmlns:a="http://schemas.openxmlformats.org/drawingml/2006/main" noGrp="1"/>
          </p:cNvSpPr>
          <p:nvPr/>
        </p:nvSpPr>
        <p:spPr>
          <a:xfrm xmlns:a="http://schemas.openxmlformats.org/drawingml/2006/main">
            <a:off x="11172825" y="3000375"/>
            <a:ext cx="95250" cy="95250"/>
          </a:xfrm>
          <a:prstGeom xmlns:a="http://schemas.openxmlformats.org/drawingml/2006/main" prst="ellipse">
            <a:avLst/>
          </a:prstGeom>
          <a:solidFill xmlns:a="http://schemas.openxmlformats.org/drawingml/2006/main">
            <a:srgbClr val="E4F6F7"/>
          </a:solidFill>
          <a:ln xmlns:a="http://schemas.openxmlformats.org/drawingml/2006/main" w="14288">
            <a:solidFill>
              <a:srgbClr val="007C83"/>
            </a:solidFill>
          </a:ln>
        </p:spPr>
      </p:sp>
      <p:sp>
        <p:nvSpPr>
          <p:cNvPr id="60" name="">
            <a:extLst xmlns:a="http://schemas.openxmlformats.org/drawingml/2006/main">
              <a:ext uri="{FF2B5EF4-FFF2-40B4-BE49-F238E27FC236}">
                <a16:creationId xmlns:a16="http://schemas.microsoft.com/office/drawing/2014/main" id="{6933D565-E6F4-403D-BA45-18D1F84897AF}"/>
              </a:ext>
            </a:extLst>
          </p:cNvPr>
          <p:cNvSpPr>
            <a:spLocks xmlns:a="http://schemas.openxmlformats.org/drawingml/2006/main" noGrp="1"/>
          </p:cNvSpPr>
          <p:nvPr/>
        </p:nvSpPr>
        <p:spPr>
          <a:xfrm xmlns:a="http://schemas.openxmlformats.org/drawingml/2006/main">
            <a:off x="11439525" y="3000375"/>
            <a:ext cx="95250" cy="95250"/>
          </a:xfrm>
          <a:prstGeom xmlns:a="http://schemas.openxmlformats.org/drawingml/2006/main" prst="ellipse">
            <a:avLst/>
          </a:prstGeom>
          <a:solidFill xmlns:a="http://schemas.openxmlformats.org/drawingml/2006/main">
            <a:srgbClr val="E4F6F7"/>
          </a:solidFill>
          <a:ln xmlns:a="http://schemas.openxmlformats.org/drawingml/2006/main" w="14288">
            <a:solidFill>
              <a:srgbClr val="007C83"/>
            </a:solidFill>
          </a:ln>
        </p:spPr>
      </p:sp>
      <p:sp>
        <p:nvSpPr>
          <p:cNvPr id="61" name="">
            <a:extLst xmlns:a="http://schemas.openxmlformats.org/drawingml/2006/main">
              <a:ext uri="{FF2B5EF4-FFF2-40B4-BE49-F238E27FC236}">
                <a16:creationId xmlns:a16="http://schemas.microsoft.com/office/drawing/2014/main" id="{3E5C2479-57C1-4EDD-9696-C270473D0993}"/>
              </a:ext>
            </a:extLst>
          </p:cNvPr>
          <p:cNvSpPr>
            <a:spLocks xmlns:a="http://schemas.openxmlformats.org/drawingml/2006/main" noGrp="1"/>
          </p:cNvSpPr>
          <p:nvPr/>
        </p:nvSpPr>
        <p:spPr>
          <a:xfrm xmlns:a="http://schemas.openxmlformats.org/drawingml/2006/main">
            <a:off x="11172825" y="3257550"/>
            <a:ext cx="95250" cy="95250"/>
          </a:xfrm>
          <a:prstGeom xmlns:a="http://schemas.openxmlformats.org/drawingml/2006/main" prst="ellipse">
            <a:avLst/>
          </a:prstGeom>
          <a:solidFill xmlns:a="http://schemas.openxmlformats.org/drawingml/2006/main">
            <a:srgbClr val="E4F6F7"/>
          </a:solidFill>
          <a:ln xmlns:a="http://schemas.openxmlformats.org/drawingml/2006/main" w="14288">
            <a:solidFill>
              <a:srgbClr val="007C83"/>
            </a:solidFill>
          </a:ln>
        </p:spPr>
      </p:sp>
      <p:sp>
        <p:nvSpPr>
          <p:cNvPr id="62" name="">
            <a:extLst xmlns:a="http://schemas.openxmlformats.org/drawingml/2006/main">
              <a:ext uri="{FF2B5EF4-FFF2-40B4-BE49-F238E27FC236}">
                <a16:creationId xmlns:a16="http://schemas.microsoft.com/office/drawing/2014/main" id="{48D548DC-478E-4164-832B-27F259873B5A}"/>
              </a:ext>
            </a:extLst>
          </p:cNvPr>
          <p:cNvSpPr>
            <a:spLocks xmlns:a="http://schemas.openxmlformats.org/drawingml/2006/main" noGrp="1"/>
          </p:cNvSpPr>
          <p:nvPr/>
        </p:nvSpPr>
        <p:spPr>
          <a:xfrm xmlns:a="http://schemas.openxmlformats.org/drawingml/2006/main">
            <a:off x="11439525" y="3257550"/>
            <a:ext cx="95250" cy="95250"/>
          </a:xfrm>
          <a:prstGeom xmlns:a="http://schemas.openxmlformats.org/drawingml/2006/main" prst="ellipse">
            <a:avLst/>
          </a:prstGeom>
          <a:solidFill xmlns:a="http://schemas.openxmlformats.org/drawingml/2006/main">
            <a:srgbClr val="E4F6F7"/>
          </a:solidFill>
          <a:ln xmlns:a="http://schemas.openxmlformats.org/drawingml/2006/main" w="14288">
            <a:solidFill>
              <a:srgbClr val="007C83"/>
            </a:solidFill>
          </a:ln>
        </p:spPr>
      </p:sp>
      <p:sp>
        <p:nvSpPr>
          <p:cNvPr id="63" name="">
            <a:extLst xmlns:a="http://schemas.openxmlformats.org/drawingml/2006/main">
              <a:ext uri="{FF2B5EF4-FFF2-40B4-BE49-F238E27FC236}">
                <a16:creationId xmlns:a16="http://schemas.microsoft.com/office/drawing/2014/main" id="{1E209A00-053E-4BFA-B3E8-587D50B3234B}"/>
              </a:ext>
            </a:extLst>
          </p:cNvPr>
          <p:cNvSpPr>
            <a:spLocks xmlns:a="http://schemas.openxmlformats.org/drawingml/2006/main" noGrp="1"/>
          </p:cNvSpPr>
          <p:nvPr/>
        </p:nvSpPr>
        <p:spPr>
          <a:xfrm xmlns:a="http://schemas.openxmlformats.org/drawingml/2006/main">
            <a:off x="8239125" y="4067175"/>
            <a:ext cx="3495675" cy="990600"/>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64" name="">
            <a:extLst xmlns:a="http://schemas.openxmlformats.org/drawingml/2006/main">
              <a:ext uri="{FF2B5EF4-FFF2-40B4-BE49-F238E27FC236}">
                <a16:creationId xmlns:a16="http://schemas.microsoft.com/office/drawing/2014/main" id="{3280B30D-7039-4A76-89D5-A743C88EE384}"/>
              </a:ext>
            </a:extLst>
          </p:cNvPr>
          <p:cNvSpPr>
            <a:spLocks xmlns:a="http://schemas.openxmlformats.org/drawingml/2006/main" noGrp="1"/>
          </p:cNvSpPr>
          <p:nvPr/>
        </p:nvSpPr>
        <p:spPr>
          <a:xfrm xmlns:a="http://schemas.openxmlformats.org/drawingml/2006/main">
            <a:off x="8353425" y="414337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Document / vector index</a:t>
            </a:r>
          </a:p>
        </p:txBody>
      </p:sp>
      <p:sp>
        <p:nvSpPr>
          <p:cNvPr id="65" name="">
            <a:extLst xmlns:a="http://schemas.openxmlformats.org/drawingml/2006/main">
              <a:ext uri="{FF2B5EF4-FFF2-40B4-BE49-F238E27FC236}">
                <a16:creationId xmlns:a16="http://schemas.microsoft.com/office/drawing/2014/main" id="{6E7569B9-6EB8-462A-887D-FF4C28DA24B2}"/>
              </a:ext>
            </a:extLst>
          </p:cNvPr>
          <p:cNvSpPr>
            <a:spLocks xmlns:a="http://schemas.openxmlformats.org/drawingml/2006/main" noGrp="1"/>
          </p:cNvSpPr>
          <p:nvPr/>
        </p:nvSpPr>
        <p:spPr>
          <a:xfrm xmlns:a="http://schemas.openxmlformats.org/drawingml/2006/main">
            <a:off x="8353425" y="4467225"/>
            <a:ext cx="3267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Clause passages and metadata</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Original files retained or referenced</a:t>
            </a:r>
          </a:p>
        </p:txBody>
      </p:sp>
      <p:sp>
        <p:nvSpPr>
          <p:cNvPr id="66" name="">
            <a:extLst xmlns:a="http://schemas.openxmlformats.org/drawingml/2006/main">
              <a:ext uri="{FF2B5EF4-FFF2-40B4-BE49-F238E27FC236}">
                <a16:creationId xmlns:a16="http://schemas.microsoft.com/office/drawing/2014/main" id="{9C1656A7-9FF6-47E0-9E1A-05F58AA351CF}"/>
              </a:ext>
            </a:extLst>
          </p:cNvPr>
          <p:cNvSpPr>
            <a:spLocks xmlns:a="http://schemas.openxmlformats.org/drawingml/2006/main" noGrp="1"/>
          </p:cNvSpPr>
          <p:nvPr/>
        </p:nvSpPr>
        <p:spPr>
          <a:xfrm xmlns:a="http://schemas.openxmlformats.org/drawingml/2006/main">
            <a:off x="8239125" y="5181600"/>
            <a:ext cx="3495675" cy="485775"/>
          </a:xfrm>
          <a:prstGeom xmlns:a="http://schemas.openxmlformats.org/drawingml/2006/main" prst="rect">
            <a:avLst/>
          </a:prstGeom>
          <a:solidFill xmlns:a="http://schemas.openxmlformats.org/drawingml/2006/main">
            <a:srgbClr val="FFF1E5"/>
          </a:solidFill>
          <a:ln xmlns:a="http://schemas.openxmlformats.org/drawingml/2006/main" w="9525">
            <a:solidFill>
              <a:srgbClr val="B8C7D9"/>
            </a:solidFill>
          </a:ln>
        </p:spPr>
      </p:sp>
      <p:sp>
        <p:nvSpPr>
          <p:cNvPr id="67" name="">
            <a:extLst xmlns:a="http://schemas.openxmlformats.org/drawingml/2006/main">
              <a:ext uri="{FF2B5EF4-FFF2-40B4-BE49-F238E27FC236}">
                <a16:creationId xmlns:a16="http://schemas.microsoft.com/office/drawing/2014/main" id="{3698D155-C018-4D74-BA03-A7FEB8A9CD4C}"/>
              </a:ext>
            </a:extLst>
          </p:cNvPr>
          <p:cNvSpPr>
            <a:spLocks xmlns:a="http://schemas.openxmlformats.org/drawingml/2006/main" noGrp="1"/>
          </p:cNvSpPr>
          <p:nvPr/>
        </p:nvSpPr>
        <p:spPr>
          <a:xfrm xmlns:a="http://schemas.openxmlformats.org/drawingml/2006/main">
            <a:off x="8343900" y="5257800"/>
            <a:ext cx="327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0B1F3A"/>
                </a:solidFill>
                <a:latin typeface="Segoe UI"/>
                <a:ea typeface="Segoe UI"/>
                <a:cs typeface="Segoe UI"/>
              </a:defRPr>
            </a:pPr>
            <a:r>
              <a:rPr sz="1275" b="1">
                <a:solidFill>
                  <a:srgbClr val="0B1F3A"/>
                </a:solidFill>
                <a:latin typeface="Segoe UI"/>
                <a:ea typeface="Segoe UI"/>
                <a:cs typeface="Segoe UI"/>
              </a:rPr>
              <a:t>Original / live access where appropriate</a:t>
            </a:r>
          </a:p>
        </p:txBody>
      </p:sp>
      <p:sp>
        <p:nvSpPr>
          <p:cNvPr id="68" name="">
            <a:extLst xmlns:a="http://schemas.openxmlformats.org/drawingml/2006/main">
              <a:ext uri="{FF2B5EF4-FFF2-40B4-BE49-F238E27FC236}">
                <a16:creationId xmlns:a16="http://schemas.microsoft.com/office/drawing/2014/main" id="{91B074CA-2F99-4DBF-8201-2F6BCA9136ED}"/>
              </a:ext>
            </a:extLst>
          </p:cNvPr>
          <p:cNvSpPr>
            <a:spLocks xmlns:a="http://schemas.openxmlformats.org/drawingml/2006/main" noGrp="1"/>
          </p:cNvSpPr>
          <p:nvPr/>
        </p:nvSpPr>
        <p:spPr>
          <a:xfrm xmlns:a="http://schemas.openxmlformats.org/drawingml/2006/main">
            <a:off x="457200" y="5838825"/>
            <a:ext cx="11277600" cy="504825"/>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69" name="">
            <a:extLst xmlns:a="http://schemas.openxmlformats.org/drawingml/2006/main">
              <a:ext uri="{FF2B5EF4-FFF2-40B4-BE49-F238E27FC236}">
                <a16:creationId xmlns:a16="http://schemas.microsoft.com/office/drawing/2014/main" id="{EF541779-C5EC-4EF4-9EE9-0E5075350EAC}"/>
              </a:ext>
            </a:extLst>
          </p:cNvPr>
          <p:cNvSpPr>
            <a:spLocks xmlns:a="http://schemas.openxmlformats.org/drawingml/2006/main" noGrp="1"/>
          </p:cNvSpPr>
          <p:nvPr/>
        </p:nvSpPr>
        <p:spPr>
          <a:xfrm xmlns:a="http://schemas.openxmlformats.org/drawingml/2006/main">
            <a:off x="581025" y="5953125"/>
            <a:ext cx="11029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FFFFFF"/>
                </a:solidFill>
                <a:latin typeface="Segoe UI"/>
                <a:ea typeface="Segoe UI"/>
                <a:cs typeface="Segoe UI"/>
              </a:defRPr>
            </a:pPr>
            <a:r>
              <a:rPr sz="1425" b="1">
                <a:solidFill>
                  <a:srgbClr val="FFFFFF"/>
                </a:solidFill>
                <a:latin typeface="Segoe UI"/>
                <a:ea typeface="Segoe UI"/>
                <a:cs typeface="Segoe UI"/>
              </a:rPr>
              <a:t>SEMANTIC LAYER: approved meaning, grain, joins, formulas, scope and versions across SQL, graph and retrieval</a:t>
            </a:r>
          </a:p>
        </p:txBody>
      </p:sp>
    </p:spTree>
    <p:extLst>
      <p:ext uri="{BB962C8B-B14F-4D97-AF65-F5344CB8AC3E}">
        <p14:creationId xmlns:p14="http://schemas.microsoft.com/office/powerpoint/2010/main" val="1191741484"/>
      </p:ext>
    </p:extLst>
  </p:cSld>
</p:sld>
</file>

<file path=ppt/slides/slide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BFF65BF-5F76-4E3B-90E1-8F9C61C3774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2" name="">
            <a:extLst xmlns:a="http://schemas.openxmlformats.org/drawingml/2006/main">
              <a:ext uri="{FF2B5EF4-FFF2-40B4-BE49-F238E27FC236}">
                <a16:creationId xmlns:a16="http://schemas.microsoft.com/office/drawing/2014/main" id="{FCC24B60-21FD-4965-A7B5-17B23FE61732}"/>
              </a:ext>
            </a:extLst>
          </p:cNvPr>
          <p:cNvSpPr>
            <a:spLocks xmlns:a="http://schemas.openxmlformats.org/drawingml/2006/main" noGrp="1"/>
          </p:cNvSpPr>
          <p:nvPr/>
        </p:nvSpPr>
        <p:spPr>
          <a:xfrm xmlns:a="http://schemas.openxmlformats.org/drawingml/2006/main">
            <a:off x="457200" y="333375"/>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B1F3A"/>
                </a:solidFill>
                <a:latin typeface="Segoe UI"/>
                <a:ea typeface="Segoe UI"/>
                <a:cs typeface="Segoe UI"/>
              </a:defRPr>
            </a:pPr>
            <a:r>
              <a:rPr sz="2550" b="1">
                <a:solidFill>
                  <a:srgbClr val="0B1F3A"/>
                </a:solidFill>
                <a:latin typeface="Segoe UI"/>
                <a:ea typeface="Segoe UI"/>
                <a:cs typeface="Segoe UI"/>
              </a:rPr>
              <a:t>One contract feeds several representations</a:t>
            </a:r>
          </a:p>
        </p:txBody>
      </p:sp>
      <p:sp>
        <p:nvSpPr>
          <p:cNvPr id="3" name="">
            <a:extLst xmlns:a="http://schemas.openxmlformats.org/drawingml/2006/main">
              <a:ext uri="{FF2B5EF4-FFF2-40B4-BE49-F238E27FC236}">
                <a16:creationId xmlns:a16="http://schemas.microsoft.com/office/drawing/2014/main" id="{2D316A71-4DC1-420A-B1ED-C745242EA051}"/>
              </a:ext>
            </a:extLst>
          </p:cNvPr>
          <p:cNvSpPr>
            <a:spLocks xmlns:a="http://schemas.openxmlformats.org/drawingml/2006/main" noGrp="1"/>
          </p:cNvSpPr>
          <p:nvPr/>
        </p:nvSpPr>
        <p:spPr>
          <a:xfrm xmlns:a="http://schemas.openxmlformats.org/drawingml/2006/main">
            <a:off x="466725" y="876300"/>
            <a:ext cx="1123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53E55"/>
                </a:solidFill>
                <a:latin typeface="Segoe UI"/>
                <a:ea typeface="Segoe UI"/>
                <a:cs typeface="Segoe UI"/>
              </a:defRPr>
            </a:pPr>
            <a:r>
              <a:rPr sz="1350" b="0">
                <a:solidFill>
                  <a:srgbClr val="253E55"/>
                </a:solidFill>
                <a:latin typeface="Segoe UI"/>
                <a:ea typeface="Segoe UI"/>
                <a:cs typeface="Segoe UI"/>
              </a:rPr>
              <a:t>Illustrative C-01 example. Ingest only required content; the signed original remains the evidence of record.</a:t>
            </a:r>
          </a:p>
        </p:txBody>
      </p:sp>
      <p:sp>
        <p:nvSpPr>
          <p:cNvPr id="4" name="">
            <a:extLst xmlns:a="http://schemas.openxmlformats.org/drawingml/2006/main">
              <a:ext uri="{FF2B5EF4-FFF2-40B4-BE49-F238E27FC236}">
                <a16:creationId xmlns:a16="http://schemas.microsoft.com/office/drawing/2014/main" id="{5AD9ECF7-67CA-4BAE-A881-28DB86D6098B}"/>
              </a:ext>
            </a:extLst>
          </p:cNvPr>
          <p:cNvSpPr>
            <a:spLocks xmlns:a="http://schemas.openxmlformats.org/drawingml/2006/main" noGrp="1"/>
          </p:cNvSpPr>
          <p:nvPr/>
        </p:nvSpPr>
        <p:spPr>
          <a:xfrm xmlns:a="http://schemas.openxmlformats.org/drawingml/2006/main">
            <a:off x="457200" y="65246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253E55"/>
                </a:solidFill>
                <a:latin typeface="Segoe UI"/>
                <a:ea typeface="Segoe UI"/>
                <a:cs typeface="Segoe UI"/>
              </a:defRPr>
            </a:pPr>
            <a:r>
              <a:rPr sz="900" b="0">
                <a:solidFill>
                  <a:srgbClr val="253E55"/>
                </a:solidFill>
                <a:latin typeface="Segoe UI"/>
                <a:ea typeface="Segoe UI"/>
                <a:cs typeface="Segoe UI"/>
              </a:rPr>
              <a:t>CITI VENDOR DECISION INTELLIGENCE  /  SOURCE-TO-TARGET DESIGN</a:t>
            </a:r>
          </a:p>
        </p:txBody>
      </p:sp>
      <p:sp>
        <p:nvSpPr>
          <p:cNvPr id="5" name="">
            <a:extLst xmlns:a="http://schemas.openxmlformats.org/drawingml/2006/main">
              <a:ext uri="{FF2B5EF4-FFF2-40B4-BE49-F238E27FC236}">
                <a16:creationId xmlns:a16="http://schemas.microsoft.com/office/drawing/2014/main" id="{49EDA5EA-C871-4F81-B1AD-77FE6585CBD2}"/>
              </a:ext>
            </a:extLst>
          </p:cNvPr>
          <p:cNvSpPr>
            <a:spLocks xmlns:a="http://schemas.openxmlformats.org/drawingml/2006/main" noGrp="1"/>
          </p:cNvSpPr>
          <p:nvPr/>
        </p:nvSpPr>
        <p:spPr>
          <a:xfrm xmlns:a="http://schemas.openxmlformats.org/drawingml/2006/main">
            <a:off x="11401425" y="65246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253E55"/>
                </a:solidFill>
                <a:latin typeface="Segoe UI"/>
                <a:ea typeface="Segoe UI"/>
                <a:cs typeface="Segoe UI"/>
              </a:defRPr>
            </a:pPr>
            <a:r>
              <a:rPr sz="900" b="0">
                <a:solidFill>
                  <a:srgbClr val="253E55"/>
                </a:solidFill>
                <a:latin typeface="Segoe UI"/>
                <a:ea typeface="Segoe UI"/>
                <a:cs typeface="Segoe UI"/>
              </a:rPr>
              <a:t>02</a:t>
            </a:r>
          </a:p>
        </p:txBody>
      </p:sp>
      <p:sp>
        <p:nvSpPr>
          <p:cNvPr id="6" name="">
            <a:extLst xmlns:a="http://schemas.openxmlformats.org/drawingml/2006/main">
              <a:ext uri="{FF2B5EF4-FFF2-40B4-BE49-F238E27FC236}">
                <a16:creationId xmlns:a16="http://schemas.microsoft.com/office/drawing/2014/main" id="{68CF039B-82F0-4C77-A0C0-C4FFE686F844}"/>
              </a:ext>
            </a:extLst>
          </p:cNvPr>
          <p:cNvSpPr>
            <a:spLocks xmlns:a="http://schemas.openxmlformats.org/drawingml/2006/main" noGrp="1"/>
          </p:cNvSpPr>
          <p:nvPr/>
        </p:nvSpPr>
        <p:spPr>
          <a:xfrm xmlns:a="http://schemas.openxmlformats.org/drawingml/2006/main">
            <a:off x="457200" y="1514475"/>
            <a:ext cx="2943225"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7" name="">
            <a:extLst xmlns:a="http://schemas.openxmlformats.org/drawingml/2006/main">
              <a:ext uri="{FF2B5EF4-FFF2-40B4-BE49-F238E27FC236}">
                <a16:creationId xmlns:a16="http://schemas.microsoft.com/office/drawing/2014/main" id="{FA578615-9976-46D5-85F7-1ADF601300BA}"/>
              </a:ext>
            </a:extLst>
          </p:cNvPr>
          <p:cNvSpPr>
            <a:spLocks xmlns:a="http://schemas.openxmlformats.org/drawingml/2006/main" noGrp="1"/>
          </p:cNvSpPr>
          <p:nvPr/>
        </p:nvSpPr>
        <p:spPr>
          <a:xfrm xmlns:a="http://schemas.openxmlformats.org/drawingml/2006/main">
            <a:off x="571500" y="1590675"/>
            <a:ext cx="271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TODAY: CLM + file</a:t>
            </a:r>
          </a:p>
        </p:txBody>
      </p:sp>
      <p:sp>
        <p:nvSpPr>
          <p:cNvPr id="8" name="">
            <a:extLst xmlns:a="http://schemas.openxmlformats.org/drawingml/2006/main">
              <a:ext uri="{FF2B5EF4-FFF2-40B4-BE49-F238E27FC236}">
                <a16:creationId xmlns:a16="http://schemas.microsoft.com/office/drawing/2014/main" id="{C1AA1EFC-600C-48FD-BA55-E07A2F625A22}"/>
              </a:ext>
            </a:extLst>
          </p:cNvPr>
          <p:cNvSpPr>
            <a:spLocks xmlns:a="http://schemas.openxmlformats.org/drawingml/2006/main" noGrp="1"/>
          </p:cNvSpPr>
          <p:nvPr/>
        </p:nvSpPr>
        <p:spPr>
          <a:xfrm xmlns:a="http://schemas.openxmlformats.org/drawingml/2006/main">
            <a:off x="571500" y="1914525"/>
            <a:ext cx="2714625"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Contract C-01</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Vendor Alpha</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Expiry and notice dates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Value and currency</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SOW-03 and service references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Signed PDF and amendments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Source permissions and owner</a:t>
            </a:r>
          </a:p>
        </p:txBody>
      </p:sp>
      <p:sp>
        <p:nvSpPr>
          <p:cNvPr id="9" name="">
            <a:extLst xmlns:a="http://schemas.openxmlformats.org/drawingml/2006/main">
              <a:ext uri="{FF2B5EF4-FFF2-40B4-BE49-F238E27FC236}">
                <a16:creationId xmlns:a16="http://schemas.microsoft.com/office/drawing/2014/main" id="{CC4F0925-40FC-46BD-A529-4DFB0283E6AC}"/>
              </a:ext>
            </a:extLst>
          </p:cNvPr>
          <p:cNvSpPr>
            <a:spLocks xmlns:a="http://schemas.openxmlformats.org/drawingml/2006/main" noGrp="1"/>
          </p:cNvSpPr>
          <p:nvPr/>
        </p:nvSpPr>
        <p:spPr>
          <a:xfrm xmlns:a="http://schemas.openxmlformats.org/drawingml/2006/main">
            <a:off x="3524250" y="1895475"/>
            <a:ext cx="228600" cy="19050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744BF62-ABF8-43A2-990A-512ED502D826}"/>
              </a:ext>
            </a:extLst>
          </p:cNvPr>
          <p:cNvSpPr>
            <a:spLocks xmlns:a="http://schemas.openxmlformats.org/drawingml/2006/main" noGrp="1"/>
          </p:cNvSpPr>
          <p:nvPr/>
        </p:nvSpPr>
        <p:spPr>
          <a:xfrm xmlns:a="http://schemas.openxmlformats.org/drawingml/2006/main">
            <a:off x="3876675" y="1514475"/>
            <a:ext cx="3476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1" name="">
            <a:extLst xmlns:a="http://schemas.openxmlformats.org/drawingml/2006/main">
              <a:ext uri="{FF2B5EF4-FFF2-40B4-BE49-F238E27FC236}">
                <a16:creationId xmlns:a16="http://schemas.microsoft.com/office/drawing/2014/main" id="{8EB5FA93-5CE3-4196-B813-6EB7754ADABC}"/>
              </a:ext>
            </a:extLst>
          </p:cNvPr>
          <p:cNvSpPr>
            <a:spLocks xmlns:a="http://schemas.openxmlformats.org/drawingml/2006/main" noGrp="1"/>
          </p:cNvSpPr>
          <p:nvPr/>
        </p:nvSpPr>
        <p:spPr>
          <a:xfrm xmlns:a="http://schemas.openxmlformats.org/drawingml/2006/main">
            <a:off x="3990975" y="1590675"/>
            <a:ext cx="32480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Metadata</a:t>
            </a:r>
          </a:p>
        </p:txBody>
      </p:sp>
      <p:sp>
        <p:nvSpPr>
          <p:cNvPr id="12" name="">
            <a:extLst xmlns:a="http://schemas.openxmlformats.org/drawingml/2006/main">
              <a:ext uri="{FF2B5EF4-FFF2-40B4-BE49-F238E27FC236}">
                <a16:creationId xmlns:a16="http://schemas.microsoft.com/office/drawing/2014/main" id="{B3BAE0F6-EF68-4FA5-926F-E905EFD0D12C}"/>
              </a:ext>
            </a:extLst>
          </p:cNvPr>
          <p:cNvSpPr>
            <a:spLocks xmlns:a="http://schemas.openxmlformats.org/drawingml/2006/main" noGrp="1"/>
          </p:cNvSpPr>
          <p:nvPr/>
        </p:nvSpPr>
        <p:spPr>
          <a:xfrm xmlns:a="http://schemas.openxmlformats.org/drawingml/2006/main">
            <a:off x="3990975" y="1914525"/>
            <a:ext cx="3248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Resolve vendor and active version;</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validate dates, currency and owner.</a:t>
            </a:r>
          </a:p>
        </p:txBody>
      </p:sp>
      <p:sp>
        <p:nvSpPr>
          <p:cNvPr id="13" name="">
            <a:extLst xmlns:a="http://schemas.openxmlformats.org/drawingml/2006/main">
              <a:ext uri="{FF2B5EF4-FFF2-40B4-BE49-F238E27FC236}">
                <a16:creationId xmlns:a16="http://schemas.microsoft.com/office/drawing/2014/main" id="{3AD4E926-FCA5-426C-A253-8863E502863E}"/>
              </a:ext>
            </a:extLst>
          </p:cNvPr>
          <p:cNvSpPr>
            <a:spLocks xmlns:a="http://schemas.openxmlformats.org/drawingml/2006/main" noGrp="1"/>
          </p:cNvSpPr>
          <p:nvPr/>
        </p:nvSpPr>
        <p:spPr>
          <a:xfrm xmlns:a="http://schemas.openxmlformats.org/drawingml/2006/main">
            <a:off x="7477125" y="1895475"/>
            <a:ext cx="228600" cy="19050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C20355-8441-4CF0-B6A3-ED1358172807}"/>
              </a:ext>
            </a:extLst>
          </p:cNvPr>
          <p:cNvSpPr>
            <a:spLocks xmlns:a="http://schemas.openxmlformats.org/drawingml/2006/main" noGrp="1"/>
          </p:cNvSpPr>
          <p:nvPr/>
        </p:nvSpPr>
        <p:spPr>
          <a:xfrm xmlns:a="http://schemas.openxmlformats.org/drawingml/2006/main">
            <a:off x="7820025" y="1514475"/>
            <a:ext cx="3914775" cy="10001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15" name="">
            <a:extLst xmlns:a="http://schemas.openxmlformats.org/drawingml/2006/main">
              <a:ext uri="{FF2B5EF4-FFF2-40B4-BE49-F238E27FC236}">
                <a16:creationId xmlns:a16="http://schemas.microsoft.com/office/drawing/2014/main" id="{F4905AE2-A79A-48DB-9C5D-AC2B943B9A39}"/>
              </a:ext>
            </a:extLst>
          </p:cNvPr>
          <p:cNvSpPr>
            <a:spLocks xmlns:a="http://schemas.openxmlformats.org/drawingml/2006/main" noGrp="1"/>
          </p:cNvSpPr>
          <p:nvPr/>
        </p:nvSpPr>
        <p:spPr>
          <a:xfrm xmlns:a="http://schemas.openxmlformats.org/drawingml/2006/main">
            <a:off x="7934325" y="1590675"/>
            <a:ext cx="3686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SQL / contract table</a:t>
            </a:r>
          </a:p>
        </p:txBody>
      </p:sp>
      <p:sp>
        <p:nvSpPr>
          <p:cNvPr id="16" name="">
            <a:extLst xmlns:a="http://schemas.openxmlformats.org/drawingml/2006/main">
              <a:ext uri="{FF2B5EF4-FFF2-40B4-BE49-F238E27FC236}">
                <a16:creationId xmlns:a16="http://schemas.microsoft.com/office/drawing/2014/main" id="{49A29342-BA1C-4CAA-A66B-07B9922FADDC}"/>
              </a:ext>
            </a:extLst>
          </p:cNvPr>
          <p:cNvSpPr>
            <a:spLocks xmlns:a="http://schemas.openxmlformats.org/drawingml/2006/main" noGrp="1"/>
          </p:cNvSpPr>
          <p:nvPr/>
        </p:nvSpPr>
        <p:spPr>
          <a:xfrm xmlns:a="http://schemas.openxmlformats.org/drawingml/2006/main">
            <a:off x="7934325" y="1914525"/>
            <a:ext cx="36861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Dates, value and source version</a:t>
            </a:r>
          </a:p>
        </p:txBody>
      </p:sp>
      <p:sp>
        <p:nvSpPr>
          <p:cNvPr id="17" name="">
            <a:extLst xmlns:a="http://schemas.openxmlformats.org/drawingml/2006/main">
              <a:ext uri="{FF2B5EF4-FFF2-40B4-BE49-F238E27FC236}">
                <a16:creationId xmlns:a16="http://schemas.microsoft.com/office/drawing/2014/main" id="{39C5CBC8-2104-49D2-A513-389190FF7C6A}"/>
              </a:ext>
            </a:extLst>
          </p:cNvPr>
          <p:cNvSpPr>
            <a:spLocks xmlns:a="http://schemas.openxmlformats.org/drawingml/2006/main" noGrp="1"/>
          </p:cNvSpPr>
          <p:nvPr/>
        </p:nvSpPr>
        <p:spPr>
          <a:xfrm xmlns:a="http://schemas.openxmlformats.org/drawingml/2006/main">
            <a:off x="3524250" y="3000375"/>
            <a:ext cx="228600" cy="19050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648033-C662-402E-B82E-0CB250F6E14C}"/>
              </a:ext>
            </a:extLst>
          </p:cNvPr>
          <p:cNvSpPr>
            <a:spLocks xmlns:a="http://schemas.openxmlformats.org/drawingml/2006/main" noGrp="1"/>
          </p:cNvSpPr>
          <p:nvPr/>
        </p:nvSpPr>
        <p:spPr>
          <a:xfrm xmlns:a="http://schemas.openxmlformats.org/drawingml/2006/main">
            <a:off x="3876675" y="2619375"/>
            <a:ext cx="3476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9" name="">
            <a:extLst xmlns:a="http://schemas.openxmlformats.org/drawingml/2006/main">
              <a:ext uri="{FF2B5EF4-FFF2-40B4-BE49-F238E27FC236}">
                <a16:creationId xmlns:a16="http://schemas.microsoft.com/office/drawing/2014/main" id="{16C090AA-ACC2-4FCD-8905-40F2DC0A7A07}"/>
              </a:ext>
            </a:extLst>
          </p:cNvPr>
          <p:cNvSpPr>
            <a:spLocks xmlns:a="http://schemas.openxmlformats.org/drawingml/2006/main" noGrp="1"/>
          </p:cNvSpPr>
          <p:nvPr/>
        </p:nvSpPr>
        <p:spPr>
          <a:xfrm xmlns:a="http://schemas.openxmlformats.org/drawingml/2006/main">
            <a:off x="3990975" y="2695575"/>
            <a:ext cx="32480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Relationships</a:t>
            </a:r>
          </a:p>
        </p:txBody>
      </p:sp>
      <p:sp>
        <p:nvSpPr>
          <p:cNvPr id="20" name="">
            <a:extLst xmlns:a="http://schemas.openxmlformats.org/drawingml/2006/main">
              <a:ext uri="{FF2B5EF4-FFF2-40B4-BE49-F238E27FC236}">
                <a16:creationId xmlns:a16="http://schemas.microsoft.com/office/drawing/2014/main" id="{EF351FFC-3D20-4D87-9009-4D7784EF5E06}"/>
              </a:ext>
            </a:extLst>
          </p:cNvPr>
          <p:cNvSpPr>
            <a:spLocks xmlns:a="http://schemas.openxmlformats.org/drawingml/2006/main" noGrp="1"/>
          </p:cNvSpPr>
          <p:nvPr/>
        </p:nvSpPr>
        <p:spPr>
          <a:xfrm xmlns:a="http://schemas.openxmlformats.org/drawingml/2006/main">
            <a:off x="3990975" y="3019425"/>
            <a:ext cx="3248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Validate SOW/service/app references;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retain evidence and effective dates.</a:t>
            </a:r>
          </a:p>
        </p:txBody>
      </p:sp>
      <p:sp>
        <p:nvSpPr>
          <p:cNvPr id="21" name="">
            <a:extLst xmlns:a="http://schemas.openxmlformats.org/drawingml/2006/main">
              <a:ext uri="{FF2B5EF4-FFF2-40B4-BE49-F238E27FC236}">
                <a16:creationId xmlns:a16="http://schemas.microsoft.com/office/drawing/2014/main" id="{1C025638-D1F6-4C56-99AE-FBBA3ED8AB4E}"/>
              </a:ext>
            </a:extLst>
          </p:cNvPr>
          <p:cNvSpPr>
            <a:spLocks xmlns:a="http://schemas.openxmlformats.org/drawingml/2006/main" noGrp="1"/>
          </p:cNvSpPr>
          <p:nvPr/>
        </p:nvSpPr>
        <p:spPr>
          <a:xfrm xmlns:a="http://schemas.openxmlformats.org/drawingml/2006/main">
            <a:off x="7477125" y="3000375"/>
            <a:ext cx="228600" cy="19050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A1A83F4-81DF-48F8-B4BE-7897AA09A29B}"/>
              </a:ext>
            </a:extLst>
          </p:cNvPr>
          <p:cNvSpPr>
            <a:spLocks xmlns:a="http://schemas.openxmlformats.org/drawingml/2006/main" noGrp="1"/>
          </p:cNvSpPr>
          <p:nvPr/>
        </p:nvSpPr>
        <p:spPr>
          <a:xfrm xmlns:a="http://schemas.openxmlformats.org/drawingml/2006/main">
            <a:off x="7820025" y="2619375"/>
            <a:ext cx="3914775" cy="10001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23" name="">
            <a:extLst xmlns:a="http://schemas.openxmlformats.org/drawingml/2006/main">
              <a:ext uri="{FF2B5EF4-FFF2-40B4-BE49-F238E27FC236}">
                <a16:creationId xmlns:a16="http://schemas.microsoft.com/office/drawing/2014/main" id="{65285DCE-FB0E-432E-A808-0D5BCEAC7FE3}"/>
              </a:ext>
            </a:extLst>
          </p:cNvPr>
          <p:cNvSpPr>
            <a:spLocks xmlns:a="http://schemas.openxmlformats.org/drawingml/2006/main" noGrp="1"/>
          </p:cNvSpPr>
          <p:nvPr/>
        </p:nvSpPr>
        <p:spPr>
          <a:xfrm xmlns:a="http://schemas.openxmlformats.org/drawingml/2006/main">
            <a:off x="7934325" y="2695575"/>
            <a:ext cx="3686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Graph / dependency edges</a:t>
            </a:r>
          </a:p>
        </p:txBody>
      </p:sp>
      <p:sp>
        <p:nvSpPr>
          <p:cNvPr id="24" name="">
            <a:extLst xmlns:a="http://schemas.openxmlformats.org/drawingml/2006/main">
              <a:ext uri="{FF2B5EF4-FFF2-40B4-BE49-F238E27FC236}">
                <a16:creationId xmlns:a16="http://schemas.microsoft.com/office/drawing/2014/main" id="{E9191B6A-B5A5-42A7-8492-6943A13A9198}"/>
              </a:ext>
            </a:extLst>
          </p:cNvPr>
          <p:cNvSpPr>
            <a:spLocks xmlns:a="http://schemas.openxmlformats.org/drawingml/2006/main" noGrp="1"/>
          </p:cNvSpPr>
          <p:nvPr/>
        </p:nvSpPr>
        <p:spPr>
          <a:xfrm xmlns:a="http://schemas.openxmlformats.org/drawingml/2006/main">
            <a:off x="7934325" y="3019425"/>
            <a:ext cx="36861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Vendor HAS Contract; Contract HAS SOW</a:t>
            </a:r>
          </a:p>
        </p:txBody>
      </p:sp>
      <p:sp>
        <p:nvSpPr>
          <p:cNvPr id="25" name="">
            <a:extLst xmlns:a="http://schemas.openxmlformats.org/drawingml/2006/main">
              <a:ext uri="{FF2B5EF4-FFF2-40B4-BE49-F238E27FC236}">
                <a16:creationId xmlns:a16="http://schemas.microsoft.com/office/drawing/2014/main" id="{8B8A1BCE-F7B2-4897-8B88-81CE5A12254F}"/>
              </a:ext>
            </a:extLst>
          </p:cNvPr>
          <p:cNvSpPr>
            <a:spLocks xmlns:a="http://schemas.openxmlformats.org/drawingml/2006/main" noGrp="1"/>
          </p:cNvSpPr>
          <p:nvPr/>
        </p:nvSpPr>
        <p:spPr>
          <a:xfrm xmlns:a="http://schemas.openxmlformats.org/drawingml/2006/main">
            <a:off x="3524250" y="4105275"/>
            <a:ext cx="228600" cy="19050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CF61065-7CC9-44EB-9E47-3BB5D4DAE105}"/>
              </a:ext>
            </a:extLst>
          </p:cNvPr>
          <p:cNvSpPr>
            <a:spLocks xmlns:a="http://schemas.openxmlformats.org/drawingml/2006/main" noGrp="1"/>
          </p:cNvSpPr>
          <p:nvPr/>
        </p:nvSpPr>
        <p:spPr>
          <a:xfrm xmlns:a="http://schemas.openxmlformats.org/drawingml/2006/main">
            <a:off x="3876675" y="3724275"/>
            <a:ext cx="3476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7" name="">
            <a:extLst xmlns:a="http://schemas.openxmlformats.org/drawingml/2006/main">
              <a:ext uri="{FF2B5EF4-FFF2-40B4-BE49-F238E27FC236}">
                <a16:creationId xmlns:a16="http://schemas.microsoft.com/office/drawing/2014/main" id="{28ECFA35-984C-4589-8A13-A367FA5D1C77}"/>
              </a:ext>
            </a:extLst>
          </p:cNvPr>
          <p:cNvSpPr>
            <a:spLocks xmlns:a="http://schemas.openxmlformats.org/drawingml/2006/main" noGrp="1"/>
          </p:cNvSpPr>
          <p:nvPr/>
        </p:nvSpPr>
        <p:spPr>
          <a:xfrm xmlns:a="http://schemas.openxmlformats.org/drawingml/2006/main">
            <a:off x="3990975" y="3800475"/>
            <a:ext cx="32480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Clause text</a:t>
            </a:r>
          </a:p>
        </p:txBody>
      </p:sp>
      <p:sp>
        <p:nvSpPr>
          <p:cNvPr id="28" name="">
            <a:extLst xmlns:a="http://schemas.openxmlformats.org/drawingml/2006/main">
              <a:ext uri="{FF2B5EF4-FFF2-40B4-BE49-F238E27FC236}">
                <a16:creationId xmlns:a16="http://schemas.microsoft.com/office/drawing/2014/main" id="{C667B06C-07AF-47AF-90A2-035900FAE1B8}"/>
              </a:ext>
            </a:extLst>
          </p:cNvPr>
          <p:cNvSpPr>
            <a:spLocks xmlns:a="http://schemas.openxmlformats.org/drawingml/2006/main" noGrp="1"/>
          </p:cNvSpPr>
          <p:nvPr/>
        </p:nvSpPr>
        <p:spPr>
          <a:xfrm xmlns:a="http://schemas.openxmlformats.org/drawingml/2006/main">
            <a:off x="3990975" y="4124325"/>
            <a:ext cx="3248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OCR if needed; extract and review;</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chunk by clause and inherit ACLs.</a:t>
            </a:r>
          </a:p>
        </p:txBody>
      </p:sp>
      <p:sp>
        <p:nvSpPr>
          <p:cNvPr id="29" name="">
            <a:extLst xmlns:a="http://schemas.openxmlformats.org/drawingml/2006/main">
              <a:ext uri="{FF2B5EF4-FFF2-40B4-BE49-F238E27FC236}">
                <a16:creationId xmlns:a16="http://schemas.microsoft.com/office/drawing/2014/main" id="{2312A163-3761-4FFD-8FDD-866D62ABEC4A}"/>
              </a:ext>
            </a:extLst>
          </p:cNvPr>
          <p:cNvSpPr>
            <a:spLocks xmlns:a="http://schemas.openxmlformats.org/drawingml/2006/main" noGrp="1"/>
          </p:cNvSpPr>
          <p:nvPr/>
        </p:nvSpPr>
        <p:spPr>
          <a:xfrm xmlns:a="http://schemas.openxmlformats.org/drawingml/2006/main">
            <a:off x="7477125" y="4105275"/>
            <a:ext cx="228600" cy="19050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741313D-C743-4A99-885C-196B6326D630}"/>
              </a:ext>
            </a:extLst>
          </p:cNvPr>
          <p:cNvSpPr>
            <a:spLocks xmlns:a="http://schemas.openxmlformats.org/drawingml/2006/main" noGrp="1"/>
          </p:cNvSpPr>
          <p:nvPr/>
        </p:nvSpPr>
        <p:spPr>
          <a:xfrm xmlns:a="http://schemas.openxmlformats.org/drawingml/2006/main">
            <a:off x="7820025" y="3724275"/>
            <a:ext cx="3914775" cy="10001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31" name="">
            <a:extLst xmlns:a="http://schemas.openxmlformats.org/drawingml/2006/main">
              <a:ext uri="{FF2B5EF4-FFF2-40B4-BE49-F238E27FC236}">
                <a16:creationId xmlns:a16="http://schemas.microsoft.com/office/drawing/2014/main" id="{D4225146-7984-49B9-B26A-1BB1D8A26D77}"/>
              </a:ext>
            </a:extLst>
          </p:cNvPr>
          <p:cNvSpPr>
            <a:spLocks xmlns:a="http://schemas.openxmlformats.org/drawingml/2006/main" noGrp="1"/>
          </p:cNvSpPr>
          <p:nvPr/>
        </p:nvSpPr>
        <p:spPr>
          <a:xfrm xmlns:a="http://schemas.openxmlformats.org/drawingml/2006/main">
            <a:off x="7934325" y="3800475"/>
            <a:ext cx="3686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Document / retrieval index</a:t>
            </a:r>
          </a:p>
        </p:txBody>
      </p:sp>
      <p:sp>
        <p:nvSpPr>
          <p:cNvPr id="32" name="">
            <a:extLst xmlns:a="http://schemas.openxmlformats.org/drawingml/2006/main">
              <a:ext uri="{FF2B5EF4-FFF2-40B4-BE49-F238E27FC236}">
                <a16:creationId xmlns:a16="http://schemas.microsoft.com/office/drawing/2014/main" id="{A86978D6-08E7-4707-B81F-6D51DAEACE5F}"/>
              </a:ext>
            </a:extLst>
          </p:cNvPr>
          <p:cNvSpPr>
            <a:spLocks xmlns:a="http://schemas.openxmlformats.org/drawingml/2006/main" noGrp="1"/>
          </p:cNvSpPr>
          <p:nvPr/>
        </p:nvSpPr>
        <p:spPr>
          <a:xfrm xmlns:a="http://schemas.openxmlformats.org/drawingml/2006/main">
            <a:off x="7934325" y="4124325"/>
            <a:ext cx="36861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Passage + file/page/section reference</a:t>
            </a:r>
          </a:p>
        </p:txBody>
      </p:sp>
      <p:sp>
        <p:nvSpPr>
          <p:cNvPr id="33" name="">
            <a:extLst xmlns:a="http://schemas.openxmlformats.org/drawingml/2006/main">
              <a:ext uri="{FF2B5EF4-FFF2-40B4-BE49-F238E27FC236}">
                <a16:creationId xmlns:a16="http://schemas.microsoft.com/office/drawing/2014/main" id="{4218B648-D42B-4DE2-B381-35A54C45A47E}"/>
              </a:ext>
            </a:extLst>
          </p:cNvPr>
          <p:cNvSpPr>
            <a:spLocks xmlns:a="http://schemas.openxmlformats.org/drawingml/2006/main" noGrp="1"/>
          </p:cNvSpPr>
          <p:nvPr/>
        </p:nvSpPr>
        <p:spPr>
          <a:xfrm xmlns:a="http://schemas.openxmlformats.org/drawingml/2006/main">
            <a:off x="3524250" y="5210175"/>
            <a:ext cx="228600" cy="19050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A8DD4E5-B1D0-470D-9F24-7BDD50ABA229}"/>
              </a:ext>
            </a:extLst>
          </p:cNvPr>
          <p:cNvSpPr>
            <a:spLocks xmlns:a="http://schemas.openxmlformats.org/drawingml/2006/main" noGrp="1"/>
          </p:cNvSpPr>
          <p:nvPr/>
        </p:nvSpPr>
        <p:spPr>
          <a:xfrm xmlns:a="http://schemas.openxmlformats.org/drawingml/2006/main">
            <a:off x="3876675" y="4829175"/>
            <a:ext cx="3476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35" name="">
            <a:extLst xmlns:a="http://schemas.openxmlformats.org/drawingml/2006/main">
              <a:ext uri="{FF2B5EF4-FFF2-40B4-BE49-F238E27FC236}">
                <a16:creationId xmlns:a16="http://schemas.microsoft.com/office/drawing/2014/main" id="{154AFD17-58C0-4515-99F6-7D11CF6F4850}"/>
              </a:ext>
            </a:extLst>
          </p:cNvPr>
          <p:cNvSpPr>
            <a:spLocks xmlns:a="http://schemas.openxmlformats.org/drawingml/2006/main" noGrp="1"/>
          </p:cNvSpPr>
          <p:nvPr/>
        </p:nvSpPr>
        <p:spPr>
          <a:xfrm xmlns:a="http://schemas.openxmlformats.org/drawingml/2006/main">
            <a:off x="3990975" y="4905375"/>
            <a:ext cx="32480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Signed original</a:t>
            </a:r>
          </a:p>
        </p:txBody>
      </p:sp>
      <p:sp>
        <p:nvSpPr>
          <p:cNvPr id="36" name="">
            <a:extLst xmlns:a="http://schemas.openxmlformats.org/drawingml/2006/main">
              <a:ext uri="{FF2B5EF4-FFF2-40B4-BE49-F238E27FC236}">
                <a16:creationId xmlns:a16="http://schemas.microsoft.com/office/drawing/2014/main" id="{9D94FA87-6F8A-4FD0-BB85-5D6F453C2521}"/>
              </a:ext>
            </a:extLst>
          </p:cNvPr>
          <p:cNvSpPr>
            <a:spLocks xmlns:a="http://schemas.openxmlformats.org/drawingml/2006/main" noGrp="1"/>
          </p:cNvSpPr>
          <p:nvPr/>
        </p:nvSpPr>
        <p:spPr>
          <a:xfrm xmlns:a="http://schemas.openxmlformats.org/drawingml/2006/main">
            <a:off x="3990975" y="5229225"/>
            <a:ext cx="3248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Preserve exact version or secure link;</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record checksum and access policy.</a:t>
            </a:r>
          </a:p>
        </p:txBody>
      </p:sp>
      <p:sp>
        <p:nvSpPr>
          <p:cNvPr id="37" name="">
            <a:extLst xmlns:a="http://schemas.openxmlformats.org/drawingml/2006/main">
              <a:ext uri="{FF2B5EF4-FFF2-40B4-BE49-F238E27FC236}">
                <a16:creationId xmlns:a16="http://schemas.microsoft.com/office/drawing/2014/main" id="{30D68429-2A08-47FD-9398-1EF367E8040A}"/>
              </a:ext>
            </a:extLst>
          </p:cNvPr>
          <p:cNvSpPr>
            <a:spLocks xmlns:a="http://schemas.openxmlformats.org/drawingml/2006/main" noGrp="1"/>
          </p:cNvSpPr>
          <p:nvPr/>
        </p:nvSpPr>
        <p:spPr>
          <a:xfrm xmlns:a="http://schemas.openxmlformats.org/drawingml/2006/main">
            <a:off x="7477125" y="5210175"/>
            <a:ext cx="228600" cy="19050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4447E98-07B3-422A-A3D2-24ECD3412C3E}"/>
              </a:ext>
            </a:extLst>
          </p:cNvPr>
          <p:cNvSpPr>
            <a:spLocks xmlns:a="http://schemas.openxmlformats.org/drawingml/2006/main" noGrp="1"/>
          </p:cNvSpPr>
          <p:nvPr/>
        </p:nvSpPr>
        <p:spPr>
          <a:xfrm xmlns:a="http://schemas.openxmlformats.org/drawingml/2006/main">
            <a:off x="7820025" y="4829175"/>
            <a:ext cx="3914775" cy="1000125"/>
          </a:xfrm>
          <a:prstGeom xmlns:a="http://schemas.openxmlformats.org/drawingml/2006/main" prst="rect">
            <a:avLst/>
          </a:prstGeom>
          <a:solidFill xmlns:a="http://schemas.openxmlformats.org/drawingml/2006/main">
            <a:srgbClr val="FFF1E5"/>
          </a:solidFill>
          <a:ln xmlns:a="http://schemas.openxmlformats.org/drawingml/2006/main" w="9525">
            <a:solidFill>
              <a:srgbClr val="B8C7D9"/>
            </a:solidFill>
          </a:ln>
        </p:spPr>
      </p:sp>
      <p:sp>
        <p:nvSpPr>
          <p:cNvPr id="39" name="">
            <a:extLst xmlns:a="http://schemas.openxmlformats.org/drawingml/2006/main">
              <a:ext uri="{FF2B5EF4-FFF2-40B4-BE49-F238E27FC236}">
                <a16:creationId xmlns:a16="http://schemas.microsoft.com/office/drawing/2014/main" id="{DE18DC71-09E6-4177-8536-84435E95B28A}"/>
              </a:ext>
            </a:extLst>
          </p:cNvPr>
          <p:cNvSpPr>
            <a:spLocks xmlns:a="http://schemas.openxmlformats.org/drawingml/2006/main" noGrp="1"/>
          </p:cNvSpPr>
          <p:nvPr/>
        </p:nvSpPr>
        <p:spPr>
          <a:xfrm xmlns:a="http://schemas.openxmlformats.org/drawingml/2006/main">
            <a:off x="7934325" y="4905375"/>
            <a:ext cx="3686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B1F3A"/>
                </a:solidFill>
                <a:latin typeface="Segoe UI"/>
                <a:ea typeface="Segoe UI"/>
                <a:cs typeface="Segoe UI"/>
              </a:defRPr>
            </a:pPr>
            <a:r>
              <a:rPr sz="1575" b="1">
                <a:solidFill>
                  <a:srgbClr val="0B1F3A"/>
                </a:solidFill>
                <a:latin typeface="Segoe UI"/>
                <a:ea typeface="Segoe UI"/>
                <a:cs typeface="Segoe UI"/>
              </a:rPr>
              <a:t>Original-document viewer</a:t>
            </a:r>
          </a:p>
        </p:txBody>
      </p:sp>
      <p:sp>
        <p:nvSpPr>
          <p:cNvPr id="40" name="">
            <a:extLst xmlns:a="http://schemas.openxmlformats.org/drawingml/2006/main">
              <a:ext uri="{FF2B5EF4-FFF2-40B4-BE49-F238E27FC236}">
                <a16:creationId xmlns:a16="http://schemas.microsoft.com/office/drawing/2014/main" id="{D3E020B0-4284-4E59-86E2-7C69753C3560}"/>
              </a:ext>
            </a:extLst>
          </p:cNvPr>
          <p:cNvSpPr>
            <a:spLocks xmlns:a="http://schemas.openxmlformats.org/drawingml/2006/main" noGrp="1"/>
          </p:cNvSpPr>
          <p:nvPr/>
        </p:nvSpPr>
        <p:spPr>
          <a:xfrm xmlns:a="http://schemas.openxmlformats.org/drawingml/2006/main">
            <a:off x="7934325" y="5229225"/>
            <a:ext cx="36861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Authorized reviewer opens the source</a:t>
            </a:r>
          </a:p>
        </p:txBody>
      </p:sp>
      <p:sp>
        <p:nvSpPr>
          <p:cNvPr id="41" name="">
            <a:extLst xmlns:a="http://schemas.openxmlformats.org/drawingml/2006/main">
              <a:ext uri="{FF2B5EF4-FFF2-40B4-BE49-F238E27FC236}">
                <a16:creationId xmlns:a16="http://schemas.microsoft.com/office/drawing/2014/main" id="{FEC71CC8-23A1-4B94-8DF7-A4FD37B6227E}"/>
              </a:ext>
            </a:extLst>
          </p:cNvPr>
          <p:cNvSpPr>
            <a:spLocks xmlns:a="http://schemas.openxmlformats.org/drawingml/2006/main" noGrp="1"/>
          </p:cNvSpPr>
          <p:nvPr/>
        </p:nvSpPr>
        <p:spPr>
          <a:xfrm xmlns:a="http://schemas.openxmlformats.org/drawingml/2006/main">
            <a:off x="457200" y="6029325"/>
            <a:ext cx="11277600" cy="352425"/>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42" name="">
            <a:extLst xmlns:a="http://schemas.openxmlformats.org/drawingml/2006/main">
              <a:ext uri="{FF2B5EF4-FFF2-40B4-BE49-F238E27FC236}">
                <a16:creationId xmlns:a16="http://schemas.microsoft.com/office/drawing/2014/main" id="{F13650A3-D477-4A2E-BD13-D329DC090185}"/>
              </a:ext>
            </a:extLst>
          </p:cNvPr>
          <p:cNvSpPr>
            <a:spLocks xmlns:a="http://schemas.openxmlformats.org/drawingml/2006/main" noGrp="1"/>
          </p:cNvSpPr>
          <p:nvPr/>
        </p:nvSpPr>
        <p:spPr>
          <a:xfrm xmlns:a="http://schemas.openxmlformats.org/drawingml/2006/main">
            <a:off x="571500" y="60769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Semantic definitions make “expiring”, “active contract” and “dependency” consistent. Extracted clauses require human review.</a:t>
            </a:r>
          </a:p>
        </p:txBody>
      </p:sp>
    </p:spTree>
    <p:extLst>
      <p:ext uri="{BB962C8B-B14F-4D97-AF65-F5344CB8AC3E}">
        <p14:creationId xmlns:p14="http://schemas.microsoft.com/office/powerpoint/2010/main" val="1170513856"/>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4CE09C8-3AF2-49B2-A43F-47787B645EA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2" name="">
            <a:extLst xmlns:a="http://schemas.openxmlformats.org/drawingml/2006/main">
              <a:ext uri="{FF2B5EF4-FFF2-40B4-BE49-F238E27FC236}">
                <a16:creationId xmlns:a16="http://schemas.microsoft.com/office/drawing/2014/main" id="{1F4BC080-FC44-4676-86E4-5B3400B7FC09}"/>
              </a:ext>
            </a:extLst>
          </p:cNvPr>
          <p:cNvSpPr>
            <a:spLocks xmlns:a="http://schemas.openxmlformats.org/drawingml/2006/main" noGrp="1"/>
          </p:cNvSpPr>
          <p:nvPr/>
        </p:nvSpPr>
        <p:spPr>
          <a:xfrm xmlns:a="http://schemas.openxmlformats.org/drawingml/2006/main">
            <a:off x="457200" y="333375"/>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B1F3A"/>
                </a:solidFill>
                <a:latin typeface="Segoe UI"/>
                <a:ea typeface="Segoe UI"/>
                <a:cs typeface="Segoe UI"/>
              </a:defRPr>
            </a:pPr>
            <a:r>
              <a:rPr sz="2550" b="1">
                <a:solidFill>
                  <a:srgbClr val="0B1F3A"/>
                </a:solidFill>
                <a:latin typeface="Segoe UI"/>
                <a:ea typeface="Segoe UI"/>
                <a:cs typeface="Segoe UI"/>
              </a:rPr>
              <a:t>Consumption: copied facts, projected links and original evidence</a:t>
            </a:r>
          </a:p>
        </p:txBody>
      </p:sp>
      <p:sp>
        <p:nvSpPr>
          <p:cNvPr id="3" name="">
            <a:extLst xmlns:a="http://schemas.openxmlformats.org/drawingml/2006/main">
              <a:ext uri="{FF2B5EF4-FFF2-40B4-BE49-F238E27FC236}">
                <a16:creationId xmlns:a16="http://schemas.microsoft.com/office/drawing/2014/main" id="{4E90A9FD-9044-450A-B202-979729CF9B3D}"/>
              </a:ext>
            </a:extLst>
          </p:cNvPr>
          <p:cNvSpPr>
            <a:spLocks xmlns:a="http://schemas.openxmlformats.org/drawingml/2006/main" noGrp="1"/>
          </p:cNvSpPr>
          <p:nvPr/>
        </p:nvSpPr>
        <p:spPr>
          <a:xfrm xmlns:a="http://schemas.openxmlformats.org/drawingml/2006/main">
            <a:off x="466725" y="876300"/>
            <a:ext cx="1123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253E55"/>
                </a:solidFill>
                <a:latin typeface="Segoe UI"/>
                <a:ea typeface="Segoe UI"/>
                <a:cs typeface="Segoe UI"/>
              </a:defRPr>
            </a:pPr>
            <a:r>
              <a:rPr sz="1350" b="0">
                <a:solidFill>
                  <a:srgbClr val="253E55"/>
                </a:solidFill>
                <a:latin typeface="Segoe UI"/>
                <a:ea typeface="Segoe UI"/>
                <a:cs typeface="Segoe UI"/>
              </a:rPr>
              <a:t>Choose a route by the question. All routes enforce authorization, provenance, freshness and the applicable semantic rules.</a:t>
            </a:r>
          </a:p>
        </p:txBody>
      </p:sp>
      <p:sp>
        <p:nvSpPr>
          <p:cNvPr id="4" name="">
            <a:extLst xmlns:a="http://schemas.openxmlformats.org/drawingml/2006/main">
              <a:ext uri="{FF2B5EF4-FFF2-40B4-BE49-F238E27FC236}">
                <a16:creationId xmlns:a16="http://schemas.microsoft.com/office/drawing/2014/main" id="{29E28F17-FBB0-4025-A289-6A3B384F9A5D}"/>
              </a:ext>
            </a:extLst>
          </p:cNvPr>
          <p:cNvSpPr>
            <a:spLocks xmlns:a="http://schemas.openxmlformats.org/drawingml/2006/main" noGrp="1"/>
          </p:cNvSpPr>
          <p:nvPr/>
        </p:nvSpPr>
        <p:spPr>
          <a:xfrm xmlns:a="http://schemas.openxmlformats.org/drawingml/2006/main">
            <a:off x="457200" y="65246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253E55"/>
                </a:solidFill>
                <a:latin typeface="Segoe UI"/>
                <a:ea typeface="Segoe UI"/>
                <a:cs typeface="Segoe UI"/>
              </a:defRPr>
            </a:pPr>
            <a:r>
              <a:rPr sz="900" b="0">
                <a:solidFill>
                  <a:srgbClr val="253E55"/>
                </a:solidFill>
                <a:latin typeface="Segoe UI"/>
                <a:ea typeface="Segoe UI"/>
                <a:cs typeface="Segoe UI"/>
              </a:rPr>
              <a:t>CITI VENDOR DECISION INTELLIGENCE  /  SOURCE-TO-TARGET DESIGN</a:t>
            </a:r>
          </a:p>
        </p:txBody>
      </p:sp>
      <p:sp>
        <p:nvSpPr>
          <p:cNvPr id="5" name="">
            <a:extLst xmlns:a="http://schemas.openxmlformats.org/drawingml/2006/main">
              <a:ext uri="{FF2B5EF4-FFF2-40B4-BE49-F238E27FC236}">
                <a16:creationId xmlns:a16="http://schemas.microsoft.com/office/drawing/2014/main" id="{87FBE3E1-4F4B-40A8-A02C-FDF5B6123A64}"/>
              </a:ext>
            </a:extLst>
          </p:cNvPr>
          <p:cNvSpPr>
            <a:spLocks xmlns:a="http://schemas.openxmlformats.org/drawingml/2006/main" noGrp="1"/>
          </p:cNvSpPr>
          <p:nvPr/>
        </p:nvSpPr>
        <p:spPr>
          <a:xfrm xmlns:a="http://schemas.openxmlformats.org/drawingml/2006/main">
            <a:off x="11401425" y="65246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253E55"/>
                </a:solidFill>
                <a:latin typeface="Segoe UI"/>
                <a:ea typeface="Segoe UI"/>
                <a:cs typeface="Segoe UI"/>
              </a:defRPr>
            </a:pPr>
            <a:r>
              <a:rPr sz="900" b="0">
                <a:solidFill>
                  <a:srgbClr val="253E55"/>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2723FC1E-BBB0-4983-B48C-8256D98FC9D4}"/>
              </a:ext>
            </a:extLst>
          </p:cNvPr>
          <p:cNvSpPr>
            <a:spLocks xmlns:a="http://schemas.openxmlformats.org/drawingml/2006/main" noGrp="1"/>
          </p:cNvSpPr>
          <p:nvPr/>
        </p:nvSpPr>
        <p:spPr>
          <a:xfrm xmlns:a="http://schemas.openxmlformats.org/drawingml/2006/main">
            <a:off x="457200" y="1457325"/>
            <a:ext cx="2857500" cy="381000"/>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7" name="">
            <a:extLst xmlns:a="http://schemas.openxmlformats.org/drawingml/2006/main">
              <a:ext uri="{FF2B5EF4-FFF2-40B4-BE49-F238E27FC236}">
                <a16:creationId xmlns:a16="http://schemas.microsoft.com/office/drawing/2014/main" id="{8730C367-D75B-498A-92FB-7CEEA145EACC}"/>
              </a:ext>
            </a:extLst>
          </p:cNvPr>
          <p:cNvSpPr>
            <a:spLocks xmlns:a="http://schemas.openxmlformats.org/drawingml/2006/main" noGrp="1"/>
          </p:cNvSpPr>
          <p:nvPr/>
        </p:nvSpPr>
        <p:spPr>
          <a:xfrm xmlns:a="http://schemas.openxmlformats.org/drawingml/2006/main">
            <a:off x="552450" y="15240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QUESTION / CONSUMER</a:t>
            </a:r>
          </a:p>
        </p:txBody>
      </p:sp>
      <p:sp>
        <p:nvSpPr>
          <p:cNvPr id="8" name="">
            <a:extLst xmlns:a="http://schemas.openxmlformats.org/drawingml/2006/main">
              <a:ext uri="{FF2B5EF4-FFF2-40B4-BE49-F238E27FC236}">
                <a16:creationId xmlns:a16="http://schemas.microsoft.com/office/drawing/2014/main" id="{2173A0C5-C279-44BB-9329-8CBDD6873E6B}"/>
              </a:ext>
            </a:extLst>
          </p:cNvPr>
          <p:cNvSpPr>
            <a:spLocks xmlns:a="http://schemas.openxmlformats.org/drawingml/2006/main" noGrp="1"/>
          </p:cNvSpPr>
          <p:nvPr/>
        </p:nvSpPr>
        <p:spPr>
          <a:xfrm xmlns:a="http://schemas.openxmlformats.org/drawingml/2006/main">
            <a:off x="3552825" y="1457325"/>
            <a:ext cx="3714750" cy="381000"/>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9" name="">
            <a:extLst xmlns:a="http://schemas.openxmlformats.org/drawingml/2006/main">
              <a:ext uri="{FF2B5EF4-FFF2-40B4-BE49-F238E27FC236}">
                <a16:creationId xmlns:a16="http://schemas.microsoft.com/office/drawing/2014/main" id="{E5AF033C-B278-4A72-8C6C-F5EAC9BA7EE8}"/>
              </a:ext>
            </a:extLst>
          </p:cNvPr>
          <p:cNvSpPr>
            <a:spLocks xmlns:a="http://schemas.openxmlformats.org/drawingml/2006/main" noGrp="1"/>
          </p:cNvSpPr>
          <p:nvPr/>
        </p:nvSpPr>
        <p:spPr>
          <a:xfrm xmlns:a="http://schemas.openxmlformats.org/drawingml/2006/main">
            <a:off x="3648075" y="152400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DATA ROUTE</a:t>
            </a:r>
          </a:p>
        </p:txBody>
      </p:sp>
      <p:sp>
        <p:nvSpPr>
          <p:cNvPr id="10" name="">
            <a:extLst xmlns:a="http://schemas.openxmlformats.org/drawingml/2006/main">
              <a:ext uri="{FF2B5EF4-FFF2-40B4-BE49-F238E27FC236}">
                <a16:creationId xmlns:a16="http://schemas.microsoft.com/office/drawing/2014/main" id="{E5B5E4BE-DD2E-4A7D-8CC3-0AA16444A3BD}"/>
              </a:ext>
            </a:extLst>
          </p:cNvPr>
          <p:cNvSpPr>
            <a:spLocks xmlns:a="http://schemas.openxmlformats.org/drawingml/2006/main" noGrp="1"/>
          </p:cNvSpPr>
          <p:nvPr/>
        </p:nvSpPr>
        <p:spPr>
          <a:xfrm xmlns:a="http://schemas.openxmlformats.org/drawingml/2006/main">
            <a:off x="7524750" y="1457325"/>
            <a:ext cx="4210050" cy="381000"/>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11" name="">
            <a:extLst xmlns:a="http://schemas.openxmlformats.org/drawingml/2006/main">
              <a:ext uri="{FF2B5EF4-FFF2-40B4-BE49-F238E27FC236}">
                <a16:creationId xmlns:a16="http://schemas.microsoft.com/office/drawing/2014/main" id="{297DCFDC-F950-4557-91CB-01796F225533}"/>
              </a:ext>
            </a:extLst>
          </p:cNvPr>
          <p:cNvSpPr>
            <a:spLocks xmlns:a="http://schemas.openxmlformats.org/drawingml/2006/main" noGrp="1"/>
          </p:cNvSpPr>
          <p:nvPr/>
        </p:nvSpPr>
        <p:spPr>
          <a:xfrm xmlns:a="http://schemas.openxmlformats.org/drawingml/2006/main">
            <a:off x="7620000" y="1524000"/>
            <a:ext cx="4019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WHAT REACHES THE USER</a:t>
            </a:r>
          </a:p>
        </p:txBody>
      </p:sp>
      <p:sp>
        <p:nvSpPr>
          <p:cNvPr id="12" name="">
            <a:extLst xmlns:a="http://schemas.openxmlformats.org/drawingml/2006/main">
              <a:ext uri="{FF2B5EF4-FFF2-40B4-BE49-F238E27FC236}">
                <a16:creationId xmlns:a16="http://schemas.microsoft.com/office/drawing/2014/main" id="{2287923C-414D-45A0-B1C8-08176223E9CC}"/>
              </a:ext>
            </a:extLst>
          </p:cNvPr>
          <p:cNvSpPr>
            <a:spLocks xmlns:a="http://schemas.openxmlformats.org/drawingml/2006/main" noGrp="1"/>
          </p:cNvSpPr>
          <p:nvPr/>
        </p:nvSpPr>
        <p:spPr>
          <a:xfrm xmlns:a="http://schemas.openxmlformats.org/drawingml/2006/main">
            <a:off x="457200" y="1971675"/>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3" name="">
            <a:extLst xmlns:a="http://schemas.openxmlformats.org/drawingml/2006/main">
              <a:ext uri="{FF2B5EF4-FFF2-40B4-BE49-F238E27FC236}">
                <a16:creationId xmlns:a16="http://schemas.microsoft.com/office/drawing/2014/main" id="{F2F77826-2942-4392-B1E1-0C3272614758}"/>
              </a:ext>
            </a:extLst>
          </p:cNvPr>
          <p:cNvSpPr>
            <a:spLocks xmlns:a="http://schemas.openxmlformats.org/drawingml/2006/main" noGrp="1"/>
          </p:cNvSpPr>
          <p:nvPr/>
        </p:nvSpPr>
        <p:spPr>
          <a:xfrm xmlns:a="http://schemas.openxmlformats.org/drawingml/2006/main">
            <a:off x="571500" y="2085975"/>
            <a:ext cx="262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What did Alpha cost?</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Cockpit / financial agent</a:t>
            </a:r>
          </a:p>
        </p:txBody>
      </p:sp>
      <p:sp>
        <p:nvSpPr>
          <p:cNvPr id="14" name="">
            <a:extLst xmlns:a="http://schemas.openxmlformats.org/drawingml/2006/main">
              <a:ext uri="{FF2B5EF4-FFF2-40B4-BE49-F238E27FC236}">
                <a16:creationId xmlns:a16="http://schemas.microsoft.com/office/drawing/2014/main" id="{FE1C3B81-8F57-4982-AB3B-976F49C1A0C6}"/>
              </a:ext>
            </a:extLst>
          </p:cNvPr>
          <p:cNvSpPr>
            <a:spLocks xmlns:a="http://schemas.openxmlformats.org/drawingml/2006/main" noGrp="1"/>
          </p:cNvSpPr>
          <p:nvPr/>
        </p:nvSpPr>
        <p:spPr>
          <a:xfrm xmlns:a="http://schemas.openxmlformats.org/drawingml/2006/main">
            <a:off x="3552825" y="1971675"/>
            <a:ext cx="3714750" cy="781050"/>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15" name="">
            <a:extLst xmlns:a="http://schemas.openxmlformats.org/drawingml/2006/main">
              <a:ext uri="{FF2B5EF4-FFF2-40B4-BE49-F238E27FC236}">
                <a16:creationId xmlns:a16="http://schemas.microsoft.com/office/drawing/2014/main" id="{7AF7F70E-40B4-4359-AE21-44A307B1D2F3}"/>
              </a:ext>
            </a:extLst>
          </p:cNvPr>
          <p:cNvSpPr>
            <a:spLocks xmlns:a="http://schemas.openxmlformats.org/drawingml/2006/main" noGrp="1"/>
          </p:cNvSpPr>
          <p:nvPr/>
        </p:nvSpPr>
        <p:spPr>
          <a:xfrm xmlns:a="http://schemas.openxmlformats.org/drawingml/2006/main">
            <a:off x="3667125" y="20859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Approved metric request</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SQL / authoritative analytical view</a:t>
            </a:r>
          </a:p>
        </p:txBody>
      </p:sp>
      <p:sp>
        <p:nvSpPr>
          <p:cNvPr id="16" name="">
            <a:extLst xmlns:a="http://schemas.openxmlformats.org/drawingml/2006/main">
              <a:ext uri="{FF2B5EF4-FFF2-40B4-BE49-F238E27FC236}">
                <a16:creationId xmlns:a16="http://schemas.microsoft.com/office/drawing/2014/main" id="{2F05310C-750C-4CEB-BFB1-F6E4651DDF39}"/>
              </a:ext>
            </a:extLst>
          </p:cNvPr>
          <p:cNvSpPr>
            <a:spLocks xmlns:a="http://schemas.openxmlformats.org/drawingml/2006/main" noGrp="1"/>
          </p:cNvSpPr>
          <p:nvPr/>
        </p:nvSpPr>
        <p:spPr>
          <a:xfrm xmlns:a="http://schemas.openxmlformats.org/drawingml/2006/main">
            <a:off x="7524750" y="1971675"/>
            <a:ext cx="42100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7" name="">
            <a:extLst xmlns:a="http://schemas.openxmlformats.org/drawingml/2006/main">
              <a:ext uri="{FF2B5EF4-FFF2-40B4-BE49-F238E27FC236}">
                <a16:creationId xmlns:a16="http://schemas.microsoft.com/office/drawing/2014/main" id="{996723C0-9707-43C3-A2D2-34B633665F82}"/>
              </a:ext>
            </a:extLst>
          </p:cNvPr>
          <p:cNvSpPr>
            <a:spLocks xmlns:a="http://schemas.openxmlformats.org/drawingml/2006/main" noGrp="1"/>
          </p:cNvSpPr>
          <p:nvPr/>
        </p:nvSpPr>
        <p:spPr>
          <a:xfrm xmlns:a="http://schemas.openxmlformats.org/drawingml/2006/main">
            <a:off x="7639050" y="2085975"/>
            <a:ext cx="3981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Exact amount, period, currency,</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formula version and source evidence</a:t>
            </a:r>
          </a:p>
        </p:txBody>
      </p:sp>
      <p:sp>
        <p:nvSpPr>
          <p:cNvPr id="18" name="">
            <a:extLst xmlns:a="http://schemas.openxmlformats.org/drawingml/2006/main">
              <a:ext uri="{FF2B5EF4-FFF2-40B4-BE49-F238E27FC236}">
                <a16:creationId xmlns:a16="http://schemas.microsoft.com/office/drawing/2014/main" id="{4328F98F-158C-4170-A298-0DDC4955F9A3}"/>
              </a:ext>
            </a:extLst>
          </p:cNvPr>
          <p:cNvSpPr>
            <a:spLocks xmlns:a="http://schemas.openxmlformats.org/drawingml/2006/main" noGrp="1"/>
          </p:cNvSpPr>
          <p:nvPr/>
        </p:nvSpPr>
        <p:spPr>
          <a:xfrm xmlns:a="http://schemas.openxmlformats.org/drawingml/2006/main">
            <a:off x="3333750" y="227647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35358E0-B58F-46C9-AFA0-FFED2154D2F7}"/>
              </a:ext>
            </a:extLst>
          </p:cNvPr>
          <p:cNvSpPr>
            <a:spLocks xmlns:a="http://schemas.openxmlformats.org/drawingml/2006/main" noGrp="1"/>
          </p:cNvSpPr>
          <p:nvPr/>
        </p:nvSpPr>
        <p:spPr>
          <a:xfrm xmlns:a="http://schemas.openxmlformats.org/drawingml/2006/main">
            <a:off x="7296150" y="227647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67BD4B0-8E5A-4148-BC90-D5E7187DF62D}"/>
              </a:ext>
            </a:extLst>
          </p:cNvPr>
          <p:cNvSpPr>
            <a:spLocks xmlns:a="http://schemas.openxmlformats.org/drawingml/2006/main" noGrp="1"/>
          </p:cNvSpPr>
          <p:nvPr/>
        </p:nvSpPr>
        <p:spPr>
          <a:xfrm xmlns:a="http://schemas.openxmlformats.org/drawingml/2006/main">
            <a:off x="457200" y="2876550"/>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1" name="">
            <a:extLst xmlns:a="http://schemas.openxmlformats.org/drawingml/2006/main">
              <a:ext uri="{FF2B5EF4-FFF2-40B4-BE49-F238E27FC236}">
                <a16:creationId xmlns:a16="http://schemas.microsoft.com/office/drawing/2014/main" id="{B8B361C8-7EC7-4D21-81E8-0EF9EB4C8B68}"/>
              </a:ext>
            </a:extLst>
          </p:cNvPr>
          <p:cNvSpPr>
            <a:spLocks xmlns:a="http://schemas.openxmlformats.org/drawingml/2006/main" noGrp="1"/>
          </p:cNvSpPr>
          <p:nvPr/>
        </p:nvSpPr>
        <p:spPr>
          <a:xfrm xmlns:a="http://schemas.openxmlformats.org/drawingml/2006/main">
            <a:off x="571500" y="2990850"/>
            <a:ext cx="262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Which critical apps depend on Alpha?</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Graph explorer / risk agent</a:t>
            </a:r>
          </a:p>
        </p:txBody>
      </p:sp>
      <p:sp>
        <p:nvSpPr>
          <p:cNvPr id="22" name="">
            <a:extLst xmlns:a="http://schemas.openxmlformats.org/drawingml/2006/main">
              <a:ext uri="{FF2B5EF4-FFF2-40B4-BE49-F238E27FC236}">
                <a16:creationId xmlns:a16="http://schemas.microsoft.com/office/drawing/2014/main" id="{6F62B33F-DFE3-4903-8F8A-B8D610A373B9}"/>
              </a:ext>
            </a:extLst>
          </p:cNvPr>
          <p:cNvSpPr>
            <a:spLocks xmlns:a="http://schemas.openxmlformats.org/drawingml/2006/main" noGrp="1"/>
          </p:cNvSpPr>
          <p:nvPr/>
        </p:nvSpPr>
        <p:spPr>
          <a:xfrm xmlns:a="http://schemas.openxmlformats.org/drawingml/2006/main">
            <a:off x="3552825" y="2876550"/>
            <a:ext cx="3714750" cy="781050"/>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23" name="">
            <a:extLst xmlns:a="http://schemas.openxmlformats.org/drawingml/2006/main">
              <a:ext uri="{FF2B5EF4-FFF2-40B4-BE49-F238E27FC236}">
                <a16:creationId xmlns:a16="http://schemas.microsoft.com/office/drawing/2014/main" id="{7B04C841-0450-440B-AE89-41F78227587C}"/>
              </a:ext>
            </a:extLst>
          </p:cNvPr>
          <p:cNvSpPr>
            <a:spLocks xmlns:a="http://schemas.openxmlformats.org/drawingml/2006/main" noGrp="1"/>
          </p:cNvSpPr>
          <p:nvPr/>
        </p:nvSpPr>
        <p:spPr>
          <a:xfrm xmlns:a="http://schemas.openxmlformats.org/drawingml/2006/main">
            <a:off x="3667125" y="2990850"/>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Approved path traversal</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Selected graph nodes and edges</a:t>
            </a:r>
          </a:p>
        </p:txBody>
      </p:sp>
      <p:sp>
        <p:nvSpPr>
          <p:cNvPr id="24" name="">
            <a:extLst xmlns:a="http://schemas.openxmlformats.org/drawingml/2006/main">
              <a:ext uri="{FF2B5EF4-FFF2-40B4-BE49-F238E27FC236}">
                <a16:creationId xmlns:a16="http://schemas.microsoft.com/office/drawing/2014/main" id="{BB762C73-1207-42E9-AE0A-BBF582E3AC75}"/>
              </a:ext>
            </a:extLst>
          </p:cNvPr>
          <p:cNvSpPr>
            <a:spLocks xmlns:a="http://schemas.openxmlformats.org/drawingml/2006/main" noGrp="1"/>
          </p:cNvSpPr>
          <p:nvPr/>
        </p:nvSpPr>
        <p:spPr>
          <a:xfrm xmlns:a="http://schemas.openxmlformats.org/drawingml/2006/main">
            <a:off x="7524750" y="2876550"/>
            <a:ext cx="42100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5" name="">
            <a:extLst xmlns:a="http://schemas.openxmlformats.org/drawingml/2006/main">
              <a:ext uri="{FF2B5EF4-FFF2-40B4-BE49-F238E27FC236}">
                <a16:creationId xmlns:a16="http://schemas.microsoft.com/office/drawing/2014/main" id="{473E57C4-CDB9-4841-BB1E-521B3415ED43}"/>
              </a:ext>
            </a:extLst>
          </p:cNvPr>
          <p:cNvSpPr>
            <a:spLocks xmlns:a="http://schemas.openxmlformats.org/drawingml/2006/main" noGrp="1"/>
          </p:cNvSpPr>
          <p:nvPr/>
        </p:nvSpPr>
        <p:spPr>
          <a:xfrm xmlns:a="http://schemas.openxmlformats.org/drawingml/2006/main">
            <a:off x="7639050" y="2990850"/>
            <a:ext cx="3981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Traceable dependency paths,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criticality, owners and coverage gaps</a:t>
            </a:r>
          </a:p>
        </p:txBody>
      </p:sp>
      <p:sp>
        <p:nvSpPr>
          <p:cNvPr id="26" name="">
            <a:extLst xmlns:a="http://schemas.openxmlformats.org/drawingml/2006/main">
              <a:ext uri="{FF2B5EF4-FFF2-40B4-BE49-F238E27FC236}">
                <a16:creationId xmlns:a16="http://schemas.microsoft.com/office/drawing/2014/main" id="{156E6951-3868-41B9-BF84-0C27675205D5}"/>
              </a:ext>
            </a:extLst>
          </p:cNvPr>
          <p:cNvSpPr>
            <a:spLocks xmlns:a="http://schemas.openxmlformats.org/drawingml/2006/main" noGrp="1"/>
          </p:cNvSpPr>
          <p:nvPr/>
        </p:nvSpPr>
        <p:spPr>
          <a:xfrm xmlns:a="http://schemas.openxmlformats.org/drawingml/2006/main">
            <a:off x="3333750" y="3181350"/>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7C1B854-52D2-4451-997C-1BAAAAF61F03}"/>
              </a:ext>
            </a:extLst>
          </p:cNvPr>
          <p:cNvSpPr>
            <a:spLocks xmlns:a="http://schemas.openxmlformats.org/drawingml/2006/main" noGrp="1"/>
          </p:cNvSpPr>
          <p:nvPr/>
        </p:nvSpPr>
        <p:spPr>
          <a:xfrm xmlns:a="http://schemas.openxmlformats.org/drawingml/2006/main">
            <a:off x="7296150" y="3181350"/>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02C93F7-77CB-44AD-B34F-0AD466F848CD}"/>
              </a:ext>
            </a:extLst>
          </p:cNvPr>
          <p:cNvSpPr>
            <a:spLocks xmlns:a="http://schemas.openxmlformats.org/drawingml/2006/main" noGrp="1"/>
          </p:cNvSpPr>
          <p:nvPr/>
        </p:nvSpPr>
        <p:spPr>
          <a:xfrm xmlns:a="http://schemas.openxmlformats.org/drawingml/2006/main">
            <a:off x="457200" y="3781425"/>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9" name="">
            <a:extLst xmlns:a="http://schemas.openxmlformats.org/drawingml/2006/main">
              <a:ext uri="{FF2B5EF4-FFF2-40B4-BE49-F238E27FC236}">
                <a16:creationId xmlns:a16="http://schemas.microsoft.com/office/drawing/2014/main" id="{C5E2ABCB-DE51-470D-A0C2-EB5BC4532F05}"/>
              </a:ext>
            </a:extLst>
          </p:cNvPr>
          <p:cNvSpPr>
            <a:spLocks xmlns:a="http://schemas.openxmlformats.org/drawingml/2006/main" noGrp="1"/>
          </p:cNvSpPr>
          <p:nvPr/>
        </p:nvSpPr>
        <p:spPr>
          <a:xfrm xmlns:a="http://schemas.openxmlformats.org/drawingml/2006/main">
            <a:off x="571500" y="3895725"/>
            <a:ext cx="262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What does the exit clause say?</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Ask / commercial reviewer</a:t>
            </a:r>
          </a:p>
        </p:txBody>
      </p:sp>
      <p:sp>
        <p:nvSpPr>
          <p:cNvPr id="30" name="">
            <a:extLst xmlns:a="http://schemas.openxmlformats.org/drawingml/2006/main">
              <a:ext uri="{FF2B5EF4-FFF2-40B4-BE49-F238E27FC236}">
                <a16:creationId xmlns:a16="http://schemas.microsoft.com/office/drawing/2014/main" id="{374AD717-E40D-41AD-9DE3-F310613FB879}"/>
              </a:ext>
            </a:extLst>
          </p:cNvPr>
          <p:cNvSpPr>
            <a:spLocks xmlns:a="http://schemas.openxmlformats.org/drawingml/2006/main" noGrp="1"/>
          </p:cNvSpPr>
          <p:nvPr/>
        </p:nvSpPr>
        <p:spPr>
          <a:xfrm xmlns:a="http://schemas.openxmlformats.org/drawingml/2006/main">
            <a:off x="3552825" y="3781425"/>
            <a:ext cx="3714750" cy="781050"/>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31" name="">
            <a:extLst xmlns:a="http://schemas.openxmlformats.org/drawingml/2006/main">
              <a:ext uri="{FF2B5EF4-FFF2-40B4-BE49-F238E27FC236}">
                <a16:creationId xmlns:a16="http://schemas.microsoft.com/office/drawing/2014/main" id="{C6DB8181-6D3F-4325-B8D5-A30905C88CBC}"/>
              </a:ext>
            </a:extLst>
          </p:cNvPr>
          <p:cNvSpPr>
            <a:spLocks xmlns:a="http://schemas.openxmlformats.org/drawingml/2006/main" noGrp="1"/>
          </p:cNvSpPr>
          <p:nvPr/>
        </p:nvSpPr>
        <p:spPr>
          <a:xfrm xmlns:a="http://schemas.openxmlformats.org/drawingml/2006/main">
            <a:off x="3667125" y="389572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Entitled hybrid retrieval</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Original passage and secure file link</a:t>
            </a:r>
          </a:p>
        </p:txBody>
      </p:sp>
      <p:sp>
        <p:nvSpPr>
          <p:cNvPr id="32" name="">
            <a:extLst xmlns:a="http://schemas.openxmlformats.org/drawingml/2006/main">
              <a:ext uri="{FF2B5EF4-FFF2-40B4-BE49-F238E27FC236}">
                <a16:creationId xmlns:a16="http://schemas.microsoft.com/office/drawing/2014/main" id="{0D6D2CCF-651D-470C-AE55-5B3551DB0C83}"/>
              </a:ext>
            </a:extLst>
          </p:cNvPr>
          <p:cNvSpPr>
            <a:spLocks xmlns:a="http://schemas.openxmlformats.org/drawingml/2006/main" noGrp="1"/>
          </p:cNvSpPr>
          <p:nvPr/>
        </p:nvSpPr>
        <p:spPr>
          <a:xfrm xmlns:a="http://schemas.openxmlformats.org/drawingml/2006/main">
            <a:off x="7524750" y="3781425"/>
            <a:ext cx="42100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33" name="">
            <a:extLst xmlns:a="http://schemas.openxmlformats.org/drawingml/2006/main">
              <a:ext uri="{FF2B5EF4-FFF2-40B4-BE49-F238E27FC236}">
                <a16:creationId xmlns:a16="http://schemas.microsoft.com/office/drawing/2014/main" id="{30751C54-B066-4D06-B997-3C5A62ED5FF6}"/>
              </a:ext>
            </a:extLst>
          </p:cNvPr>
          <p:cNvSpPr>
            <a:spLocks xmlns:a="http://schemas.openxmlformats.org/drawingml/2006/main" noGrp="1"/>
          </p:cNvSpPr>
          <p:nvPr/>
        </p:nvSpPr>
        <p:spPr>
          <a:xfrm xmlns:a="http://schemas.openxmlformats.org/drawingml/2006/main">
            <a:off x="7639050" y="3895725"/>
            <a:ext cx="3981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Cited clause and source version;</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reviewer opens the original document</a:t>
            </a:r>
          </a:p>
        </p:txBody>
      </p:sp>
      <p:sp>
        <p:nvSpPr>
          <p:cNvPr id="34" name="">
            <a:extLst xmlns:a="http://schemas.openxmlformats.org/drawingml/2006/main">
              <a:ext uri="{FF2B5EF4-FFF2-40B4-BE49-F238E27FC236}">
                <a16:creationId xmlns:a16="http://schemas.microsoft.com/office/drawing/2014/main" id="{5B722E57-5AC8-4F30-B693-5B9CCABCAF8C}"/>
              </a:ext>
            </a:extLst>
          </p:cNvPr>
          <p:cNvSpPr>
            <a:spLocks xmlns:a="http://schemas.openxmlformats.org/drawingml/2006/main" noGrp="1"/>
          </p:cNvSpPr>
          <p:nvPr/>
        </p:nvSpPr>
        <p:spPr>
          <a:xfrm xmlns:a="http://schemas.openxmlformats.org/drawingml/2006/main">
            <a:off x="3333750" y="40862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AA22361-D493-4E3D-BD2A-BA34EA282082}"/>
              </a:ext>
            </a:extLst>
          </p:cNvPr>
          <p:cNvSpPr>
            <a:spLocks xmlns:a="http://schemas.openxmlformats.org/drawingml/2006/main" noGrp="1"/>
          </p:cNvSpPr>
          <p:nvPr/>
        </p:nvSpPr>
        <p:spPr>
          <a:xfrm xmlns:a="http://schemas.openxmlformats.org/drawingml/2006/main">
            <a:off x="7296150" y="40862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E93EC1B-582D-4622-9AD7-5A9F63F1FEEB}"/>
              </a:ext>
            </a:extLst>
          </p:cNvPr>
          <p:cNvSpPr>
            <a:spLocks xmlns:a="http://schemas.openxmlformats.org/drawingml/2006/main" noGrp="1"/>
          </p:cNvSpPr>
          <p:nvPr/>
        </p:nvSpPr>
        <p:spPr>
          <a:xfrm xmlns:a="http://schemas.openxmlformats.org/drawingml/2006/main">
            <a:off x="457200" y="4686300"/>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37" name="">
            <a:extLst xmlns:a="http://schemas.openxmlformats.org/drawingml/2006/main">
              <a:ext uri="{FF2B5EF4-FFF2-40B4-BE49-F238E27FC236}">
                <a16:creationId xmlns:a16="http://schemas.microsoft.com/office/drawing/2014/main" id="{46999648-8DD3-48B3-AB97-0A14187477BD}"/>
              </a:ext>
            </a:extLst>
          </p:cNvPr>
          <p:cNvSpPr>
            <a:spLocks xmlns:a="http://schemas.openxmlformats.org/drawingml/2006/main" noGrp="1"/>
          </p:cNvSpPr>
          <p:nvPr/>
        </p:nvSpPr>
        <p:spPr>
          <a:xfrm xmlns:a="http://schemas.openxmlformats.org/drawingml/2006/main">
            <a:off x="571500" y="4800600"/>
            <a:ext cx="262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Reduce selected scope?</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Scenario / human reviewer</a:t>
            </a:r>
          </a:p>
        </p:txBody>
      </p:sp>
      <p:sp>
        <p:nvSpPr>
          <p:cNvPr id="38" name="">
            <a:extLst xmlns:a="http://schemas.openxmlformats.org/drawingml/2006/main">
              <a:ext uri="{FF2B5EF4-FFF2-40B4-BE49-F238E27FC236}">
                <a16:creationId xmlns:a16="http://schemas.microsoft.com/office/drawing/2014/main" id="{7D20AF97-E4F4-464D-AC48-E73E92C89E15}"/>
              </a:ext>
            </a:extLst>
          </p:cNvPr>
          <p:cNvSpPr>
            <a:spLocks xmlns:a="http://schemas.openxmlformats.org/drawingml/2006/main" noGrp="1"/>
          </p:cNvSpPr>
          <p:nvPr/>
        </p:nvSpPr>
        <p:spPr>
          <a:xfrm xmlns:a="http://schemas.openxmlformats.org/drawingml/2006/main">
            <a:off x="3552825" y="4686300"/>
            <a:ext cx="3714750" cy="781050"/>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39" name="">
            <a:extLst xmlns:a="http://schemas.openxmlformats.org/drawingml/2006/main">
              <a:ext uri="{FF2B5EF4-FFF2-40B4-BE49-F238E27FC236}">
                <a16:creationId xmlns:a16="http://schemas.microsoft.com/office/drawing/2014/main" id="{57920803-F23F-4C14-95D5-03B2213A6043}"/>
              </a:ext>
            </a:extLst>
          </p:cNvPr>
          <p:cNvSpPr>
            <a:spLocks xmlns:a="http://schemas.openxmlformats.org/drawingml/2006/main" noGrp="1"/>
          </p:cNvSpPr>
          <p:nvPr/>
        </p:nvSpPr>
        <p:spPr>
          <a:xfrm xmlns:a="http://schemas.openxmlformats.org/drawingml/2006/main">
            <a:off x="3667125" y="4800600"/>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Pinned baseline + scenario overlay</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Deterministic SQL and graph rules</a:t>
            </a:r>
          </a:p>
        </p:txBody>
      </p:sp>
      <p:sp>
        <p:nvSpPr>
          <p:cNvPr id="40" name="">
            <a:extLst xmlns:a="http://schemas.openxmlformats.org/drawingml/2006/main">
              <a:ext uri="{FF2B5EF4-FFF2-40B4-BE49-F238E27FC236}">
                <a16:creationId xmlns:a16="http://schemas.microsoft.com/office/drawing/2014/main" id="{19A5CAC5-C490-42DD-A9A1-8787EF2D5668}"/>
              </a:ext>
            </a:extLst>
          </p:cNvPr>
          <p:cNvSpPr>
            <a:spLocks xmlns:a="http://schemas.openxmlformats.org/drawingml/2006/main" noGrp="1"/>
          </p:cNvSpPr>
          <p:nvPr/>
        </p:nvSpPr>
        <p:spPr>
          <a:xfrm xmlns:a="http://schemas.openxmlformats.org/drawingml/2006/main">
            <a:off x="7524750" y="4686300"/>
            <a:ext cx="42100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41" name="">
            <a:extLst xmlns:a="http://schemas.openxmlformats.org/drawingml/2006/main">
              <a:ext uri="{FF2B5EF4-FFF2-40B4-BE49-F238E27FC236}">
                <a16:creationId xmlns:a16="http://schemas.microsoft.com/office/drawing/2014/main" id="{AF3CF90B-F4DF-4CE6-8109-8837FF3BC05D}"/>
              </a:ext>
            </a:extLst>
          </p:cNvPr>
          <p:cNvSpPr>
            <a:spLocks xmlns:a="http://schemas.openxmlformats.org/drawingml/2006/main" noGrp="1"/>
          </p:cNvSpPr>
          <p:nvPr/>
        </p:nvSpPr>
        <p:spPr>
          <a:xfrm xmlns:a="http://schemas.openxmlformats.org/drawingml/2006/main">
            <a:off x="7639050" y="4800600"/>
            <a:ext cx="3981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Estimated cost and exposure deltas,</a:t>
            </a:r>
          </a:p>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assumptions and review disposition</a:t>
            </a:r>
          </a:p>
        </p:txBody>
      </p:sp>
      <p:sp>
        <p:nvSpPr>
          <p:cNvPr id="42" name="">
            <a:extLst xmlns:a="http://schemas.openxmlformats.org/drawingml/2006/main">
              <a:ext uri="{FF2B5EF4-FFF2-40B4-BE49-F238E27FC236}">
                <a16:creationId xmlns:a16="http://schemas.microsoft.com/office/drawing/2014/main" id="{B3F27D34-52AE-4677-ADFD-8EB720431DB5}"/>
              </a:ext>
            </a:extLst>
          </p:cNvPr>
          <p:cNvSpPr>
            <a:spLocks xmlns:a="http://schemas.openxmlformats.org/drawingml/2006/main" noGrp="1"/>
          </p:cNvSpPr>
          <p:nvPr/>
        </p:nvSpPr>
        <p:spPr>
          <a:xfrm xmlns:a="http://schemas.openxmlformats.org/drawingml/2006/main">
            <a:off x="3333750" y="4991100"/>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6F14147-CF92-42F0-9567-1947A335C382}"/>
              </a:ext>
            </a:extLst>
          </p:cNvPr>
          <p:cNvSpPr>
            <a:spLocks xmlns:a="http://schemas.openxmlformats.org/drawingml/2006/main" noGrp="1"/>
          </p:cNvSpPr>
          <p:nvPr/>
        </p:nvSpPr>
        <p:spPr>
          <a:xfrm xmlns:a="http://schemas.openxmlformats.org/drawingml/2006/main">
            <a:off x="7296150" y="4991100"/>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65777CB-3A00-4477-A4B6-9566BF9E01DA}"/>
              </a:ext>
            </a:extLst>
          </p:cNvPr>
          <p:cNvSpPr>
            <a:spLocks xmlns:a="http://schemas.openxmlformats.org/drawingml/2006/main" noGrp="1"/>
          </p:cNvSpPr>
          <p:nvPr/>
        </p:nvSpPr>
        <p:spPr>
          <a:xfrm xmlns:a="http://schemas.openxmlformats.org/drawingml/2006/main">
            <a:off x="457200" y="5715000"/>
            <a:ext cx="11277600" cy="638175"/>
          </a:xfrm>
          <a:prstGeom xmlns:a="http://schemas.openxmlformats.org/drawingml/2006/main" prst="rect">
            <a:avLst/>
          </a:prstGeom>
          <a:solidFill xmlns:a="http://schemas.openxmlformats.org/drawingml/2006/main">
            <a:srgbClr val="FFF1E5"/>
          </a:solidFill>
          <a:ln xmlns:a="http://schemas.openxmlformats.org/drawingml/2006/main" w="9525">
            <a:solidFill>
              <a:srgbClr val="B8C7D9"/>
            </a:solidFill>
          </a:ln>
        </p:spPr>
      </p:sp>
      <p:sp>
        <p:nvSpPr>
          <p:cNvPr id="45" name="">
            <a:extLst xmlns:a="http://schemas.openxmlformats.org/drawingml/2006/main">
              <a:ext uri="{FF2B5EF4-FFF2-40B4-BE49-F238E27FC236}">
                <a16:creationId xmlns:a16="http://schemas.microsoft.com/office/drawing/2014/main" id="{AAB192E1-2E32-4BA0-AA19-66422129BA43}"/>
              </a:ext>
            </a:extLst>
          </p:cNvPr>
          <p:cNvSpPr>
            <a:spLocks xmlns:a="http://schemas.openxmlformats.org/drawingml/2006/main" noGrp="1"/>
          </p:cNvSpPr>
          <p:nvPr/>
        </p:nvSpPr>
        <p:spPr>
          <a:xfrm xmlns:a="http://schemas.openxmlformats.org/drawingml/2006/main">
            <a:off x="581025" y="5772150"/>
            <a:ext cx="11020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0B1F3A"/>
                </a:solidFill>
                <a:latin typeface="Segoe UI"/>
                <a:ea typeface="Segoe UI"/>
                <a:cs typeface="Segoe UI"/>
              </a:defRPr>
            </a:pPr>
            <a:r>
              <a:rPr sz="1500" b="1">
                <a:solidFill>
                  <a:srgbClr val="0B1F3A"/>
                </a:solidFill>
                <a:latin typeface="Segoe UI"/>
                <a:ea typeface="Segoe UI"/>
                <a:cs typeface="Segoe UI"/>
              </a:rPr>
              <a:t>Direct / original access is a governed route</a:t>
            </a:r>
          </a:p>
        </p:txBody>
      </p:sp>
      <p:sp>
        <p:nvSpPr>
          <p:cNvPr id="46" name="">
            <a:extLst xmlns:a="http://schemas.openxmlformats.org/drawingml/2006/main">
              <a:ext uri="{FF2B5EF4-FFF2-40B4-BE49-F238E27FC236}">
                <a16:creationId xmlns:a16="http://schemas.microsoft.com/office/drawing/2014/main" id="{392AC0B3-4DE6-4DE6-AD0C-9D855CFFBA0A}"/>
              </a:ext>
            </a:extLst>
          </p:cNvPr>
          <p:cNvSpPr>
            <a:spLocks xmlns:a="http://schemas.openxmlformats.org/drawingml/2006/main" noGrp="1"/>
          </p:cNvSpPr>
          <p:nvPr/>
        </p:nvSpPr>
        <p:spPr>
          <a:xfrm xmlns:a="http://schemas.openxmlformats.org/drawingml/2006/main">
            <a:off x="581025" y="6057900"/>
            <a:ext cx="10991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253E55"/>
                </a:solidFill>
                <a:latin typeface="Segoe UI"/>
                <a:ea typeface="Segoe UI"/>
                <a:cs typeface="Segoe UI"/>
              </a:defRPr>
            </a:pPr>
            <a:r>
              <a:rPr sz="1275" b="0">
                <a:solidFill>
                  <a:srgbClr val="253E55"/>
                </a:solidFill>
                <a:latin typeface="Segoe UI"/>
                <a:ea typeface="Segoe UI"/>
                <a:cs typeface="Segoe UI"/>
              </a:rPr>
              <a:t>Keep source systems in place. Read approved views or APIs when suitable; pin or label live versions. Never bypass access or metric rules.</a:t>
            </a:r>
          </a:p>
        </p:txBody>
      </p:sp>
    </p:spTree>
    <p:extLst>
      <p:ext uri="{BB962C8B-B14F-4D97-AF65-F5344CB8AC3E}">
        <p14:creationId xmlns:p14="http://schemas.microsoft.com/office/powerpoint/2010/main" val="1066111098"/>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37E9782B-0D73-4E08-AF29-65832D907AD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2" name="">
            <a:extLst xmlns:a="http://schemas.openxmlformats.org/drawingml/2006/main">
              <a:ext uri="{FF2B5EF4-FFF2-40B4-BE49-F238E27FC236}">
                <a16:creationId xmlns:a16="http://schemas.microsoft.com/office/drawing/2014/main" id="{A2C1CC0A-8D05-4A01-A2E9-FE8BFAA40BFB}"/>
              </a:ext>
            </a:extLst>
          </p:cNvPr>
          <p:cNvSpPr>
            <a:spLocks xmlns:a="http://schemas.openxmlformats.org/drawingml/2006/main" noGrp="1"/>
          </p:cNvSpPr>
          <p:nvPr/>
        </p:nvSpPr>
        <p:spPr>
          <a:xfrm xmlns:a="http://schemas.openxmlformats.org/drawingml/2006/main">
            <a:off x="457200" y="333375"/>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B1F3A"/>
                </a:solidFill>
                <a:latin typeface="Segoe UI"/>
                <a:ea typeface="Segoe UI"/>
                <a:cs typeface="Segoe UI"/>
              </a:defRPr>
            </a:pPr>
            <a:r>
              <a:rPr sz="2550" b="1">
                <a:solidFill>
                  <a:srgbClr val="0B1F3A"/>
                </a:solidFill>
                <a:latin typeface="Segoe UI"/>
                <a:ea typeface="Segoe UI"/>
                <a:cs typeface="Segoe UI"/>
              </a:rPr>
              <a:t>Final consumption layer: which agent uses which data</a:t>
            </a:r>
          </a:p>
        </p:txBody>
      </p:sp>
      <p:sp>
        <p:nvSpPr>
          <p:cNvPr id="3" name="">
            <a:extLst xmlns:a="http://schemas.openxmlformats.org/drawingml/2006/main">
              <a:ext uri="{FF2B5EF4-FFF2-40B4-BE49-F238E27FC236}">
                <a16:creationId xmlns:a16="http://schemas.microsoft.com/office/drawing/2014/main" id="{3228D847-548B-4E21-97FE-03E7F3923553}"/>
              </a:ext>
            </a:extLst>
          </p:cNvPr>
          <p:cNvSpPr>
            <a:spLocks xmlns:a="http://schemas.openxmlformats.org/drawingml/2006/main" noGrp="1"/>
          </p:cNvSpPr>
          <p:nvPr/>
        </p:nvSpPr>
        <p:spPr>
          <a:xfrm xmlns:a="http://schemas.openxmlformats.org/drawingml/2006/main">
            <a:off x="466725" y="876300"/>
            <a:ext cx="1123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53E55"/>
                </a:solidFill>
                <a:latin typeface="Segoe UI"/>
                <a:ea typeface="Segoe UI"/>
                <a:cs typeface="Segoe UI"/>
              </a:defRPr>
            </a:pPr>
            <a:r>
              <a:rPr sz="1350" b="0">
                <a:solidFill>
                  <a:srgbClr val="253E55"/>
                </a:solidFill>
                <a:latin typeface="Segoe UI"/>
                <a:ea typeface="Segoe UI"/>
                <a:cs typeface="Segoe UI"/>
              </a:rPr>
              <a:t>Proposed roles. Each specialist reaches the data through approved tools, semantic definitions and the user’s access scope.</a:t>
            </a:r>
          </a:p>
        </p:txBody>
      </p:sp>
      <p:sp>
        <p:nvSpPr>
          <p:cNvPr id="4" name="">
            <a:extLst xmlns:a="http://schemas.openxmlformats.org/drawingml/2006/main">
              <a:ext uri="{FF2B5EF4-FFF2-40B4-BE49-F238E27FC236}">
                <a16:creationId xmlns:a16="http://schemas.microsoft.com/office/drawing/2014/main" id="{F1F5EAF4-F911-40EE-9EAF-40CECA1202C6}"/>
              </a:ext>
            </a:extLst>
          </p:cNvPr>
          <p:cNvSpPr>
            <a:spLocks xmlns:a="http://schemas.openxmlformats.org/drawingml/2006/main" noGrp="1"/>
          </p:cNvSpPr>
          <p:nvPr/>
        </p:nvSpPr>
        <p:spPr>
          <a:xfrm xmlns:a="http://schemas.openxmlformats.org/drawingml/2006/main">
            <a:off x="457200" y="65246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253E55"/>
                </a:solidFill>
                <a:latin typeface="Segoe UI"/>
                <a:ea typeface="Segoe UI"/>
                <a:cs typeface="Segoe UI"/>
              </a:defRPr>
            </a:pPr>
            <a:r>
              <a:rPr sz="900" b="0">
                <a:solidFill>
                  <a:srgbClr val="253E55"/>
                </a:solidFill>
                <a:latin typeface="Segoe UI"/>
                <a:ea typeface="Segoe UI"/>
                <a:cs typeface="Segoe UI"/>
              </a:rPr>
              <a:t>CITI VENDOR DECISION INTELLIGENCE  /  SOURCE-TO-TARGET DESIGN</a:t>
            </a:r>
          </a:p>
        </p:txBody>
      </p:sp>
      <p:sp>
        <p:nvSpPr>
          <p:cNvPr id="5" name="">
            <a:extLst xmlns:a="http://schemas.openxmlformats.org/drawingml/2006/main">
              <a:ext uri="{FF2B5EF4-FFF2-40B4-BE49-F238E27FC236}">
                <a16:creationId xmlns:a16="http://schemas.microsoft.com/office/drawing/2014/main" id="{557EA64E-B0A6-4D2D-BF8D-EB9DE2009328}"/>
              </a:ext>
            </a:extLst>
          </p:cNvPr>
          <p:cNvSpPr>
            <a:spLocks xmlns:a="http://schemas.openxmlformats.org/drawingml/2006/main" noGrp="1"/>
          </p:cNvSpPr>
          <p:nvPr/>
        </p:nvSpPr>
        <p:spPr>
          <a:xfrm xmlns:a="http://schemas.openxmlformats.org/drawingml/2006/main">
            <a:off x="11401425" y="65246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253E55"/>
                </a:solidFill>
                <a:latin typeface="Segoe UI"/>
                <a:ea typeface="Segoe UI"/>
                <a:cs typeface="Segoe UI"/>
              </a:defRPr>
            </a:pPr>
            <a:r>
              <a:rPr sz="900" b="0">
                <a:solidFill>
                  <a:srgbClr val="253E55"/>
                </a:solidFill>
                <a:latin typeface="Segoe UI"/>
                <a:ea typeface="Segoe UI"/>
                <a:cs typeface="Segoe UI"/>
              </a:rPr>
              <a:t>04</a:t>
            </a:r>
          </a:p>
        </p:txBody>
      </p:sp>
      <p:sp>
        <p:nvSpPr>
          <p:cNvPr id="6" name="">
            <a:extLst xmlns:a="http://schemas.openxmlformats.org/drawingml/2006/main">
              <a:ext uri="{FF2B5EF4-FFF2-40B4-BE49-F238E27FC236}">
                <a16:creationId xmlns:a16="http://schemas.microsoft.com/office/drawing/2014/main" id="{E2191EE8-A26D-4EB9-B37A-3539ED939ABC}"/>
              </a:ext>
            </a:extLst>
          </p:cNvPr>
          <p:cNvSpPr>
            <a:spLocks xmlns:a="http://schemas.openxmlformats.org/drawingml/2006/main" noGrp="1"/>
          </p:cNvSpPr>
          <p:nvPr/>
        </p:nvSpPr>
        <p:spPr>
          <a:xfrm xmlns:a="http://schemas.openxmlformats.org/drawingml/2006/main">
            <a:off x="457200" y="1390650"/>
            <a:ext cx="11277600" cy="514350"/>
          </a:xfrm>
          <a:prstGeom xmlns:a="http://schemas.openxmlformats.org/drawingml/2006/main" prst="rect">
            <a:avLst/>
          </a:prstGeom>
          <a:solidFill xmlns:a="http://schemas.openxmlformats.org/drawingml/2006/main">
            <a:srgbClr val="0B1F3A"/>
          </a:solidFill>
          <a:ln xmlns:a="http://schemas.openxmlformats.org/drawingml/2006/main" w="9525">
            <a:solidFill>
              <a:srgbClr val="B8C7D9"/>
            </a:solidFill>
          </a:ln>
        </p:spPr>
      </p:sp>
      <p:sp>
        <p:nvSpPr>
          <p:cNvPr id="7" name="">
            <a:extLst xmlns:a="http://schemas.openxmlformats.org/drawingml/2006/main">
              <a:ext uri="{FF2B5EF4-FFF2-40B4-BE49-F238E27FC236}">
                <a16:creationId xmlns:a16="http://schemas.microsoft.com/office/drawing/2014/main" id="{75A259E0-B949-437D-B4DC-D2196F31036C}"/>
              </a:ext>
            </a:extLst>
          </p:cNvPr>
          <p:cNvSpPr>
            <a:spLocks xmlns:a="http://schemas.openxmlformats.org/drawingml/2006/main" noGrp="1"/>
          </p:cNvSpPr>
          <p:nvPr/>
        </p:nvSpPr>
        <p:spPr>
          <a:xfrm xmlns:a="http://schemas.openxmlformats.org/drawingml/2006/main">
            <a:off x="581025" y="1514475"/>
            <a:ext cx="1099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FFFFF"/>
                </a:solidFill>
                <a:latin typeface="Segoe UI"/>
                <a:ea typeface="Segoe UI"/>
                <a:cs typeface="Segoe UI"/>
              </a:defRPr>
            </a:pPr>
            <a:r>
              <a:rPr sz="1500" b="1">
                <a:solidFill>
                  <a:srgbClr val="FFFFFF"/>
                </a:solidFill>
                <a:latin typeface="Segoe UI"/>
                <a:ea typeface="Segoe UI"/>
                <a:cs typeface="Segoe UI"/>
              </a:rPr>
              <a:t>SUPERVISOR: resolve vendor and scope, select specialists, manage evidence and assemble the decision options</a:t>
            </a:r>
          </a:p>
        </p:txBody>
      </p:sp>
      <p:sp>
        <p:nvSpPr>
          <p:cNvPr id="8" name="">
            <a:extLst xmlns:a="http://schemas.openxmlformats.org/drawingml/2006/main">
              <a:ext uri="{FF2B5EF4-FFF2-40B4-BE49-F238E27FC236}">
                <a16:creationId xmlns:a16="http://schemas.microsoft.com/office/drawing/2014/main" id="{EA557DF3-EE0A-4326-8BD1-DF3017D76F0A}"/>
              </a:ext>
            </a:extLst>
          </p:cNvPr>
          <p:cNvSpPr>
            <a:spLocks xmlns:a="http://schemas.openxmlformats.org/drawingml/2006/main" noGrp="1"/>
          </p:cNvSpPr>
          <p:nvPr/>
        </p:nvSpPr>
        <p:spPr>
          <a:xfrm xmlns:a="http://schemas.openxmlformats.org/drawingml/2006/main">
            <a:off x="457200" y="2038350"/>
            <a:ext cx="3876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7C83"/>
                </a:solidFill>
                <a:latin typeface="Segoe UI"/>
                <a:ea typeface="Segoe UI"/>
                <a:cs typeface="Segoe UI"/>
              </a:defRPr>
            </a:pPr>
            <a:r>
              <a:rPr sz="1275" b="1">
                <a:solidFill>
                  <a:srgbClr val="007C83"/>
                </a:solidFill>
                <a:latin typeface="Segoe UI"/>
                <a:ea typeface="Segoe UI"/>
                <a:cs typeface="Segoe UI"/>
              </a:rPr>
              <a:t>DATA AND REPRESENTATION</a:t>
            </a:r>
          </a:p>
        </p:txBody>
      </p:sp>
      <p:sp>
        <p:nvSpPr>
          <p:cNvPr id="9" name="">
            <a:extLst xmlns:a="http://schemas.openxmlformats.org/drawingml/2006/main">
              <a:ext uri="{FF2B5EF4-FFF2-40B4-BE49-F238E27FC236}">
                <a16:creationId xmlns:a16="http://schemas.microsoft.com/office/drawing/2014/main" id="{2CC3B235-96E7-4AE7-81A5-36B1F6DD9096}"/>
              </a:ext>
            </a:extLst>
          </p:cNvPr>
          <p:cNvSpPr>
            <a:spLocks xmlns:a="http://schemas.openxmlformats.org/drawingml/2006/main" noGrp="1"/>
          </p:cNvSpPr>
          <p:nvPr/>
        </p:nvSpPr>
        <p:spPr>
          <a:xfrm xmlns:a="http://schemas.openxmlformats.org/drawingml/2006/main">
            <a:off x="4610100" y="2038350"/>
            <a:ext cx="3067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7C83"/>
                </a:solidFill>
                <a:latin typeface="Segoe UI"/>
                <a:ea typeface="Segoe UI"/>
                <a:cs typeface="Segoe UI"/>
              </a:defRPr>
            </a:pPr>
            <a:r>
              <a:rPr sz="1275" b="1">
                <a:solidFill>
                  <a:srgbClr val="007C83"/>
                </a:solidFill>
                <a:latin typeface="Segoe UI"/>
                <a:ea typeface="Segoe UI"/>
                <a:cs typeface="Segoe UI"/>
              </a:rPr>
              <a:t>APPROVED TOOL ROUTE</a:t>
            </a:r>
          </a:p>
        </p:txBody>
      </p:sp>
      <p:sp>
        <p:nvSpPr>
          <p:cNvPr id="10" name="">
            <a:extLst xmlns:a="http://schemas.openxmlformats.org/drawingml/2006/main">
              <a:ext uri="{FF2B5EF4-FFF2-40B4-BE49-F238E27FC236}">
                <a16:creationId xmlns:a16="http://schemas.microsoft.com/office/drawing/2014/main" id="{4D3799BC-CFD0-4B2F-807E-4C529C2E34D5}"/>
              </a:ext>
            </a:extLst>
          </p:cNvPr>
          <p:cNvSpPr>
            <a:spLocks xmlns:a="http://schemas.openxmlformats.org/drawingml/2006/main" noGrp="1"/>
          </p:cNvSpPr>
          <p:nvPr/>
        </p:nvSpPr>
        <p:spPr>
          <a:xfrm xmlns:a="http://schemas.openxmlformats.org/drawingml/2006/main">
            <a:off x="7953375" y="2038350"/>
            <a:ext cx="3781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7C83"/>
                </a:solidFill>
                <a:latin typeface="Segoe UI"/>
                <a:ea typeface="Segoe UI"/>
                <a:cs typeface="Segoe UI"/>
              </a:defRPr>
            </a:pPr>
            <a:r>
              <a:rPr sz="1275" b="1">
                <a:solidFill>
                  <a:srgbClr val="007C83"/>
                </a:solidFill>
                <a:latin typeface="Segoe UI"/>
                <a:ea typeface="Segoe UI"/>
                <a:cs typeface="Segoe UI"/>
              </a:rPr>
              <a:t>SPECIALIST AND RESULT</a:t>
            </a:r>
          </a:p>
        </p:txBody>
      </p:sp>
      <p:sp>
        <p:nvSpPr>
          <p:cNvPr id="11" name="">
            <a:extLst xmlns:a="http://schemas.openxmlformats.org/drawingml/2006/main">
              <a:ext uri="{FF2B5EF4-FFF2-40B4-BE49-F238E27FC236}">
                <a16:creationId xmlns:a16="http://schemas.microsoft.com/office/drawing/2014/main" id="{1E4C6E9F-A38B-4C9D-87EB-ED684DFBCC81}"/>
              </a:ext>
            </a:extLst>
          </p:cNvPr>
          <p:cNvSpPr>
            <a:spLocks xmlns:a="http://schemas.openxmlformats.org/drawingml/2006/main" noGrp="1"/>
          </p:cNvSpPr>
          <p:nvPr/>
        </p:nvSpPr>
        <p:spPr>
          <a:xfrm xmlns:a="http://schemas.openxmlformats.org/drawingml/2006/main">
            <a:off x="457200" y="2362200"/>
            <a:ext cx="3876675" cy="6572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12" name="">
            <a:extLst xmlns:a="http://schemas.openxmlformats.org/drawingml/2006/main">
              <a:ext uri="{FF2B5EF4-FFF2-40B4-BE49-F238E27FC236}">
                <a16:creationId xmlns:a16="http://schemas.microsoft.com/office/drawing/2014/main" id="{B16C78EA-1F98-4D7D-A0CB-5FB126CB468A}"/>
              </a:ext>
            </a:extLst>
          </p:cNvPr>
          <p:cNvSpPr>
            <a:spLocks xmlns:a="http://schemas.openxmlformats.org/drawingml/2006/main" noGrp="1"/>
          </p:cNvSpPr>
          <p:nvPr/>
        </p:nvSpPr>
        <p:spPr>
          <a:xfrm xmlns:a="http://schemas.openxmlformats.org/drawingml/2006/main">
            <a:off x="571500" y="2476500"/>
            <a:ext cx="3648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Contracts / SOWs / amendments</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SQL metadata + original clauses</a:t>
            </a:r>
          </a:p>
        </p:txBody>
      </p:sp>
      <p:sp>
        <p:nvSpPr>
          <p:cNvPr id="13" name="">
            <a:extLst xmlns:a="http://schemas.openxmlformats.org/drawingml/2006/main">
              <a:ext uri="{FF2B5EF4-FFF2-40B4-BE49-F238E27FC236}">
                <a16:creationId xmlns:a16="http://schemas.microsoft.com/office/drawing/2014/main" id="{CA28E670-4677-4573-A3D6-7E34DBCB4BE3}"/>
              </a:ext>
            </a:extLst>
          </p:cNvPr>
          <p:cNvSpPr>
            <a:spLocks xmlns:a="http://schemas.openxmlformats.org/drawingml/2006/main" noGrp="1"/>
          </p:cNvSpPr>
          <p:nvPr/>
        </p:nvSpPr>
        <p:spPr>
          <a:xfrm xmlns:a="http://schemas.openxmlformats.org/drawingml/2006/main">
            <a:off x="4381500" y="26003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C53F3C-B9BC-442F-AE44-D87D431DEBA5}"/>
              </a:ext>
            </a:extLst>
          </p:cNvPr>
          <p:cNvSpPr>
            <a:spLocks xmlns:a="http://schemas.openxmlformats.org/drawingml/2006/main" noGrp="1"/>
          </p:cNvSpPr>
          <p:nvPr/>
        </p:nvSpPr>
        <p:spPr>
          <a:xfrm xmlns:a="http://schemas.openxmlformats.org/drawingml/2006/main">
            <a:off x="4610100" y="2362200"/>
            <a:ext cx="3067050" cy="6572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15" name="">
            <a:extLst xmlns:a="http://schemas.openxmlformats.org/drawingml/2006/main">
              <a:ext uri="{FF2B5EF4-FFF2-40B4-BE49-F238E27FC236}">
                <a16:creationId xmlns:a16="http://schemas.microsoft.com/office/drawing/2014/main" id="{04ACB600-4B78-44CE-A0F1-C20C788918AA}"/>
              </a:ext>
            </a:extLst>
          </p:cNvPr>
          <p:cNvSpPr>
            <a:spLocks xmlns:a="http://schemas.openxmlformats.org/drawingml/2006/main" noGrp="1"/>
          </p:cNvSpPr>
          <p:nvPr/>
        </p:nvSpPr>
        <p:spPr>
          <a:xfrm xmlns:a="http://schemas.openxmlformats.org/drawingml/2006/main">
            <a:off x="4724400" y="2476500"/>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Contract SQL + document retrieval</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Relevant contract graph paths</a:t>
            </a:r>
          </a:p>
        </p:txBody>
      </p:sp>
      <p:sp>
        <p:nvSpPr>
          <p:cNvPr id="16" name="">
            <a:extLst xmlns:a="http://schemas.openxmlformats.org/drawingml/2006/main">
              <a:ext uri="{FF2B5EF4-FFF2-40B4-BE49-F238E27FC236}">
                <a16:creationId xmlns:a16="http://schemas.microsoft.com/office/drawing/2014/main" id="{A135B821-EDFF-46BD-9F05-AB3A5A132A07}"/>
              </a:ext>
            </a:extLst>
          </p:cNvPr>
          <p:cNvSpPr>
            <a:spLocks xmlns:a="http://schemas.openxmlformats.org/drawingml/2006/main" noGrp="1"/>
          </p:cNvSpPr>
          <p:nvPr/>
        </p:nvSpPr>
        <p:spPr>
          <a:xfrm xmlns:a="http://schemas.openxmlformats.org/drawingml/2006/main">
            <a:off x="7724775" y="26003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A70464B-E931-4075-A567-902B2F05E157}"/>
              </a:ext>
            </a:extLst>
          </p:cNvPr>
          <p:cNvSpPr>
            <a:spLocks xmlns:a="http://schemas.openxmlformats.org/drawingml/2006/main" noGrp="1"/>
          </p:cNvSpPr>
          <p:nvPr/>
        </p:nvSpPr>
        <p:spPr>
          <a:xfrm xmlns:a="http://schemas.openxmlformats.org/drawingml/2006/main">
            <a:off x="7953375" y="2362200"/>
            <a:ext cx="3781425" cy="6572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18" name="">
            <a:extLst xmlns:a="http://schemas.openxmlformats.org/drawingml/2006/main">
              <a:ext uri="{FF2B5EF4-FFF2-40B4-BE49-F238E27FC236}">
                <a16:creationId xmlns:a16="http://schemas.microsoft.com/office/drawing/2014/main" id="{255D7618-0F85-451E-97CF-BBF548D729EC}"/>
              </a:ext>
            </a:extLst>
          </p:cNvPr>
          <p:cNvSpPr>
            <a:spLocks xmlns:a="http://schemas.openxmlformats.org/drawingml/2006/main" noGrp="1"/>
          </p:cNvSpPr>
          <p:nvPr/>
        </p:nvSpPr>
        <p:spPr>
          <a:xfrm xmlns:a="http://schemas.openxmlformats.org/drawingml/2006/main">
            <a:off x="8067675" y="2476500"/>
            <a:ext cx="3552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Commercial</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Renewal, notice and exit constraints</a:t>
            </a:r>
          </a:p>
        </p:txBody>
      </p:sp>
      <p:sp>
        <p:nvSpPr>
          <p:cNvPr id="19" name="">
            <a:extLst xmlns:a="http://schemas.openxmlformats.org/drawingml/2006/main">
              <a:ext uri="{FF2B5EF4-FFF2-40B4-BE49-F238E27FC236}">
                <a16:creationId xmlns:a16="http://schemas.microsoft.com/office/drawing/2014/main" id="{6C5B7D0D-99D8-4565-9A26-848AE4709C88}"/>
              </a:ext>
            </a:extLst>
          </p:cNvPr>
          <p:cNvSpPr>
            <a:spLocks xmlns:a="http://schemas.openxmlformats.org/drawingml/2006/main" noGrp="1"/>
          </p:cNvSpPr>
          <p:nvPr/>
        </p:nvSpPr>
        <p:spPr>
          <a:xfrm xmlns:a="http://schemas.openxmlformats.org/drawingml/2006/main">
            <a:off x="457200" y="3124200"/>
            <a:ext cx="3876675" cy="6572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0" name="">
            <a:extLst xmlns:a="http://schemas.openxmlformats.org/drawingml/2006/main">
              <a:ext uri="{FF2B5EF4-FFF2-40B4-BE49-F238E27FC236}">
                <a16:creationId xmlns:a16="http://schemas.microsoft.com/office/drawing/2014/main" id="{03371123-F6E7-4397-84F8-1B3167FE53B3}"/>
              </a:ext>
            </a:extLst>
          </p:cNvPr>
          <p:cNvSpPr>
            <a:spLocks xmlns:a="http://schemas.openxmlformats.org/drawingml/2006/main" noGrp="1"/>
          </p:cNvSpPr>
          <p:nvPr/>
        </p:nvSpPr>
        <p:spPr>
          <a:xfrm xmlns:a="http://schemas.openxmlformats.org/drawingml/2006/main">
            <a:off x="571500" y="3238500"/>
            <a:ext cx="3648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Actuals / forecast / commitments / FX</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SQL facts + historical snapshots</a:t>
            </a:r>
          </a:p>
        </p:txBody>
      </p:sp>
      <p:sp>
        <p:nvSpPr>
          <p:cNvPr id="21" name="">
            <a:extLst xmlns:a="http://schemas.openxmlformats.org/drawingml/2006/main">
              <a:ext uri="{FF2B5EF4-FFF2-40B4-BE49-F238E27FC236}">
                <a16:creationId xmlns:a16="http://schemas.microsoft.com/office/drawing/2014/main" id="{ED54E67A-9AF4-4F00-A7F2-ACC582F78908}"/>
              </a:ext>
            </a:extLst>
          </p:cNvPr>
          <p:cNvSpPr>
            <a:spLocks xmlns:a="http://schemas.openxmlformats.org/drawingml/2006/main" noGrp="1"/>
          </p:cNvSpPr>
          <p:nvPr/>
        </p:nvSpPr>
        <p:spPr>
          <a:xfrm xmlns:a="http://schemas.openxmlformats.org/drawingml/2006/main">
            <a:off x="4381500" y="33623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80EBA19-297D-4BE8-93C3-5D085F128487}"/>
              </a:ext>
            </a:extLst>
          </p:cNvPr>
          <p:cNvSpPr>
            <a:spLocks xmlns:a="http://schemas.openxmlformats.org/drawingml/2006/main" noGrp="1"/>
          </p:cNvSpPr>
          <p:nvPr/>
        </p:nvSpPr>
        <p:spPr>
          <a:xfrm xmlns:a="http://schemas.openxmlformats.org/drawingml/2006/main">
            <a:off x="4610100" y="3124200"/>
            <a:ext cx="3067050" cy="6572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23" name="">
            <a:extLst xmlns:a="http://schemas.openxmlformats.org/drawingml/2006/main">
              <a:ext uri="{FF2B5EF4-FFF2-40B4-BE49-F238E27FC236}">
                <a16:creationId xmlns:a16="http://schemas.microsoft.com/office/drawing/2014/main" id="{2CFFE70F-B4A4-4DA2-85ED-51773D522587}"/>
              </a:ext>
            </a:extLst>
          </p:cNvPr>
          <p:cNvSpPr>
            <a:spLocks xmlns:a="http://schemas.openxmlformats.org/drawingml/2006/main" noGrp="1"/>
          </p:cNvSpPr>
          <p:nvPr/>
        </p:nvSpPr>
        <p:spPr>
          <a:xfrm xmlns:a="http://schemas.openxmlformats.org/drawingml/2006/main">
            <a:off x="4724400" y="3238500"/>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Semantic metrics + SQL</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Temporal and scenario cost tools</a:t>
            </a:r>
          </a:p>
        </p:txBody>
      </p:sp>
      <p:sp>
        <p:nvSpPr>
          <p:cNvPr id="24" name="">
            <a:extLst xmlns:a="http://schemas.openxmlformats.org/drawingml/2006/main">
              <a:ext uri="{FF2B5EF4-FFF2-40B4-BE49-F238E27FC236}">
                <a16:creationId xmlns:a16="http://schemas.microsoft.com/office/drawing/2014/main" id="{C9142AE1-3937-4F96-873E-113FD908CB49}"/>
              </a:ext>
            </a:extLst>
          </p:cNvPr>
          <p:cNvSpPr>
            <a:spLocks xmlns:a="http://schemas.openxmlformats.org/drawingml/2006/main" noGrp="1"/>
          </p:cNvSpPr>
          <p:nvPr/>
        </p:nvSpPr>
        <p:spPr>
          <a:xfrm xmlns:a="http://schemas.openxmlformats.org/drawingml/2006/main">
            <a:off x="7724775" y="33623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921A180-BF8B-4E92-A200-E46E0B9BE533}"/>
              </a:ext>
            </a:extLst>
          </p:cNvPr>
          <p:cNvSpPr>
            <a:spLocks xmlns:a="http://schemas.openxmlformats.org/drawingml/2006/main" noGrp="1"/>
          </p:cNvSpPr>
          <p:nvPr/>
        </p:nvSpPr>
        <p:spPr>
          <a:xfrm xmlns:a="http://schemas.openxmlformats.org/drawingml/2006/main">
            <a:off x="7953375" y="3124200"/>
            <a:ext cx="3781425" cy="6572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26" name="">
            <a:extLst xmlns:a="http://schemas.openxmlformats.org/drawingml/2006/main">
              <a:ext uri="{FF2B5EF4-FFF2-40B4-BE49-F238E27FC236}">
                <a16:creationId xmlns:a16="http://schemas.microsoft.com/office/drawing/2014/main" id="{6378639B-FC8E-45D0-8923-8D0E907464CD}"/>
              </a:ext>
            </a:extLst>
          </p:cNvPr>
          <p:cNvSpPr>
            <a:spLocks xmlns:a="http://schemas.openxmlformats.org/drawingml/2006/main" noGrp="1"/>
          </p:cNvSpPr>
          <p:nvPr/>
        </p:nvSpPr>
        <p:spPr>
          <a:xfrm xmlns:a="http://schemas.openxmlformats.org/drawingml/2006/main">
            <a:off x="8067675" y="3238500"/>
            <a:ext cx="3552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Financial</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Variance drivers and cost comparisons</a:t>
            </a:r>
          </a:p>
        </p:txBody>
      </p:sp>
      <p:sp>
        <p:nvSpPr>
          <p:cNvPr id="27" name="">
            <a:extLst xmlns:a="http://schemas.openxmlformats.org/drawingml/2006/main">
              <a:ext uri="{FF2B5EF4-FFF2-40B4-BE49-F238E27FC236}">
                <a16:creationId xmlns:a16="http://schemas.microsoft.com/office/drawing/2014/main" id="{138146A3-EA59-4997-9BB3-10A10CD9B76D}"/>
              </a:ext>
            </a:extLst>
          </p:cNvPr>
          <p:cNvSpPr>
            <a:spLocks xmlns:a="http://schemas.openxmlformats.org/drawingml/2006/main" noGrp="1"/>
          </p:cNvSpPr>
          <p:nvPr/>
        </p:nvSpPr>
        <p:spPr>
          <a:xfrm xmlns:a="http://schemas.openxmlformats.org/drawingml/2006/main">
            <a:off x="457200" y="3886200"/>
            <a:ext cx="3876675" cy="6572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28" name="">
            <a:extLst xmlns:a="http://schemas.openxmlformats.org/drawingml/2006/main">
              <a:ext uri="{FF2B5EF4-FFF2-40B4-BE49-F238E27FC236}">
                <a16:creationId xmlns:a16="http://schemas.microsoft.com/office/drawing/2014/main" id="{4BD6EF7F-870E-4F2D-8A3D-F199DB88375B}"/>
              </a:ext>
            </a:extLst>
          </p:cNvPr>
          <p:cNvSpPr>
            <a:spLocks xmlns:a="http://schemas.openxmlformats.org/drawingml/2006/main" noGrp="1"/>
          </p:cNvSpPr>
          <p:nvPr/>
        </p:nvSpPr>
        <p:spPr>
          <a:xfrm xmlns:a="http://schemas.openxmlformats.org/drawingml/2006/main">
            <a:off x="571500" y="4000500"/>
            <a:ext cx="3648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Apps / workforce / owners / risk / SLA</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Graph links + SQL + cited reports</a:t>
            </a:r>
          </a:p>
        </p:txBody>
      </p:sp>
      <p:sp>
        <p:nvSpPr>
          <p:cNvPr id="29" name="">
            <a:extLst xmlns:a="http://schemas.openxmlformats.org/drawingml/2006/main">
              <a:ext uri="{FF2B5EF4-FFF2-40B4-BE49-F238E27FC236}">
                <a16:creationId xmlns:a16="http://schemas.microsoft.com/office/drawing/2014/main" id="{A44310F9-A75D-4745-9BCF-9DCF0AA080F0}"/>
              </a:ext>
            </a:extLst>
          </p:cNvPr>
          <p:cNvSpPr>
            <a:spLocks xmlns:a="http://schemas.openxmlformats.org/drawingml/2006/main" noGrp="1"/>
          </p:cNvSpPr>
          <p:nvPr/>
        </p:nvSpPr>
        <p:spPr>
          <a:xfrm xmlns:a="http://schemas.openxmlformats.org/drawingml/2006/main">
            <a:off x="4381500" y="41243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D1802E2-8683-42A0-AAF4-F68D5D0A59E0}"/>
              </a:ext>
            </a:extLst>
          </p:cNvPr>
          <p:cNvSpPr>
            <a:spLocks xmlns:a="http://schemas.openxmlformats.org/drawingml/2006/main" noGrp="1"/>
          </p:cNvSpPr>
          <p:nvPr/>
        </p:nvSpPr>
        <p:spPr>
          <a:xfrm xmlns:a="http://schemas.openxmlformats.org/drawingml/2006/main">
            <a:off x="4610100" y="3886200"/>
            <a:ext cx="3067050" cy="6572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31" name="">
            <a:extLst xmlns:a="http://schemas.openxmlformats.org/drawingml/2006/main">
              <a:ext uri="{FF2B5EF4-FFF2-40B4-BE49-F238E27FC236}">
                <a16:creationId xmlns:a16="http://schemas.microsoft.com/office/drawing/2014/main" id="{3D7D9F1C-D215-4647-8A5C-FEE43CB60CE6}"/>
              </a:ext>
            </a:extLst>
          </p:cNvPr>
          <p:cNvSpPr>
            <a:spLocks xmlns:a="http://schemas.openxmlformats.org/drawingml/2006/main" noGrp="1"/>
          </p:cNvSpPr>
          <p:nvPr/>
        </p:nvSpPr>
        <p:spPr>
          <a:xfrm xmlns:a="http://schemas.openxmlformats.org/drawingml/2006/main">
            <a:off x="4724400" y="4000500"/>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Graph traversal + exposure metrics</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Risk and performance queries</a:t>
            </a:r>
          </a:p>
        </p:txBody>
      </p:sp>
      <p:sp>
        <p:nvSpPr>
          <p:cNvPr id="32" name="">
            <a:extLst xmlns:a="http://schemas.openxmlformats.org/drawingml/2006/main">
              <a:ext uri="{FF2B5EF4-FFF2-40B4-BE49-F238E27FC236}">
                <a16:creationId xmlns:a16="http://schemas.microsoft.com/office/drawing/2014/main" id="{1A5B9912-7387-4689-ACEB-272143BF6E6F}"/>
              </a:ext>
            </a:extLst>
          </p:cNvPr>
          <p:cNvSpPr>
            <a:spLocks xmlns:a="http://schemas.openxmlformats.org/drawingml/2006/main" noGrp="1"/>
          </p:cNvSpPr>
          <p:nvPr/>
        </p:nvSpPr>
        <p:spPr>
          <a:xfrm xmlns:a="http://schemas.openxmlformats.org/drawingml/2006/main">
            <a:off x="7724775" y="41243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4FBFA11-46E2-4F39-BA4B-BDA778A3CF3E}"/>
              </a:ext>
            </a:extLst>
          </p:cNvPr>
          <p:cNvSpPr>
            <a:spLocks xmlns:a="http://schemas.openxmlformats.org/drawingml/2006/main" noGrp="1"/>
          </p:cNvSpPr>
          <p:nvPr/>
        </p:nvSpPr>
        <p:spPr>
          <a:xfrm xmlns:a="http://schemas.openxmlformats.org/drawingml/2006/main">
            <a:off x="7953375" y="3886200"/>
            <a:ext cx="3781425" cy="6572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34" name="">
            <a:extLst xmlns:a="http://schemas.openxmlformats.org/drawingml/2006/main">
              <a:ext uri="{FF2B5EF4-FFF2-40B4-BE49-F238E27FC236}">
                <a16:creationId xmlns:a16="http://schemas.microsoft.com/office/drawing/2014/main" id="{7015CF54-B13E-4CBC-811A-703C778DA041}"/>
              </a:ext>
            </a:extLst>
          </p:cNvPr>
          <p:cNvSpPr>
            <a:spLocks xmlns:a="http://schemas.openxmlformats.org/drawingml/2006/main" noGrp="1"/>
          </p:cNvSpPr>
          <p:nvPr/>
        </p:nvSpPr>
        <p:spPr>
          <a:xfrm xmlns:a="http://schemas.openxmlformats.org/drawingml/2006/main">
            <a:off x="8067675" y="4000500"/>
            <a:ext cx="3552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Dependency / risk</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Affected entities and concentration</a:t>
            </a:r>
          </a:p>
        </p:txBody>
      </p:sp>
      <p:sp>
        <p:nvSpPr>
          <p:cNvPr id="35" name="">
            <a:extLst xmlns:a="http://schemas.openxmlformats.org/drawingml/2006/main">
              <a:ext uri="{FF2B5EF4-FFF2-40B4-BE49-F238E27FC236}">
                <a16:creationId xmlns:a16="http://schemas.microsoft.com/office/drawing/2014/main" id="{4629D4A1-DD8E-4ED5-8B0E-972ED15CFCC8}"/>
              </a:ext>
            </a:extLst>
          </p:cNvPr>
          <p:cNvSpPr>
            <a:spLocks xmlns:a="http://schemas.openxmlformats.org/drawingml/2006/main" noGrp="1"/>
          </p:cNvSpPr>
          <p:nvPr/>
        </p:nvSpPr>
        <p:spPr>
          <a:xfrm xmlns:a="http://schemas.openxmlformats.org/drawingml/2006/main">
            <a:off x="457200" y="4648200"/>
            <a:ext cx="3876675" cy="657225"/>
          </a:xfrm>
          <a:prstGeom xmlns:a="http://schemas.openxmlformats.org/drawingml/2006/main" prst="rect">
            <a:avLst/>
          </a:prstGeom>
          <a:solidFill xmlns:a="http://schemas.openxmlformats.org/drawingml/2006/main">
            <a:srgbClr val="FFFFFF"/>
          </a:solidFill>
          <a:ln xmlns:a="http://schemas.openxmlformats.org/drawingml/2006/main" w="9525">
            <a:solidFill>
              <a:srgbClr val="B8C7D9"/>
            </a:solidFill>
          </a:ln>
        </p:spPr>
      </p:sp>
      <p:sp>
        <p:nvSpPr>
          <p:cNvPr id="36" name="">
            <a:extLst xmlns:a="http://schemas.openxmlformats.org/drawingml/2006/main">
              <a:ext uri="{FF2B5EF4-FFF2-40B4-BE49-F238E27FC236}">
                <a16:creationId xmlns:a16="http://schemas.microsoft.com/office/drawing/2014/main" id="{FF2A7CA7-A329-4532-BDEF-B42F6C83B74A}"/>
              </a:ext>
            </a:extLst>
          </p:cNvPr>
          <p:cNvSpPr>
            <a:spLocks xmlns:a="http://schemas.openxmlformats.org/drawingml/2006/main" noGrp="1"/>
          </p:cNvSpPr>
          <p:nvPr/>
        </p:nvSpPr>
        <p:spPr>
          <a:xfrm xmlns:a="http://schemas.openxmlformats.org/drawingml/2006/main">
            <a:off x="571500" y="4762500"/>
            <a:ext cx="3648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Vendor capabilities / scope / costs</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Graph + SQL + specialist findings</a:t>
            </a:r>
          </a:p>
        </p:txBody>
      </p:sp>
      <p:sp>
        <p:nvSpPr>
          <p:cNvPr id="37" name="">
            <a:extLst xmlns:a="http://schemas.openxmlformats.org/drawingml/2006/main">
              <a:ext uri="{FF2B5EF4-FFF2-40B4-BE49-F238E27FC236}">
                <a16:creationId xmlns:a16="http://schemas.microsoft.com/office/drawing/2014/main" id="{9ADA1CE8-6047-45AA-80B1-C4502A380800}"/>
              </a:ext>
            </a:extLst>
          </p:cNvPr>
          <p:cNvSpPr>
            <a:spLocks xmlns:a="http://schemas.openxmlformats.org/drawingml/2006/main" noGrp="1"/>
          </p:cNvSpPr>
          <p:nvPr/>
        </p:nvSpPr>
        <p:spPr>
          <a:xfrm xmlns:a="http://schemas.openxmlformats.org/drawingml/2006/main">
            <a:off x="4381500" y="48863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513D583-CB55-4F16-9476-7443E1BF6DC2}"/>
              </a:ext>
            </a:extLst>
          </p:cNvPr>
          <p:cNvSpPr>
            <a:spLocks xmlns:a="http://schemas.openxmlformats.org/drawingml/2006/main" noGrp="1"/>
          </p:cNvSpPr>
          <p:nvPr/>
        </p:nvSpPr>
        <p:spPr>
          <a:xfrm xmlns:a="http://schemas.openxmlformats.org/drawingml/2006/main">
            <a:off x="4610100" y="4648200"/>
            <a:ext cx="3067050" cy="6572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39" name="">
            <a:extLst xmlns:a="http://schemas.openxmlformats.org/drawingml/2006/main">
              <a:ext uri="{FF2B5EF4-FFF2-40B4-BE49-F238E27FC236}">
                <a16:creationId xmlns:a16="http://schemas.microsoft.com/office/drawing/2014/main" id="{D1E66B7F-72B4-4866-A584-2B30BD6D1989}"/>
              </a:ext>
            </a:extLst>
          </p:cNvPr>
          <p:cNvSpPr>
            <a:spLocks xmlns:a="http://schemas.openxmlformats.org/drawingml/2006/main" noGrp="1"/>
          </p:cNvSpPr>
          <p:nvPr/>
        </p:nvSpPr>
        <p:spPr>
          <a:xfrm xmlns:a="http://schemas.openxmlformats.org/drawingml/2006/main">
            <a:off x="4724400" y="4762500"/>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Capability and overlap comparison</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Constraint and scenario tools</a:t>
            </a:r>
          </a:p>
        </p:txBody>
      </p:sp>
      <p:sp>
        <p:nvSpPr>
          <p:cNvPr id="40" name="">
            <a:extLst xmlns:a="http://schemas.openxmlformats.org/drawingml/2006/main">
              <a:ext uri="{FF2B5EF4-FFF2-40B4-BE49-F238E27FC236}">
                <a16:creationId xmlns:a16="http://schemas.microsoft.com/office/drawing/2014/main" id="{3210234A-277F-48EB-9F58-5826861D2E0E}"/>
              </a:ext>
            </a:extLst>
          </p:cNvPr>
          <p:cNvSpPr>
            <a:spLocks xmlns:a="http://schemas.openxmlformats.org/drawingml/2006/main" noGrp="1"/>
          </p:cNvSpPr>
          <p:nvPr/>
        </p:nvSpPr>
        <p:spPr>
          <a:xfrm xmlns:a="http://schemas.openxmlformats.org/drawingml/2006/main">
            <a:off x="7724775" y="4886325"/>
            <a:ext cx="190500" cy="171450"/>
          </a:xfrm>
          <a:prstGeom xmlns:a="http://schemas.openxmlformats.org/drawingml/2006/main" prst="rightArrow">
            <a:avLst/>
          </a:prstGeom>
          <a:solidFill xmlns:a="http://schemas.openxmlformats.org/drawingml/2006/main">
            <a:srgbClr val="007C8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D7B502A-533F-4F1B-98BB-FB4797962A37}"/>
              </a:ext>
            </a:extLst>
          </p:cNvPr>
          <p:cNvSpPr>
            <a:spLocks xmlns:a="http://schemas.openxmlformats.org/drawingml/2006/main" noGrp="1"/>
          </p:cNvSpPr>
          <p:nvPr/>
        </p:nvSpPr>
        <p:spPr>
          <a:xfrm xmlns:a="http://schemas.openxmlformats.org/drawingml/2006/main">
            <a:off x="7953375" y="4648200"/>
            <a:ext cx="3781425" cy="657225"/>
          </a:xfrm>
          <a:prstGeom xmlns:a="http://schemas.openxmlformats.org/drawingml/2006/main" prst="rect">
            <a:avLst/>
          </a:prstGeom>
          <a:solidFill xmlns:a="http://schemas.openxmlformats.org/drawingml/2006/main">
            <a:srgbClr val="E4F6F7"/>
          </a:solidFill>
          <a:ln xmlns:a="http://schemas.openxmlformats.org/drawingml/2006/main" w="9525">
            <a:solidFill>
              <a:srgbClr val="B8C7D9"/>
            </a:solidFill>
          </a:ln>
        </p:spPr>
      </p:sp>
      <p:sp>
        <p:nvSpPr>
          <p:cNvPr id="42" name="">
            <a:extLst xmlns:a="http://schemas.openxmlformats.org/drawingml/2006/main">
              <a:ext uri="{FF2B5EF4-FFF2-40B4-BE49-F238E27FC236}">
                <a16:creationId xmlns:a16="http://schemas.microsoft.com/office/drawing/2014/main" id="{DC3AF9F0-108A-4573-A3FE-9F7E290971A1}"/>
              </a:ext>
            </a:extLst>
          </p:cNvPr>
          <p:cNvSpPr>
            <a:spLocks xmlns:a="http://schemas.openxmlformats.org/drawingml/2006/main" noGrp="1"/>
          </p:cNvSpPr>
          <p:nvPr/>
        </p:nvSpPr>
        <p:spPr>
          <a:xfrm xmlns:a="http://schemas.openxmlformats.org/drawingml/2006/main">
            <a:off x="8067675" y="4762500"/>
            <a:ext cx="35528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Sourcing</a:t>
            </a:r>
          </a:p>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Consolidation and alternative options</a:t>
            </a:r>
          </a:p>
        </p:txBody>
      </p:sp>
      <p:sp>
        <p:nvSpPr>
          <p:cNvPr id="43" name="">
            <a:extLst xmlns:a="http://schemas.openxmlformats.org/drawingml/2006/main">
              <a:ext uri="{FF2B5EF4-FFF2-40B4-BE49-F238E27FC236}">
                <a16:creationId xmlns:a16="http://schemas.microsoft.com/office/drawing/2014/main" id="{6DE5C6CE-E7EE-431A-A2BA-6E375A7411E8}"/>
              </a:ext>
            </a:extLst>
          </p:cNvPr>
          <p:cNvSpPr>
            <a:spLocks xmlns:a="http://schemas.openxmlformats.org/drawingml/2006/main" noGrp="1"/>
          </p:cNvSpPr>
          <p:nvPr/>
        </p:nvSpPr>
        <p:spPr>
          <a:xfrm xmlns:a="http://schemas.openxmlformats.org/drawingml/2006/main">
            <a:off x="457200" y="5562600"/>
            <a:ext cx="11277600" cy="723900"/>
          </a:xfrm>
          <a:prstGeom xmlns:a="http://schemas.openxmlformats.org/drawingml/2006/main" prst="rect">
            <a:avLst/>
          </a:prstGeom>
          <a:solidFill xmlns:a="http://schemas.openxmlformats.org/drawingml/2006/main">
            <a:srgbClr val="FFF1E5"/>
          </a:solidFill>
          <a:ln xmlns:a="http://schemas.openxmlformats.org/drawingml/2006/main" w="9525">
            <a:solidFill>
              <a:srgbClr val="B8C7D9"/>
            </a:solidFill>
          </a:ln>
        </p:spPr>
      </p:sp>
      <p:sp>
        <p:nvSpPr>
          <p:cNvPr id="44" name="">
            <a:extLst xmlns:a="http://schemas.openxmlformats.org/drawingml/2006/main">
              <a:ext uri="{FF2B5EF4-FFF2-40B4-BE49-F238E27FC236}">
                <a16:creationId xmlns:a16="http://schemas.microsoft.com/office/drawing/2014/main" id="{A87DCF61-F490-4C94-84B8-D57239C32835}"/>
              </a:ext>
            </a:extLst>
          </p:cNvPr>
          <p:cNvSpPr>
            <a:spLocks xmlns:a="http://schemas.openxmlformats.org/drawingml/2006/main" noGrp="1"/>
          </p:cNvSpPr>
          <p:nvPr/>
        </p:nvSpPr>
        <p:spPr>
          <a:xfrm xmlns:a="http://schemas.openxmlformats.org/drawingml/2006/main">
            <a:off x="581025" y="561975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B1F3A"/>
                </a:solidFill>
                <a:latin typeface="Segoe UI"/>
                <a:ea typeface="Segoe UI"/>
                <a:cs typeface="Segoe UI"/>
              </a:defRPr>
            </a:pPr>
            <a:r>
              <a:rPr sz="1425" b="1">
                <a:solidFill>
                  <a:srgbClr val="0B1F3A"/>
                </a:solidFill>
                <a:latin typeface="Segoe UI"/>
                <a:ea typeface="Segoe UI"/>
                <a:cs typeface="Segoe UI"/>
              </a:rPr>
              <a:t>SHARED SERVICES AND HUMAN REVIEW</a:t>
            </a:r>
          </a:p>
        </p:txBody>
      </p:sp>
      <p:sp>
        <p:nvSpPr>
          <p:cNvPr id="45" name="">
            <a:extLst xmlns:a="http://schemas.openxmlformats.org/drawingml/2006/main">
              <a:ext uri="{FF2B5EF4-FFF2-40B4-BE49-F238E27FC236}">
                <a16:creationId xmlns:a16="http://schemas.microsoft.com/office/drawing/2014/main" id="{45947D34-985E-44E3-9268-6291BE25AD04}"/>
              </a:ext>
            </a:extLst>
          </p:cNvPr>
          <p:cNvSpPr>
            <a:spLocks xmlns:a="http://schemas.openxmlformats.org/drawingml/2006/main" noGrp="1"/>
          </p:cNvSpPr>
          <p:nvPr/>
        </p:nvSpPr>
        <p:spPr>
          <a:xfrm xmlns:a="http://schemas.openxmlformats.org/drawingml/2006/main">
            <a:off x="581025" y="5915025"/>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53E55"/>
                </a:solidFill>
                <a:latin typeface="Segoe UI"/>
                <a:ea typeface="Segoe UI"/>
                <a:cs typeface="Segoe UI"/>
              </a:defRPr>
            </a:pPr>
            <a:r>
              <a:rPr sz="1275" b="0">
                <a:solidFill>
                  <a:srgbClr val="253E55"/>
                </a:solidFill>
                <a:latin typeface="Segoe UI"/>
                <a:ea typeface="Segoe UI"/>
                <a:cs typeface="Segoe UI"/>
              </a:rPr>
              <a:t>Scenario engine calculates impacts. Validation checks evidence and policy. Human reviewers validate assumptions and record decisions.</a:t>
            </a:r>
          </a:p>
        </p:txBody>
      </p:sp>
    </p:spTree>
    <p:extLst>
      <p:ext uri="{BB962C8B-B14F-4D97-AF65-F5344CB8AC3E}">
        <p14:creationId xmlns:p14="http://schemas.microsoft.com/office/powerpoint/2010/main" val="1285326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2026-09-28T03:08:42.9900000Z</dcterms:created>
  <dcterms:modified xsi:type="dcterms:W3CDTF">2026-09-28T03:08:42.9910000Z</dcterms:modified>
</coreProperties>
</file>